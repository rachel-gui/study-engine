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79" r:id="rId1"/>
  </p:sldMasterIdLst>
  <p:notesMasterIdLst>
    <p:notesMasterId r:id="rId51"/>
  </p:notesMasterIdLst>
  <p:handoutMasterIdLst>
    <p:handoutMasterId r:id="rId52"/>
  </p:handoutMasterIdLst>
  <p:sldIdLst>
    <p:sldId id="2732" r:id="rId2"/>
    <p:sldId id="2772" r:id="rId3"/>
    <p:sldId id="2771" r:id="rId4"/>
    <p:sldId id="259" r:id="rId5"/>
    <p:sldId id="2769" r:id="rId6"/>
    <p:sldId id="2768" r:id="rId7"/>
    <p:sldId id="260" r:id="rId8"/>
    <p:sldId id="2764" r:id="rId9"/>
    <p:sldId id="2770" r:id="rId10"/>
    <p:sldId id="296" r:id="rId11"/>
    <p:sldId id="297" r:id="rId12"/>
    <p:sldId id="298" r:id="rId13"/>
    <p:sldId id="299" r:id="rId14"/>
    <p:sldId id="300" r:id="rId15"/>
    <p:sldId id="301" r:id="rId16"/>
    <p:sldId id="261" r:id="rId17"/>
    <p:sldId id="262" r:id="rId18"/>
    <p:sldId id="263" r:id="rId19"/>
    <p:sldId id="302" r:id="rId20"/>
    <p:sldId id="303" r:id="rId21"/>
    <p:sldId id="304" r:id="rId22"/>
    <p:sldId id="305" r:id="rId23"/>
    <p:sldId id="264"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 id="277" r:id="rId37"/>
    <p:sldId id="278" r:id="rId38"/>
    <p:sldId id="279" r:id="rId39"/>
    <p:sldId id="280" r:id="rId40"/>
    <p:sldId id="281" r:id="rId41"/>
    <p:sldId id="282" r:id="rId42"/>
    <p:sldId id="284" r:id="rId43"/>
    <p:sldId id="285" r:id="rId44"/>
    <p:sldId id="286" r:id="rId45"/>
    <p:sldId id="287" r:id="rId46"/>
    <p:sldId id="288" r:id="rId47"/>
    <p:sldId id="292" r:id="rId48"/>
    <p:sldId id="2546" r:id="rId49"/>
    <p:sldId id="1180" r:id="rId50"/>
  </p:sldIdLst>
  <p:sldSz cx="12192000" cy="6858000"/>
  <p:notesSz cx="10234613" cy="70993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236">
          <p15:clr>
            <a:srgbClr val="A4A3A4"/>
          </p15:clr>
        </p15:guide>
        <p15:guide id="2" pos="322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4EF3"/>
    <a:srgbClr val="4B2D83"/>
    <a:srgbClr val="876DAC"/>
    <a:srgbClr val="A756B2"/>
    <a:srgbClr val="9344D1"/>
    <a:srgbClr val="7030A0"/>
    <a:srgbClr val="000000"/>
    <a:srgbClr val="FF0000"/>
    <a:srgbClr val="B0304A"/>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95" autoAdjust="0"/>
    <p:restoredTop sz="78243" autoAdjust="0"/>
  </p:normalViewPr>
  <p:slideViewPr>
    <p:cSldViewPr>
      <p:cViewPr>
        <p:scale>
          <a:sx n="107" d="100"/>
          <a:sy n="107" d="100"/>
        </p:scale>
        <p:origin x="1024" y="-48"/>
      </p:cViewPr>
      <p:guideLst>
        <p:guide orient="horz" pos="2160"/>
        <p:guide pos="3840"/>
      </p:guideLst>
    </p:cSldViewPr>
  </p:slideViewPr>
  <p:outlineViewPr>
    <p:cViewPr>
      <p:scale>
        <a:sx n="33" d="100"/>
        <a:sy n="33" d="100"/>
      </p:scale>
      <p:origin x="0" y="0"/>
    </p:cViewPr>
  </p:outlineViewPr>
  <p:notesTextViewPr>
    <p:cViewPr>
      <p:scale>
        <a:sx n="110" d="100"/>
        <a:sy n="110" d="100"/>
      </p:scale>
      <p:origin x="0" y="0"/>
    </p:cViewPr>
  </p:notesTextViewPr>
  <p:sorterViewPr>
    <p:cViewPr>
      <p:scale>
        <a:sx n="66" d="100"/>
        <a:sy n="66" d="100"/>
      </p:scale>
      <p:origin x="0" y="0"/>
    </p:cViewPr>
  </p:sorterViewPr>
  <p:notesViewPr>
    <p:cSldViewPr>
      <p:cViewPr varScale="1">
        <p:scale>
          <a:sx n="80" d="100"/>
          <a:sy n="80" d="100"/>
        </p:scale>
        <p:origin x="-1254" y="-84"/>
      </p:cViewPr>
      <p:guideLst>
        <p:guide orient="horz" pos="2236"/>
        <p:guide pos="322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9026" name="Rectangle 2"/>
          <p:cNvSpPr>
            <a:spLocks noGrp="1" noChangeArrowheads="1"/>
          </p:cNvSpPr>
          <p:nvPr>
            <p:ph type="hdr" sz="quarter"/>
          </p:nvPr>
        </p:nvSpPr>
        <p:spPr bwMode="auto">
          <a:xfrm>
            <a:off x="0" y="0"/>
            <a:ext cx="4435475" cy="355600"/>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defTabSz="990600">
              <a:defRPr sz="1300">
                <a:latin typeface="Arial" charset="0"/>
              </a:defRPr>
            </a:lvl1pPr>
          </a:lstStyle>
          <a:p>
            <a:endParaRPr lang="tr-TR"/>
          </a:p>
        </p:txBody>
      </p:sp>
      <p:sp>
        <p:nvSpPr>
          <p:cNvPr id="129027" name="Rectangle 3"/>
          <p:cNvSpPr>
            <a:spLocks noGrp="1" noChangeArrowheads="1"/>
          </p:cNvSpPr>
          <p:nvPr>
            <p:ph type="dt" sz="quarter" idx="1"/>
          </p:nvPr>
        </p:nvSpPr>
        <p:spPr bwMode="auto">
          <a:xfrm>
            <a:off x="5797550" y="0"/>
            <a:ext cx="4435475" cy="355600"/>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defTabSz="990600">
              <a:defRPr sz="1300">
                <a:latin typeface="Arial" charset="0"/>
              </a:defRPr>
            </a:lvl1pPr>
          </a:lstStyle>
          <a:p>
            <a:endParaRPr lang="tr-TR"/>
          </a:p>
        </p:txBody>
      </p:sp>
      <p:sp>
        <p:nvSpPr>
          <p:cNvPr id="129028" name="Rectangle 4"/>
          <p:cNvSpPr>
            <a:spLocks noGrp="1" noChangeArrowheads="1"/>
          </p:cNvSpPr>
          <p:nvPr>
            <p:ph type="ftr" sz="quarter" idx="2"/>
          </p:nvPr>
        </p:nvSpPr>
        <p:spPr bwMode="auto">
          <a:xfrm>
            <a:off x="0" y="6742113"/>
            <a:ext cx="4435475" cy="355600"/>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defTabSz="990600">
              <a:defRPr sz="1300">
                <a:latin typeface="Arial" charset="0"/>
              </a:defRPr>
            </a:lvl1pPr>
          </a:lstStyle>
          <a:p>
            <a:endParaRPr lang="tr-TR"/>
          </a:p>
        </p:txBody>
      </p:sp>
      <p:sp>
        <p:nvSpPr>
          <p:cNvPr id="129029" name="Rectangle 5"/>
          <p:cNvSpPr>
            <a:spLocks noGrp="1" noChangeArrowheads="1"/>
          </p:cNvSpPr>
          <p:nvPr>
            <p:ph type="sldNum" sz="quarter" idx="3"/>
          </p:nvPr>
        </p:nvSpPr>
        <p:spPr bwMode="auto">
          <a:xfrm>
            <a:off x="5797550" y="6742113"/>
            <a:ext cx="4435475" cy="355600"/>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defTabSz="990600">
              <a:defRPr sz="1300">
                <a:latin typeface="Arial" charset="0"/>
              </a:defRPr>
            </a:lvl1pPr>
          </a:lstStyle>
          <a:p>
            <a:fld id="{5FF5AA11-6FE7-4D92-860D-F09A5A1025BA}" type="slidenum">
              <a:rPr lang="tr-TR"/>
              <a:pPr/>
              <a:t>‹#›</a:t>
            </a:fld>
            <a:endParaRPr lang="tr-T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bwMode="auto">
          <a:xfrm>
            <a:off x="0" y="0"/>
            <a:ext cx="4435475" cy="355600"/>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defTabSz="990600">
              <a:defRPr sz="1300">
                <a:latin typeface="Arial" charset="0"/>
              </a:defRPr>
            </a:lvl1pPr>
          </a:lstStyle>
          <a:p>
            <a:endParaRPr lang="tr-TR"/>
          </a:p>
        </p:txBody>
      </p:sp>
      <p:sp>
        <p:nvSpPr>
          <p:cNvPr id="79875" name="Rectangle 3"/>
          <p:cNvSpPr>
            <a:spLocks noGrp="1" noChangeArrowheads="1"/>
          </p:cNvSpPr>
          <p:nvPr>
            <p:ph type="dt" idx="1"/>
          </p:nvPr>
        </p:nvSpPr>
        <p:spPr bwMode="auto">
          <a:xfrm>
            <a:off x="5797550" y="0"/>
            <a:ext cx="4435475" cy="355600"/>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defTabSz="990600">
              <a:defRPr sz="1300">
                <a:latin typeface="Arial" charset="0"/>
              </a:defRPr>
            </a:lvl1pPr>
          </a:lstStyle>
          <a:p>
            <a:endParaRPr lang="tr-TR"/>
          </a:p>
        </p:txBody>
      </p:sp>
      <p:sp>
        <p:nvSpPr>
          <p:cNvPr id="79876" name="Rectangle 4"/>
          <p:cNvSpPr>
            <a:spLocks noGrp="1" noRot="1" noChangeAspect="1" noChangeArrowheads="1" noTextEdit="1"/>
          </p:cNvSpPr>
          <p:nvPr>
            <p:ph type="sldImg" idx="2"/>
          </p:nvPr>
        </p:nvSpPr>
        <p:spPr bwMode="auto">
          <a:xfrm>
            <a:off x="2751138" y="531813"/>
            <a:ext cx="4730750" cy="2662237"/>
          </a:xfrm>
          <a:prstGeom prst="rect">
            <a:avLst/>
          </a:prstGeom>
          <a:noFill/>
          <a:ln w="9525">
            <a:solidFill>
              <a:srgbClr val="000000"/>
            </a:solidFill>
            <a:miter lim="800000"/>
            <a:headEnd/>
            <a:tailEnd/>
          </a:ln>
          <a:effectLst/>
        </p:spPr>
        <p:txBody>
          <a:bodyPr/>
          <a:lstStyle/>
          <a:p>
            <a:endParaRPr lang="en-US"/>
          </a:p>
        </p:txBody>
      </p:sp>
      <p:sp>
        <p:nvSpPr>
          <p:cNvPr id="79877" name="Rectangle 5"/>
          <p:cNvSpPr>
            <a:spLocks noGrp="1" noChangeArrowheads="1"/>
          </p:cNvSpPr>
          <p:nvPr>
            <p:ph type="body" sz="quarter" idx="3"/>
          </p:nvPr>
        </p:nvSpPr>
        <p:spPr bwMode="auto">
          <a:xfrm>
            <a:off x="1023938" y="3371850"/>
            <a:ext cx="8186737" cy="31956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p>
        </p:txBody>
      </p:sp>
      <p:sp>
        <p:nvSpPr>
          <p:cNvPr id="79878" name="Rectangle 6"/>
          <p:cNvSpPr>
            <a:spLocks noGrp="1" noChangeArrowheads="1"/>
          </p:cNvSpPr>
          <p:nvPr>
            <p:ph type="ftr" sz="quarter" idx="4"/>
          </p:nvPr>
        </p:nvSpPr>
        <p:spPr bwMode="auto">
          <a:xfrm>
            <a:off x="0" y="6742113"/>
            <a:ext cx="4435475" cy="355600"/>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defTabSz="990600">
              <a:defRPr sz="1300">
                <a:latin typeface="Arial" charset="0"/>
              </a:defRPr>
            </a:lvl1pPr>
          </a:lstStyle>
          <a:p>
            <a:endParaRPr lang="tr-TR"/>
          </a:p>
        </p:txBody>
      </p:sp>
      <p:sp>
        <p:nvSpPr>
          <p:cNvPr id="79879" name="Rectangle 7"/>
          <p:cNvSpPr>
            <a:spLocks noGrp="1" noChangeArrowheads="1"/>
          </p:cNvSpPr>
          <p:nvPr>
            <p:ph type="sldNum" sz="quarter" idx="5"/>
          </p:nvPr>
        </p:nvSpPr>
        <p:spPr bwMode="auto">
          <a:xfrm>
            <a:off x="5797550" y="6742113"/>
            <a:ext cx="4435475" cy="355600"/>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defTabSz="990600">
              <a:defRPr sz="1300">
                <a:latin typeface="Arial" charset="0"/>
              </a:defRPr>
            </a:lvl1pPr>
          </a:lstStyle>
          <a:p>
            <a:fld id="{8B153843-1CF4-4938-B773-3DA6477B563D}" type="slidenum">
              <a:rPr lang="tr-TR"/>
              <a:pPr/>
              <a:t>‹#›</a:t>
            </a:fld>
            <a:endParaRPr lang="tr-TR"/>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2EB6C-62C6-C042-57A9-F3E9D381B3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39125C-3529-B401-8E02-917FEBF68C5F}"/>
              </a:ext>
            </a:extLst>
          </p:cNvPr>
          <p:cNvSpPr>
            <a:spLocks noGrp="1" noRot="1" noChangeAspect="1"/>
          </p:cNvSpPr>
          <p:nvPr>
            <p:ph type="sldImg"/>
          </p:nvPr>
        </p:nvSpPr>
        <p:spPr>
          <a:xfrm>
            <a:off x="2751138" y="531813"/>
            <a:ext cx="4730750" cy="2662237"/>
          </a:xfrm>
        </p:spPr>
        <p:txBody>
          <a:bodyPr/>
          <a:lstStyle/>
          <a:p>
            <a:endParaRPr lang="en-US"/>
          </a:p>
        </p:txBody>
      </p:sp>
      <p:sp>
        <p:nvSpPr>
          <p:cNvPr id="3" name="Notes Placeholder 2">
            <a:extLst>
              <a:ext uri="{FF2B5EF4-FFF2-40B4-BE49-F238E27FC236}">
                <a16:creationId xmlns:a16="http://schemas.microsoft.com/office/drawing/2014/main" id="{121C0024-06D1-0C14-BB05-E822F5CDBF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BE75EA-E43C-E019-0C51-95A31DD536BC}"/>
              </a:ext>
            </a:extLst>
          </p:cNvPr>
          <p:cNvSpPr>
            <a:spLocks noGrp="1"/>
          </p:cNvSpPr>
          <p:nvPr>
            <p:ph type="sldNum" sz="quarter" idx="5"/>
          </p:nvPr>
        </p:nvSpPr>
        <p:spPr/>
        <p:txBody>
          <a:bodyPr/>
          <a:lstStyle/>
          <a:p>
            <a:fld id="{8B153843-1CF4-4938-B773-3DA6477B563D}" type="slidenum">
              <a:rPr lang="tr-TR" smtClean="0"/>
              <a:pPr/>
              <a:t>1</a:t>
            </a:fld>
            <a:endParaRPr lang="tr-TR"/>
          </a:p>
        </p:txBody>
      </p:sp>
    </p:spTree>
    <p:extLst>
      <p:ext uri="{BB962C8B-B14F-4D97-AF65-F5344CB8AC3E}">
        <p14:creationId xmlns:p14="http://schemas.microsoft.com/office/powerpoint/2010/main" val="21019127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54FF8-A569-887E-E1CC-FEBBA15A8E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21C603-EC59-5DAE-3372-E16161BA50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44425B-E1B8-51BB-075B-D9621335A9B4}"/>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CB05B917-A075-349D-5E00-16D4A5405229}"/>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193901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C1861-52E0-7422-5999-0BB8F96DFC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77258E-5009-2422-6C5F-736C683B6F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3AA5E1-DB21-2F1B-B3C0-4A67FE9840B8}"/>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12D479E9-726C-570A-B7F6-DED2619A6C80}"/>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215540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4ADCF-AF3D-438B-7AF4-468653C739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9E341E-487F-C9D3-76E7-ABF590D7CF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8F223D-0A11-6015-65C9-EDEE473D14EB}"/>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4ABA889-E27A-2E3A-A157-E22D00343A67}"/>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79069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29768-093D-FFC9-AA9B-CB75315C2E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4D4A05-7345-5AE9-16F0-D406A7AEF7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FDA96-A04D-EEB2-A1D6-3D448299B3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BF38D1-A664-BC7B-1FEF-A846E1FD41C8}"/>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039385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8</a:t>
            </a:fld>
            <a:endParaRPr lang="tr-TR"/>
          </a:p>
        </p:txBody>
      </p:sp>
    </p:spTree>
    <p:extLst>
      <p:ext uri="{BB962C8B-B14F-4D97-AF65-F5344CB8AC3E}">
        <p14:creationId xmlns:p14="http://schemas.microsoft.com/office/powerpoint/2010/main" val="25288819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D5008-73CB-D71B-F067-E73C099D1E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248EA-6E11-2F64-7573-99931D2B0E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0AC73B-60A2-133C-3058-815AED1ABC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896362-1005-07AA-FFD2-08E2C31500DE}"/>
              </a:ext>
            </a:extLst>
          </p:cNvPr>
          <p:cNvSpPr>
            <a:spLocks noGrp="1"/>
          </p:cNvSpPr>
          <p:nvPr>
            <p:ph type="sldNum" sz="quarter" idx="5"/>
          </p:nvPr>
        </p:nvSpPr>
        <p:spPr/>
        <p:txBody>
          <a:bodyPr/>
          <a:lstStyle/>
          <a:p>
            <a:fld id="{8B153843-1CF4-4938-B773-3DA6477B563D}" type="slidenum">
              <a:rPr lang="tr-TR" smtClean="0"/>
              <a:pPr/>
              <a:t>9</a:t>
            </a:fld>
            <a:endParaRPr lang="tr-TR"/>
          </a:p>
        </p:txBody>
      </p:sp>
    </p:spTree>
    <p:extLst>
      <p:ext uri="{BB962C8B-B14F-4D97-AF65-F5344CB8AC3E}">
        <p14:creationId xmlns:p14="http://schemas.microsoft.com/office/powerpoint/2010/main" val="21964973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10</a:t>
            </a:fld>
            <a:endParaRPr lang="tr-TR"/>
          </a:p>
        </p:txBody>
      </p:sp>
    </p:spTree>
    <p:extLst>
      <p:ext uri="{BB962C8B-B14F-4D97-AF65-F5344CB8AC3E}">
        <p14:creationId xmlns:p14="http://schemas.microsoft.com/office/powerpoint/2010/main" val="14222144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15</a:t>
            </a:fld>
            <a:endParaRPr lang="tr-TR"/>
          </a:p>
        </p:txBody>
      </p:sp>
    </p:spTree>
    <p:extLst>
      <p:ext uri="{BB962C8B-B14F-4D97-AF65-F5344CB8AC3E}">
        <p14:creationId xmlns:p14="http://schemas.microsoft.com/office/powerpoint/2010/main" val="39424988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381" name="Google Shape;381;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070536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4922" y="990600"/>
            <a:ext cx="10653003" cy="1504844"/>
          </a:xfrm>
          <a:effectLst/>
        </p:spPr>
        <p:txBody>
          <a:bodyPr anchor="b">
            <a:normAutofit/>
          </a:bodyPr>
          <a:lstStyle>
            <a:lvl1pPr>
              <a:defRPr sz="3600">
                <a:solidFill>
                  <a:srgbClr val="4B2D83"/>
                </a:solidFill>
              </a:defRPr>
            </a:lvl1pPr>
          </a:lstStyle>
          <a:p>
            <a:r>
              <a:rPr lang="en-US" dirty="0"/>
              <a:t>Click to edit Master title style</a:t>
            </a:r>
          </a:p>
        </p:txBody>
      </p:sp>
      <p:sp>
        <p:nvSpPr>
          <p:cNvPr id="3" name="Subtitle 2"/>
          <p:cNvSpPr>
            <a:spLocks noGrp="1"/>
          </p:cNvSpPr>
          <p:nvPr>
            <p:ph type="subTitle" idx="1"/>
          </p:nvPr>
        </p:nvSpPr>
        <p:spPr>
          <a:xfrm>
            <a:off x="774922" y="2495445"/>
            <a:ext cx="10653003" cy="590321"/>
          </a:xfrm>
        </p:spPr>
        <p:txBody>
          <a:bodyPr anchor="t">
            <a:normAutofit/>
          </a:bodyPr>
          <a:lstStyle>
            <a:lvl1pPr marL="0" indent="0" algn="l">
              <a:buNone/>
              <a:defRPr sz="1600" cap="all">
                <a:solidFill>
                  <a:srgbClr val="4B2D83"/>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4B2D83"/>
                </a:solidFill>
              </a:defRPr>
            </a:lvl1pPr>
          </a:lstStyle>
          <a:p>
            <a:r>
              <a:rPr lang="tr-TR"/>
              <a:t>7/7/2014</a:t>
            </a:r>
            <a:endParaRPr lang="en-US">
              <a:solidFill>
                <a:srgbClr val="FFFFFF"/>
              </a:solidFill>
            </a:endParaRPr>
          </a:p>
        </p:txBody>
      </p:sp>
      <p:sp>
        <p:nvSpPr>
          <p:cNvPr id="5" name="Footer Placeholder 4"/>
          <p:cNvSpPr>
            <a:spLocks noGrp="1"/>
          </p:cNvSpPr>
          <p:nvPr>
            <p:ph type="ftr" sz="quarter" idx="11"/>
          </p:nvPr>
        </p:nvSpPr>
        <p:spPr/>
        <p:txBody>
          <a:bodyPr/>
          <a:lstStyle>
            <a:lvl1pPr>
              <a:defRPr>
                <a:solidFill>
                  <a:srgbClr val="4B2D83"/>
                </a:solidFill>
              </a:defRPr>
            </a:lvl1pPr>
          </a:lstStyle>
          <a:p>
            <a:r>
              <a:rPr kumimoji="0" lang="en-US">
                <a:solidFill>
                  <a:schemeClr val="accent1">
                    <a:tint val="20000"/>
                  </a:schemeClr>
                </a:solidFill>
              </a:rPr>
              <a:t>Lecture Notes for E Alpaydın 2014 Introduction to Machine Learning 3e © The MIT Press (V1.0)</a:t>
            </a:r>
          </a:p>
        </p:txBody>
      </p:sp>
      <p:sp>
        <p:nvSpPr>
          <p:cNvPr id="6" name="Slide Number Placeholder 5"/>
          <p:cNvSpPr>
            <a:spLocks noGrp="1"/>
          </p:cNvSpPr>
          <p:nvPr>
            <p:ph type="sldNum" sz="quarter" idx="12"/>
          </p:nvPr>
        </p:nvSpPr>
        <p:spPr/>
        <p:txBody>
          <a:bodyPr/>
          <a:lstStyle>
            <a:lvl1pPr>
              <a:defRPr>
                <a:solidFill>
                  <a:srgbClr val="4B2D83"/>
                </a:solidFill>
              </a:defRPr>
            </a:lvl1pPr>
          </a:lstStyle>
          <a:p>
            <a:fld id="{D5BBC35B-A44B-4119-B8DA-DE9E3DFADA20}" type="slidenum">
              <a:rPr kumimoji="0" lang="en-US" smtClean="0"/>
              <a:pPr/>
              <a:t>‹#›</a:t>
            </a:fld>
            <a:endParaRPr kumimoji="0" lang="en-US">
              <a:solidFill>
                <a:srgbClr val="FFFFFF"/>
              </a:solidFill>
            </a:endParaRPr>
          </a:p>
        </p:txBody>
      </p:sp>
    </p:spTree>
    <p:extLst>
      <p:ext uri="{BB962C8B-B14F-4D97-AF65-F5344CB8AC3E}">
        <p14:creationId xmlns:p14="http://schemas.microsoft.com/office/powerpoint/2010/main" val="2582977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774922" y="2228004"/>
            <a:ext cx="10653003" cy="3630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rgbClr val="4B2D83"/>
                </a:solidFill>
              </a:defRPr>
            </a:lvl1pPr>
          </a:lstStyle>
          <a:p>
            <a:r>
              <a:rPr lang="tr-TR"/>
              <a:t>7/7/2014</a:t>
            </a:r>
            <a:endParaRPr lang="en-US" sz="1000">
              <a:solidFill>
                <a:schemeClr val="tx1"/>
              </a:solidFill>
            </a:endParaRPr>
          </a:p>
        </p:txBody>
      </p:sp>
      <p:sp>
        <p:nvSpPr>
          <p:cNvPr id="5" name="Footer Placeholder 4"/>
          <p:cNvSpPr>
            <a:spLocks noGrp="1"/>
          </p:cNvSpPr>
          <p:nvPr>
            <p:ph type="ftr" sz="quarter" idx="11"/>
          </p:nvPr>
        </p:nvSpPr>
        <p:spPr/>
        <p:txBody>
          <a:bodyPr/>
          <a:lstStyle/>
          <a:p>
            <a:r>
              <a:rPr lang="en-US"/>
              <a:t>Lecture Notes for E Alpaydın 2014 Introduction to Machine Learning 3e © The MIT Press (V1.0)</a:t>
            </a:r>
            <a:endParaRPr lang="tr-TR"/>
          </a:p>
        </p:txBody>
      </p:sp>
      <p:sp>
        <p:nvSpPr>
          <p:cNvPr id="6" name="Slide Number Placeholder 5"/>
          <p:cNvSpPr>
            <a:spLocks noGrp="1"/>
          </p:cNvSpPr>
          <p:nvPr>
            <p:ph type="sldNum" sz="quarter" idx="12"/>
          </p:nvPr>
        </p:nvSpPr>
        <p:spPr/>
        <p:txBody>
          <a:bodyPr/>
          <a:lstStyle/>
          <a:p>
            <a:fld id="{A4DA0FD2-D456-4FC5-A587-87644C4EB2D1}" type="slidenum">
              <a:rPr lang="tr-TR" smtClean="0"/>
              <a:pPr/>
              <a:t>‹#›</a:t>
            </a:fld>
            <a:endParaRPr lang="tr-TR"/>
          </a:p>
        </p:txBody>
      </p:sp>
    </p:spTree>
    <p:extLst>
      <p:ext uri="{BB962C8B-B14F-4D97-AF65-F5344CB8AC3E}">
        <p14:creationId xmlns:p14="http://schemas.microsoft.com/office/powerpoint/2010/main" val="1543961449"/>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74925" y="3036573"/>
            <a:ext cx="10653001" cy="1504844"/>
          </a:xfrm>
        </p:spPr>
        <p:txBody>
          <a:bodyPr anchor="b">
            <a:normAutofit/>
          </a:bodyPr>
          <a:lstStyle>
            <a:lvl1pPr algn="l">
              <a:defRPr sz="3600" b="0" cap="all">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74925" y="4541417"/>
            <a:ext cx="10653001" cy="600556"/>
          </a:xfrm>
        </p:spPr>
        <p:txBody>
          <a:bodyPr anchor="t">
            <a:normAutofit/>
          </a:bodyPr>
          <a:lstStyle>
            <a:lvl1pPr marL="0" indent="0" algn="l">
              <a:buNone/>
              <a:defRPr sz="1800" cap="all">
                <a:solidFill>
                  <a:srgbClr val="4B2D8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rgbClr val="4B2D83"/>
                </a:solidFill>
              </a:defRPr>
            </a:lvl1pPr>
          </a:lstStyle>
          <a:p>
            <a:r>
              <a:rPr lang="tr-TR"/>
              <a:t>7/7/2014</a:t>
            </a:r>
            <a:endParaRPr lang="en-US"/>
          </a:p>
        </p:txBody>
      </p:sp>
      <p:sp>
        <p:nvSpPr>
          <p:cNvPr id="5" name="Footer Placeholder 4"/>
          <p:cNvSpPr>
            <a:spLocks noGrp="1"/>
          </p:cNvSpPr>
          <p:nvPr>
            <p:ph type="ftr" sz="quarter" idx="11"/>
          </p:nvPr>
        </p:nvSpPr>
        <p:spPr/>
        <p:txBody>
          <a:bodyPr/>
          <a:lstStyle>
            <a:lvl1pPr>
              <a:defRPr>
                <a:solidFill>
                  <a:srgbClr val="4B2D83"/>
                </a:solidFill>
              </a:defRPr>
            </a:lvl1pPr>
          </a:lstStyle>
          <a:p>
            <a:r>
              <a:rPr lang="en-US"/>
              <a:t>Lecture Notes for E Alpaydın 2014 Introduction to Machine Learning 3e © The MIT Press (V1.0)</a:t>
            </a:r>
            <a:endParaRPr lang="tr-TR"/>
          </a:p>
        </p:txBody>
      </p:sp>
      <p:sp>
        <p:nvSpPr>
          <p:cNvPr id="6" name="Slide Number Placeholder 5"/>
          <p:cNvSpPr>
            <a:spLocks noGrp="1"/>
          </p:cNvSpPr>
          <p:nvPr>
            <p:ph type="sldNum" sz="quarter" idx="12"/>
          </p:nvPr>
        </p:nvSpPr>
        <p:spPr/>
        <p:txBody>
          <a:bodyPr/>
          <a:lstStyle>
            <a:lvl1pPr>
              <a:defRPr>
                <a:solidFill>
                  <a:srgbClr val="4B2D83"/>
                </a:solidFill>
              </a:defRPr>
            </a:lvl1pPr>
          </a:lstStyle>
          <a:p>
            <a:fld id="{0BF0E594-9508-4F75-8FB2-7E9FCE92EA31}" type="slidenum">
              <a:rPr lang="tr-TR" smtClean="0"/>
              <a:pPr/>
              <a:t>‹#›</a:t>
            </a:fld>
            <a:endParaRPr lang="tr-TR"/>
          </a:p>
        </p:txBody>
      </p:sp>
    </p:spTree>
    <p:extLst>
      <p:ext uri="{BB962C8B-B14F-4D97-AF65-F5344CB8AC3E}">
        <p14:creationId xmlns:p14="http://schemas.microsoft.com/office/powerpoint/2010/main" val="290140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74924" y="2228003"/>
            <a:ext cx="51993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709" y="2228004"/>
            <a:ext cx="5210216"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tr-TR"/>
              <a:t>7/7/2014</a:t>
            </a:r>
            <a:endParaRPr lang="en-US" sz="1000">
              <a:solidFill>
                <a:schemeClr val="tx1"/>
              </a:solidFill>
            </a:endParaRPr>
          </a:p>
        </p:txBody>
      </p:sp>
      <p:sp>
        <p:nvSpPr>
          <p:cNvPr id="6" name="Footer Placeholder 5"/>
          <p:cNvSpPr>
            <a:spLocks noGrp="1"/>
          </p:cNvSpPr>
          <p:nvPr>
            <p:ph type="ftr" sz="quarter" idx="11"/>
          </p:nvPr>
        </p:nvSpPr>
        <p:spPr/>
        <p:txBody>
          <a:bodyPr/>
          <a:lstStyle/>
          <a:p>
            <a:r>
              <a:rPr lang="en-US"/>
              <a:t>Lecture Notes for E Alpaydın 2014 Introduction to Machine Learning 3e © The MIT Press (V1.0)</a:t>
            </a:r>
            <a:endParaRPr lang="tr-TR"/>
          </a:p>
        </p:txBody>
      </p:sp>
      <p:sp>
        <p:nvSpPr>
          <p:cNvPr id="7" name="Slide Number Placeholder 6"/>
          <p:cNvSpPr>
            <a:spLocks noGrp="1"/>
          </p:cNvSpPr>
          <p:nvPr>
            <p:ph type="sldNum" sz="quarter" idx="12"/>
          </p:nvPr>
        </p:nvSpPr>
        <p:spPr/>
        <p:txBody>
          <a:bodyPr/>
          <a:lstStyle/>
          <a:p>
            <a:fld id="{A4DA0FD2-D456-4FC5-A587-87644C4EB2D1}" type="slidenum">
              <a:rPr lang="tr-TR" smtClean="0"/>
              <a:pPr/>
              <a:t>‹#›</a:t>
            </a:fld>
            <a:endParaRPr lang="tr-TR"/>
          </a:p>
        </p:txBody>
      </p:sp>
    </p:spTree>
    <p:extLst>
      <p:ext uri="{BB962C8B-B14F-4D97-AF65-F5344CB8AC3E}">
        <p14:creationId xmlns:p14="http://schemas.microsoft.com/office/powerpoint/2010/main" val="258841852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82959" y="2228003"/>
            <a:ext cx="4791333" cy="576262"/>
          </a:xfrm>
        </p:spPr>
        <p:txBody>
          <a:bodyPr anchor="b">
            <a:noAutofit/>
          </a:bodyPr>
          <a:lstStyle>
            <a:lvl1pPr marL="0" indent="0">
              <a:buNone/>
              <a:defRPr sz="2200" b="0">
                <a:solidFill>
                  <a:srgbClr val="4B2D8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74924" y="2926052"/>
            <a:ext cx="5199369"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25745" y="2228003"/>
            <a:ext cx="4802180" cy="576262"/>
          </a:xfrm>
        </p:spPr>
        <p:txBody>
          <a:bodyPr anchor="b">
            <a:noAutofit/>
          </a:bodyPr>
          <a:lstStyle>
            <a:lvl1pPr marL="0" indent="0">
              <a:buNone/>
              <a:defRPr sz="2200" b="0">
                <a:solidFill>
                  <a:srgbClr val="4B2D8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21021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tr-TR"/>
              <a:t>7/7/2014</a:t>
            </a:r>
            <a:endParaRPr lang="en-US" sz="1000">
              <a:solidFill>
                <a:schemeClr val="tx1"/>
              </a:solidFill>
            </a:endParaRPr>
          </a:p>
        </p:txBody>
      </p:sp>
      <p:sp>
        <p:nvSpPr>
          <p:cNvPr id="8" name="Footer Placeholder 7"/>
          <p:cNvSpPr>
            <a:spLocks noGrp="1"/>
          </p:cNvSpPr>
          <p:nvPr>
            <p:ph type="ftr" sz="quarter" idx="11"/>
          </p:nvPr>
        </p:nvSpPr>
        <p:spPr/>
        <p:txBody>
          <a:bodyPr/>
          <a:lstStyle/>
          <a:p>
            <a:r>
              <a:rPr lang="en-US"/>
              <a:t>Lecture Notes for E Alpaydın 2014 Introduction to Machine Learning 3e © The MIT Press (V1.0)</a:t>
            </a:r>
            <a:endParaRPr lang="tr-TR"/>
          </a:p>
        </p:txBody>
      </p:sp>
      <p:sp>
        <p:nvSpPr>
          <p:cNvPr id="9" name="Slide Number Placeholder 8"/>
          <p:cNvSpPr>
            <a:spLocks noGrp="1"/>
          </p:cNvSpPr>
          <p:nvPr>
            <p:ph type="sldNum" sz="quarter" idx="12"/>
          </p:nvPr>
        </p:nvSpPr>
        <p:spPr/>
        <p:txBody>
          <a:bodyPr/>
          <a:lstStyle/>
          <a:p>
            <a:fld id="{A4DA0FD2-D456-4FC5-A587-87644C4EB2D1}" type="slidenum">
              <a:rPr lang="tr-TR" smtClean="0"/>
              <a:pPr/>
              <a:t>‹#›</a:t>
            </a:fld>
            <a:endParaRPr lang="tr-TR"/>
          </a:p>
        </p:txBody>
      </p:sp>
    </p:spTree>
    <p:extLst>
      <p:ext uri="{BB962C8B-B14F-4D97-AF65-F5344CB8AC3E}">
        <p14:creationId xmlns:p14="http://schemas.microsoft.com/office/powerpoint/2010/main" val="62257689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tr-TR"/>
              <a:t>7/7/2014</a:t>
            </a:r>
            <a:endParaRPr lang="en-US"/>
          </a:p>
        </p:txBody>
      </p:sp>
      <p:sp>
        <p:nvSpPr>
          <p:cNvPr id="4" name="Footer Placeholder 3"/>
          <p:cNvSpPr>
            <a:spLocks noGrp="1"/>
          </p:cNvSpPr>
          <p:nvPr>
            <p:ph type="ftr" sz="quarter" idx="11"/>
          </p:nvPr>
        </p:nvSpPr>
        <p:spPr/>
        <p:txBody>
          <a:bodyPr/>
          <a:lstStyle/>
          <a:p>
            <a:r>
              <a:rPr lang="en-US"/>
              <a:t>Lecture Notes for E Alpaydın 2014 Introduction to Machine Learning 3e © The MIT Press (V1.0)</a:t>
            </a:r>
            <a:endParaRPr lang="tr-TR"/>
          </a:p>
        </p:txBody>
      </p:sp>
      <p:sp>
        <p:nvSpPr>
          <p:cNvPr id="5" name="Slide Number Placeholder 4"/>
          <p:cNvSpPr>
            <a:spLocks noGrp="1"/>
          </p:cNvSpPr>
          <p:nvPr>
            <p:ph type="sldNum" sz="quarter" idx="12"/>
          </p:nvPr>
        </p:nvSpPr>
        <p:spPr/>
        <p:txBody>
          <a:bodyPr/>
          <a:lstStyle/>
          <a:p>
            <a:fld id="{DC4B51A6-28A7-47F6-AE2C-F4B123EFE551}" type="slidenum">
              <a:rPr lang="tr-TR" smtClean="0"/>
              <a:pPr/>
              <a:t>‹#›</a:t>
            </a:fld>
            <a:endParaRPr lang="tr-TR"/>
          </a:p>
        </p:txBody>
      </p:sp>
    </p:spTree>
    <p:extLst>
      <p:ext uri="{BB962C8B-B14F-4D97-AF65-F5344CB8AC3E}">
        <p14:creationId xmlns:p14="http://schemas.microsoft.com/office/powerpoint/2010/main" val="3105678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tr-TR"/>
              <a:t>7/7/2014</a:t>
            </a:r>
            <a:endParaRPr lang="en-US"/>
          </a:p>
        </p:txBody>
      </p:sp>
      <p:sp>
        <p:nvSpPr>
          <p:cNvPr id="3" name="Footer Placeholder 2"/>
          <p:cNvSpPr>
            <a:spLocks noGrp="1"/>
          </p:cNvSpPr>
          <p:nvPr>
            <p:ph type="ftr" sz="quarter" idx="11"/>
          </p:nvPr>
        </p:nvSpPr>
        <p:spPr/>
        <p:txBody>
          <a:bodyPr/>
          <a:lstStyle/>
          <a:p>
            <a:r>
              <a:rPr lang="en-US"/>
              <a:t>Lecture Notes for E Alpaydın 2014 Introduction to Machine Learning 3e © The MIT Press (V1.0)</a:t>
            </a:r>
            <a:endParaRPr lang="tr-TR"/>
          </a:p>
        </p:txBody>
      </p:sp>
      <p:sp>
        <p:nvSpPr>
          <p:cNvPr id="4" name="Slide Number Placeholder 3"/>
          <p:cNvSpPr>
            <a:spLocks noGrp="1"/>
          </p:cNvSpPr>
          <p:nvPr>
            <p:ph type="sldNum" sz="quarter" idx="12"/>
          </p:nvPr>
        </p:nvSpPr>
        <p:spPr/>
        <p:txBody>
          <a:bodyPr/>
          <a:lstStyle/>
          <a:p>
            <a:fld id="{1895849B-5B8D-4701-B904-178A9E77F54C}" type="slidenum">
              <a:rPr lang="tr-TR" smtClean="0"/>
              <a:pPr/>
              <a:t>‹#›</a:t>
            </a:fld>
            <a:endParaRPr lang="tr-TR"/>
          </a:p>
        </p:txBody>
      </p:sp>
    </p:spTree>
    <p:extLst>
      <p:ext uri="{BB962C8B-B14F-4D97-AF65-F5344CB8AC3E}">
        <p14:creationId xmlns:p14="http://schemas.microsoft.com/office/powerpoint/2010/main" val="2354099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5137" y="5262296"/>
            <a:ext cx="4715500" cy="689514"/>
          </a:xfrm>
        </p:spPr>
        <p:txBody>
          <a:bodyPr anchor="ctr"/>
          <a:lstStyle>
            <a:lvl1pPr algn="l">
              <a:defRPr sz="2000" b="0">
                <a:solidFill>
                  <a:srgbClr val="4B2D83"/>
                </a:solidFill>
              </a:defRPr>
            </a:lvl1pPr>
          </a:lstStyle>
          <a:p>
            <a:r>
              <a:rPr lang="en-US"/>
              <a:t>Click to edit Master title style</a:t>
            </a:r>
            <a:endParaRPr lang="en-US" dirty="0"/>
          </a:p>
        </p:txBody>
      </p:sp>
      <p:sp>
        <p:nvSpPr>
          <p:cNvPr id="3" name="Content Placeholder 2"/>
          <p:cNvSpPr>
            <a:spLocks noGrp="1"/>
          </p:cNvSpPr>
          <p:nvPr>
            <p:ph idx="1"/>
          </p:nvPr>
        </p:nvSpPr>
        <p:spPr>
          <a:xfrm>
            <a:off x="595199" y="601200"/>
            <a:ext cx="109872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687103"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r>
              <a:rPr lang="tr-TR"/>
              <a:t>7/7/2014</a:t>
            </a:r>
            <a:endParaRPr lang="en-US" sz="1000">
              <a:solidFill>
                <a:schemeClr val="tx1"/>
              </a:solidFill>
            </a:endParaRPr>
          </a:p>
        </p:txBody>
      </p:sp>
      <p:sp>
        <p:nvSpPr>
          <p:cNvPr id="6" name="Footer Placeholder 5"/>
          <p:cNvSpPr>
            <a:spLocks noGrp="1"/>
          </p:cNvSpPr>
          <p:nvPr>
            <p:ph type="ftr" sz="quarter" idx="11"/>
          </p:nvPr>
        </p:nvSpPr>
        <p:spPr/>
        <p:txBody>
          <a:bodyPr/>
          <a:lstStyle>
            <a:lvl1pPr>
              <a:defRPr>
                <a:solidFill>
                  <a:srgbClr val="4B2D83"/>
                </a:solidFill>
              </a:defRPr>
            </a:lvl1pPr>
          </a:lstStyle>
          <a:p>
            <a:r>
              <a:rPr lang="en-US"/>
              <a:t>Lecture Notes for E Alpaydın 2014 Introduction to Machine Learning 3e © The MIT Press (V1.0)</a:t>
            </a:r>
            <a:endParaRPr lang="tr-TR"/>
          </a:p>
        </p:txBody>
      </p:sp>
      <p:sp>
        <p:nvSpPr>
          <p:cNvPr id="7" name="Slide Number Placeholder 6"/>
          <p:cNvSpPr>
            <a:spLocks noGrp="1"/>
          </p:cNvSpPr>
          <p:nvPr>
            <p:ph type="sldNum" sz="quarter" idx="12"/>
          </p:nvPr>
        </p:nvSpPr>
        <p:spPr/>
        <p:txBody>
          <a:bodyPr/>
          <a:lstStyle>
            <a:lvl1pPr>
              <a:defRPr>
                <a:solidFill>
                  <a:srgbClr val="4B2D83"/>
                </a:solidFill>
              </a:defRPr>
            </a:lvl1pPr>
          </a:lstStyle>
          <a:p>
            <a:fld id="{A4DA0FD2-D456-4FC5-A587-87644C4EB2D1}" type="slidenum">
              <a:rPr lang="tr-TR" smtClean="0"/>
              <a:pPr/>
              <a:t>‹#›</a:t>
            </a:fld>
            <a:endParaRPr lang="tr-TR"/>
          </a:p>
        </p:txBody>
      </p:sp>
    </p:spTree>
    <p:extLst>
      <p:ext uri="{BB962C8B-B14F-4D97-AF65-F5344CB8AC3E}">
        <p14:creationId xmlns:p14="http://schemas.microsoft.com/office/powerpoint/2010/main" val="228690241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922" y="4693389"/>
            <a:ext cx="10653003"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597458" y="599725"/>
            <a:ext cx="10984941"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774922" y="5260127"/>
            <a:ext cx="10653003"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tr-TR"/>
              <a:t>7/7/2014</a:t>
            </a:r>
            <a:endParaRPr lang="en-US" sz="1000">
              <a:solidFill>
                <a:schemeClr val="tx1"/>
              </a:solidFill>
            </a:endParaRPr>
          </a:p>
        </p:txBody>
      </p:sp>
      <p:sp>
        <p:nvSpPr>
          <p:cNvPr id="6" name="Footer Placeholder 5"/>
          <p:cNvSpPr>
            <a:spLocks noGrp="1"/>
          </p:cNvSpPr>
          <p:nvPr>
            <p:ph type="ftr" sz="quarter" idx="11"/>
          </p:nvPr>
        </p:nvSpPr>
        <p:spPr/>
        <p:txBody>
          <a:bodyPr/>
          <a:lstStyle/>
          <a:p>
            <a:r>
              <a:rPr lang="en-US"/>
              <a:t>Lecture Notes for E Alpaydın 2014 Introduction to Machine Learning 3e © The MIT Press (V1.0)</a:t>
            </a:r>
            <a:endParaRPr lang="tr-TR"/>
          </a:p>
        </p:txBody>
      </p:sp>
      <p:sp>
        <p:nvSpPr>
          <p:cNvPr id="7" name="Slide Number Placeholder 6"/>
          <p:cNvSpPr>
            <a:spLocks noGrp="1"/>
          </p:cNvSpPr>
          <p:nvPr>
            <p:ph type="sldNum" sz="quarter" idx="12"/>
          </p:nvPr>
        </p:nvSpPr>
        <p:spPr/>
        <p:txBody>
          <a:bodyPr/>
          <a:lstStyle/>
          <a:p>
            <a:fld id="{A4DA0FD2-D456-4FC5-A587-87644C4EB2D1}" type="slidenum">
              <a:rPr lang="tr-TR" smtClean="0"/>
              <a:pPr/>
              <a:t>‹#›</a:t>
            </a:fld>
            <a:endParaRPr lang="tr-TR"/>
          </a:p>
        </p:txBody>
      </p:sp>
    </p:spTree>
    <p:extLst>
      <p:ext uri="{BB962C8B-B14F-4D97-AF65-F5344CB8AC3E}">
        <p14:creationId xmlns:p14="http://schemas.microsoft.com/office/powerpoint/2010/main" val="381547421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1371600"/>
          </a:xfrm>
        </p:spPr>
        <p:txBody>
          <a:bodyPr/>
          <a:lstStyle/>
          <a:p>
            <a:r>
              <a:rPr lang="en-US"/>
              <a:t>Click to edit Master title style</a:t>
            </a:r>
            <a:endParaRPr lang="tr-TR"/>
          </a:p>
        </p:txBody>
      </p:sp>
      <p:sp>
        <p:nvSpPr>
          <p:cNvPr id="3" name="Text Placeholder 2"/>
          <p:cNvSpPr>
            <a:spLocks noGrp="1"/>
          </p:cNvSpPr>
          <p:nvPr>
            <p:ph type="body" sz="half" idx="1"/>
          </p:nvPr>
        </p:nvSpPr>
        <p:spPr>
          <a:xfrm>
            <a:off x="609600" y="1981200"/>
            <a:ext cx="5384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quarter" idx="2"/>
          </p:nvPr>
        </p:nvSpPr>
        <p:spPr>
          <a:xfrm>
            <a:off x="6197600" y="1981200"/>
            <a:ext cx="53848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Content Placeholder 4"/>
          <p:cNvSpPr>
            <a:spLocks noGrp="1"/>
          </p:cNvSpPr>
          <p:nvPr>
            <p:ph sz="quarter" idx="3"/>
          </p:nvPr>
        </p:nvSpPr>
        <p:spPr>
          <a:xfrm>
            <a:off x="6197600" y="4000500"/>
            <a:ext cx="53848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10"/>
          </p:nvPr>
        </p:nvSpPr>
        <p:spPr>
          <a:xfrm>
            <a:off x="1" y="6642100"/>
            <a:ext cx="8064500" cy="215900"/>
          </a:xfrm>
        </p:spPr>
        <p:txBody>
          <a:bodyPr/>
          <a:lstStyle>
            <a:lvl1pPr>
              <a:defRPr/>
            </a:lvl1pPr>
          </a:lstStyle>
          <a:p>
            <a:r>
              <a:rPr lang="en-US"/>
              <a:t>Lecture Notes for E Alpaydın 2014 Introduction to Machine Learning 3e © The MIT Press (V1.0)</a:t>
            </a:r>
            <a:endParaRPr lang="tr-TR"/>
          </a:p>
        </p:txBody>
      </p:sp>
      <p:sp>
        <p:nvSpPr>
          <p:cNvPr id="7" name="Slide Number Placeholder 6"/>
          <p:cNvSpPr>
            <a:spLocks noGrp="1"/>
          </p:cNvSpPr>
          <p:nvPr>
            <p:ph type="sldNum" sz="quarter" idx="11"/>
          </p:nvPr>
        </p:nvSpPr>
        <p:spPr>
          <a:xfrm>
            <a:off x="8784167" y="6237288"/>
            <a:ext cx="2844800" cy="457200"/>
          </a:xfrm>
        </p:spPr>
        <p:txBody>
          <a:bodyPr/>
          <a:lstStyle>
            <a:lvl1pPr>
              <a:defRPr/>
            </a:lvl1pPr>
          </a:lstStyle>
          <a:p>
            <a:fld id="{A4DA0FD2-D456-4FC5-A587-87644C4EB2D1}" type="slidenum">
              <a:rPr lang="tr-TR" smtClean="0"/>
              <a:pPr/>
              <a:t>‹#›</a:t>
            </a:fld>
            <a:endParaRPr lang="tr-TR"/>
          </a:p>
        </p:txBody>
      </p:sp>
    </p:spTree>
    <p:extLst>
      <p:ext uri="{BB962C8B-B14F-4D97-AF65-F5344CB8AC3E}">
        <p14:creationId xmlns:p14="http://schemas.microsoft.com/office/powerpoint/2010/main" val="312340916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6159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22" y="687475"/>
            <a:ext cx="10653003" cy="1083329"/>
          </a:xfrm>
          <a:prstGeom prst="rect">
            <a:avLst/>
          </a:prstGeom>
        </p:spPr>
        <p:txBody>
          <a:bodyPr vert="horz" wrap="square" lIns="91440" tIns="0" rIns="91440" bIns="45720" rtlCol="0" anchor="ctr" anchorCtr="0">
            <a:normAutofit/>
          </a:bodyPr>
          <a:lstStyle/>
          <a:p>
            <a:r>
              <a:rPr lang="en-US" dirty="0"/>
              <a:t>Click to edit Master title style</a:t>
            </a:r>
          </a:p>
        </p:txBody>
      </p:sp>
      <p:sp>
        <p:nvSpPr>
          <p:cNvPr id="3" name="Text Placeholder 2"/>
          <p:cNvSpPr>
            <a:spLocks noGrp="1"/>
          </p:cNvSpPr>
          <p:nvPr>
            <p:ph type="body" idx="1"/>
          </p:nvPr>
        </p:nvSpPr>
        <p:spPr>
          <a:xfrm>
            <a:off x="774922" y="2228003"/>
            <a:ext cx="10653003" cy="3630794"/>
          </a:xfrm>
          <a:prstGeom prst="rect">
            <a:avLst/>
          </a:prstGeom>
        </p:spPr>
        <p:txBody>
          <a:bodyPr vert="horz" lIns="91440" tIns="45720" rIns="91440" bIns="45720" rtlCol="0" anchor="t" anchorCtr="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412436" y="5956137"/>
            <a:ext cx="2844800" cy="365125"/>
          </a:xfrm>
          <a:prstGeom prst="rect">
            <a:avLst/>
          </a:prstGeom>
        </p:spPr>
        <p:txBody>
          <a:bodyPr vert="horz" lIns="91440" tIns="45720" rIns="91440" bIns="45720" rtlCol="0" anchor="ctr"/>
          <a:lstStyle>
            <a:lvl1pPr algn="r">
              <a:defRPr sz="900">
                <a:solidFill>
                  <a:srgbClr val="4B2D83"/>
                </a:solidFill>
              </a:defRPr>
            </a:lvl1pPr>
          </a:lstStyle>
          <a:p>
            <a:r>
              <a:rPr lang="tr-TR"/>
              <a:t>7/7/2014</a:t>
            </a:r>
            <a:endParaRPr lang="en-US" sz="1000">
              <a:solidFill>
                <a:schemeClr val="tx1"/>
              </a:solidFill>
            </a:endParaRPr>
          </a:p>
        </p:txBody>
      </p:sp>
      <p:sp>
        <p:nvSpPr>
          <p:cNvPr id="5" name="Footer Placeholder 4"/>
          <p:cNvSpPr>
            <a:spLocks noGrp="1"/>
          </p:cNvSpPr>
          <p:nvPr>
            <p:ph type="ftr" sz="quarter" idx="3"/>
          </p:nvPr>
        </p:nvSpPr>
        <p:spPr>
          <a:xfrm>
            <a:off x="774924" y="5951811"/>
            <a:ext cx="6494113" cy="365125"/>
          </a:xfrm>
          <a:prstGeom prst="rect">
            <a:avLst/>
          </a:prstGeom>
        </p:spPr>
        <p:txBody>
          <a:bodyPr vert="horz" lIns="91440" tIns="45720" rIns="91440" bIns="45720" rtlCol="0" anchor="ctr"/>
          <a:lstStyle>
            <a:lvl1pPr algn="l">
              <a:defRPr sz="900" cap="all">
                <a:solidFill>
                  <a:srgbClr val="4B2D83"/>
                </a:solidFill>
              </a:defRPr>
            </a:lvl1pPr>
          </a:lstStyle>
          <a:p>
            <a:r>
              <a:rPr lang="en-US"/>
              <a:t>Lecture Notes for E Alpaydın 2014 Introduction to Machine Learning 3e © The MIT Press (V1.0)</a:t>
            </a:r>
            <a:endParaRPr lang="tr-TR"/>
          </a:p>
        </p:txBody>
      </p:sp>
      <p:sp>
        <p:nvSpPr>
          <p:cNvPr id="6" name="Slide Number Placeholder 5"/>
          <p:cNvSpPr>
            <a:spLocks noGrp="1"/>
          </p:cNvSpPr>
          <p:nvPr>
            <p:ph type="sldNum" sz="quarter" idx="4"/>
          </p:nvPr>
        </p:nvSpPr>
        <p:spPr>
          <a:xfrm>
            <a:off x="10400635" y="5956137"/>
            <a:ext cx="1027291" cy="365125"/>
          </a:xfrm>
          <a:prstGeom prst="rect">
            <a:avLst/>
          </a:prstGeom>
        </p:spPr>
        <p:txBody>
          <a:bodyPr vert="horz" lIns="91440" tIns="45720" rIns="91440" bIns="45720" rtlCol="0" anchor="ctr"/>
          <a:lstStyle>
            <a:lvl1pPr algn="r">
              <a:defRPr sz="900">
                <a:solidFill>
                  <a:srgbClr val="4B2D83"/>
                </a:solidFill>
              </a:defRPr>
            </a:lvl1pPr>
          </a:lstStyle>
          <a:p>
            <a:fld id="{A4DA0FD2-D456-4FC5-A587-87644C4EB2D1}" type="slidenum">
              <a:rPr lang="tr-TR" smtClean="0"/>
              <a:pPr/>
              <a:t>‹#›</a:t>
            </a:fld>
            <a:endParaRPr lang="tr-TR"/>
          </a:p>
        </p:txBody>
      </p:sp>
      <p:pic>
        <p:nvPicPr>
          <p:cNvPr id="8" name="Picture 7">
            <a:extLst>
              <a:ext uri="{FF2B5EF4-FFF2-40B4-BE49-F238E27FC236}">
                <a16:creationId xmlns:a16="http://schemas.microsoft.com/office/drawing/2014/main" id="{76603E0D-434A-9E56-322C-606DED7ABAC5}"/>
              </a:ext>
            </a:extLst>
          </p:cNvPr>
          <p:cNvPicPr>
            <a:picLocks noChangeAspect="1"/>
          </p:cNvPicPr>
          <p:nvPr/>
        </p:nvPicPr>
        <p:blipFill rotWithShape="1">
          <a:blip r:embed="rId13">
            <a:extLst>
              <a:ext uri="{28A0092B-C50C-407E-A947-70E740481C1C}">
                <a14:useLocalDpi xmlns:a14="http://schemas.microsoft.com/office/drawing/2010/main"/>
              </a:ext>
            </a:extLst>
          </a:blip>
          <a:srcRect/>
          <a:stretch/>
        </p:blipFill>
        <p:spPr>
          <a:xfrm>
            <a:off x="1" y="6570695"/>
            <a:ext cx="12192000" cy="299139"/>
          </a:xfrm>
          <a:prstGeom prst="rect">
            <a:avLst/>
          </a:prstGeom>
        </p:spPr>
      </p:pic>
      <p:sp>
        <p:nvSpPr>
          <p:cNvPr id="7" name="TextBox 6">
            <a:extLst>
              <a:ext uri="{FF2B5EF4-FFF2-40B4-BE49-F238E27FC236}">
                <a16:creationId xmlns:a16="http://schemas.microsoft.com/office/drawing/2014/main" id="{78F40BAB-8633-230B-3244-4D0830C8CA7A}"/>
              </a:ext>
            </a:extLst>
          </p:cNvPr>
          <p:cNvSpPr txBox="1"/>
          <p:nvPr userDrawn="1"/>
        </p:nvSpPr>
        <p:spPr>
          <a:xfrm>
            <a:off x="774921" y="6607038"/>
            <a:ext cx="11415427" cy="230832"/>
          </a:xfrm>
          <a:prstGeom prst="rect">
            <a:avLst/>
          </a:prstGeom>
          <a:noFill/>
        </p:spPr>
        <p:txBody>
          <a:bodyPr wrap="square">
            <a:spAutoFit/>
          </a:bodyPr>
          <a:lstStyle/>
          <a:p>
            <a:pPr algn="l"/>
            <a:r>
              <a:rPr lang="en-US" sz="900" b="0" dirty="0">
                <a:solidFill>
                  <a:schemeClr val="bg1"/>
                </a:solidFill>
                <a:latin typeface="Helvetica" pitchFamily="2" charset="0"/>
              </a:rPr>
              <a:t>ARCH 594/508: AI Research Seminar/Studio – AI in Architecture</a:t>
            </a:r>
            <a:endParaRPr lang="en-US" sz="900" b="0" dirty="0">
              <a:solidFill>
                <a:schemeClr val="bg1"/>
              </a:solidFill>
              <a:latin typeface="Times New Roman" panose="02020603050405020304" pitchFamily="18" charset="0"/>
              <a:ea typeface="Times New Roman" panose="02020603050405020304" pitchFamily="18" charset="0"/>
            </a:endParaRPr>
          </a:p>
        </p:txBody>
      </p:sp>
      <p:sp>
        <p:nvSpPr>
          <p:cNvPr id="9" name="TextBox 8">
            <a:extLst>
              <a:ext uri="{FF2B5EF4-FFF2-40B4-BE49-F238E27FC236}">
                <a16:creationId xmlns:a16="http://schemas.microsoft.com/office/drawing/2014/main" id="{5908E26F-5A5C-B0FC-3179-A359FC3EC7D5}"/>
              </a:ext>
            </a:extLst>
          </p:cNvPr>
          <p:cNvSpPr txBox="1"/>
          <p:nvPr userDrawn="1"/>
        </p:nvSpPr>
        <p:spPr>
          <a:xfrm>
            <a:off x="7871432" y="6597352"/>
            <a:ext cx="3429000" cy="230832"/>
          </a:xfrm>
          <a:prstGeom prst="rect">
            <a:avLst/>
          </a:prstGeom>
          <a:noFill/>
        </p:spPr>
        <p:txBody>
          <a:bodyPr wrap="square">
            <a:spAutoFit/>
          </a:bodyPr>
          <a:lstStyle/>
          <a:p>
            <a:r>
              <a:rPr lang="en-US" sz="900" b="0" dirty="0">
                <a:solidFill>
                  <a:schemeClr val="bg1"/>
                </a:solidFill>
                <a:latin typeface="Helvetica" pitchFamily="2" charset="0"/>
                <a:cs typeface="Arial" panose="020B0604020202020204" pitchFamily="34" charset="0"/>
              </a:rPr>
              <a:t>NARJES ABBASABADI, PH.D.</a:t>
            </a:r>
          </a:p>
        </p:txBody>
      </p:sp>
      <p:pic>
        <p:nvPicPr>
          <p:cNvPr id="12" name="Picture 11" descr="Graphical user interface, text&#10;&#10;Description automatically generated">
            <a:extLst>
              <a:ext uri="{FF2B5EF4-FFF2-40B4-BE49-F238E27FC236}">
                <a16:creationId xmlns:a16="http://schemas.microsoft.com/office/drawing/2014/main" id="{1309FBF8-E6ED-B105-7FBE-EE22582EBC64}"/>
              </a:ext>
            </a:extLst>
          </p:cNvPr>
          <p:cNvPicPr>
            <a:picLocks noChangeAspect="1"/>
          </p:cNvPicPr>
          <p:nvPr userDrawn="1"/>
        </p:nvPicPr>
        <p:blipFill rotWithShape="1">
          <a:blip r:embed="rId14">
            <a:extLst>
              <a:ext uri="{28A0092B-C50C-407E-A947-70E740481C1C}">
                <a14:useLocalDpi xmlns:a14="http://schemas.microsoft.com/office/drawing/2010/main"/>
              </a:ext>
            </a:extLst>
          </a:blip>
          <a:srcRect t="-9337"/>
          <a:stretch>
            <a:fillRect/>
          </a:stretch>
        </p:blipFill>
        <p:spPr>
          <a:xfrm>
            <a:off x="9552384" y="6563763"/>
            <a:ext cx="2419613" cy="274108"/>
          </a:xfrm>
          <a:prstGeom prst="rect">
            <a:avLst/>
          </a:prstGeom>
        </p:spPr>
      </p:pic>
    </p:spTree>
    <p:extLst>
      <p:ext uri="{BB962C8B-B14F-4D97-AF65-F5344CB8AC3E}">
        <p14:creationId xmlns:p14="http://schemas.microsoft.com/office/powerpoint/2010/main" val="2647080578"/>
      </p:ext>
    </p:extLst>
  </p:cSld>
  <p:clrMap bg1="lt1" tx1="dk1" bg2="lt2" tx2="dk2" accent1="accent1" accent2="accent2" accent3="accent3" accent4="accent4" accent5="accent5" accent6="accent6" hlink="hlink" folHlink="folHlink"/>
  <p:sldLayoutIdLst>
    <p:sldLayoutId id="2147484080" r:id="rId1"/>
    <p:sldLayoutId id="2147484081" r:id="rId2"/>
    <p:sldLayoutId id="2147484082" r:id="rId3"/>
    <p:sldLayoutId id="2147484083" r:id="rId4"/>
    <p:sldLayoutId id="2147484084" r:id="rId5"/>
    <p:sldLayoutId id="2147484085" r:id="rId6"/>
    <p:sldLayoutId id="2147484086" r:id="rId7"/>
    <p:sldLayoutId id="2147484087" r:id="rId8"/>
    <p:sldLayoutId id="2147484088" r:id="rId9"/>
    <p:sldLayoutId id="2147484091" r:id="rId10"/>
    <p:sldLayoutId id="2147484092" r:id="rId11"/>
  </p:sldLayoutIdLst>
  <p:hf hdr="0" ftr="0" dt="0"/>
  <p:txStyles>
    <p:titleStyle>
      <a:lvl1pPr algn="l" defTabSz="457200" rtl="0" eaLnBrk="1" latinLnBrk="0" hangingPunct="1">
        <a:spcBef>
          <a:spcPct val="0"/>
        </a:spcBef>
        <a:buNone/>
        <a:defRPr sz="2800" b="0" kern="1200" cap="all">
          <a:solidFill>
            <a:srgbClr val="4B2D83"/>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800" kern="1200">
          <a:solidFill>
            <a:schemeClr val="tx1"/>
          </a:solidFill>
          <a:latin typeface="+mn-lt"/>
          <a:ea typeface="+mn-ea"/>
          <a:cs typeface="+mn-cs"/>
        </a:defRPr>
      </a:lvl1pPr>
      <a:lvl2pPr marL="630000" indent="-306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600" kern="1200">
          <a:solidFill>
            <a:schemeClr val="tx1"/>
          </a:solidFill>
          <a:latin typeface="+mn-lt"/>
          <a:ea typeface="+mn-ea"/>
          <a:cs typeface="+mn-cs"/>
        </a:defRPr>
      </a:lvl2pPr>
      <a:lvl3pPr marL="900000" indent="-270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400" kern="1200">
          <a:solidFill>
            <a:schemeClr val="tx1"/>
          </a:solidFill>
          <a:latin typeface="+mn-lt"/>
          <a:ea typeface="+mn-ea"/>
          <a:cs typeface="+mn-cs"/>
        </a:defRPr>
      </a:lvl3pPr>
      <a:lvl4pPr marL="1242000" indent="-234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200" kern="1200">
          <a:solidFill>
            <a:schemeClr val="tx1"/>
          </a:solidFill>
          <a:latin typeface="+mn-lt"/>
          <a:ea typeface="+mn-ea"/>
          <a:cs typeface="+mn-cs"/>
        </a:defRPr>
      </a:lvl4pPr>
      <a:lvl5pPr marL="1602000" indent="-234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200" kern="1200">
          <a:solidFill>
            <a:schemeClr val="tx1"/>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nabbasab@uw.edu"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hyperlink" Target="https://publicationethics.org/guidance/cope-position/authorship-and-ai-tools" TargetMode="External"/><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hyperlink" Target="https://www.copyright.gov/ai/" TargetMode="External"/><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hyperlink" Target="https://www.aia.org/resource-center/ai-task-force" TargetMode="External"/><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hyperlink" Target="https://www.iea.org/reports/energy-and-ai/energy-demand-from-ai" TargetMode="External"/><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hyperlink" Target="https://www.iea.org/reports/energy-and-ai/energy-demand-from-ai" TargetMode="External"/><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hyperlink" Target="https://www.nist.gov/itl/ai-risk-management-framework" TargetMode="External"/><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hyperlink" Target="https://www.unesco.org/en/ethics-ai/en/recommendation-ethics" TargetMode="External"/><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3" Type="http://schemas.openxmlformats.org/officeDocument/2006/relationships/hyperlink" Target="https://www.aia.org/resource-center/ai-task-force" TargetMode="External"/><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3" Type="http://schemas.openxmlformats.org/officeDocument/2006/relationships/hyperlink" Target="https://www.nist.gov/itl/ai-risk-management-framework" TargetMode="External"/><Relationship Id="rId2" Type="http://schemas.openxmlformats.org/officeDocument/2006/relationships/hyperlink" Target="https://doi.org/10.1145/3816259" TargetMode="External"/><Relationship Id="rId1" Type="http://schemas.openxmlformats.org/officeDocument/2006/relationships/slideLayout" Target="../slideLayouts/slideLayout2.xml"/><Relationship Id="rId5" Type="http://schemas.openxmlformats.org/officeDocument/2006/relationships/hyperlink" Target="https://publicationethics.org/guidance/cope-position/authorship-and-ai-tools" TargetMode="External"/><Relationship Id="rId4" Type="http://schemas.openxmlformats.org/officeDocument/2006/relationships/hyperlink" Target="https://www.unesco.org/en/ethics-ai/recommendation" TargetMode="Externa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5B33C-6C3C-BDB0-C68B-33BFCE7E7CC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2B21E20-ACF1-51A5-4DFC-5E7AEEA1FD3A}"/>
              </a:ext>
            </a:extLst>
          </p:cNvPr>
          <p:cNvSpPr>
            <a:spLocks noGrp="1"/>
          </p:cNvSpPr>
          <p:nvPr>
            <p:ph type="sldNum" sz="quarter" idx="12"/>
          </p:nvPr>
        </p:nvSpPr>
        <p:spPr/>
        <p:txBody>
          <a:bodyPr/>
          <a:lstStyle/>
          <a:p>
            <a:fld id="{A4DA0FD2-D456-4FC5-A587-87644C4EB2D1}" type="slidenum">
              <a:rPr lang="tr-TR" smtClean="0"/>
              <a:pPr/>
              <a:t>1</a:t>
            </a:fld>
            <a:endParaRPr lang="tr-TR"/>
          </a:p>
        </p:txBody>
      </p:sp>
      <p:sp>
        <p:nvSpPr>
          <p:cNvPr id="8" name="TextBox 7">
            <a:extLst>
              <a:ext uri="{FF2B5EF4-FFF2-40B4-BE49-F238E27FC236}">
                <a16:creationId xmlns:a16="http://schemas.microsoft.com/office/drawing/2014/main" id="{388725B2-6571-62CB-7F5A-AD118C3796AA}"/>
              </a:ext>
            </a:extLst>
          </p:cNvPr>
          <p:cNvSpPr txBox="1"/>
          <p:nvPr/>
        </p:nvSpPr>
        <p:spPr>
          <a:xfrm>
            <a:off x="616998" y="5004488"/>
            <a:ext cx="4320480" cy="1308050"/>
          </a:xfrm>
          <a:prstGeom prst="rect">
            <a:avLst/>
          </a:prstGeom>
          <a:noFill/>
        </p:spPr>
        <p:txBody>
          <a:bodyPr wrap="square">
            <a:spAutoFit/>
          </a:bodyPr>
          <a:lstStyle/>
          <a:p>
            <a:endParaRPr lang="en-US" sz="1000" dirty="0">
              <a:latin typeface="Helvetica" pitchFamily="2" charset="0"/>
              <a:ea typeface="Times New Roman" panose="02020603050405020304" pitchFamily="18" charset="0"/>
            </a:endParaRPr>
          </a:p>
          <a:p>
            <a:r>
              <a:rPr lang="en-US" sz="1000" dirty="0">
                <a:latin typeface="Helvetica" pitchFamily="2" charset="0"/>
                <a:cs typeface="Arial" panose="020B0604020202020204" pitchFamily="34" charset="0"/>
              </a:rPr>
              <a:t>Narjes Abbasabadi, Ph.D. Assistant Professor </a:t>
            </a:r>
          </a:p>
          <a:p>
            <a:r>
              <a:rPr lang="en-US" sz="1000" dirty="0">
                <a:latin typeface="Helvetica" pitchFamily="2" charset="0"/>
              </a:rPr>
              <a:t>Email: </a:t>
            </a:r>
            <a:r>
              <a:rPr lang="en-US" sz="1000" dirty="0">
                <a:latin typeface="Helvetica" pitchFamily="2" charset="0"/>
                <a:hlinkClick r:id="rId3">
                  <a:extLst>
                    <a:ext uri="{A12FA001-AC4F-418D-AE19-62706E023703}">
                      <ahyp:hlinkClr xmlns:ahyp="http://schemas.microsoft.com/office/drawing/2018/hyperlinkcolor" val="tx"/>
                    </a:ext>
                  </a:extLst>
                </a:hlinkClick>
              </a:rPr>
              <a:t>nabbasab@uw.edu</a:t>
            </a:r>
            <a:endParaRPr lang="en-US" sz="1000" dirty="0">
              <a:latin typeface="Helvetica" pitchFamily="2" charset="0"/>
            </a:endParaRPr>
          </a:p>
          <a:p>
            <a:pPr>
              <a:lnSpc>
                <a:spcPct val="80000"/>
              </a:lnSpc>
              <a:spcBef>
                <a:spcPts val="152"/>
              </a:spcBef>
              <a:buClr>
                <a:schemeClr val="dk1"/>
              </a:buClr>
              <a:buSzPts val="1800"/>
            </a:pPr>
            <a:r>
              <a:rPr lang="en-US" sz="1000" dirty="0">
                <a:latin typeface="Helvetica" pitchFamily="2" charset="0"/>
                <a:sym typeface="Arial"/>
              </a:rPr>
              <a:t>Department of Architecture</a:t>
            </a:r>
          </a:p>
          <a:p>
            <a:pPr>
              <a:lnSpc>
                <a:spcPct val="80000"/>
              </a:lnSpc>
              <a:spcBef>
                <a:spcPts val="152"/>
              </a:spcBef>
              <a:buClr>
                <a:schemeClr val="dk1"/>
              </a:buClr>
              <a:buSzPts val="1800"/>
            </a:pPr>
            <a:r>
              <a:rPr lang="en-US" sz="1000" dirty="0">
                <a:latin typeface="Helvetica" pitchFamily="2" charset="0"/>
                <a:sym typeface="Arial"/>
              </a:rPr>
              <a:t>College of Built Environments</a:t>
            </a:r>
          </a:p>
          <a:p>
            <a:r>
              <a:rPr lang="en-US" sz="1000" dirty="0">
                <a:latin typeface="Helvetica" pitchFamily="2" charset="0"/>
              </a:rPr>
              <a:t>University of Washington</a:t>
            </a:r>
          </a:p>
          <a:p>
            <a:pPr>
              <a:lnSpc>
                <a:spcPct val="80000"/>
              </a:lnSpc>
              <a:spcBef>
                <a:spcPts val="152"/>
              </a:spcBef>
              <a:buClr>
                <a:schemeClr val="dk1"/>
              </a:buClr>
              <a:buSzPts val="1800"/>
            </a:pPr>
            <a:r>
              <a:rPr lang="en-US" sz="1000" dirty="0">
                <a:latin typeface="Helvetica" pitchFamily="2" charset="0"/>
              </a:rPr>
              <a:t>Website: https://</a:t>
            </a:r>
            <a:r>
              <a:rPr lang="en-US" sz="1000" dirty="0" err="1">
                <a:latin typeface="Helvetica" pitchFamily="2" charset="0"/>
              </a:rPr>
              <a:t>silab.be.uw.edu</a:t>
            </a:r>
            <a:endParaRPr lang="en-US" sz="1000" dirty="0">
              <a:latin typeface="Helvetica" pitchFamily="2" charset="0"/>
            </a:endParaRPr>
          </a:p>
          <a:p>
            <a:endParaRPr lang="en-US" sz="1000" dirty="0">
              <a:latin typeface="Helvetica" pitchFamily="2" charset="0"/>
              <a:ea typeface="Times New Roman" panose="02020603050405020304" pitchFamily="18" charset="0"/>
            </a:endParaRPr>
          </a:p>
        </p:txBody>
      </p:sp>
      <p:sp>
        <p:nvSpPr>
          <p:cNvPr id="3" name="TextBox 2">
            <a:extLst>
              <a:ext uri="{FF2B5EF4-FFF2-40B4-BE49-F238E27FC236}">
                <a16:creationId xmlns:a16="http://schemas.microsoft.com/office/drawing/2014/main" id="{A65F9DE8-D66A-CE34-B589-7521C0FE46C6}"/>
              </a:ext>
            </a:extLst>
          </p:cNvPr>
          <p:cNvSpPr txBox="1"/>
          <p:nvPr/>
        </p:nvSpPr>
        <p:spPr>
          <a:xfrm>
            <a:off x="802180" y="2492896"/>
            <a:ext cx="9596236" cy="1569660"/>
          </a:xfrm>
          <a:prstGeom prst="rect">
            <a:avLst/>
          </a:prstGeom>
          <a:noFill/>
        </p:spPr>
        <p:txBody>
          <a:bodyPr wrap="square">
            <a:spAutoFit/>
          </a:bodyPr>
          <a:lstStyle/>
          <a:p>
            <a:r>
              <a:rPr lang="en-US" sz="3200" b="1" dirty="0">
                <a:solidFill>
                  <a:srgbClr val="4B2D83"/>
                </a:solidFill>
                <a:latin typeface="Helvetica" pitchFamily="2" charset="0"/>
              </a:rPr>
              <a:t>RESPONSIBLE AI</a:t>
            </a:r>
          </a:p>
          <a:p>
            <a:endParaRPr lang="en-US" sz="3200" b="1" dirty="0">
              <a:solidFill>
                <a:srgbClr val="7030A0"/>
              </a:solidFill>
              <a:latin typeface="Helvetica" pitchFamily="2" charset="0"/>
            </a:endParaRPr>
          </a:p>
          <a:p>
            <a:endParaRPr lang="en-US" sz="3200" b="1" dirty="0">
              <a:solidFill>
                <a:srgbClr val="4B2D83"/>
              </a:solidFill>
              <a:latin typeface="Helvetica" pitchFamily="2" charset="0"/>
            </a:endParaRPr>
          </a:p>
        </p:txBody>
      </p:sp>
      <p:sp>
        <p:nvSpPr>
          <p:cNvPr id="12" name="TextBox 11">
            <a:extLst>
              <a:ext uri="{FF2B5EF4-FFF2-40B4-BE49-F238E27FC236}">
                <a16:creationId xmlns:a16="http://schemas.microsoft.com/office/drawing/2014/main" id="{16F3271D-366C-BF29-AD91-513D509DC3F7}"/>
              </a:ext>
            </a:extLst>
          </p:cNvPr>
          <p:cNvSpPr txBox="1"/>
          <p:nvPr/>
        </p:nvSpPr>
        <p:spPr>
          <a:xfrm>
            <a:off x="802180" y="1007793"/>
            <a:ext cx="8568952" cy="584775"/>
          </a:xfrm>
          <a:prstGeom prst="rect">
            <a:avLst/>
          </a:prstGeom>
          <a:noFill/>
        </p:spPr>
        <p:txBody>
          <a:bodyPr wrap="square">
            <a:spAutoFit/>
          </a:bodyPr>
          <a:lstStyle/>
          <a:p>
            <a:r>
              <a:rPr lang="en-US" sz="1600" b="1" dirty="0">
                <a:latin typeface="Helvetica" pitchFamily="2" charset="0"/>
                <a:ea typeface="Times New Roman" panose="02020603050405020304" pitchFamily="18" charset="0"/>
              </a:rPr>
              <a:t>ARCH 594/508: AI Research Seminar/Studio—AI in Architecture</a:t>
            </a:r>
          </a:p>
          <a:p>
            <a:r>
              <a:rPr lang="en-US" sz="1600" dirty="0">
                <a:latin typeface="Helvetica" pitchFamily="2" charset="0"/>
                <a:ea typeface="Times New Roman" panose="02020603050405020304" pitchFamily="18" charset="0"/>
              </a:rPr>
              <a:t>Spring 2026</a:t>
            </a:r>
          </a:p>
        </p:txBody>
      </p:sp>
    </p:spTree>
    <p:extLst>
      <p:ext uri="{BB962C8B-B14F-4D97-AF65-F5344CB8AC3E}">
        <p14:creationId xmlns:p14="http://schemas.microsoft.com/office/powerpoint/2010/main" val="3322306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8FC26-FEDB-3F98-D9F8-387E8BD8CD1A}"/>
            </a:ext>
          </a:extLst>
        </p:cNvPr>
        <p:cNvGrpSpPr/>
        <p:nvPr/>
      </p:nvGrpSpPr>
      <p:grpSpPr>
        <a:xfrm>
          <a:off x="0" y="0"/>
          <a:ext cx="0" cy="0"/>
          <a:chOff x="0" y="0"/>
          <a:chExt cx="0" cy="0"/>
        </a:xfrm>
      </p:grpSpPr>
      <p:sp>
        <p:nvSpPr>
          <p:cNvPr id="5" name="Text 3">
            <a:extLst>
              <a:ext uri="{FF2B5EF4-FFF2-40B4-BE49-F238E27FC236}">
                <a16:creationId xmlns:a16="http://schemas.microsoft.com/office/drawing/2014/main" id="{09C904EC-4043-1690-FF7B-C4573BF704BF}"/>
              </a:ext>
            </a:extLst>
          </p:cNvPr>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ea typeface="Aptos Display" pitchFamily="34" charset="-122"/>
                <a:cs typeface="Aptos Display" pitchFamily="34" charset="-120"/>
              </a:rPr>
              <a:t>Review</a:t>
            </a:r>
            <a:endParaRPr lang="en-US" sz="2500" dirty="0"/>
          </a:p>
        </p:txBody>
      </p:sp>
      <p:sp>
        <p:nvSpPr>
          <p:cNvPr id="2" name="Content Placeholder 2">
            <a:extLst>
              <a:ext uri="{FF2B5EF4-FFF2-40B4-BE49-F238E27FC236}">
                <a16:creationId xmlns:a16="http://schemas.microsoft.com/office/drawing/2014/main" id="{92367586-D370-B392-E398-3197FF24F075}"/>
              </a:ext>
            </a:extLst>
          </p:cNvPr>
          <p:cNvSpPr txBox="1">
            <a:spLocks/>
          </p:cNvSpPr>
          <p:nvPr/>
        </p:nvSpPr>
        <p:spPr>
          <a:xfrm>
            <a:off x="774922" y="2228004"/>
            <a:ext cx="10653003" cy="3630795"/>
          </a:xfrm>
          <a:prstGeom prst="rect">
            <a:avLst/>
          </a:prstGeom>
        </p:spPr>
        <p:txBody>
          <a:bodyPr>
            <a:normAutofit/>
          </a:bodyPr>
          <a:lstStyle>
            <a:lvl1pPr marL="306000" indent="-306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800" kern="1200">
                <a:solidFill>
                  <a:schemeClr val="tx1"/>
                </a:solidFill>
                <a:latin typeface="+mn-lt"/>
                <a:ea typeface="+mn-ea"/>
                <a:cs typeface="+mn-cs"/>
              </a:defRPr>
            </a:lvl1pPr>
            <a:lvl2pPr marL="630000" indent="-306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600" kern="1200">
                <a:solidFill>
                  <a:schemeClr val="tx1"/>
                </a:solidFill>
                <a:latin typeface="+mn-lt"/>
                <a:ea typeface="+mn-ea"/>
                <a:cs typeface="+mn-cs"/>
              </a:defRPr>
            </a:lvl2pPr>
            <a:lvl3pPr marL="900000" indent="-270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400" kern="1200">
                <a:solidFill>
                  <a:schemeClr val="tx1"/>
                </a:solidFill>
                <a:latin typeface="+mn-lt"/>
                <a:ea typeface="+mn-ea"/>
                <a:cs typeface="+mn-cs"/>
              </a:defRPr>
            </a:lvl3pPr>
            <a:lvl4pPr marL="1242000" indent="-234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200" kern="1200">
                <a:solidFill>
                  <a:schemeClr val="tx1"/>
                </a:solidFill>
                <a:latin typeface="+mn-lt"/>
                <a:ea typeface="+mn-ea"/>
                <a:cs typeface="+mn-cs"/>
              </a:defRPr>
            </a:lvl4pPr>
            <a:lvl5pPr marL="1602000" indent="-234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200" kern="1200">
                <a:solidFill>
                  <a:schemeClr val="tx1"/>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GB" b="1"/>
              <a:t>In our previous sessions:</a:t>
            </a:r>
          </a:p>
          <a:p>
            <a:pPr marL="0" indent="0">
              <a:buFont typeface="Wingdings 2" panose="05020102010507070707" pitchFamily="18" charset="2"/>
              <a:buNone/>
            </a:pPr>
            <a:r>
              <a:rPr lang="en-GB" b="1"/>
              <a:t>Module 3 – Deep Learning </a:t>
            </a:r>
            <a:endParaRPr lang="en-GB" b="1" dirty="0"/>
          </a:p>
        </p:txBody>
      </p:sp>
    </p:spTree>
    <p:extLst>
      <p:ext uri="{BB962C8B-B14F-4D97-AF65-F5344CB8AC3E}">
        <p14:creationId xmlns:p14="http://schemas.microsoft.com/office/powerpoint/2010/main" val="2452480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B6E88-F292-2031-9442-573B341B930B}"/>
            </a:ext>
          </a:extLst>
        </p:cNvPr>
        <p:cNvGrpSpPr/>
        <p:nvPr/>
      </p:nvGrpSpPr>
      <p:grpSpPr>
        <a:xfrm>
          <a:off x="0" y="0"/>
          <a:ext cx="0" cy="0"/>
          <a:chOff x="0" y="0"/>
          <a:chExt cx="0" cy="0"/>
        </a:xfrm>
      </p:grpSpPr>
      <p:sp>
        <p:nvSpPr>
          <p:cNvPr id="5" name="Text 3">
            <a:extLst>
              <a:ext uri="{FF2B5EF4-FFF2-40B4-BE49-F238E27FC236}">
                <a16:creationId xmlns:a16="http://schemas.microsoft.com/office/drawing/2014/main" id="{AF9922A9-C131-031D-C702-5857C0EB04B4}"/>
              </a:ext>
            </a:extLst>
          </p:cNvPr>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Agenda for today’s class</a:t>
            </a:r>
            <a:endParaRPr lang="en-US" sz="2500" dirty="0"/>
          </a:p>
        </p:txBody>
      </p:sp>
      <p:sp>
        <p:nvSpPr>
          <p:cNvPr id="6" name="Content Placeholder 2">
            <a:extLst>
              <a:ext uri="{FF2B5EF4-FFF2-40B4-BE49-F238E27FC236}">
                <a16:creationId xmlns:a16="http://schemas.microsoft.com/office/drawing/2014/main" id="{92C2FD65-0968-20AB-610F-EA22EE0872B7}"/>
              </a:ext>
            </a:extLst>
          </p:cNvPr>
          <p:cNvSpPr txBox="1">
            <a:spLocks/>
          </p:cNvSpPr>
          <p:nvPr/>
        </p:nvSpPr>
        <p:spPr>
          <a:xfrm>
            <a:off x="774922" y="2228004"/>
            <a:ext cx="10653003" cy="3630795"/>
          </a:xfrm>
          <a:prstGeom prst="rect">
            <a:avLst/>
          </a:prstGeom>
        </p:spPr>
        <p:txBody>
          <a:bodyPr>
            <a:normAutofit/>
          </a:bodyPr>
          <a:lstStyle>
            <a:lvl1pPr marL="306000" indent="-306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800" kern="1200">
                <a:solidFill>
                  <a:schemeClr val="tx1"/>
                </a:solidFill>
                <a:latin typeface="+mn-lt"/>
                <a:ea typeface="+mn-ea"/>
                <a:cs typeface="+mn-cs"/>
              </a:defRPr>
            </a:lvl1pPr>
            <a:lvl2pPr marL="630000" indent="-306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600" kern="1200">
                <a:solidFill>
                  <a:schemeClr val="tx1"/>
                </a:solidFill>
                <a:latin typeface="+mn-lt"/>
                <a:ea typeface="+mn-ea"/>
                <a:cs typeface="+mn-cs"/>
              </a:defRPr>
            </a:lvl2pPr>
            <a:lvl3pPr marL="900000" indent="-270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400" kern="1200">
                <a:solidFill>
                  <a:schemeClr val="tx1"/>
                </a:solidFill>
                <a:latin typeface="+mn-lt"/>
                <a:ea typeface="+mn-ea"/>
                <a:cs typeface="+mn-cs"/>
              </a:defRPr>
            </a:lvl3pPr>
            <a:lvl4pPr marL="1242000" indent="-234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200" kern="1200">
                <a:solidFill>
                  <a:schemeClr val="tx1"/>
                </a:solidFill>
                <a:latin typeface="+mn-lt"/>
                <a:ea typeface="+mn-ea"/>
                <a:cs typeface="+mn-cs"/>
              </a:defRPr>
            </a:lvl4pPr>
            <a:lvl5pPr marL="1602000" indent="-234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200" kern="1200">
                <a:solidFill>
                  <a:schemeClr val="tx1"/>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GB" b="1" dirty="0"/>
              <a:t>MODULE 4: RESPONSIBLE AI</a:t>
            </a:r>
          </a:p>
          <a:p>
            <a:pPr marL="0" indent="0">
              <a:buFont typeface="Wingdings 2" panose="05020102010507070707" pitchFamily="18" charset="2"/>
              <a:buNone/>
            </a:pPr>
            <a:r>
              <a:rPr lang="en-GB" b="1" dirty="0"/>
              <a:t>Ethical, societal, and governance dimensions of AI</a:t>
            </a:r>
          </a:p>
          <a:p>
            <a:r>
              <a:rPr lang="en-US" dirty="0"/>
              <a:t>Today's lecture asks: What makes an AI-assisted design research process responsible, credible, and accountable?</a:t>
            </a:r>
            <a:endParaRPr lang="en-GB" dirty="0"/>
          </a:p>
        </p:txBody>
      </p:sp>
    </p:spTree>
    <p:extLst>
      <p:ext uri="{BB962C8B-B14F-4D97-AF65-F5344CB8AC3E}">
        <p14:creationId xmlns:p14="http://schemas.microsoft.com/office/powerpoint/2010/main" val="1349932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Seminar flow</a:t>
            </a:r>
            <a:endParaRPr lang="en-US" sz="2500" dirty="0"/>
          </a:p>
        </p:txBody>
      </p:sp>
      <p:graphicFrame>
        <p:nvGraphicFramePr>
          <p:cNvPr id="11" name="Table 0"/>
          <p:cNvGraphicFramePr>
            <a:graphicFrameLocks noGrp="1"/>
          </p:cNvGraphicFramePr>
          <p:nvPr>
            <p:extLst>
              <p:ext uri="{D42A27DB-BD31-4B8C-83A1-F6EECF244321}">
                <p14:modId xmlns:p14="http://schemas.microsoft.com/office/powerpoint/2010/main" val="3389993657"/>
              </p:ext>
            </p:extLst>
          </p:nvPr>
        </p:nvGraphicFramePr>
        <p:xfrm>
          <a:off x="502920" y="1143000"/>
          <a:ext cx="10698480" cy="5074920"/>
        </p:xfrm>
        <a:graphic>
          <a:graphicData uri="http://schemas.openxmlformats.org/drawingml/2006/table">
            <a:tbl>
              <a:tblPr/>
              <a:tblGrid>
                <a:gridCol w="3572685">
                  <a:extLst>
                    <a:ext uri="{9D8B030D-6E8A-4147-A177-3AD203B41FA5}">
                      <a16:colId xmlns:a16="http://schemas.microsoft.com/office/drawing/2014/main" val="20001"/>
                    </a:ext>
                  </a:extLst>
                </a:gridCol>
                <a:gridCol w="7125795">
                  <a:extLst>
                    <a:ext uri="{9D8B030D-6E8A-4147-A177-3AD203B41FA5}">
                      <a16:colId xmlns:a16="http://schemas.microsoft.com/office/drawing/2014/main" val="20002"/>
                    </a:ext>
                  </a:extLst>
                </a:gridCol>
              </a:tblGrid>
              <a:tr h="507492">
                <a:tc>
                  <a:txBody>
                    <a:bodyPr/>
                    <a:lstStyle/>
                    <a:p>
                      <a:r>
                        <a:rPr sz="1400" dirty="0">
                          <a:solidFill>
                            <a:schemeClr val="bg1"/>
                          </a:solidFill>
                        </a:rPr>
                        <a:t>Segment</a:t>
                      </a: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4B2E83"/>
                    </a:solidFill>
                  </a:tcPr>
                </a:tc>
                <a:tc>
                  <a:txBody>
                    <a:bodyPr/>
                    <a:lstStyle/>
                    <a:p>
                      <a:r>
                        <a:rPr sz="1400" dirty="0">
                          <a:solidFill>
                            <a:schemeClr val="bg1"/>
                          </a:solidFill>
                        </a:rPr>
                        <a:t>Purpose</a:t>
                      </a: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4B2E83"/>
                    </a:solidFill>
                  </a:tcPr>
                </a:tc>
                <a:extLst>
                  <a:ext uri="{0D108BD9-81ED-4DB2-BD59-A6C34878D82A}">
                    <a16:rowId xmlns:a16="http://schemas.microsoft.com/office/drawing/2014/main" val="10000"/>
                  </a:ext>
                </a:extLst>
              </a:tr>
              <a:tr h="507492">
                <a:tc>
                  <a:txBody>
                    <a:bodyPr/>
                    <a:lstStyle/>
                    <a:p>
                      <a:r>
                        <a:rPr sz="1400"/>
                        <a:t>Opening discussion</a:t>
                      </a: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r>
                        <a:rPr sz="1400"/>
                        <a:t>Surface assumptions about AI ethics</a:t>
                      </a: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7492">
                <a:tc>
                  <a:txBody>
                    <a:bodyPr/>
                    <a:lstStyle/>
                    <a:p>
                      <a:r>
                        <a:rPr sz="1400" dirty="0"/>
                        <a:t>Reading discussion: Shehu (2026)</a:t>
                      </a: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r>
                        <a:rPr sz="1400" dirty="0"/>
                        <a:t>AI users vs. reasoners; breadth–depth tradeoff; ethics as structural</a:t>
                      </a: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extLst>
                  <a:ext uri="{0D108BD9-81ED-4DB2-BD59-A6C34878D82A}">
                    <a16:rowId xmlns:a16="http://schemas.microsoft.com/office/drawing/2014/main" val="10002"/>
                  </a:ext>
                </a:extLst>
              </a:tr>
              <a:tr h="507492">
                <a:tc>
                  <a:txBody>
                    <a:bodyPr/>
                    <a:lstStyle/>
                    <a:p>
                      <a:r>
                        <a:rPr sz="1400" dirty="0"/>
                        <a:t>Bias, data, and representation</a:t>
                      </a: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r>
                        <a:rPr sz="1400" dirty="0"/>
                        <a:t>Datasets, proxies, exclusions, and spatial inequity</a:t>
                      </a: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7492">
                <a:tc>
                  <a:txBody>
                    <a:bodyPr/>
                    <a:lstStyle/>
                    <a:p>
                      <a:r>
                        <a:rPr sz="1400" dirty="0"/>
                        <a:t>Activity 1: Bias audit</a:t>
                      </a: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r>
                        <a:rPr sz="1400" dirty="0"/>
                        <a:t>Small-group audit of an AI design</a:t>
                      </a:r>
                      <a:r>
                        <a:rPr lang="en-US" sz="1400" dirty="0"/>
                        <a:t> research</a:t>
                      </a:r>
                      <a:r>
                        <a:rPr sz="1400" dirty="0"/>
                        <a:t> workflow</a:t>
                      </a: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extLst>
                  <a:ext uri="{0D108BD9-81ED-4DB2-BD59-A6C34878D82A}">
                    <a16:rowId xmlns:a16="http://schemas.microsoft.com/office/drawing/2014/main" val="10004"/>
                  </a:ext>
                </a:extLst>
              </a:tr>
              <a:tr h="507492">
                <a:tc>
                  <a:txBody>
                    <a:bodyPr/>
                    <a:lstStyle/>
                    <a:p>
                      <a:r>
                        <a:rPr sz="1400"/>
                        <a:t>Break</a:t>
                      </a: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r>
                        <a:rPr sz="1400"/>
                        <a:t>—</a:t>
                      </a: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7492">
                <a:tc>
                  <a:txBody>
                    <a:bodyPr/>
                    <a:lstStyle/>
                    <a:p>
                      <a:r>
                        <a:rPr sz="1400" dirty="0"/>
                        <a:t>Authorship and accountability</a:t>
                      </a: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r>
                        <a:rPr sz="1400" dirty="0"/>
                        <a:t>AI assistance, originality, disclosure, and responsibility</a:t>
                      </a: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extLst>
                  <a:ext uri="{0D108BD9-81ED-4DB2-BD59-A6C34878D82A}">
                    <a16:rowId xmlns:a16="http://schemas.microsoft.com/office/drawing/2014/main" val="10006"/>
                  </a:ext>
                </a:extLst>
              </a:tr>
              <a:tr h="507492">
                <a:tc>
                  <a:txBody>
                    <a:bodyPr/>
                    <a:lstStyle/>
                    <a:p>
                      <a:r>
                        <a:rPr sz="1400" dirty="0"/>
                        <a:t>Governance and risk frameworks</a:t>
                      </a: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r>
                        <a:rPr sz="1400" dirty="0"/>
                        <a:t>NIST</a:t>
                      </a:r>
                      <a:r>
                        <a:rPr lang="en-US" sz="1400" dirty="0"/>
                        <a:t>, </a:t>
                      </a:r>
                      <a:r>
                        <a:rPr sz="1400" dirty="0"/>
                        <a:t>UNESCO/OECD, AIA/RIBA translated into project governance</a:t>
                      </a: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07492">
                <a:tc>
                  <a:txBody>
                    <a:bodyPr/>
                    <a:lstStyle/>
                    <a:p>
                      <a:r>
                        <a:rPr sz="1400" dirty="0"/>
                        <a:t>Activity 2: AI impact assessment</a:t>
                      </a: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r>
                        <a:rPr sz="1400" dirty="0"/>
                        <a:t>Apply responsible AI assessment to student projects</a:t>
                      </a: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extLst>
                  <a:ext uri="{0D108BD9-81ED-4DB2-BD59-A6C34878D82A}">
                    <a16:rowId xmlns:a16="http://schemas.microsoft.com/office/drawing/2014/main" val="10008"/>
                  </a:ext>
                </a:extLst>
              </a:tr>
              <a:tr h="507492">
                <a:tc>
                  <a:txBody>
                    <a:bodyPr/>
                    <a:lstStyle/>
                    <a:p>
                      <a:r>
                        <a:rPr sz="1400" dirty="0"/>
                        <a:t>Wrap-up</a:t>
                      </a: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r>
                        <a:rPr sz="1400" dirty="0"/>
                        <a:t>Responsible AI principles for performance-driven design</a:t>
                      </a: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4E41B-C326-4322-D951-A9696054C56B}"/>
            </a:ext>
          </a:extLst>
        </p:cNvPr>
        <p:cNvGrpSpPr/>
        <p:nvPr/>
      </p:nvGrpSpPr>
      <p:grpSpPr>
        <a:xfrm>
          <a:off x="0" y="0"/>
          <a:ext cx="0" cy="0"/>
          <a:chOff x="0" y="0"/>
          <a:chExt cx="0" cy="0"/>
        </a:xfrm>
      </p:grpSpPr>
      <p:sp>
        <p:nvSpPr>
          <p:cNvPr id="5" name="Text 3">
            <a:extLst>
              <a:ext uri="{FF2B5EF4-FFF2-40B4-BE49-F238E27FC236}">
                <a16:creationId xmlns:a16="http://schemas.microsoft.com/office/drawing/2014/main" id="{A6096A16-B717-104A-295F-51555FA8CA57}"/>
              </a:ext>
            </a:extLst>
          </p:cNvPr>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Learning outcomes</a:t>
            </a:r>
            <a:endParaRPr lang="en-US" sz="2500" dirty="0"/>
          </a:p>
        </p:txBody>
      </p:sp>
      <p:sp>
        <p:nvSpPr>
          <p:cNvPr id="2" name="Shape 9">
            <a:extLst>
              <a:ext uri="{FF2B5EF4-FFF2-40B4-BE49-F238E27FC236}">
                <a16:creationId xmlns:a16="http://schemas.microsoft.com/office/drawing/2014/main" id="{66A42F4A-3A2D-0500-40A1-58FD986A0073}"/>
              </a:ext>
            </a:extLst>
          </p:cNvPr>
          <p:cNvSpPr/>
          <p:nvPr/>
        </p:nvSpPr>
        <p:spPr>
          <a:xfrm>
            <a:off x="902272" y="1670092"/>
            <a:ext cx="438912" cy="438912"/>
          </a:xfrm>
          <a:prstGeom prst="ellipse">
            <a:avLst/>
          </a:prstGeom>
          <a:solidFill>
            <a:srgbClr val="4B2E83"/>
          </a:solidFill>
          <a:ln w="12700">
            <a:solidFill>
              <a:srgbClr val="4B2E83"/>
            </a:solidFill>
            <a:prstDash val="solid"/>
          </a:ln>
        </p:spPr>
        <p:txBody>
          <a:bodyPr/>
          <a:lstStyle/>
          <a:p>
            <a:endParaRPr/>
          </a:p>
        </p:txBody>
      </p:sp>
      <p:sp>
        <p:nvSpPr>
          <p:cNvPr id="3" name="Text 10">
            <a:extLst>
              <a:ext uri="{FF2B5EF4-FFF2-40B4-BE49-F238E27FC236}">
                <a16:creationId xmlns:a16="http://schemas.microsoft.com/office/drawing/2014/main" id="{CAFFD6D4-6CC3-79F4-4E81-E52D5D12F3F3}"/>
              </a:ext>
            </a:extLst>
          </p:cNvPr>
          <p:cNvSpPr/>
          <p:nvPr/>
        </p:nvSpPr>
        <p:spPr>
          <a:xfrm>
            <a:off x="902272" y="1770676"/>
            <a:ext cx="438912" cy="146304"/>
          </a:xfrm>
          <a:prstGeom prst="rect">
            <a:avLst/>
          </a:prstGeom>
          <a:noFill/>
          <a:ln/>
        </p:spPr>
        <p:txBody>
          <a:bodyPr wrap="square" lIns="762" tIns="762" rIns="762" bIns="762" rtlCol="0" anchor="t">
            <a:normAutofit lnSpcReduction="10000"/>
          </a:bodyPr>
          <a:lstStyle/>
          <a:p>
            <a:pPr marL="0" indent="0" algn="ctr">
              <a:lnSpc>
                <a:spcPct val="95000"/>
              </a:lnSpc>
              <a:buNone/>
            </a:pPr>
            <a:r>
              <a:rPr lang="en-US" sz="1050" b="1" dirty="0">
                <a:solidFill>
                  <a:srgbClr val="FFFFFF"/>
                </a:solidFill>
                <a:latin typeface="Aptos" pitchFamily="34" charset="0"/>
                <a:ea typeface="Aptos" pitchFamily="34" charset="-122"/>
                <a:cs typeface="Aptos" pitchFamily="34" charset="-120"/>
              </a:rPr>
              <a:t>1</a:t>
            </a:r>
            <a:endParaRPr lang="en-US" sz="1050" dirty="0"/>
          </a:p>
        </p:txBody>
      </p:sp>
      <p:sp>
        <p:nvSpPr>
          <p:cNvPr id="4" name="Text 11">
            <a:extLst>
              <a:ext uri="{FF2B5EF4-FFF2-40B4-BE49-F238E27FC236}">
                <a16:creationId xmlns:a16="http://schemas.microsoft.com/office/drawing/2014/main" id="{B4BD618B-702A-C714-BED9-560B918F2628}"/>
              </a:ext>
            </a:extLst>
          </p:cNvPr>
          <p:cNvSpPr/>
          <p:nvPr/>
        </p:nvSpPr>
        <p:spPr>
          <a:xfrm>
            <a:off x="1487488" y="1684760"/>
            <a:ext cx="9875520" cy="502920"/>
          </a:xfrm>
          <a:prstGeom prst="rect">
            <a:avLst/>
          </a:prstGeom>
          <a:noFill/>
          <a:ln/>
        </p:spPr>
        <p:txBody>
          <a:bodyPr wrap="square" lIns="762" tIns="762" rIns="762" bIns="762" rtlCol="0" anchor="t">
            <a:normAutofit/>
          </a:bodyPr>
          <a:lstStyle/>
          <a:p>
            <a:pPr marL="0" indent="0" algn="l">
              <a:lnSpc>
                <a:spcPct val="95000"/>
              </a:lnSpc>
              <a:buNone/>
            </a:pPr>
            <a:r>
              <a:rPr lang="en-US" sz="1630" dirty="0">
                <a:solidFill>
                  <a:srgbClr val="1E1E24"/>
                </a:solidFill>
                <a:latin typeface="Aptos" pitchFamily="34" charset="0"/>
                <a:ea typeface="Aptos" pitchFamily="34" charset="-122"/>
                <a:cs typeface="Aptos" pitchFamily="34" charset="-120"/>
              </a:rPr>
              <a:t>Explain why AI ethics in architecture extends beyond plagiarism and image generation.</a:t>
            </a:r>
            <a:endParaRPr lang="en-US" sz="1630" dirty="0"/>
          </a:p>
        </p:txBody>
      </p:sp>
      <p:sp>
        <p:nvSpPr>
          <p:cNvPr id="7" name="Shape 12">
            <a:extLst>
              <a:ext uri="{FF2B5EF4-FFF2-40B4-BE49-F238E27FC236}">
                <a16:creationId xmlns:a16="http://schemas.microsoft.com/office/drawing/2014/main" id="{AF598BE9-8783-7C51-FD68-019AAA58499B}"/>
              </a:ext>
            </a:extLst>
          </p:cNvPr>
          <p:cNvSpPr/>
          <p:nvPr/>
        </p:nvSpPr>
        <p:spPr>
          <a:xfrm>
            <a:off x="902272" y="2502196"/>
            <a:ext cx="438912" cy="438912"/>
          </a:xfrm>
          <a:prstGeom prst="ellipse">
            <a:avLst/>
          </a:prstGeom>
          <a:solidFill>
            <a:srgbClr val="4B2E83"/>
          </a:solidFill>
          <a:ln w="12700">
            <a:solidFill>
              <a:srgbClr val="4B2E83"/>
            </a:solidFill>
            <a:prstDash val="solid"/>
          </a:ln>
        </p:spPr>
        <p:txBody>
          <a:bodyPr/>
          <a:lstStyle/>
          <a:p>
            <a:endParaRPr/>
          </a:p>
        </p:txBody>
      </p:sp>
      <p:sp>
        <p:nvSpPr>
          <p:cNvPr id="8" name="Text 13">
            <a:extLst>
              <a:ext uri="{FF2B5EF4-FFF2-40B4-BE49-F238E27FC236}">
                <a16:creationId xmlns:a16="http://schemas.microsoft.com/office/drawing/2014/main" id="{D00B396C-531D-C3F0-12CB-C976B82D297C}"/>
              </a:ext>
            </a:extLst>
          </p:cNvPr>
          <p:cNvSpPr/>
          <p:nvPr/>
        </p:nvSpPr>
        <p:spPr>
          <a:xfrm>
            <a:off x="902272" y="2602780"/>
            <a:ext cx="438912" cy="146304"/>
          </a:xfrm>
          <a:prstGeom prst="rect">
            <a:avLst/>
          </a:prstGeom>
          <a:noFill/>
          <a:ln/>
        </p:spPr>
        <p:txBody>
          <a:bodyPr wrap="square" lIns="762" tIns="762" rIns="762" bIns="762" rtlCol="0" anchor="t">
            <a:normAutofit lnSpcReduction="10000"/>
          </a:bodyPr>
          <a:lstStyle/>
          <a:p>
            <a:pPr marL="0" indent="0" algn="ctr">
              <a:lnSpc>
                <a:spcPct val="95000"/>
              </a:lnSpc>
              <a:buNone/>
            </a:pPr>
            <a:r>
              <a:rPr lang="en-US" sz="1050" b="1" dirty="0">
                <a:solidFill>
                  <a:srgbClr val="FFFFFF"/>
                </a:solidFill>
                <a:latin typeface="Aptos" pitchFamily="34" charset="0"/>
                <a:ea typeface="Aptos" pitchFamily="34" charset="-122"/>
                <a:cs typeface="Aptos" pitchFamily="34" charset="-120"/>
              </a:rPr>
              <a:t>2</a:t>
            </a:r>
            <a:endParaRPr lang="en-US" sz="1050" dirty="0"/>
          </a:p>
        </p:txBody>
      </p:sp>
      <p:sp>
        <p:nvSpPr>
          <p:cNvPr id="12" name="Text 14">
            <a:extLst>
              <a:ext uri="{FF2B5EF4-FFF2-40B4-BE49-F238E27FC236}">
                <a16:creationId xmlns:a16="http://schemas.microsoft.com/office/drawing/2014/main" id="{4BC7A5B3-91A5-25AE-8F02-A3DD745CFDF9}"/>
              </a:ext>
            </a:extLst>
          </p:cNvPr>
          <p:cNvSpPr/>
          <p:nvPr/>
        </p:nvSpPr>
        <p:spPr>
          <a:xfrm>
            <a:off x="1487488" y="2516864"/>
            <a:ext cx="9875520" cy="502920"/>
          </a:xfrm>
          <a:prstGeom prst="rect">
            <a:avLst/>
          </a:prstGeom>
          <a:noFill/>
          <a:ln/>
        </p:spPr>
        <p:txBody>
          <a:bodyPr wrap="square" lIns="762" tIns="762" rIns="762" bIns="762" rtlCol="0" anchor="t">
            <a:normAutofit/>
          </a:bodyPr>
          <a:lstStyle/>
          <a:p>
            <a:pPr marL="0" indent="0" algn="l">
              <a:lnSpc>
                <a:spcPct val="95000"/>
              </a:lnSpc>
              <a:buNone/>
            </a:pPr>
            <a:r>
              <a:rPr lang="en-US" sz="1630" dirty="0">
                <a:solidFill>
                  <a:srgbClr val="1E1E24"/>
                </a:solidFill>
                <a:latin typeface="Aptos" pitchFamily="34" charset="0"/>
                <a:ea typeface="Aptos" pitchFamily="34" charset="-122"/>
                <a:cs typeface="Aptos" pitchFamily="34" charset="-120"/>
              </a:rPr>
              <a:t>Identify ethical risks in AI workflows: bias, data extraction, privacy, authorship, automation bias, and environmental cost.</a:t>
            </a:r>
            <a:endParaRPr lang="en-US" sz="1630" dirty="0"/>
          </a:p>
        </p:txBody>
      </p:sp>
      <p:sp>
        <p:nvSpPr>
          <p:cNvPr id="13" name="Shape 15">
            <a:extLst>
              <a:ext uri="{FF2B5EF4-FFF2-40B4-BE49-F238E27FC236}">
                <a16:creationId xmlns:a16="http://schemas.microsoft.com/office/drawing/2014/main" id="{CF6EAAF5-25D4-0982-1925-F74858068C37}"/>
              </a:ext>
            </a:extLst>
          </p:cNvPr>
          <p:cNvSpPr/>
          <p:nvPr/>
        </p:nvSpPr>
        <p:spPr>
          <a:xfrm>
            <a:off x="902272" y="3334300"/>
            <a:ext cx="438912" cy="438912"/>
          </a:xfrm>
          <a:prstGeom prst="ellipse">
            <a:avLst/>
          </a:prstGeom>
          <a:solidFill>
            <a:srgbClr val="4B2E83"/>
          </a:solidFill>
          <a:ln w="12700">
            <a:solidFill>
              <a:srgbClr val="4B2E83"/>
            </a:solidFill>
            <a:prstDash val="solid"/>
          </a:ln>
        </p:spPr>
        <p:txBody>
          <a:bodyPr/>
          <a:lstStyle/>
          <a:p>
            <a:endParaRPr/>
          </a:p>
        </p:txBody>
      </p:sp>
      <p:sp>
        <p:nvSpPr>
          <p:cNvPr id="14" name="Text 16">
            <a:extLst>
              <a:ext uri="{FF2B5EF4-FFF2-40B4-BE49-F238E27FC236}">
                <a16:creationId xmlns:a16="http://schemas.microsoft.com/office/drawing/2014/main" id="{12D9F260-9146-EC15-2121-3D67CBD257A7}"/>
              </a:ext>
            </a:extLst>
          </p:cNvPr>
          <p:cNvSpPr/>
          <p:nvPr/>
        </p:nvSpPr>
        <p:spPr>
          <a:xfrm>
            <a:off x="902272" y="3434884"/>
            <a:ext cx="438912" cy="146304"/>
          </a:xfrm>
          <a:prstGeom prst="rect">
            <a:avLst/>
          </a:prstGeom>
          <a:noFill/>
          <a:ln/>
        </p:spPr>
        <p:txBody>
          <a:bodyPr wrap="square" lIns="762" tIns="762" rIns="762" bIns="762" rtlCol="0" anchor="t">
            <a:normAutofit lnSpcReduction="10000"/>
          </a:bodyPr>
          <a:lstStyle/>
          <a:p>
            <a:pPr marL="0" indent="0" algn="ctr">
              <a:lnSpc>
                <a:spcPct val="95000"/>
              </a:lnSpc>
              <a:buNone/>
            </a:pPr>
            <a:r>
              <a:rPr lang="en-US" sz="1050" b="1" dirty="0">
                <a:solidFill>
                  <a:srgbClr val="FFFFFF"/>
                </a:solidFill>
                <a:latin typeface="Aptos" pitchFamily="34" charset="0"/>
                <a:ea typeface="Aptos" pitchFamily="34" charset="-122"/>
                <a:cs typeface="Aptos" pitchFamily="34" charset="-120"/>
              </a:rPr>
              <a:t>3</a:t>
            </a:r>
            <a:endParaRPr lang="en-US" sz="1050" dirty="0"/>
          </a:p>
        </p:txBody>
      </p:sp>
      <p:sp>
        <p:nvSpPr>
          <p:cNvPr id="15" name="Text 17">
            <a:extLst>
              <a:ext uri="{FF2B5EF4-FFF2-40B4-BE49-F238E27FC236}">
                <a16:creationId xmlns:a16="http://schemas.microsoft.com/office/drawing/2014/main" id="{46522028-B2D1-7B28-9E04-D60D2D75DB98}"/>
              </a:ext>
            </a:extLst>
          </p:cNvPr>
          <p:cNvSpPr/>
          <p:nvPr/>
        </p:nvSpPr>
        <p:spPr>
          <a:xfrm>
            <a:off x="1487488" y="3430136"/>
            <a:ext cx="9875520" cy="502920"/>
          </a:xfrm>
          <a:prstGeom prst="rect">
            <a:avLst/>
          </a:prstGeom>
          <a:noFill/>
          <a:ln/>
        </p:spPr>
        <p:txBody>
          <a:bodyPr wrap="square" lIns="762" tIns="762" rIns="762" bIns="762" rtlCol="0" anchor="t">
            <a:normAutofit/>
          </a:bodyPr>
          <a:lstStyle/>
          <a:p>
            <a:pPr marL="0" indent="0" algn="l">
              <a:lnSpc>
                <a:spcPct val="95000"/>
              </a:lnSpc>
              <a:buNone/>
            </a:pPr>
            <a:r>
              <a:rPr lang="en-US" sz="1630" dirty="0">
                <a:solidFill>
                  <a:srgbClr val="1E1E24"/>
                </a:solidFill>
                <a:latin typeface="Aptos" pitchFamily="34" charset="0"/>
                <a:ea typeface="Aptos" pitchFamily="34" charset="-122"/>
                <a:cs typeface="Aptos" pitchFamily="34" charset="-120"/>
              </a:rPr>
              <a:t>Distinguish technical performance from responsible application.</a:t>
            </a:r>
            <a:endParaRPr lang="en-US" sz="1630" dirty="0"/>
          </a:p>
        </p:txBody>
      </p:sp>
      <p:sp>
        <p:nvSpPr>
          <p:cNvPr id="16" name="Shape 18">
            <a:extLst>
              <a:ext uri="{FF2B5EF4-FFF2-40B4-BE49-F238E27FC236}">
                <a16:creationId xmlns:a16="http://schemas.microsoft.com/office/drawing/2014/main" id="{FD404C70-8505-CEB7-D606-FCEF46F02D6A}"/>
              </a:ext>
            </a:extLst>
          </p:cNvPr>
          <p:cNvSpPr/>
          <p:nvPr/>
        </p:nvSpPr>
        <p:spPr>
          <a:xfrm>
            <a:off x="902272" y="4166404"/>
            <a:ext cx="438912" cy="438912"/>
          </a:xfrm>
          <a:prstGeom prst="ellipse">
            <a:avLst/>
          </a:prstGeom>
          <a:solidFill>
            <a:srgbClr val="4B2E83"/>
          </a:solidFill>
          <a:ln w="12700">
            <a:solidFill>
              <a:srgbClr val="4B2E83"/>
            </a:solidFill>
            <a:prstDash val="solid"/>
          </a:ln>
        </p:spPr>
        <p:txBody>
          <a:bodyPr/>
          <a:lstStyle/>
          <a:p>
            <a:endParaRPr/>
          </a:p>
        </p:txBody>
      </p:sp>
      <p:sp>
        <p:nvSpPr>
          <p:cNvPr id="17" name="Text 19">
            <a:extLst>
              <a:ext uri="{FF2B5EF4-FFF2-40B4-BE49-F238E27FC236}">
                <a16:creationId xmlns:a16="http://schemas.microsoft.com/office/drawing/2014/main" id="{ABA3C897-14F6-4E82-25DC-AAFA0B7C793B}"/>
              </a:ext>
            </a:extLst>
          </p:cNvPr>
          <p:cNvSpPr/>
          <p:nvPr/>
        </p:nvSpPr>
        <p:spPr>
          <a:xfrm>
            <a:off x="902272" y="4266988"/>
            <a:ext cx="438912" cy="146304"/>
          </a:xfrm>
          <a:prstGeom prst="rect">
            <a:avLst/>
          </a:prstGeom>
          <a:noFill/>
          <a:ln/>
        </p:spPr>
        <p:txBody>
          <a:bodyPr wrap="square" lIns="762" tIns="762" rIns="762" bIns="762" rtlCol="0" anchor="t">
            <a:normAutofit lnSpcReduction="10000"/>
          </a:bodyPr>
          <a:lstStyle/>
          <a:p>
            <a:pPr marL="0" indent="0" algn="ctr">
              <a:lnSpc>
                <a:spcPct val="95000"/>
              </a:lnSpc>
              <a:buNone/>
            </a:pPr>
            <a:r>
              <a:rPr lang="en-US" sz="1050" b="1" dirty="0">
                <a:solidFill>
                  <a:srgbClr val="FFFFFF"/>
                </a:solidFill>
                <a:latin typeface="Aptos" pitchFamily="34" charset="0"/>
                <a:ea typeface="Aptos" pitchFamily="34" charset="-122"/>
                <a:cs typeface="Aptos" pitchFamily="34" charset="-120"/>
              </a:rPr>
              <a:t>4</a:t>
            </a:r>
            <a:endParaRPr lang="en-US" sz="1050" dirty="0"/>
          </a:p>
        </p:txBody>
      </p:sp>
      <p:sp>
        <p:nvSpPr>
          <p:cNvPr id="18" name="Text 20">
            <a:extLst>
              <a:ext uri="{FF2B5EF4-FFF2-40B4-BE49-F238E27FC236}">
                <a16:creationId xmlns:a16="http://schemas.microsoft.com/office/drawing/2014/main" id="{7D8D99E3-ECA2-6F96-30AA-71A6357FB25B}"/>
              </a:ext>
            </a:extLst>
          </p:cNvPr>
          <p:cNvSpPr/>
          <p:nvPr/>
        </p:nvSpPr>
        <p:spPr>
          <a:xfrm>
            <a:off x="1487488" y="4294232"/>
            <a:ext cx="9875520" cy="502920"/>
          </a:xfrm>
          <a:prstGeom prst="rect">
            <a:avLst/>
          </a:prstGeom>
          <a:noFill/>
          <a:ln/>
        </p:spPr>
        <p:txBody>
          <a:bodyPr wrap="square" lIns="762" tIns="762" rIns="762" bIns="762" rtlCol="0" anchor="t">
            <a:normAutofit/>
          </a:bodyPr>
          <a:lstStyle/>
          <a:p>
            <a:pPr marL="0" indent="0" algn="l">
              <a:lnSpc>
                <a:spcPct val="95000"/>
              </a:lnSpc>
              <a:buNone/>
            </a:pPr>
            <a:r>
              <a:rPr lang="en-US" sz="1630" dirty="0">
                <a:solidFill>
                  <a:srgbClr val="1E1E24"/>
                </a:solidFill>
                <a:latin typeface="Aptos" pitchFamily="34" charset="0"/>
                <a:ea typeface="Aptos" pitchFamily="34" charset="-122"/>
                <a:cs typeface="Aptos" pitchFamily="34" charset="-120"/>
              </a:rPr>
              <a:t>Apply a basic AI impact assessment to a performance-driven design workflow.</a:t>
            </a:r>
            <a:endParaRPr lang="en-US" sz="1630" dirty="0"/>
          </a:p>
        </p:txBody>
      </p:sp>
      <p:sp>
        <p:nvSpPr>
          <p:cNvPr id="19" name="Shape 21">
            <a:extLst>
              <a:ext uri="{FF2B5EF4-FFF2-40B4-BE49-F238E27FC236}">
                <a16:creationId xmlns:a16="http://schemas.microsoft.com/office/drawing/2014/main" id="{053C7682-B0C8-7386-6C52-B5B7769C195E}"/>
              </a:ext>
            </a:extLst>
          </p:cNvPr>
          <p:cNvSpPr/>
          <p:nvPr/>
        </p:nvSpPr>
        <p:spPr>
          <a:xfrm>
            <a:off x="902272" y="4998508"/>
            <a:ext cx="438912" cy="438912"/>
          </a:xfrm>
          <a:prstGeom prst="ellipse">
            <a:avLst/>
          </a:prstGeom>
          <a:solidFill>
            <a:srgbClr val="4B2E83"/>
          </a:solidFill>
          <a:ln w="12700">
            <a:solidFill>
              <a:srgbClr val="4B2E83"/>
            </a:solidFill>
            <a:prstDash val="solid"/>
          </a:ln>
        </p:spPr>
        <p:txBody>
          <a:bodyPr/>
          <a:lstStyle/>
          <a:p>
            <a:endParaRPr/>
          </a:p>
        </p:txBody>
      </p:sp>
      <p:sp>
        <p:nvSpPr>
          <p:cNvPr id="20" name="Text 22">
            <a:extLst>
              <a:ext uri="{FF2B5EF4-FFF2-40B4-BE49-F238E27FC236}">
                <a16:creationId xmlns:a16="http://schemas.microsoft.com/office/drawing/2014/main" id="{E1F3C39E-21CC-BB6F-9AFD-737A096D2729}"/>
              </a:ext>
            </a:extLst>
          </p:cNvPr>
          <p:cNvSpPr/>
          <p:nvPr/>
        </p:nvSpPr>
        <p:spPr>
          <a:xfrm>
            <a:off x="902272" y="5099092"/>
            <a:ext cx="438912" cy="146304"/>
          </a:xfrm>
          <a:prstGeom prst="rect">
            <a:avLst/>
          </a:prstGeom>
          <a:noFill/>
          <a:ln/>
        </p:spPr>
        <p:txBody>
          <a:bodyPr wrap="square" lIns="762" tIns="762" rIns="762" bIns="762" rtlCol="0" anchor="t">
            <a:normAutofit lnSpcReduction="10000"/>
          </a:bodyPr>
          <a:lstStyle/>
          <a:p>
            <a:pPr marL="0" indent="0" algn="ctr">
              <a:lnSpc>
                <a:spcPct val="95000"/>
              </a:lnSpc>
              <a:buNone/>
            </a:pPr>
            <a:r>
              <a:rPr lang="en-US" sz="1050" b="1" dirty="0">
                <a:solidFill>
                  <a:srgbClr val="FFFFFF"/>
                </a:solidFill>
                <a:latin typeface="Aptos" pitchFamily="34" charset="0"/>
                <a:ea typeface="Aptos" pitchFamily="34" charset="-122"/>
                <a:cs typeface="Aptos" pitchFamily="34" charset="-120"/>
              </a:rPr>
              <a:t>5</a:t>
            </a:r>
            <a:endParaRPr lang="en-US" sz="1050" dirty="0"/>
          </a:p>
        </p:txBody>
      </p:sp>
      <p:sp>
        <p:nvSpPr>
          <p:cNvPr id="21" name="Text 23">
            <a:extLst>
              <a:ext uri="{FF2B5EF4-FFF2-40B4-BE49-F238E27FC236}">
                <a16:creationId xmlns:a16="http://schemas.microsoft.com/office/drawing/2014/main" id="{F2C2B116-AE54-AECC-0AD5-FA502C468699}"/>
              </a:ext>
            </a:extLst>
          </p:cNvPr>
          <p:cNvSpPr/>
          <p:nvPr/>
        </p:nvSpPr>
        <p:spPr>
          <a:xfrm>
            <a:off x="1487488" y="5086320"/>
            <a:ext cx="9875520" cy="502920"/>
          </a:xfrm>
          <a:prstGeom prst="rect">
            <a:avLst/>
          </a:prstGeom>
          <a:noFill/>
          <a:ln/>
        </p:spPr>
        <p:txBody>
          <a:bodyPr wrap="square" lIns="762" tIns="762" rIns="762" bIns="762" rtlCol="0" anchor="t">
            <a:normAutofit/>
          </a:bodyPr>
          <a:lstStyle/>
          <a:p>
            <a:pPr marL="0" indent="0" algn="l">
              <a:lnSpc>
                <a:spcPct val="95000"/>
              </a:lnSpc>
              <a:buNone/>
            </a:pPr>
            <a:r>
              <a:rPr lang="en-US" sz="1630" dirty="0">
                <a:solidFill>
                  <a:srgbClr val="1E1E24"/>
                </a:solidFill>
                <a:latin typeface="Aptos" pitchFamily="34" charset="0"/>
                <a:ea typeface="Aptos" pitchFamily="34" charset="-122"/>
                <a:cs typeface="Aptos" pitchFamily="34" charset="-120"/>
              </a:rPr>
              <a:t>Propose governance strategies for AI use in design research, studio work, and professional practice.</a:t>
            </a:r>
            <a:endParaRPr lang="en-US" sz="1630" dirty="0"/>
          </a:p>
        </p:txBody>
      </p:sp>
      <p:sp>
        <p:nvSpPr>
          <p:cNvPr id="22" name="Text 4">
            <a:extLst>
              <a:ext uri="{FF2B5EF4-FFF2-40B4-BE49-F238E27FC236}">
                <a16:creationId xmlns:a16="http://schemas.microsoft.com/office/drawing/2014/main" id="{866ABC62-0035-08B5-FC98-C73A8F54EC32}"/>
              </a:ext>
            </a:extLst>
          </p:cNvPr>
          <p:cNvSpPr/>
          <p:nvPr/>
        </p:nvSpPr>
        <p:spPr>
          <a:xfrm>
            <a:off x="525428" y="854756"/>
            <a:ext cx="10241280" cy="237744"/>
          </a:xfrm>
          <a:prstGeom prst="rect">
            <a:avLst/>
          </a:prstGeom>
          <a:noFill/>
          <a:ln/>
        </p:spPr>
        <p:txBody>
          <a:bodyPr wrap="square" lIns="0" tIns="0" rIns="0" bIns="0" rtlCol="0" anchor="ctr"/>
          <a:lstStyle/>
          <a:p>
            <a:pPr marL="0" indent="0">
              <a:buNone/>
            </a:pPr>
            <a:r>
              <a:rPr lang="en-US" sz="1180" dirty="0">
                <a:solidFill>
                  <a:srgbClr val="5B5B66"/>
                </a:solidFill>
                <a:latin typeface="Aptos" pitchFamily="34" charset="0"/>
                <a:ea typeface="Aptos" pitchFamily="34" charset="-122"/>
                <a:cs typeface="Aptos" pitchFamily="34" charset="-120"/>
              </a:rPr>
              <a:t>By the end of this session, students should be able to...</a:t>
            </a:r>
            <a:endParaRPr lang="en-US" sz="1180" dirty="0"/>
          </a:p>
        </p:txBody>
      </p:sp>
    </p:spTree>
    <p:extLst>
      <p:ext uri="{BB962C8B-B14F-4D97-AF65-F5344CB8AC3E}">
        <p14:creationId xmlns:p14="http://schemas.microsoft.com/office/powerpoint/2010/main" val="3843473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CA055-395C-5D32-6A2A-5DA28B03AFD1}"/>
            </a:ext>
          </a:extLst>
        </p:cNvPr>
        <p:cNvGrpSpPr/>
        <p:nvPr/>
      </p:nvGrpSpPr>
      <p:grpSpPr>
        <a:xfrm>
          <a:off x="0" y="0"/>
          <a:ext cx="0" cy="0"/>
          <a:chOff x="0" y="0"/>
          <a:chExt cx="0" cy="0"/>
        </a:xfrm>
      </p:grpSpPr>
      <p:sp>
        <p:nvSpPr>
          <p:cNvPr id="5" name="Text 3">
            <a:extLst>
              <a:ext uri="{FF2B5EF4-FFF2-40B4-BE49-F238E27FC236}">
                <a16:creationId xmlns:a16="http://schemas.microsoft.com/office/drawing/2014/main" id="{99F77382-47D5-AE05-62AD-D09AEBD1954C}"/>
              </a:ext>
            </a:extLst>
          </p:cNvPr>
          <p:cNvSpPr/>
          <p:nvPr/>
        </p:nvSpPr>
        <p:spPr>
          <a:xfrm>
            <a:off x="502920" y="320040"/>
            <a:ext cx="10698480" cy="457200"/>
          </a:xfrm>
          <a:prstGeom prst="rect">
            <a:avLst/>
          </a:prstGeom>
          <a:noFill/>
          <a:ln/>
        </p:spPr>
        <p:txBody>
          <a:bodyPr wrap="square" lIns="0" tIns="0" rIns="0" bIns="0" rtlCol="0" anchor="ctr">
            <a:normAutofit fontScale="85000" lnSpcReduction="10000"/>
          </a:bodyPr>
          <a:lstStyle/>
          <a:p>
            <a:pPr marL="0" indent="0">
              <a:buNone/>
            </a:pPr>
            <a:r>
              <a:rPr lang="en-US" sz="2500" b="1" dirty="0">
                <a:solidFill>
                  <a:srgbClr val="1E1E24"/>
                </a:solidFill>
                <a:ea typeface="Aptos Display" pitchFamily="34" charset="-122"/>
                <a:cs typeface="Aptos Display" pitchFamily="34" charset="-120"/>
              </a:rPr>
              <a:t>Where does ethical responsibility enter an AI-assisted design research workflow?</a:t>
            </a:r>
          </a:p>
        </p:txBody>
      </p:sp>
      <p:sp>
        <p:nvSpPr>
          <p:cNvPr id="11" name="Shape 9">
            <a:extLst>
              <a:ext uri="{FF2B5EF4-FFF2-40B4-BE49-F238E27FC236}">
                <a16:creationId xmlns:a16="http://schemas.microsoft.com/office/drawing/2014/main" id="{E2CB08AC-253E-AF75-4013-2ADC46E10691}"/>
              </a:ext>
            </a:extLst>
          </p:cNvPr>
          <p:cNvSpPr/>
          <p:nvPr/>
        </p:nvSpPr>
        <p:spPr>
          <a:xfrm>
            <a:off x="502920" y="3003800"/>
            <a:ext cx="1161288" cy="713232"/>
          </a:xfrm>
          <a:prstGeom prst="roundRect">
            <a:avLst>
              <a:gd name="adj" fmla="val 7692"/>
            </a:avLst>
          </a:prstGeom>
          <a:solidFill>
            <a:srgbClr val="EEE9F7"/>
          </a:solidFill>
          <a:ln w="12700">
            <a:solidFill>
              <a:srgbClr val="EEE9F7"/>
            </a:solidFill>
            <a:prstDash val="solid"/>
          </a:ln>
        </p:spPr>
        <p:txBody>
          <a:bodyPr/>
          <a:lstStyle/>
          <a:p>
            <a:endParaRPr sz="1200"/>
          </a:p>
        </p:txBody>
      </p:sp>
      <p:sp>
        <p:nvSpPr>
          <p:cNvPr id="12" name="Text 10">
            <a:extLst>
              <a:ext uri="{FF2B5EF4-FFF2-40B4-BE49-F238E27FC236}">
                <a16:creationId xmlns:a16="http://schemas.microsoft.com/office/drawing/2014/main" id="{5EF79382-3426-E71C-CF65-5EBEAE118D96}"/>
              </a:ext>
            </a:extLst>
          </p:cNvPr>
          <p:cNvSpPr/>
          <p:nvPr/>
        </p:nvSpPr>
        <p:spPr>
          <a:xfrm>
            <a:off x="576072" y="3131816"/>
            <a:ext cx="1014984" cy="457200"/>
          </a:xfrm>
          <a:prstGeom prst="rect">
            <a:avLst/>
          </a:prstGeom>
          <a:noFill/>
          <a:ln/>
        </p:spPr>
        <p:txBody>
          <a:bodyPr wrap="square" lIns="762" tIns="762" rIns="762" bIns="762" rtlCol="0" anchor="ctr">
            <a:normAutofit/>
          </a:bodyPr>
          <a:lstStyle/>
          <a:p>
            <a:pPr marL="0" indent="0" algn="ctr">
              <a:lnSpc>
                <a:spcPct val="95000"/>
              </a:lnSpc>
              <a:buNone/>
            </a:pPr>
            <a:r>
              <a:rPr lang="en-US" sz="1200" b="1" dirty="0">
                <a:solidFill>
                  <a:srgbClr val="1E1E24"/>
                </a:solidFill>
                <a:ea typeface="Aptos" pitchFamily="34" charset="-122"/>
                <a:cs typeface="Aptos" pitchFamily="34" charset="-120"/>
              </a:rPr>
              <a:t>Problem framing</a:t>
            </a:r>
            <a:endParaRPr lang="en-US" sz="1200" dirty="0"/>
          </a:p>
        </p:txBody>
      </p:sp>
      <p:sp>
        <p:nvSpPr>
          <p:cNvPr id="13" name="Shape 11">
            <a:extLst>
              <a:ext uri="{FF2B5EF4-FFF2-40B4-BE49-F238E27FC236}">
                <a16:creationId xmlns:a16="http://schemas.microsoft.com/office/drawing/2014/main" id="{87954ACE-05EE-5E75-6D4D-3442DFECC668}"/>
              </a:ext>
            </a:extLst>
          </p:cNvPr>
          <p:cNvSpPr/>
          <p:nvPr/>
        </p:nvSpPr>
        <p:spPr>
          <a:xfrm>
            <a:off x="1682496" y="3360416"/>
            <a:ext cx="73152" cy="0"/>
          </a:xfrm>
          <a:prstGeom prst="line">
            <a:avLst/>
          </a:prstGeom>
          <a:noFill/>
          <a:ln w="15240">
            <a:solidFill>
              <a:srgbClr val="B7A57A"/>
            </a:solidFill>
            <a:prstDash val="solid"/>
            <a:headEnd type="none"/>
            <a:tailEnd type="triangle"/>
          </a:ln>
        </p:spPr>
        <p:txBody>
          <a:bodyPr/>
          <a:lstStyle/>
          <a:p>
            <a:endParaRPr sz="1200"/>
          </a:p>
        </p:txBody>
      </p:sp>
      <p:sp>
        <p:nvSpPr>
          <p:cNvPr id="14" name="Shape 12">
            <a:extLst>
              <a:ext uri="{FF2B5EF4-FFF2-40B4-BE49-F238E27FC236}">
                <a16:creationId xmlns:a16="http://schemas.microsoft.com/office/drawing/2014/main" id="{0756A028-95AB-29B7-727C-9F6BAA455E80}"/>
              </a:ext>
            </a:extLst>
          </p:cNvPr>
          <p:cNvSpPr/>
          <p:nvPr/>
        </p:nvSpPr>
        <p:spPr>
          <a:xfrm>
            <a:off x="1773936" y="3003800"/>
            <a:ext cx="1161288" cy="713232"/>
          </a:xfrm>
          <a:prstGeom prst="roundRect">
            <a:avLst>
              <a:gd name="adj" fmla="val 7692"/>
            </a:avLst>
          </a:prstGeom>
          <a:solidFill>
            <a:srgbClr val="FFFFFF"/>
          </a:solidFill>
          <a:ln w="12700">
            <a:solidFill>
              <a:srgbClr val="E9E6DF"/>
            </a:solidFill>
            <a:prstDash val="solid"/>
          </a:ln>
        </p:spPr>
        <p:txBody>
          <a:bodyPr/>
          <a:lstStyle/>
          <a:p>
            <a:endParaRPr sz="1200"/>
          </a:p>
        </p:txBody>
      </p:sp>
      <p:sp>
        <p:nvSpPr>
          <p:cNvPr id="15" name="Text 13">
            <a:extLst>
              <a:ext uri="{FF2B5EF4-FFF2-40B4-BE49-F238E27FC236}">
                <a16:creationId xmlns:a16="http://schemas.microsoft.com/office/drawing/2014/main" id="{34B2714A-44A8-DD36-C784-351511ECB6E1}"/>
              </a:ext>
            </a:extLst>
          </p:cNvPr>
          <p:cNvSpPr/>
          <p:nvPr/>
        </p:nvSpPr>
        <p:spPr>
          <a:xfrm>
            <a:off x="1847088" y="3131816"/>
            <a:ext cx="1014984" cy="457200"/>
          </a:xfrm>
          <a:prstGeom prst="rect">
            <a:avLst/>
          </a:prstGeom>
          <a:noFill/>
          <a:ln/>
        </p:spPr>
        <p:txBody>
          <a:bodyPr wrap="square" lIns="762" tIns="762" rIns="762" bIns="762" rtlCol="0" anchor="ctr">
            <a:normAutofit/>
          </a:bodyPr>
          <a:lstStyle/>
          <a:p>
            <a:pPr marL="0" indent="0" algn="ctr">
              <a:lnSpc>
                <a:spcPct val="95000"/>
              </a:lnSpc>
              <a:buNone/>
            </a:pPr>
            <a:r>
              <a:rPr lang="en-US" sz="1200" dirty="0">
                <a:solidFill>
                  <a:srgbClr val="1E1E24"/>
                </a:solidFill>
                <a:ea typeface="Aptos" pitchFamily="34" charset="-122"/>
                <a:cs typeface="Aptos" pitchFamily="34" charset="-120"/>
              </a:rPr>
              <a:t>Data collection</a:t>
            </a:r>
            <a:endParaRPr lang="en-US" sz="1200" dirty="0"/>
          </a:p>
        </p:txBody>
      </p:sp>
      <p:sp>
        <p:nvSpPr>
          <p:cNvPr id="16" name="Shape 14">
            <a:extLst>
              <a:ext uri="{FF2B5EF4-FFF2-40B4-BE49-F238E27FC236}">
                <a16:creationId xmlns:a16="http://schemas.microsoft.com/office/drawing/2014/main" id="{D87D15B4-013A-F140-DF26-F7E145B98D60}"/>
              </a:ext>
            </a:extLst>
          </p:cNvPr>
          <p:cNvSpPr/>
          <p:nvPr/>
        </p:nvSpPr>
        <p:spPr>
          <a:xfrm>
            <a:off x="2953512" y="3360416"/>
            <a:ext cx="73152" cy="0"/>
          </a:xfrm>
          <a:prstGeom prst="line">
            <a:avLst/>
          </a:prstGeom>
          <a:noFill/>
          <a:ln w="15240">
            <a:solidFill>
              <a:srgbClr val="B7A57A"/>
            </a:solidFill>
            <a:prstDash val="solid"/>
            <a:headEnd type="none"/>
            <a:tailEnd type="triangle"/>
          </a:ln>
        </p:spPr>
        <p:txBody>
          <a:bodyPr/>
          <a:lstStyle/>
          <a:p>
            <a:endParaRPr sz="1200"/>
          </a:p>
        </p:txBody>
      </p:sp>
      <p:sp>
        <p:nvSpPr>
          <p:cNvPr id="17" name="Shape 15">
            <a:extLst>
              <a:ext uri="{FF2B5EF4-FFF2-40B4-BE49-F238E27FC236}">
                <a16:creationId xmlns:a16="http://schemas.microsoft.com/office/drawing/2014/main" id="{B4FAF209-8C79-86A6-8582-DB48CE78DF50}"/>
              </a:ext>
            </a:extLst>
          </p:cNvPr>
          <p:cNvSpPr/>
          <p:nvPr/>
        </p:nvSpPr>
        <p:spPr>
          <a:xfrm>
            <a:off x="3044952" y="3003800"/>
            <a:ext cx="1161288" cy="713232"/>
          </a:xfrm>
          <a:prstGeom prst="roundRect">
            <a:avLst>
              <a:gd name="adj" fmla="val 7692"/>
            </a:avLst>
          </a:prstGeom>
          <a:solidFill>
            <a:srgbClr val="EEE9F7"/>
          </a:solidFill>
          <a:ln w="12700">
            <a:solidFill>
              <a:srgbClr val="EEE9F7"/>
            </a:solidFill>
            <a:prstDash val="solid"/>
          </a:ln>
        </p:spPr>
        <p:txBody>
          <a:bodyPr/>
          <a:lstStyle/>
          <a:p>
            <a:endParaRPr sz="1200"/>
          </a:p>
        </p:txBody>
      </p:sp>
      <p:sp>
        <p:nvSpPr>
          <p:cNvPr id="18" name="Text 16">
            <a:extLst>
              <a:ext uri="{FF2B5EF4-FFF2-40B4-BE49-F238E27FC236}">
                <a16:creationId xmlns:a16="http://schemas.microsoft.com/office/drawing/2014/main" id="{D2ED133D-4ACF-887C-992A-1816BBA4331E}"/>
              </a:ext>
            </a:extLst>
          </p:cNvPr>
          <p:cNvSpPr/>
          <p:nvPr/>
        </p:nvSpPr>
        <p:spPr>
          <a:xfrm>
            <a:off x="3118104" y="3131816"/>
            <a:ext cx="1014984" cy="457200"/>
          </a:xfrm>
          <a:prstGeom prst="rect">
            <a:avLst/>
          </a:prstGeom>
          <a:noFill/>
          <a:ln/>
        </p:spPr>
        <p:txBody>
          <a:bodyPr wrap="square" lIns="762" tIns="762" rIns="762" bIns="762" rtlCol="0" anchor="ctr">
            <a:normAutofit/>
          </a:bodyPr>
          <a:lstStyle/>
          <a:p>
            <a:pPr marL="0" indent="0" algn="ctr">
              <a:lnSpc>
                <a:spcPct val="95000"/>
              </a:lnSpc>
              <a:buNone/>
            </a:pPr>
            <a:r>
              <a:rPr lang="en-US" sz="1200" dirty="0">
                <a:solidFill>
                  <a:srgbClr val="1E1E24"/>
                </a:solidFill>
                <a:ea typeface="Aptos" pitchFamily="34" charset="-122"/>
                <a:cs typeface="Aptos" pitchFamily="34" charset="-120"/>
              </a:rPr>
              <a:t>Model training</a:t>
            </a:r>
            <a:endParaRPr lang="en-US" sz="1200" dirty="0"/>
          </a:p>
        </p:txBody>
      </p:sp>
      <p:sp>
        <p:nvSpPr>
          <p:cNvPr id="19" name="Shape 17">
            <a:extLst>
              <a:ext uri="{FF2B5EF4-FFF2-40B4-BE49-F238E27FC236}">
                <a16:creationId xmlns:a16="http://schemas.microsoft.com/office/drawing/2014/main" id="{B8B6591E-E58D-073D-4B10-DB7D3B84722E}"/>
              </a:ext>
            </a:extLst>
          </p:cNvPr>
          <p:cNvSpPr/>
          <p:nvPr/>
        </p:nvSpPr>
        <p:spPr>
          <a:xfrm>
            <a:off x="4224528" y="3360416"/>
            <a:ext cx="73152" cy="0"/>
          </a:xfrm>
          <a:prstGeom prst="line">
            <a:avLst/>
          </a:prstGeom>
          <a:noFill/>
          <a:ln w="15240">
            <a:solidFill>
              <a:srgbClr val="B7A57A"/>
            </a:solidFill>
            <a:prstDash val="solid"/>
            <a:headEnd type="none"/>
            <a:tailEnd type="triangle"/>
          </a:ln>
        </p:spPr>
        <p:txBody>
          <a:bodyPr/>
          <a:lstStyle/>
          <a:p>
            <a:endParaRPr sz="1200"/>
          </a:p>
        </p:txBody>
      </p:sp>
      <p:sp>
        <p:nvSpPr>
          <p:cNvPr id="20" name="Shape 18">
            <a:extLst>
              <a:ext uri="{FF2B5EF4-FFF2-40B4-BE49-F238E27FC236}">
                <a16:creationId xmlns:a16="http://schemas.microsoft.com/office/drawing/2014/main" id="{78DAFCD0-C590-8532-93A9-1F2151098B37}"/>
              </a:ext>
            </a:extLst>
          </p:cNvPr>
          <p:cNvSpPr/>
          <p:nvPr/>
        </p:nvSpPr>
        <p:spPr>
          <a:xfrm>
            <a:off x="4315968" y="3003800"/>
            <a:ext cx="1161288" cy="713232"/>
          </a:xfrm>
          <a:prstGeom prst="roundRect">
            <a:avLst>
              <a:gd name="adj" fmla="val 7692"/>
            </a:avLst>
          </a:prstGeom>
          <a:solidFill>
            <a:srgbClr val="FFFFFF"/>
          </a:solidFill>
          <a:ln w="12700">
            <a:solidFill>
              <a:srgbClr val="E9E6DF"/>
            </a:solidFill>
            <a:prstDash val="solid"/>
          </a:ln>
        </p:spPr>
        <p:txBody>
          <a:bodyPr/>
          <a:lstStyle/>
          <a:p>
            <a:endParaRPr sz="1200"/>
          </a:p>
        </p:txBody>
      </p:sp>
      <p:sp>
        <p:nvSpPr>
          <p:cNvPr id="21" name="Text 19">
            <a:extLst>
              <a:ext uri="{FF2B5EF4-FFF2-40B4-BE49-F238E27FC236}">
                <a16:creationId xmlns:a16="http://schemas.microsoft.com/office/drawing/2014/main" id="{DF43144C-1ED1-4961-A116-6B603A52EACE}"/>
              </a:ext>
            </a:extLst>
          </p:cNvPr>
          <p:cNvSpPr/>
          <p:nvPr/>
        </p:nvSpPr>
        <p:spPr>
          <a:xfrm>
            <a:off x="4389120" y="3131816"/>
            <a:ext cx="1014984" cy="457200"/>
          </a:xfrm>
          <a:prstGeom prst="rect">
            <a:avLst/>
          </a:prstGeom>
          <a:noFill/>
          <a:ln/>
        </p:spPr>
        <p:txBody>
          <a:bodyPr wrap="square" lIns="762" tIns="762" rIns="762" bIns="762" rtlCol="0" anchor="ctr">
            <a:normAutofit/>
          </a:bodyPr>
          <a:lstStyle/>
          <a:p>
            <a:pPr marL="0" indent="0" algn="ctr">
              <a:lnSpc>
                <a:spcPct val="95000"/>
              </a:lnSpc>
              <a:buNone/>
            </a:pPr>
            <a:r>
              <a:rPr lang="en-US" sz="1200" dirty="0">
                <a:solidFill>
                  <a:srgbClr val="1E1E24"/>
                </a:solidFill>
                <a:ea typeface="Aptos" pitchFamily="34" charset="-122"/>
                <a:cs typeface="Aptos" pitchFamily="34" charset="-120"/>
              </a:rPr>
              <a:t>Prompting</a:t>
            </a:r>
            <a:endParaRPr lang="en-US" sz="1200" dirty="0"/>
          </a:p>
        </p:txBody>
      </p:sp>
      <p:sp>
        <p:nvSpPr>
          <p:cNvPr id="22" name="Shape 20">
            <a:extLst>
              <a:ext uri="{FF2B5EF4-FFF2-40B4-BE49-F238E27FC236}">
                <a16:creationId xmlns:a16="http://schemas.microsoft.com/office/drawing/2014/main" id="{D49873C4-AA13-E165-EBD6-021B37BE6A37}"/>
              </a:ext>
            </a:extLst>
          </p:cNvPr>
          <p:cNvSpPr/>
          <p:nvPr/>
        </p:nvSpPr>
        <p:spPr>
          <a:xfrm>
            <a:off x="5495544" y="3360416"/>
            <a:ext cx="73152" cy="0"/>
          </a:xfrm>
          <a:prstGeom prst="line">
            <a:avLst/>
          </a:prstGeom>
          <a:noFill/>
          <a:ln w="15240">
            <a:solidFill>
              <a:srgbClr val="B7A57A"/>
            </a:solidFill>
            <a:prstDash val="solid"/>
            <a:headEnd type="none"/>
            <a:tailEnd type="triangle"/>
          </a:ln>
        </p:spPr>
        <p:txBody>
          <a:bodyPr/>
          <a:lstStyle/>
          <a:p>
            <a:endParaRPr sz="1200"/>
          </a:p>
        </p:txBody>
      </p:sp>
      <p:sp>
        <p:nvSpPr>
          <p:cNvPr id="23" name="Shape 21">
            <a:extLst>
              <a:ext uri="{FF2B5EF4-FFF2-40B4-BE49-F238E27FC236}">
                <a16:creationId xmlns:a16="http://schemas.microsoft.com/office/drawing/2014/main" id="{DF177694-A328-E84C-38B9-7A87B01FBB90}"/>
              </a:ext>
            </a:extLst>
          </p:cNvPr>
          <p:cNvSpPr/>
          <p:nvPr/>
        </p:nvSpPr>
        <p:spPr>
          <a:xfrm>
            <a:off x="5586984" y="3003800"/>
            <a:ext cx="1161288" cy="713232"/>
          </a:xfrm>
          <a:prstGeom prst="roundRect">
            <a:avLst>
              <a:gd name="adj" fmla="val 7692"/>
            </a:avLst>
          </a:prstGeom>
          <a:solidFill>
            <a:srgbClr val="EEE9F7"/>
          </a:solidFill>
          <a:ln w="12700">
            <a:solidFill>
              <a:srgbClr val="EEE9F7"/>
            </a:solidFill>
            <a:prstDash val="solid"/>
          </a:ln>
        </p:spPr>
        <p:txBody>
          <a:bodyPr/>
          <a:lstStyle/>
          <a:p>
            <a:endParaRPr sz="1200"/>
          </a:p>
        </p:txBody>
      </p:sp>
      <p:sp>
        <p:nvSpPr>
          <p:cNvPr id="24" name="Text 22">
            <a:extLst>
              <a:ext uri="{FF2B5EF4-FFF2-40B4-BE49-F238E27FC236}">
                <a16:creationId xmlns:a16="http://schemas.microsoft.com/office/drawing/2014/main" id="{1DE584A1-F85D-4BDB-5165-A365A416578A}"/>
              </a:ext>
            </a:extLst>
          </p:cNvPr>
          <p:cNvSpPr/>
          <p:nvPr/>
        </p:nvSpPr>
        <p:spPr>
          <a:xfrm>
            <a:off x="5660136" y="3131816"/>
            <a:ext cx="1014984" cy="457200"/>
          </a:xfrm>
          <a:prstGeom prst="rect">
            <a:avLst/>
          </a:prstGeom>
          <a:noFill/>
          <a:ln/>
        </p:spPr>
        <p:txBody>
          <a:bodyPr wrap="square" lIns="762" tIns="762" rIns="762" bIns="762" rtlCol="0" anchor="ctr">
            <a:normAutofit/>
          </a:bodyPr>
          <a:lstStyle/>
          <a:p>
            <a:pPr marL="0" indent="0" algn="ctr">
              <a:lnSpc>
                <a:spcPct val="95000"/>
              </a:lnSpc>
              <a:buNone/>
            </a:pPr>
            <a:r>
              <a:rPr lang="en-US" sz="1200" dirty="0">
                <a:solidFill>
                  <a:srgbClr val="1E1E24"/>
                </a:solidFill>
                <a:ea typeface="Aptos" pitchFamily="34" charset="-122"/>
                <a:cs typeface="Aptos" pitchFamily="34" charset="-120"/>
              </a:rPr>
              <a:t>Simulation assumptions</a:t>
            </a:r>
            <a:endParaRPr lang="en-US" sz="1200" dirty="0"/>
          </a:p>
        </p:txBody>
      </p:sp>
      <p:sp>
        <p:nvSpPr>
          <p:cNvPr id="25" name="Shape 23">
            <a:extLst>
              <a:ext uri="{FF2B5EF4-FFF2-40B4-BE49-F238E27FC236}">
                <a16:creationId xmlns:a16="http://schemas.microsoft.com/office/drawing/2014/main" id="{0B76F910-0850-F337-AC35-95830428F9C6}"/>
              </a:ext>
            </a:extLst>
          </p:cNvPr>
          <p:cNvSpPr/>
          <p:nvPr/>
        </p:nvSpPr>
        <p:spPr>
          <a:xfrm>
            <a:off x="6766560" y="3360416"/>
            <a:ext cx="73152" cy="0"/>
          </a:xfrm>
          <a:prstGeom prst="line">
            <a:avLst/>
          </a:prstGeom>
          <a:noFill/>
          <a:ln w="15240">
            <a:solidFill>
              <a:srgbClr val="B7A57A"/>
            </a:solidFill>
            <a:prstDash val="solid"/>
            <a:headEnd type="none"/>
            <a:tailEnd type="triangle"/>
          </a:ln>
        </p:spPr>
        <p:txBody>
          <a:bodyPr/>
          <a:lstStyle/>
          <a:p>
            <a:endParaRPr sz="1200"/>
          </a:p>
        </p:txBody>
      </p:sp>
      <p:sp>
        <p:nvSpPr>
          <p:cNvPr id="26" name="Shape 24">
            <a:extLst>
              <a:ext uri="{FF2B5EF4-FFF2-40B4-BE49-F238E27FC236}">
                <a16:creationId xmlns:a16="http://schemas.microsoft.com/office/drawing/2014/main" id="{A89965F3-E5C0-398C-166B-FB67EF05FDEB}"/>
              </a:ext>
            </a:extLst>
          </p:cNvPr>
          <p:cNvSpPr/>
          <p:nvPr/>
        </p:nvSpPr>
        <p:spPr>
          <a:xfrm>
            <a:off x="6858000" y="3003800"/>
            <a:ext cx="1161288" cy="713232"/>
          </a:xfrm>
          <a:prstGeom prst="roundRect">
            <a:avLst>
              <a:gd name="adj" fmla="val 7692"/>
            </a:avLst>
          </a:prstGeom>
          <a:solidFill>
            <a:srgbClr val="FFFFFF"/>
          </a:solidFill>
          <a:ln w="12700">
            <a:solidFill>
              <a:srgbClr val="E9E6DF"/>
            </a:solidFill>
            <a:prstDash val="solid"/>
          </a:ln>
        </p:spPr>
        <p:txBody>
          <a:bodyPr/>
          <a:lstStyle/>
          <a:p>
            <a:endParaRPr sz="1200"/>
          </a:p>
        </p:txBody>
      </p:sp>
      <p:sp>
        <p:nvSpPr>
          <p:cNvPr id="27" name="Text 25">
            <a:extLst>
              <a:ext uri="{FF2B5EF4-FFF2-40B4-BE49-F238E27FC236}">
                <a16:creationId xmlns:a16="http://schemas.microsoft.com/office/drawing/2014/main" id="{8AA4FDE8-4B97-D740-324C-E51580414CF8}"/>
              </a:ext>
            </a:extLst>
          </p:cNvPr>
          <p:cNvSpPr/>
          <p:nvPr/>
        </p:nvSpPr>
        <p:spPr>
          <a:xfrm>
            <a:off x="6931152" y="3131816"/>
            <a:ext cx="1014984" cy="457200"/>
          </a:xfrm>
          <a:prstGeom prst="rect">
            <a:avLst/>
          </a:prstGeom>
          <a:noFill/>
          <a:ln/>
        </p:spPr>
        <p:txBody>
          <a:bodyPr wrap="square" lIns="762" tIns="762" rIns="762" bIns="762" rtlCol="0" anchor="ctr">
            <a:normAutofit/>
          </a:bodyPr>
          <a:lstStyle/>
          <a:p>
            <a:pPr marL="0" indent="0" algn="ctr">
              <a:lnSpc>
                <a:spcPct val="95000"/>
              </a:lnSpc>
              <a:buNone/>
            </a:pPr>
            <a:r>
              <a:rPr lang="en-US" sz="1200" dirty="0">
                <a:solidFill>
                  <a:srgbClr val="1E1E24"/>
                </a:solidFill>
                <a:ea typeface="Aptos" pitchFamily="34" charset="-122"/>
                <a:cs typeface="Aptos" pitchFamily="34" charset="-120"/>
              </a:rPr>
              <a:t>Evaluation metrics</a:t>
            </a:r>
            <a:endParaRPr lang="en-US" sz="1200" dirty="0"/>
          </a:p>
        </p:txBody>
      </p:sp>
      <p:sp>
        <p:nvSpPr>
          <p:cNvPr id="28" name="Shape 26">
            <a:extLst>
              <a:ext uri="{FF2B5EF4-FFF2-40B4-BE49-F238E27FC236}">
                <a16:creationId xmlns:a16="http://schemas.microsoft.com/office/drawing/2014/main" id="{265F2BE5-F213-2871-7F74-80975302C23C}"/>
              </a:ext>
            </a:extLst>
          </p:cNvPr>
          <p:cNvSpPr/>
          <p:nvPr/>
        </p:nvSpPr>
        <p:spPr>
          <a:xfrm>
            <a:off x="8037576" y="3360416"/>
            <a:ext cx="73152" cy="0"/>
          </a:xfrm>
          <a:prstGeom prst="line">
            <a:avLst/>
          </a:prstGeom>
          <a:noFill/>
          <a:ln w="15240">
            <a:solidFill>
              <a:srgbClr val="B7A57A"/>
            </a:solidFill>
            <a:prstDash val="solid"/>
            <a:headEnd type="none"/>
            <a:tailEnd type="triangle"/>
          </a:ln>
        </p:spPr>
        <p:txBody>
          <a:bodyPr/>
          <a:lstStyle/>
          <a:p>
            <a:endParaRPr sz="1200"/>
          </a:p>
        </p:txBody>
      </p:sp>
      <p:sp>
        <p:nvSpPr>
          <p:cNvPr id="29" name="Shape 27">
            <a:extLst>
              <a:ext uri="{FF2B5EF4-FFF2-40B4-BE49-F238E27FC236}">
                <a16:creationId xmlns:a16="http://schemas.microsoft.com/office/drawing/2014/main" id="{2419603E-F732-C656-54E2-9ADAF68CE149}"/>
              </a:ext>
            </a:extLst>
          </p:cNvPr>
          <p:cNvSpPr/>
          <p:nvPr/>
        </p:nvSpPr>
        <p:spPr>
          <a:xfrm>
            <a:off x="8129016" y="3003800"/>
            <a:ext cx="1161288" cy="713232"/>
          </a:xfrm>
          <a:prstGeom prst="roundRect">
            <a:avLst>
              <a:gd name="adj" fmla="val 7692"/>
            </a:avLst>
          </a:prstGeom>
          <a:solidFill>
            <a:srgbClr val="EEE9F7"/>
          </a:solidFill>
          <a:ln w="12700">
            <a:solidFill>
              <a:srgbClr val="EEE9F7"/>
            </a:solidFill>
            <a:prstDash val="solid"/>
          </a:ln>
        </p:spPr>
        <p:txBody>
          <a:bodyPr/>
          <a:lstStyle/>
          <a:p>
            <a:endParaRPr sz="1200"/>
          </a:p>
        </p:txBody>
      </p:sp>
      <p:sp>
        <p:nvSpPr>
          <p:cNvPr id="30" name="Text 28">
            <a:extLst>
              <a:ext uri="{FF2B5EF4-FFF2-40B4-BE49-F238E27FC236}">
                <a16:creationId xmlns:a16="http://schemas.microsoft.com/office/drawing/2014/main" id="{57E80A3C-DCF6-71AB-D1AE-1280DFBDA3E9}"/>
              </a:ext>
            </a:extLst>
          </p:cNvPr>
          <p:cNvSpPr/>
          <p:nvPr/>
        </p:nvSpPr>
        <p:spPr>
          <a:xfrm>
            <a:off x="8202168" y="3131816"/>
            <a:ext cx="1014984" cy="457200"/>
          </a:xfrm>
          <a:prstGeom prst="rect">
            <a:avLst/>
          </a:prstGeom>
          <a:noFill/>
          <a:ln/>
        </p:spPr>
        <p:txBody>
          <a:bodyPr wrap="square" lIns="762" tIns="762" rIns="762" bIns="762" rtlCol="0" anchor="ctr">
            <a:normAutofit/>
          </a:bodyPr>
          <a:lstStyle/>
          <a:p>
            <a:pPr marL="0" indent="0" algn="ctr">
              <a:lnSpc>
                <a:spcPct val="95000"/>
              </a:lnSpc>
              <a:buNone/>
            </a:pPr>
            <a:r>
              <a:rPr lang="en-US" sz="1200" dirty="0">
                <a:solidFill>
                  <a:srgbClr val="1E1E24"/>
                </a:solidFill>
                <a:ea typeface="Aptos" pitchFamily="34" charset="-122"/>
                <a:cs typeface="Aptos" pitchFamily="34" charset="-120"/>
              </a:rPr>
              <a:t>Output interpretation</a:t>
            </a:r>
            <a:endParaRPr lang="en-US" sz="1200" dirty="0"/>
          </a:p>
        </p:txBody>
      </p:sp>
      <p:sp>
        <p:nvSpPr>
          <p:cNvPr id="31" name="Shape 29">
            <a:extLst>
              <a:ext uri="{FF2B5EF4-FFF2-40B4-BE49-F238E27FC236}">
                <a16:creationId xmlns:a16="http://schemas.microsoft.com/office/drawing/2014/main" id="{910C9610-F947-DE77-631F-B1C40268D6C4}"/>
              </a:ext>
            </a:extLst>
          </p:cNvPr>
          <p:cNvSpPr/>
          <p:nvPr/>
        </p:nvSpPr>
        <p:spPr>
          <a:xfrm>
            <a:off x="9308592" y="3360416"/>
            <a:ext cx="73152" cy="0"/>
          </a:xfrm>
          <a:prstGeom prst="line">
            <a:avLst/>
          </a:prstGeom>
          <a:noFill/>
          <a:ln w="15240">
            <a:solidFill>
              <a:srgbClr val="B7A57A"/>
            </a:solidFill>
            <a:prstDash val="solid"/>
            <a:headEnd type="none"/>
            <a:tailEnd type="triangle"/>
          </a:ln>
        </p:spPr>
        <p:txBody>
          <a:bodyPr/>
          <a:lstStyle/>
          <a:p>
            <a:endParaRPr sz="1200"/>
          </a:p>
        </p:txBody>
      </p:sp>
      <p:sp>
        <p:nvSpPr>
          <p:cNvPr id="32" name="Shape 30">
            <a:extLst>
              <a:ext uri="{FF2B5EF4-FFF2-40B4-BE49-F238E27FC236}">
                <a16:creationId xmlns:a16="http://schemas.microsoft.com/office/drawing/2014/main" id="{CAB2E6C0-7ED4-1792-F7CD-5E638DF6B210}"/>
              </a:ext>
            </a:extLst>
          </p:cNvPr>
          <p:cNvSpPr/>
          <p:nvPr/>
        </p:nvSpPr>
        <p:spPr>
          <a:xfrm>
            <a:off x="9400032" y="3003800"/>
            <a:ext cx="1161288" cy="713232"/>
          </a:xfrm>
          <a:prstGeom prst="roundRect">
            <a:avLst>
              <a:gd name="adj" fmla="val 7692"/>
            </a:avLst>
          </a:prstGeom>
          <a:solidFill>
            <a:srgbClr val="FFFFFF"/>
          </a:solidFill>
          <a:ln w="12700">
            <a:solidFill>
              <a:srgbClr val="E9E6DF"/>
            </a:solidFill>
            <a:prstDash val="solid"/>
          </a:ln>
        </p:spPr>
        <p:txBody>
          <a:bodyPr/>
          <a:lstStyle/>
          <a:p>
            <a:endParaRPr sz="1200"/>
          </a:p>
        </p:txBody>
      </p:sp>
      <p:sp>
        <p:nvSpPr>
          <p:cNvPr id="33" name="Text 31">
            <a:extLst>
              <a:ext uri="{FF2B5EF4-FFF2-40B4-BE49-F238E27FC236}">
                <a16:creationId xmlns:a16="http://schemas.microsoft.com/office/drawing/2014/main" id="{2C07A8EB-AB63-B6E9-D1D7-4C4FE27C0AD0}"/>
              </a:ext>
            </a:extLst>
          </p:cNvPr>
          <p:cNvSpPr/>
          <p:nvPr/>
        </p:nvSpPr>
        <p:spPr>
          <a:xfrm>
            <a:off x="9473184" y="3131816"/>
            <a:ext cx="1014984" cy="457200"/>
          </a:xfrm>
          <a:prstGeom prst="rect">
            <a:avLst/>
          </a:prstGeom>
          <a:noFill/>
          <a:ln/>
        </p:spPr>
        <p:txBody>
          <a:bodyPr wrap="square" lIns="762" tIns="762" rIns="762" bIns="762" rtlCol="0" anchor="ctr">
            <a:normAutofit/>
          </a:bodyPr>
          <a:lstStyle/>
          <a:p>
            <a:pPr marL="0" indent="0" algn="ctr">
              <a:lnSpc>
                <a:spcPct val="95000"/>
              </a:lnSpc>
              <a:buNone/>
            </a:pPr>
            <a:r>
              <a:rPr lang="en-US" sz="1200" dirty="0">
                <a:solidFill>
                  <a:srgbClr val="1E1E24"/>
                </a:solidFill>
                <a:ea typeface="Aptos" pitchFamily="34" charset="-122"/>
                <a:cs typeface="Aptos" pitchFamily="34" charset="-120"/>
              </a:rPr>
              <a:t>Communication</a:t>
            </a:r>
            <a:endParaRPr lang="en-US" sz="1200" dirty="0"/>
          </a:p>
        </p:txBody>
      </p:sp>
      <p:sp>
        <p:nvSpPr>
          <p:cNvPr id="34" name="Shape 32">
            <a:extLst>
              <a:ext uri="{FF2B5EF4-FFF2-40B4-BE49-F238E27FC236}">
                <a16:creationId xmlns:a16="http://schemas.microsoft.com/office/drawing/2014/main" id="{26F3E122-6D73-42E0-D0F0-567A9C7CD9AF}"/>
              </a:ext>
            </a:extLst>
          </p:cNvPr>
          <p:cNvSpPr/>
          <p:nvPr/>
        </p:nvSpPr>
        <p:spPr>
          <a:xfrm>
            <a:off x="10579608" y="3360416"/>
            <a:ext cx="73152" cy="0"/>
          </a:xfrm>
          <a:prstGeom prst="line">
            <a:avLst/>
          </a:prstGeom>
          <a:noFill/>
          <a:ln w="15240">
            <a:solidFill>
              <a:srgbClr val="B7A57A"/>
            </a:solidFill>
            <a:prstDash val="solid"/>
            <a:headEnd type="none"/>
            <a:tailEnd type="triangle"/>
          </a:ln>
        </p:spPr>
        <p:txBody>
          <a:bodyPr/>
          <a:lstStyle/>
          <a:p>
            <a:endParaRPr sz="1200"/>
          </a:p>
        </p:txBody>
      </p:sp>
      <p:sp>
        <p:nvSpPr>
          <p:cNvPr id="35" name="Shape 33">
            <a:extLst>
              <a:ext uri="{FF2B5EF4-FFF2-40B4-BE49-F238E27FC236}">
                <a16:creationId xmlns:a16="http://schemas.microsoft.com/office/drawing/2014/main" id="{CE36DA4C-3380-7E5A-79F6-521D0383510F}"/>
              </a:ext>
            </a:extLst>
          </p:cNvPr>
          <p:cNvSpPr/>
          <p:nvPr/>
        </p:nvSpPr>
        <p:spPr>
          <a:xfrm>
            <a:off x="10671048" y="3003800"/>
            <a:ext cx="1161288" cy="713232"/>
          </a:xfrm>
          <a:prstGeom prst="roundRect">
            <a:avLst>
              <a:gd name="adj" fmla="val 7692"/>
            </a:avLst>
          </a:prstGeom>
          <a:solidFill>
            <a:srgbClr val="EEE9F7"/>
          </a:solidFill>
          <a:ln w="12700">
            <a:solidFill>
              <a:srgbClr val="EEE9F7"/>
            </a:solidFill>
            <a:prstDash val="solid"/>
          </a:ln>
        </p:spPr>
        <p:txBody>
          <a:bodyPr/>
          <a:lstStyle/>
          <a:p>
            <a:endParaRPr sz="1200"/>
          </a:p>
        </p:txBody>
      </p:sp>
      <p:sp>
        <p:nvSpPr>
          <p:cNvPr id="36" name="Text 34">
            <a:extLst>
              <a:ext uri="{FF2B5EF4-FFF2-40B4-BE49-F238E27FC236}">
                <a16:creationId xmlns:a16="http://schemas.microsoft.com/office/drawing/2014/main" id="{7655E9E1-E47E-DD38-AD13-FA32670B7979}"/>
              </a:ext>
            </a:extLst>
          </p:cNvPr>
          <p:cNvSpPr/>
          <p:nvPr/>
        </p:nvSpPr>
        <p:spPr>
          <a:xfrm>
            <a:off x="10744200" y="3131816"/>
            <a:ext cx="1014984" cy="457200"/>
          </a:xfrm>
          <a:prstGeom prst="rect">
            <a:avLst/>
          </a:prstGeom>
          <a:noFill/>
          <a:ln/>
        </p:spPr>
        <p:txBody>
          <a:bodyPr wrap="square" lIns="762" tIns="762" rIns="762" bIns="762" rtlCol="0" anchor="ctr">
            <a:normAutofit/>
          </a:bodyPr>
          <a:lstStyle/>
          <a:p>
            <a:pPr marL="0" indent="0" algn="ctr">
              <a:lnSpc>
                <a:spcPct val="95000"/>
              </a:lnSpc>
              <a:buNone/>
            </a:pPr>
            <a:r>
              <a:rPr lang="en-US" sz="1200" b="1" dirty="0">
                <a:solidFill>
                  <a:srgbClr val="4B2E83"/>
                </a:solidFill>
                <a:ea typeface="Aptos" pitchFamily="34" charset="-122"/>
                <a:cs typeface="Aptos" pitchFamily="34" charset="-120"/>
              </a:rPr>
              <a:t>Final decision</a:t>
            </a:r>
            <a:endParaRPr lang="en-US" sz="1200" dirty="0"/>
          </a:p>
        </p:txBody>
      </p:sp>
    </p:spTree>
    <p:extLst>
      <p:ext uri="{BB962C8B-B14F-4D97-AF65-F5344CB8AC3E}">
        <p14:creationId xmlns:p14="http://schemas.microsoft.com/office/powerpoint/2010/main" val="1146412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fontScale="85000" lnSpcReduction="10000"/>
          </a:bodyPr>
          <a:lstStyle/>
          <a:p>
            <a:r>
              <a:rPr lang="en-US" sz="2500" b="1" dirty="0">
                <a:solidFill>
                  <a:srgbClr val="1E1E24"/>
                </a:solidFill>
                <a:ea typeface="Aptos Display" pitchFamily="34" charset="-122"/>
                <a:cs typeface="Aptos Display" pitchFamily="34" charset="-120"/>
              </a:rPr>
              <a:t>Where does ethical responsibility enter an AI-assisted design research workflow?</a:t>
            </a:r>
          </a:p>
        </p:txBody>
      </p:sp>
      <p:sp>
        <p:nvSpPr>
          <p:cNvPr id="11" name="Shape 9"/>
          <p:cNvSpPr/>
          <p:nvPr/>
        </p:nvSpPr>
        <p:spPr>
          <a:xfrm>
            <a:off x="502920" y="3003800"/>
            <a:ext cx="1161288" cy="713232"/>
          </a:xfrm>
          <a:prstGeom prst="roundRect">
            <a:avLst>
              <a:gd name="adj" fmla="val 7692"/>
            </a:avLst>
          </a:prstGeom>
          <a:solidFill>
            <a:srgbClr val="EEE9F7"/>
          </a:solidFill>
          <a:ln w="12700">
            <a:solidFill>
              <a:srgbClr val="EEE9F7"/>
            </a:solidFill>
            <a:prstDash val="solid"/>
          </a:ln>
        </p:spPr>
        <p:txBody>
          <a:bodyPr/>
          <a:lstStyle/>
          <a:p>
            <a:endParaRPr sz="1200"/>
          </a:p>
        </p:txBody>
      </p:sp>
      <p:sp>
        <p:nvSpPr>
          <p:cNvPr id="12" name="Text 10"/>
          <p:cNvSpPr/>
          <p:nvPr/>
        </p:nvSpPr>
        <p:spPr>
          <a:xfrm>
            <a:off x="576072" y="3131816"/>
            <a:ext cx="1014984" cy="457200"/>
          </a:xfrm>
          <a:prstGeom prst="rect">
            <a:avLst/>
          </a:prstGeom>
          <a:noFill/>
          <a:ln/>
        </p:spPr>
        <p:txBody>
          <a:bodyPr wrap="square" lIns="762" tIns="762" rIns="762" bIns="762" rtlCol="0" anchor="ctr">
            <a:normAutofit/>
          </a:bodyPr>
          <a:lstStyle/>
          <a:p>
            <a:pPr marL="0" indent="0" algn="ctr">
              <a:lnSpc>
                <a:spcPct val="95000"/>
              </a:lnSpc>
              <a:buNone/>
            </a:pPr>
            <a:r>
              <a:rPr lang="en-US" sz="1200" b="1" dirty="0">
                <a:solidFill>
                  <a:srgbClr val="1E1E24"/>
                </a:solidFill>
                <a:ea typeface="Aptos" pitchFamily="34" charset="-122"/>
                <a:cs typeface="Aptos" pitchFamily="34" charset="-120"/>
              </a:rPr>
              <a:t>Problem framing</a:t>
            </a:r>
            <a:endParaRPr lang="en-US" sz="1200" dirty="0"/>
          </a:p>
        </p:txBody>
      </p:sp>
      <p:sp>
        <p:nvSpPr>
          <p:cNvPr id="13" name="Shape 11"/>
          <p:cNvSpPr/>
          <p:nvPr/>
        </p:nvSpPr>
        <p:spPr>
          <a:xfrm>
            <a:off x="1682496" y="3360416"/>
            <a:ext cx="73152" cy="0"/>
          </a:xfrm>
          <a:prstGeom prst="line">
            <a:avLst/>
          </a:prstGeom>
          <a:noFill/>
          <a:ln w="15240">
            <a:solidFill>
              <a:srgbClr val="B7A57A"/>
            </a:solidFill>
            <a:prstDash val="solid"/>
            <a:headEnd type="none"/>
            <a:tailEnd type="triangle"/>
          </a:ln>
        </p:spPr>
        <p:txBody>
          <a:bodyPr/>
          <a:lstStyle/>
          <a:p>
            <a:endParaRPr sz="1200"/>
          </a:p>
        </p:txBody>
      </p:sp>
      <p:sp>
        <p:nvSpPr>
          <p:cNvPr id="14" name="Shape 12"/>
          <p:cNvSpPr/>
          <p:nvPr/>
        </p:nvSpPr>
        <p:spPr>
          <a:xfrm>
            <a:off x="1773936" y="3003800"/>
            <a:ext cx="1161288" cy="713232"/>
          </a:xfrm>
          <a:prstGeom prst="roundRect">
            <a:avLst>
              <a:gd name="adj" fmla="val 7692"/>
            </a:avLst>
          </a:prstGeom>
          <a:solidFill>
            <a:srgbClr val="FFFFFF"/>
          </a:solidFill>
          <a:ln w="12700">
            <a:solidFill>
              <a:srgbClr val="E9E6DF"/>
            </a:solidFill>
            <a:prstDash val="solid"/>
          </a:ln>
        </p:spPr>
        <p:txBody>
          <a:bodyPr/>
          <a:lstStyle/>
          <a:p>
            <a:endParaRPr sz="1200"/>
          </a:p>
        </p:txBody>
      </p:sp>
      <p:sp>
        <p:nvSpPr>
          <p:cNvPr id="15" name="Text 13"/>
          <p:cNvSpPr/>
          <p:nvPr/>
        </p:nvSpPr>
        <p:spPr>
          <a:xfrm>
            <a:off x="1847088" y="3131816"/>
            <a:ext cx="1014984" cy="457200"/>
          </a:xfrm>
          <a:prstGeom prst="rect">
            <a:avLst/>
          </a:prstGeom>
          <a:noFill/>
          <a:ln/>
        </p:spPr>
        <p:txBody>
          <a:bodyPr wrap="square" lIns="762" tIns="762" rIns="762" bIns="762" rtlCol="0" anchor="ctr">
            <a:normAutofit/>
          </a:bodyPr>
          <a:lstStyle/>
          <a:p>
            <a:pPr marL="0" indent="0" algn="ctr">
              <a:lnSpc>
                <a:spcPct val="95000"/>
              </a:lnSpc>
              <a:buNone/>
            </a:pPr>
            <a:r>
              <a:rPr lang="en-US" sz="1200" dirty="0">
                <a:solidFill>
                  <a:srgbClr val="1E1E24"/>
                </a:solidFill>
                <a:ea typeface="Aptos" pitchFamily="34" charset="-122"/>
                <a:cs typeface="Aptos" pitchFamily="34" charset="-120"/>
              </a:rPr>
              <a:t>Data collection</a:t>
            </a:r>
            <a:endParaRPr lang="en-US" sz="1200" dirty="0"/>
          </a:p>
        </p:txBody>
      </p:sp>
      <p:sp>
        <p:nvSpPr>
          <p:cNvPr id="16" name="Shape 14"/>
          <p:cNvSpPr/>
          <p:nvPr/>
        </p:nvSpPr>
        <p:spPr>
          <a:xfrm>
            <a:off x="2953512" y="3360416"/>
            <a:ext cx="73152" cy="0"/>
          </a:xfrm>
          <a:prstGeom prst="line">
            <a:avLst/>
          </a:prstGeom>
          <a:noFill/>
          <a:ln w="15240">
            <a:solidFill>
              <a:srgbClr val="B7A57A"/>
            </a:solidFill>
            <a:prstDash val="solid"/>
            <a:headEnd type="none"/>
            <a:tailEnd type="triangle"/>
          </a:ln>
        </p:spPr>
        <p:txBody>
          <a:bodyPr/>
          <a:lstStyle/>
          <a:p>
            <a:endParaRPr sz="1200"/>
          </a:p>
        </p:txBody>
      </p:sp>
      <p:sp>
        <p:nvSpPr>
          <p:cNvPr id="17" name="Shape 15"/>
          <p:cNvSpPr/>
          <p:nvPr/>
        </p:nvSpPr>
        <p:spPr>
          <a:xfrm>
            <a:off x="3044952" y="3003800"/>
            <a:ext cx="1161288" cy="713232"/>
          </a:xfrm>
          <a:prstGeom prst="roundRect">
            <a:avLst>
              <a:gd name="adj" fmla="val 7692"/>
            </a:avLst>
          </a:prstGeom>
          <a:solidFill>
            <a:srgbClr val="EEE9F7"/>
          </a:solidFill>
          <a:ln w="12700">
            <a:solidFill>
              <a:srgbClr val="EEE9F7"/>
            </a:solidFill>
            <a:prstDash val="solid"/>
          </a:ln>
        </p:spPr>
        <p:txBody>
          <a:bodyPr/>
          <a:lstStyle/>
          <a:p>
            <a:endParaRPr sz="1200"/>
          </a:p>
        </p:txBody>
      </p:sp>
      <p:sp>
        <p:nvSpPr>
          <p:cNvPr id="18" name="Text 16"/>
          <p:cNvSpPr/>
          <p:nvPr/>
        </p:nvSpPr>
        <p:spPr>
          <a:xfrm>
            <a:off x="3118104" y="3131816"/>
            <a:ext cx="1014984" cy="457200"/>
          </a:xfrm>
          <a:prstGeom prst="rect">
            <a:avLst/>
          </a:prstGeom>
          <a:noFill/>
          <a:ln/>
        </p:spPr>
        <p:txBody>
          <a:bodyPr wrap="square" lIns="762" tIns="762" rIns="762" bIns="762" rtlCol="0" anchor="ctr">
            <a:normAutofit/>
          </a:bodyPr>
          <a:lstStyle/>
          <a:p>
            <a:pPr marL="0" indent="0" algn="ctr">
              <a:lnSpc>
                <a:spcPct val="95000"/>
              </a:lnSpc>
              <a:buNone/>
            </a:pPr>
            <a:r>
              <a:rPr lang="en-US" sz="1200" dirty="0">
                <a:solidFill>
                  <a:srgbClr val="1E1E24"/>
                </a:solidFill>
                <a:ea typeface="Aptos" pitchFamily="34" charset="-122"/>
                <a:cs typeface="Aptos" pitchFamily="34" charset="-120"/>
              </a:rPr>
              <a:t>Model training</a:t>
            </a:r>
            <a:endParaRPr lang="en-US" sz="1200" dirty="0"/>
          </a:p>
        </p:txBody>
      </p:sp>
      <p:sp>
        <p:nvSpPr>
          <p:cNvPr id="19" name="Shape 17"/>
          <p:cNvSpPr/>
          <p:nvPr/>
        </p:nvSpPr>
        <p:spPr>
          <a:xfrm>
            <a:off x="4224528" y="3360416"/>
            <a:ext cx="73152" cy="0"/>
          </a:xfrm>
          <a:prstGeom prst="line">
            <a:avLst/>
          </a:prstGeom>
          <a:noFill/>
          <a:ln w="15240">
            <a:solidFill>
              <a:srgbClr val="B7A57A"/>
            </a:solidFill>
            <a:prstDash val="solid"/>
            <a:headEnd type="none"/>
            <a:tailEnd type="triangle"/>
          </a:ln>
        </p:spPr>
        <p:txBody>
          <a:bodyPr/>
          <a:lstStyle/>
          <a:p>
            <a:endParaRPr sz="1200"/>
          </a:p>
        </p:txBody>
      </p:sp>
      <p:sp>
        <p:nvSpPr>
          <p:cNvPr id="20" name="Shape 18"/>
          <p:cNvSpPr/>
          <p:nvPr/>
        </p:nvSpPr>
        <p:spPr>
          <a:xfrm>
            <a:off x="4315968" y="3003800"/>
            <a:ext cx="1161288" cy="713232"/>
          </a:xfrm>
          <a:prstGeom prst="roundRect">
            <a:avLst>
              <a:gd name="adj" fmla="val 7692"/>
            </a:avLst>
          </a:prstGeom>
          <a:solidFill>
            <a:srgbClr val="FFFFFF"/>
          </a:solidFill>
          <a:ln w="12700">
            <a:solidFill>
              <a:srgbClr val="E9E6DF"/>
            </a:solidFill>
            <a:prstDash val="solid"/>
          </a:ln>
        </p:spPr>
        <p:txBody>
          <a:bodyPr/>
          <a:lstStyle/>
          <a:p>
            <a:endParaRPr sz="1200"/>
          </a:p>
        </p:txBody>
      </p:sp>
      <p:sp>
        <p:nvSpPr>
          <p:cNvPr id="21" name="Text 19"/>
          <p:cNvSpPr/>
          <p:nvPr/>
        </p:nvSpPr>
        <p:spPr>
          <a:xfrm>
            <a:off x="4389120" y="3131816"/>
            <a:ext cx="1014984" cy="457200"/>
          </a:xfrm>
          <a:prstGeom prst="rect">
            <a:avLst/>
          </a:prstGeom>
          <a:noFill/>
          <a:ln/>
        </p:spPr>
        <p:txBody>
          <a:bodyPr wrap="square" lIns="762" tIns="762" rIns="762" bIns="762" rtlCol="0" anchor="ctr">
            <a:normAutofit/>
          </a:bodyPr>
          <a:lstStyle/>
          <a:p>
            <a:pPr marL="0" indent="0" algn="ctr">
              <a:lnSpc>
                <a:spcPct val="95000"/>
              </a:lnSpc>
              <a:buNone/>
            </a:pPr>
            <a:r>
              <a:rPr lang="en-US" sz="1200" dirty="0">
                <a:solidFill>
                  <a:srgbClr val="1E1E24"/>
                </a:solidFill>
                <a:ea typeface="Aptos" pitchFamily="34" charset="-122"/>
                <a:cs typeface="Aptos" pitchFamily="34" charset="-120"/>
              </a:rPr>
              <a:t>Prompting</a:t>
            </a:r>
            <a:endParaRPr lang="en-US" sz="1200" dirty="0"/>
          </a:p>
        </p:txBody>
      </p:sp>
      <p:sp>
        <p:nvSpPr>
          <p:cNvPr id="22" name="Shape 20"/>
          <p:cNvSpPr/>
          <p:nvPr/>
        </p:nvSpPr>
        <p:spPr>
          <a:xfrm>
            <a:off x="5495544" y="3360416"/>
            <a:ext cx="73152" cy="0"/>
          </a:xfrm>
          <a:prstGeom prst="line">
            <a:avLst/>
          </a:prstGeom>
          <a:noFill/>
          <a:ln w="15240">
            <a:solidFill>
              <a:srgbClr val="B7A57A"/>
            </a:solidFill>
            <a:prstDash val="solid"/>
            <a:headEnd type="none"/>
            <a:tailEnd type="triangle"/>
          </a:ln>
        </p:spPr>
        <p:txBody>
          <a:bodyPr/>
          <a:lstStyle/>
          <a:p>
            <a:endParaRPr sz="1200"/>
          </a:p>
        </p:txBody>
      </p:sp>
      <p:sp>
        <p:nvSpPr>
          <p:cNvPr id="23" name="Shape 21"/>
          <p:cNvSpPr/>
          <p:nvPr/>
        </p:nvSpPr>
        <p:spPr>
          <a:xfrm>
            <a:off x="5586984" y="3003800"/>
            <a:ext cx="1161288" cy="713232"/>
          </a:xfrm>
          <a:prstGeom prst="roundRect">
            <a:avLst>
              <a:gd name="adj" fmla="val 7692"/>
            </a:avLst>
          </a:prstGeom>
          <a:solidFill>
            <a:srgbClr val="EEE9F7"/>
          </a:solidFill>
          <a:ln w="12700">
            <a:solidFill>
              <a:srgbClr val="EEE9F7"/>
            </a:solidFill>
            <a:prstDash val="solid"/>
          </a:ln>
        </p:spPr>
        <p:txBody>
          <a:bodyPr/>
          <a:lstStyle/>
          <a:p>
            <a:endParaRPr sz="1200"/>
          </a:p>
        </p:txBody>
      </p:sp>
      <p:sp>
        <p:nvSpPr>
          <p:cNvPr id="24" name="Text 22"/>
          <p:cNvSpPr/>
          <p:nvPr/>
        </p:nvSpPr>
        <p:spPr>
          <a:xfrm>
            <a:off x="5660136" y="3131816"/>
            <a:ext cx="1014984" cy="457200"/>
          </a:xfrm>
          <a:prstGeom prst="rect">
            <a:avLst/>
          </a:prstGeom>
          <a:noFill/>
          <a:ln/>
        </p:spPr>
        <p:txBody>
          <a:bodyPr wrap="square" lIns="762" tIns="762" rIns="762" bIns="762" rtlCol="0" anchor="ctr">
            <a:normAutofit/>
          </a:bodyPr>
          <a:lstStyle/>
          <a:p>
            <a:pPr marL="0" indent="0" algn="ctr">
              <a:lnSpc>
                <a:spcPct val="95000"/>
              </a:lnSpc>
              <a:buNone/>
            </a:pPr>
            <a:r>
              <a:rPr lang="en-US" sz="1200" dirty="0">
                <a:solidFill>
                  <a:srgbClr val="1E1E24"/>
                </a:solidFill>
                <a:ea typeface="Aptos" pitchFamily="34" charset="-122"/>
                <a:cs typeface="Aptos" pitchFamily="34" charset="-120"/>
              </a:rPr>
              <a:t>Simulation assumptions</a:t>
            </a:r>
            <a:endParaRPr lang="en-US" sz="1200" dirty="0"/>
          </a:p>
        </p:txBody>
      </p:sp>
      <p:sp>
        <p:nvSpPr>
          <p:cNvPr id="25" name="Shape 23"/>
          <p:cNvSpPr/>
          <p:nvPr/>
        </p:nvSpPr>
        <p:spPr>
          <a:xfrm>
            <a:off x="6766560" y="3360416"/>
            <a:ext cx="73152" cy="0"/>
          </a:xfrm>
          <a:prstGeom prst="line">
            <a:avLst/>
          </a:prstGeom>
          <a:noFill/>
          <a:ln w="15240">
            <a:solidFill>
              <a:srgbClr val="B7A57A"/>
            </a:solidFill>
            <a:prstDash val="solid"/>
            <a:headEnd type="none"/>
            <a:tailEnd type="triangle"/>
          </a:ln>
        </p:spPr>
        <p:txBody>
          <a:bodyPr/>
          <a:lstStyle/>
          <a:p>
            <a:endParaRPr sz="1200"/>
          </a:p>
        </p:txBody>
      </p:sp>
      <p:sp>
        <p:nvSpPr>
          <p:cNvPr id="26" name="Shape 24"/>
          <p:cNvSpPr/>
          <p:nvPr/>
        </p:nvSpPr>
        <p:spPr>
          <a:xfrm>
            <a:off x="6858000" y="3003800"/>
            <a:ext cx="1161288" cy="713232"/>
          </a:xfrm>
          <a:prstGeom prst="roundRect">
            <a:avLst>
              <a:gd name="adj" fmla="val 7692"/>
            </a:avLst>
          </a:prstGeom>
          <a:solidFill>
            <a:srgbClr val="FFFFFF"/>
          </a:solidFill>
          <a:ln w="12700">
            <a:solidFill>
              <a:srgbClr val="E9E6DF"/>
            </a:solidFill>
            <a:prstDash val="solid"/>
          </a:ln>
        </p:spPr>
        <p:txBody>
          <a:bodyPr/>
          <a:lstStyle/>
          <a:p>
            <a:endParaRPr sz="1200"/>
          </a:p>
        </p:txBody>
      </p:sp>
      <p:sp>
        <p:nvSpPr>
          <p:cNvPr id="27" name="Text 25"/>
          <p:cNvSpPr/>
          <p:nvPr/>
        </p:nvSpPr>
        <p:spPr>
          <a:xfrm>
            <a:off x="6931152" y="3131816"/>
            <a:ext cx="1014984" cy="457200"/>
          </a:xfrm>
          <a:prstGeom prst="rect">
            <a:avLst/>
          </a:prstGeom>
          <a:noFill/>
          <a:ln/>
        </p:spPr>
        <p:txBody>
          <a:bodyPr wrap="square" lIns="762" tIns="762" rIns="762" bIns="762" rtlCol="0" anchor="ctr">
            <a:normAutofit/>
          </a:bodyPr>
          <a:lstStyle/>
          <a:p>
            <a:pPr marL="0" indent="0" algn="ctr">
              <a:lnSpc>
                <a:spcPct val="95000"/>
              </a:lnSpc>
              <a:buNone/>
            </a:pPr>
            <a:r>
              <a:rPr lang="en-US" sz="1200" dirty="0">
                <a:solidFill>
                  <a:srgbClr val="1E1E24"/>
                </a:solidFill>
                <a:ea typeface="Aptos" pitchFamily="34" charset="-122"/>
                <a:cs typeface="Aptos" pitchFamily="34" charset="-120"/>
              </a:rPr>
              <a:t>Evaluation metrics</a:t>
            </a:r>
            <a:endParaRPr lang="en-US" sz="1200" dirty="0"/>
          </a:p>
        </p:txBody>
      </p:sp>
      <p:sp>
        <p:nvSpPr>
          <p:cNvPr id="28" name="Shape 26"/>
          <p:cNvSpPr/>
          <p:nvPr/>
        </p:nvSpPr>
        <p:spPr>
          <a:xfrm>
            <a:off x="8037576" y="3360416"/>
            <a:ext cx="73152" cy="0"/>
          </a:xfrm>
          <a:prstGeom prst="line">
            <a:avLst/>
          </a:prstGeom>
          <a:noFill/>
          <a:ln w="15240">
            <a:solidFill>
              <a:srgbClr val="B7A57A"/>
            </a:solidFill>
            <a:prstDash val="solid"/>
            <a:headEnd type="none"/>
            <a:tailEnd type="triangle"/>
          </a:ln>
        </p:spPr>
        <p:txBody>
          <a:bodyPr/>
          <a:lstStyle/>
          <a:p>
            <a:endParaRPr sz="1200"/>
          </a:p>
        </p:txBody>
      </p:sp>
      <p:sp>
        <p:nvSpPr>
          <p:cNvPr id="29" name="Shape 27"/>
          <p:cNvSpPr/>
          <p:nvPr/>
        </p:nvSpPr>
        <p:spPr>
          <a:xfrm>
            <a:off x="8129016" y="3003800"/>
            <a:ext cx="1161288" cy="713232"/>
          </a:xfrm>
          <a:prstGeom prst="roundRect">
            <a:avLst>
              <a:gd name="adj" fmla="val 7692"/>
            </a:avLst>
          </a:prstGeom>
          <a:solidFill>
            <a:srgbClr val="EEE9F7"/>
          </a:solidFill>
          <a:ln w="12700">
            <a:solidFill>
              <a:srgbClr val="EEE9F7"/>
            </a:solidFill>
            <a:prstDash val="solid"/>
          </a:ln>
        </p:spPr>
        <p:txBody>
          <a:bodyPr/>
          <a:lstStyle/>
          <a:p>
            <a:endParaRPr sz="1200"/>
          </a:p>
        </p:txBody>
      </p:sp>
      <p:sp>
        <p:nvSpPr>
          <p:cNvPr id="30" name="Text 28"/>
          <p:cNvSpPr/>
          <p:nvPr/>
        </p:nvSpPr>
        <p:spPr>
          <a:xfrm>
            <a:off x="8202168" y="3131816"/>
            <a:ext cx="1014984" cy="457200"/>
          </a:xfrm>
          <a:prstGeom prst="rect">
            <a:avLst/>
          </a:prstGeom>
          <a:noFill/>
          <a:ln/>
        </p:spPr>
        <p:txBody>
          <a:bodyPr wrap="square" lIns="762" tIns="762" rIns="762" bIns="762" rtlCol="0" anchor="ctr">
            <a:normAutofit/>
          </a:bodyPr>
          <a:lstStyle/>
          <a:p>
            <a:pPr marL="0" indent="0" algn="ctr">
              <a:lnSpc>
                <a:spcPct val="95000"/>
              </a:lnSpc>
              <a:buNone/>
            </a:pPr>
            <a:r>
              <a:rPr lang="en-US" sz="1200" dirty="0">
                <a:solidFill>
                  <a:srgbClr val="1E1E24"/>
                </a:solidFill>
                <a:ea typeface="Aptos" pitchFamily="34" charset="-122"/>
                <a:cs typeface="Aptos" pitchFamily="34" charset="-120"/>
              </a:rPr>
              <a:t>Output interpretation</a:t>
            </a:r>
            <a:endParaRPr lang="en-US" sz="1200" dirty="0"/>
          </a:p>
        </p:txBody>
      </p:sp>
      <p:sp>
        <p:nvSpPr>
          <p:cNvPr id="31" name="Shape 29"/>
          <p:cNvSpPr/>
          <p:nvPr/>
        </p:nvSpPr>
        <p:spPr>
          <a:xfrm>
            <a:off x="9308592" y="3360416"/>
            <a:ext cx="73152" cy="0"/>
          </a:xfrm>
          <a:prstGeom prst="line">
            <a:avLst/>
          </a:prstGeom>
          <a:noFill/>
          <a:ln w="15240">
            <a:solidFill>
              <a:srgbClr val="B7A57A"/>
            </a:solidFill>
            <a:prstDash val="solid"/>
            <a:headEnd type="none"/>
            <a:tailEnd type="triangle"/>
          </a:ln>
        </p:spPr>
        <p:txBody>
          <a:bodyPr/>
          <a:lstStyle/>
          <a:p>
            <a:endParaRPr sz="1200"/>
          </a:p>
        </p:txBody>
      </p:sp>
      <p:sp>
        <p:nvSpPr>
          <p:cNvPr id="32" name="Shape 30"/>
          <p:cNvSpPr/>
          <p:nvPr/>
        </p:nvSpPr>
        <p:spPr>
          <a:xfrm>
            <a:off x="9400032" y="3003800"/>
            <a:ext cx="1161288" cy="713232"/>
          </a:xfrm>
          <a:prstGeom prst="roundRect">
            <a:avLst>
              <a:gd name="adj" fmla="val 7692"/>
            </a:avLst>
          </a:prstGeom>
          <a:solidFill>
            <a:srgbClr val="FFFFFF"/>
          </a:solidFill>
          <a:ln w="12700">
            <a:solidFill>
              <a:srgbClr val="E9E6DF"/>
            </a:solidFill>
            <a:prstDash val="solid"/>
          </a:ln>
        </p:spPr>
        <p:txBody>
          <a:bodyPr/>
          <a:lstStyle/>
          <a:p>
            <a:endParaRPr sz="1200"/>
          </a:p>
        </p:txBody>
      </p:sp>
      <p:sp>
        <p:nvSpPr>
          <p:cNvPr id="33" name="Text 31"/>
          <p:cNvSpPr/>
          <p:nvPr/>
        </p:nvSpPr>
        <p:spPr>
          <a:xfrm>
            <a:off x="9473184" y="3131816"/>
            <a:ext cx="1014984" cy="457200"/>
          </a:xfrm>
          <a:prstGeom prst="rect">
            <a:avLst/>
          </a:prstGeom>
          <a:noFill/>
          <a:ln/>
        </p:spPr>
        <p:txBody>
          <a:bodyPr wrap="square" lIns="762" tIns="762" rIns="762" bIns="762" rtlCol="0" anchor="ctr">
            <a:normAutofit/>
          </a:bodyPr>
          <a:lstStyle/>
          <a:p>
            <a:pPr marL="0" indent="0" algn="ctr">
              <a:lnSpc>
                <a:spcPct val="95000"/>
              </a:lnSpc>
              <a:buNone/>
            </a:pPr>
            <a:r>
              <a:rPr lang="en-US" sz="1200" dirty="0">
                <a:solidFill>
                  <a:srgbClr val="1E1E24"/>
                </a:solidFill>
                <a:ea typeface="Aptos" pitchFamily="34" charset="-122"/>
                <a:cs typeface="Aptos" pitchFamily="34" charset="-120"/>
              </a:rPr>
              <a:t>Communication</a:t>
            </a:r>
            <a:endParaRPr lang="en-US" sz="1200" dirty="0"/>
          </a:p>
        </p:txBody>
      </p:sp>
      <p:sp>
        <p:nvSpPr>
          <p:cNvPr id="34" name="Shape 32"/>
          <p:cNvSpPr/>
          <p:nvPr/>
        </p:nvSpPr>
        <p:spPr>
          <a:xfrm>
            <a:off x="10579608" y="3360416"/>
            <a:ext cx="73152" cy="0"/>
          </a:xfrm>
          <a:prstGeom prst="line">
            <a:avLst/>
          </a:prstGeom>
          <a:noFill/>
          <a:ln w="15240">
            <a:solidFill>
              <a:srgbClr val="B7A57A"/>
            </a:solidFill>
            <a:prstDash val="solid"/>
            <a:headEnd type="none"/>
            <a:tailEnd type="triangle"/>
          </a:ln>
        </p:spPr>
        <p:txBody>
          <a:bodyPr/>
          <a:lstStyle/>
          <a:p>
            <a:endParaRPr sz="1200"/>
          </a:p>
        </p:txBody>
      </p:sp>
      <p:sp>
        <p:nvSpPr>
          <p:cNvPr id="35" name="Shape 33"/>
          <p:cNvSpPr/>
          <p:nvPr/>
        </p:nvSpPr>
        <p:spPr>
          <a:xfrm>
            <a:off x="10671048" y="3003800"/>
            <a:ext cx="1161288" cy="713232"/>
          </a:xfrm>
          <a:prstGeom prst="roundRect">
            <a:avLst>
              <a:gd name="adj" fmla="val 7692"/>
            </a:avLst>
          </a:prstGeom>
          <a:solidFill>
            <a:srgbClr val="EEE9F7"/>
          </a:solidFill>
          <a:ln w="12700">
            <a:solidFill>
              <a:srgbClr val="EEE9F7"/>
            </a:solidFill>
            <a:prstDash val="solid"/>
          </a:ln>
        </p:spPr>
        <p:txBody>
          <a:bodyPr/>
          <a:lstStyle/>
          <a:p>
            <a:endParaRPr sz="1200"/>
          </a:p>
        </p:txBody>
      </p:sp>
      <p:sp>
        <p:nvSpPr>
          <p:cNvPr id="36" name="Text 34"/>
          <p:cNvSpPr/>
          <p:nvPr/>
        </p:nvSpPr>
        <p:spPr>
          <a:xfrm>
            <a:off x="10744200" y="3131816"/>
            <a:ext cx="1014984" cy="457200"/>
          </a:xfrm>
          <a:prstGeom prst="rect">
            <a:avLst/>
          </a:prstGeom>
          <a:noFill/>
          <a:ln/>
        </p:spPr>
        <p:txBody>
          <a:bodyPr wrap="square" lIns="762" tIns="762" rIns="762" bIns="762" rtlCol="0" anchor="ctr">
            <a:normAutofit/>
          </a:bodyPr>
          <a:lstStyle/>
          <a:p>
            <a:pPr marL="0" indent="0" algn="ctr">
              <a:lnSpc>
                <a:spcPct val="95000"/>
              </a:lnSpc>
              <a:buNone/>
            </a:pPr>
            <a:r>
              <a:rPr lang="en-US" sz="1200" b="1" dirty="0">
                <a:solidFill>
                  <a:srgbClr val="4B2E83"/>
                </a:solidFill>
                <a:ea typeface="Aptos" pitchFamily="34" charset="-122"/>
                <a:cs typeface="Aptos" pitchFamily="34" charset="-120"/>
              </a:rPr>
              <a:t>Final decision</a:t>
            </a:r>
            <a:endParaRPr lang="en-US" sz="1200" dirty="0"/>
          </a:p>
        </p:txBody>
      </p:sp>
      <p:sp>
        <p:nvSpPr>
          <p:cNvPr id="39" name="Text 37"/>
          <p:cNvSpPr/>
          <p:nvPr/>
        </p:nvSpPr>
        <p:spPr>
          <a:xfrm>
            <a:off x="1005840" y="4315968"/>
            <a:ext cx="10012680" cy="914400"/>
          </a:xfrm>
          <a:prstGeom prst="rect">
            <a:avLst/>
          </a:prstGeom>
          <a:noFill/>
          <a:ln/>
        </p:spPr>
        <p:txBody>
          <a:bodyPr wrap="square" lIns="762" tIns="762" rIns="762" bIns="762" rtlCol="0" anchor="t">
            <a:normAutofit/>
          </a:bodyPr>
          <a:lstStyle/>
          <a:p>
            <a:pPr>
              <a:lnSpc>
                <a:spcPct val="92000"/>
              </a:lnSpc>
            </a:pPr>
            <a:endParaRPr lang="en-US" sz="1520" dirty="0"/>
          </a:p>
          <a:p>
            <a:pPr>
              <a:lnSpc>
                <a:spcPct val="92000"/>
              </a:lnSpc>
            </a:pPr>
            <a:r>
              <a:rPr lang="en-US" sz="2200" b="1" dirty="0">
                <a:solidFill>
                  <a:srgbClr val="1E1E24"/>
                </a:solidFill>
                <a:ea typeface="Aptos" pitchFamily="34" charset="-122"/>
                <a:cs typeface="Aptos" pitchFamily="34" charset="-120"/>
              </a:rPr>
              <a:t>Key point: ethics is present at every stage, not only at the output stage.</a:t>
            </a:r>
            <a:endParaRPr lang="en-US" sz="22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E62DED-9C66-59A0-7863-3B5C0F166830}"/>
              </a:ext>
            </a:extLst>
          </p:cNvPr>
          <p:cNvSpPr>
            <a:spLocks noGrp="1"/>
          </p:cNvSpPr>
          <p:nvPr>
            <p:ph idx="1"/>
          </p:nvPr>
        </p:nvSpPr>
        <p:spPr/>
        <p:txBody>
          <a:bodyPr/>
          <a:lstStyle/>
          <a:p>
            <a:endParaRPr lang="en-US"/>
          </a:p>
        </p:txBody>
      </p:sp>
      <p:sp>
        <p:nvSpPr>
          <p:cNvPr id="5" name="Shape 12">
            <a:extLst>
              <a:ext uri="{FF2B5EF4-FFF2-40B4-BE49-F238E27FC236}">
                <a16:creationId xmlns:a16="http://schemas.microsoft.com/office/drawing/2014/main" id="{7A753580-8495-5DB9-43C9-EF6A86E53411}"/>
              </a:ext>
            </a:extLst>
          </p:cNvPr>
          <p:cNvSpPr/>
          <p:nvPr/>
        </p:nvSpPr>
        <p:spPr>
          <a:xfrm>
            <a:off x="609600" y="3441914"/>
            <a:ext cx="5212080" cy="2514600"/>
          </a:xfrm>
          <a:prstGeom prst="roundRect">
            <a:avLst>
              <a:gd name="adj" fmla="val 3273"/>
            </a:avLst>
          </a:prstGeom>
          <a:solidFill>
            <a:schemeClr val="accent3">
              <a:lumMod val="20000"/>
              <a:lumOff val="80000"/>
            </a:schemeClr>
          </a:solidFill>
          <a:ln w="12700">
            <a:solidFill>
              <a:srgbClr val="FFFFFF"/>
            </a:solidFill>
            <a:prstDash val="solid"/>
          </a:ln>
        </p:spPr>
        <p:txBody>
          <a:bodyPr/>
          <a:lstStyle/>
          <a:p>
            <a:endParaRPr dirty="0"/>
          </a:p>
        </p:txBody>
      </p:sp>
      <p:sp>
        <p:nvSpPr>
          <p:cNvPr id="6" name="Text 13">
            <a:extLst>
              <a:ext uri="{FF2B5EF4-FFF2-40B4-BE49-F238E27FC236}">
                <a16:creationId xmlns:a16="http://schemas.microsoft.com/office/drawing/2014/main" id="{A2D03F61-CC26-EB49-E752-F995C040B6BC}"/>
              </a:ext>
            </a:extLst>
          </p:cNvPr>
          <p:cNvSpPr/>
          <p:nvPr/>
        </p:nvSpPr>
        <p:spPr>
          <a:xfrm>
            <a:off x="774192" y="3569930"/>
            <a:ext cx="4882896" cy="301752"/>
          </a:xfrm>
          <a:prstGeom prst="rect">
            <a:avLst/>
          </a:prstGeom>
          <a:noFill/>
          <a:ln/>
        </p:spPr>
        <p:txBody>
          <a:bodyPr wrap="square" lIns="762" tIns="762" rIns="762" bIns="762" rtlCol="0" anchor="t">
            <a:normAutofit/>
          </a:bodyPr>
          <a:lstStyle/>
          <a:p>
            <a:pPr marL="0" indent="0" algn="l">
              <a:lnSpc>
                <a:spcPct val="95000"/>
              </a:lnSpc>
              <a:buNone/>
            </a:pPr>
            <a:r>
              <a:rPr lang="en-US" sz="1350" b="1" dirty="0">
                <a:solidFill>
                  <a:srgbClr val="4B2E83"/>
                </a:solidFill>
                <a:latin typeface="Aptos" pitchFamily="34" charset="0"/>
                <a:ea typeface="Aptos" pitchFamily="34" charset="-122"/>
                <a:cs typeface="Aptos" pitchFamily="34" charset="-120"/>
              </a:rPr>
              <a:t>Seminar focus</a:t>
            </a:r>
            <a:endParaRPr lang="en-US" sz="1350" dirty="0"/>
          </a:p>
        </p:txBody>
      </p:sp>
      <p:sp>
        <p:nvSpPr>
          <p:cNvPr id="7" name="Text 14">
            <a:extLst>
              <a:ext uri="{FF2B5EF4-FFF2-40B4-BE49-F238E27FC236}">
                <a16:creationId xmlns:a16="http://schemas.microsoft.com/office/drawing/2014/main" id="{ED8548A5-58C4-6731-A584-08C4386851F5}"/>
              </a:ext>
            </a:extLst>
          </p:cNvPr>
          <p:cNvSpPr/>
          <p:nvPr/>
        </p:nvSpPr>
        <p:spPr>
          <a:xfrm>
            <a:off x="774192" y="3917402"/>
            <a:ext cx="4882896" cy="1947672"/>
          </a:xfrm>
          <a:prstGeom prst="rect">
            <a:avLst/>
          </a:prstGeom>
          <a:noFill/>
          <a:ln/>
        </p:spPr>
        <p:txBody>
          <a:bodyPr wrap="square" lIns="762" tIns="762" rIns="762" bIns="762" rtlCol="0" anchor="t">
            <a:normAutofit/>
          </a:bodyPr>
          <a:lstStyle/>
          <a:p>
            <a:pPr>
              <a:lnSpc>
                <a:spcPct val="92000"/>
              </a:lnSpc>
            </a:pPr>
            <a:r>
              <a:rPr lang="en-US" sz="1150" dirty="0">
                <a:solidFill>
                  <a:srgbClr val="1E1E24"/>
                </a:solidFill>
                <a:latin typeface="Aptos" pitchFamily="34" charset="0"/>
                <a:ea typeface="Aptos" pitchFamily="34" charset="-122"/>
                <a:cs typeface="Aptos" pitchFamily="34" charset="-120"/>
              </a:rPr>
              <a:t>Bias and representational limits
</a:t>
            </a:r>
            <a:endParaRPr lang="en-US" sz="1150" dirty="0"/>
          </a:p>
          <a:p>
            <a:pPr>
              <a:lnSpc>
                <a:spcPct val="92000"/>
              </a:lnSpc>
            </a:pPr>
            <a:r>
              <a:rPr lang="en-US" sz="1150" dirty="0">
                <a:solidFill>
                  <a:srgbClr val="1E1E24"/>
                </a:solidFill>
                <a:latin typeface="Aptos" pitchFamily="34" charset="0"/>
                <a:ea typeface="Aptos" pitchFamily="34" charset="-122"/>
                <a:cs typeface="Aptos" pitchFamily="34" charset="-120"/>
              </a:rPr>
              <a:t>Data use, privacy, consent, and proxies
</a:t>
            </a:r>
            <a:endParaRPr lang="en-US" sz="1150" dirty="0"/>
          </a:p>
          <a:p>
            <a:pPr>
              <a:lnSpc>
                <a:spcPct val="92000"/>
              </a:lnSpc>
            </a:pPr>
            <a:r>
              <a:rPr lang="en-US" sz="1150" dirty="0">
                <a:solidFill>
                  <a:srgbClr val="1E1E24"/>
                </a:solidFill>
                <a:latin typeface="Aptos" pitchFamily="34" charset="0"/>
                <a:ea typeface="Aptos" pitchFamily="34" charset="-122"/>
                <a:cs typeface="Aptos" pitchFamily="34" charset="-120"/>
              </a:rPr>
              <a:t>Authorship, originality, and disclosure
</a:t>
            </a:r>
            <a:endParaRPr lang="en-US" sz="1150" dirty="0"/>
          </a:p>
          <a:p>
            <a:pPr>
              <a:lnSpc>
                <a:spcPct val="92000"/>
              </a:lnSpc>
            </a:pPr>
            <a:r>
              <a:rPr lang="en-US" sz="1150" dirty="0">
                <a:solidFill>
                  <a:srgbClr val="1E1E24"/>
                </a:solidFill>
                <a:latin typeface="Aptos" pitchFamily="34" charset="0"/>
                <a:ea typeface="Aptos" pitchFamily="34" charset="-122"/>
                <a:cs typeface="Aptos" pitchFamily="34" charset="-120"/>
              </a:rPr>
              <a:t>Professional responsibility and governance frameworks
</a:t>
            </a:r>
            <a:endParaRPr lang="en-US" sz="1150" dirty="0"/>
          </a:p>
          <a:p>
            <a:pPr>
              <a:lnSpc>
                <a:spcPct val="92000"/>
              </a:lnSpc>
            </a:pPr>
            <a:r>
              <a:rPr lang="en-US" sz="1150" dirty="0">
                <a:solidFill>
                  <a:srgbClr val="1E1E24"/>
                </a:solidFill>
                <a:latin typeface="Aptos" pitchFamily="34" charset="0"/>
                <a:ea typeface="Aptos" pitchFamily="34" charset="-122"/>
                <a:cs typeface="Aptos" pitchFamily="34" charset="-120"/>
              </a:rPr>
              <a:t>Responsible application in performance-driven design</a:t>
            </a:r>
            <a:endParaRPr lang="en-US" sz="1150" dirty="0"/>
          </a:p>
        </p:txBody>
      </p:sp>
      <p:sp>
        <p:nvSpPr>
          <p:cNvPr id="8" name="Shape 15">
            <a:extLst>
              <a:ext uri="{FF2B5EF4-FFF2-40B4-BE49-F238E27FC236}">
                <a16:creationId xmlns:a16="http://schemas.microsoft.com/office/drawing/2014/main" id="{10A800A6-5527-30BC-349E-17EEC158926D}"/>
              </a:ext>
            </a:extLst>
          </p:cNvPr>
          <p:cNvSpPr/>
          <p:nvPr/>
        </p:nvSpPr>
        <p:spPr>
          <a:xfrm>
            <a:off x="6096000" y="3441914"/>
            <a:ext cx="5349240" cy="2514600"/>
          </a:xfrm>
          <a:prstGeom prst="roundRect">
            <a:avLst>
              <a:gd name="adj" fmla="val 3273"/>
            </a:avLst>
          </a:prstGeom>
          <a:solidFill>
            <a:srgbClr val="F4EBD0"/>
          </a:solidFill>
          <a:ln w="12700">
            <a:solidFill>
              <a:srgbClr val="F4EBD0"/>
            </a:solidFill>
            <a:prstDash val="solid"/>
          </a:ln>
        </p:spPr>
        <p:txBody>
          <a:bodyPr/>
          <a:lstStyle/>
          <a:p>
            <a:endParaRPr/>
          </a:p>
        </p:txBody>
      </p:sp>
      <p:sp>
        <p:nvSpPr>
          <p:cNvPr id="9" name="Text 16">
            <a:extLst>
              <a:ext uri="{FF2B5EF4-FFF2-40B4-BE49-F238E27FC236}">
                <a16:creationId xmlns:a16="http://schemas.microsoft.com/office/drawing/2014/main" id="{A6A2E50C-E1E0-7039-3A38-8816AA4EA536}"/>
              </a:ext>
            </a:extLst>
          </p:cNvPr>
          <p:cNvSpPr/>
          <p:nvPr/>
        </p:nvSpPr>
        <p:spPr>
          <a:xfrm>
            <a:off x="6260592" y="3569930"/>
            <a:ext cx="5020056" cy="301752"/>
          </a:xfrm>
          <a:prstGeom prst="rect">
            <a:avLst/>
          </a:prstGeom>
          <a:noFill/>
          <a:ln/>
        </p:spPr>
        <p:txBody>
          <a:bodyPr wrap="square" lIns="762" tIns="762" rIns="762" bIns="762" rtlCol="0" anchor="t">
            <a:normAutofit/>
          </a:bodyPr>
          <a:lstStyle/>
          <a:p>
            <a:pPr marL="0" indent="0" algn="l">
              <a:lnSpc>
                <a:spcPct val="95000"/>
              </a:lnSpc>
              <a:buNone/>
            </a:pPr>
            <a:r>
              <a:rPr lang="en-US" sz="1350" b="1" dirty="0">
                <a:solidFill>
                  <a:srgbClr val="1E1E24"/>
                </a:solidFill>
                <a:latin typeface="Aptos" pitchFamily="34" charset="0"/>
                <a:ea typeface="Aptos" pitchFamily="34" charset="-122"/>
                <a:cs typeface="Aptos" pitchFamily="34" charset="-120"/>
              </a:rPr>
              <a:t>Design implication</a:t>
            </a:r>
            <a:endParaRPr lang="en-US" sz="1350" dirty="0"/>
          </a:p>
        </p:txBody>
      </p:sp>
      <p:sp>
        <p:nvSpPr>
          <p:cNvPr id="10" name="Text 17">
            <a:extLst>
              <a:ext uri="{FF2B5EF4-FFF2-40B4-BE49-F238E27FC236}">
                <a16:creationId xmlns:a16="http://schemas.microsoft.com/office/drawing/2014/main" id="{039F651C-7198-A87F-3622-C012EE254D10}"/>
              </a:ext>
            </a:extLst>
          </p:cNvPr>
          <p:cNvSpPr/>
          <p:nvPr/>
        </p:nvSpPr>
        <p:spPr>
          <a:xfrm>
            <a:off x="6260592" y="3917402"/>
            <a:ext cx="5020056" cy="1947672"/>
          </a:xfrm>
          <a:prstGeom prst="rect">
            <a:avLst/>
          </a:prstGeom>
          <a:noFill/>
          <a:ln/>
        </p:spPr>
        <p:txBody>
          <a:bodyPr wrap="square" lIns="762" tIns="762" rIns="762" bIns="762" rtlCol="0" anchor="t">
            <a:normAutofit/>
          </a:bodyPr>
          <a:lstStyle/>
          <a:p>
            <a:pPr>
              <a:lnSpc>
                <a:spcPct val="92000"/>
              </a:lnSpc>
            </a:pPr>
            <a:r>
              <a:rPr lang="en-US" sz="1210" dirty="0">
                <a:solidFill>
                  <a:srgbClr val="1E1E24"/>
                </a:solidFill>
                <a:latin typeface="Aptos" pitchFamily="34" charset="0"/>
                <a:ea typeface="Aptos" pitchFamily="34" charset="-122"/>
                <a:cs typeface="Aptos" pitchFamily="34" charset="-120"/>
              </a:rPr>
              <a:t>Ethics is not a final checklist.
</a:t>
            </a:r>
            <a:endParaRPr lang="en-US" sz="1210" dirty="0"/>
          </a:p>
          <a:p>
            <a:pPr>
              <a:lnSpc>
                <a:spcPct val="92000"/>
              </a:lnSpc>
            </a:pPr>
            <a:r>
              <a:rPr lang="en-US" sz="1210" dirty="0">
                <a:solidFill>
                  <a:srgbClr val="1E1E24"/>
                </a:solidFill>
                <a:latin typeface="Aptos" pitchFamily="34" charset="0"/>
                <a:ea typeface="Aptos" pitchFamily="34" charset="-122"/>
                <a:cs typeface="Aptos" pitchFamily="34" charset="-120"/>
              </a:rPr>
              <a:t>It is embedded across problem framing, data collection, modeling, validation, deployment, and communication.
</a:t>
            </a:r>
            <a:endParaRPr lang="en-US" sz="1210" dirty="0"/>
          </a:p>
          <a:p>
            <a:pPr>
              <a:lnSpc>
                <a:spcPct val="92000"/>
              </a:lnSpc>
            </a:pPr>
            <a:r>
              <a:rPr lang="en-US" sz="1210" dirty="0">
                <a:solidFill>
                  <a:srgbClr val="1E1E24"/>
                </a:solidFill>
                <a:latin typeface="Aptos" pitchFamily="34" charset="0"/>
                <a:ea typeface="Aptos" pitchFamily="34" charset="-122"/>
                <a:cs typeface="Aptos" pitchFamily="34" charset="-120"/>
              </a:rPr>
              <a:t>Responsible AI is a design competence.</a:t>
            </a:r>
          </a:p>
          <a:p>
            <a:pPr>
              <a:lnSpc>
                <a:spcPct val="92000"/>
              </a:lnSpc>
            </a:pPr>
            <a:endParaRPr lang="en-US" sz="1210" dirty="0">
              <a:solidFill>
                <a:srgbClr val="1E1E24"/>
              </a:solidFill>
              <a:latin typeface="Aptos" pitchFamily="34" charset="0"/>
            </a:endParaRPr>
          </a:p>
          <a:p>
            <a:pPr>
              <a:lnSpc>
                <a:spcPct val="92000"/>
              </a:lnSpc>
            </a:pPr>
            <a:r>
              <a:rPr lang="en-US" sz="1400" b="1" dirty="0"/>
              <a:t>What makes an AI-assisted design research process responsible, credible, and accountable?</a:t>
            </a:r>
            <a:endParaRPr lang="en-GB" sz="1400" b="1" dirty="0"/>
          </a:p>
          <a:p>
            <a:pPr>
              <a:lnSpc>
                <a:spcPct val="92000"/>
              </a:lnSpc>
            </a:pPr>
            <a:endParaRPr lang="en-US" sz="1210" dirty="0"/>
          </a:p>
        </p:txBody>
      </p:sp>
      <p:sp>
        <p:nvSpPr>
          <p:cNvPr id="12" name="Shape 9">
            <a:extLst>
              <a:ext uri="{FF2B5EF4-FFF2-40B4-BE49-F238E27FC236}">
                <a16:creationId xmlns:a16="http://schemas.microsoft.com/office/drawing/2014/main" id="{112C9D40-1608-C38B-74D5-713D6A4FBEBE}"/>
              </a:ext>
            </a:extLst>
          </p:cNvPr>
          <p:cNvSpPr/>
          <p:nvPr/>
        </p:nvSpPr>
        <p:spPr>
          <a:xfrm>
            <a:off x="609600" y="1933154"/>
            <a:ext cx="10835640" cy="1234440"/>
          </a:xfrm>
          <a:prstGeom prst="roundRect">
            <a:avLst>
              <a:gd name="adj" fmla="val 6667"/>
            </a:avLst>
          </a:prstGeom>
          <a:solidFill>
            <a:srgbClr val="EEE9F7"/>
          </a:solidFill>
          <a:ln w="12700">
            <a:solidFill>
              <a:srgbClr val="EEE9F7"/>
            </a:solidFill>
            <a:prstDash val="solid"/>
          </a:ln>
          <a:effectLst>
            <a:outerShdw blurRad="12700" dist="50800" dir="2700000" algn="bl" rotWithShape="0">
              <a:srgbClr val="000000">
                <a:alpha val="12000"/>
              </a:srgbClr>
            </a:outerShdw>
          </a:effectLst>
        </p:spPr>
        <p:txBody>
          <a:bodyPr/>
          <a:lstStyle/>
          <a:p>
            <a:endParaRPr/>
          </a:p>
        </p:txBody>
      </p:sp>
      <p:sp>
        <p:nvSpPr>
          <p:cNvPr id="13" name="Text 10">
            <a:extLst>
              <a:ext uri="{FF2B5EF4-FFF2-40B4-BE49-F238E27FC236}">
                <a16:creationId xmlns:a16="http://schemas.microsoft.com/office/drawing/2014/main" id="{CA428E10-E8FC-BF2E-3C57-182C5B15D514}"/>
              </a:ext>
            </a:extLst>
          </p:cNvPr>
          <p:cNvSpPr/>
          <p:nvPr/>
        </p:nvSpPr>
        <p:spPr>
          <a:xfrm>
            <a:off x="774192" y="2061170"/>
            <a:ext cx="10506456" cy="301752"/>
          </a:xfrm>
          <a:prstGeom prst="rect">
            <a:avLst/>
          </a:prstGeom>
          <a:noFill/>
          <a:ln/>
        </p:spPr>
        <p:txBody>
          <a:bodyPr wrap="square" lIns="762" tIns="762" rIns="762" bIns="762" rtlCol="0" anchor="t">
            <a:normAutofit/>
          </a:bodyPr>
          <a:lstStyle/>
          <a:p>
            <a:pPr marL="0" indent="0" algn="l">
              <a:lnSpc>
                <a:spcPct val="95000"/>
              </a:lnSpc>
              <a:buNone/>
            </a:pPr>
            <a:r>
              <a:rPr lang="en-US" sz="1600" b="1" dirty="0">
                <a:solidFill>
                  <a:srgbClr val="4B2E83"/>
                </a:solidFill>
                <a:latin typeface="Aptos" pitchFamily="34" charset="0"/>
                <a:ea typeface="Aptos" pitchFamily="34" charset="-122"/>
                <a:cs typeface="Aptos" pitchFamily="34" charset="-120"/>
              </a:rPr>
              <a:t>Core argument</a:t>
            </a:r>
            <a:endParaRPr lang="en-US" sz="1600" dirty="0"/>
          </a:p>
        </p:txBody>
      </p:sp>
      <p:sp>
        <p:nvSpPr>
          <p:cNvPr id="14" name="Text 11">
            <a:extLst>
              <a:ext uri="{FF2B5EF4-FFF2-40B4-BE49-F238E27FC236}">
                <a16:creationId xmlns:a16="http://schemas.microsoft.com/office/drawing/2014/main" id="{C529CDF9-4539-EC22-F4DC-08BC7210307A}"/>
              </a:ext>
            </a:extLst>
          </p:cNvPr>
          <p:cNvSpPr/>
          <p:nvPr/>
        </p:nvSpPr>
        <p:spPr>
          <a:xfrm>
            <a:off x="774192" y="2408642"/>
            <a:ext cx="10506456" cy="667512"/>
          </a:xfrm>
          <a:prstGeom prst="rect">
            <a:avLst/>
          </a:prstGeom>
          <a:noFill/>
          <a:ln/>
        </p:spPr>
        <p:txBody>
          <a:bodyPr wrap="square" lIns="762" tIns="762" rIns="762" bIns="762" rtlCol="0" anchor="t">
            <a:normAutofit/>
          </a:bodyPr>
          <a:lstStyle/>
          <a:p>
            <a:pPr marL="0" indent="0" algn="l">
              <a:lnSpc>
                <a:spcPct val="95000"/>
              </a:lnSpc>
              <a:buNone/>
            </a:pPr>
            <a:r>
              <a:rPr lang="en-US" sz="1400" dirty="0">
                <a:solidFill>
                  <a:srgbClr val="1E1E24"/>
                </a:solidFill>
                <a:latin typeface="Aptos" pitchFamily="34" charset="0"/>
                <a:ea typeface="Aptos" pitchFamily="34" charset="-122"/>
                <a:cs typeface="Aptos" pitchFamily="34" charset="-120"/>
              </a:rPr>
              <a:t>AI in architecture should not be evaluated only by speed, novelty, or predictive accuracy. It must also be evaluated by who is represented, who benefits, who carries risk, who is credited, and who remains accountable.</a:t>
            </a:r>
            <a:endParaRPr lang="en-US" sz="1400" dirty="0"/>
          </a:p>
        </p:txBody>
      </p:sp>
      <p:sp>
        <p:nvSpPr>
          <p:cNvPr id="15" name="Text 4">
            <a:extLst>
              <a:ext uri="{FF2B5EF4-FFF2-40B4-BE49-F238E27FC236}">
                <a16:creationId xmlns:a16="http://schemas.microsoft.com/office/drawing/2014/main" id="{12A90058-7C71-FC9F-4927-F41B07360D47}"/>
              </a:ext>
            </a:extLst>
          </p:cNvPr>
          <p:cNvSpPr/>
          <p:nvPr/>
        </p:nvSpPr>
        <p:spPr>
          <a:xfrm>
            <a:off x="536448" y="777240"/>
            <a:ext cx="10241280" cy="237744"/>
          </a:xfrm>
          <a:prstGeom prst="rect">
            <a:avLst/>
          </a:prstGeom>
          <a:noFill/>
          <a:ln/>
        </p:spPr>
        <p:txBody>
          <a:bodyPr wrap="square" lIns="0" tIns="0" rIns="0" bIns="0" rtlCol="0" anchor="ctr"/>
          <a:lstStyle/>
          <a:p>
            <a:pPr marL="0" indent="0">
              <a:buNone/>
            </a:pPr>
            <a:r>
              <a:rPr lang="en-US" sz="1180" dirty="0">
                <a:solidFill>
                  <a:srgbClr val="5B5B66"/>
                </a:solidFill>
                <a:latin typeface="Aptos" pitchFamily="34" charset="0"/>
                <a:ea typeface="Aptos" pitchFamily="34" charset="-122"/>
                <a:cs typeface="Aptos" pitchFamily="34" charset="-120"/>
              </a:rPr>
              <a:t>Why ethics, society, and governance belong inside AI design research workflows</a:t>
            </a:r>
            <a:endParaRPr lang="en-US" sz="1180" dirty="0"/>
          </a:p>
        </p:txBody>
      </p:sp>
      <p:sp>
        <p:nvSpPr>
          <p:cNvPr id="16" name="Text 3">
            <a:extLst>
              <a:ext uri="{FF2B5EF4-FFF2-40B4-BE49-F238E27FC236}">
                <a16:creationId xmlns:a16="http://schemas.microsoft.com/office/drawing/2014/main" id="{5DD8CD1F-E897-3E26-94F9-516EADB68483}"/>
              </a:ext>
            </a:extLst>
          </p:cNvPr>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Session purpose</a:t>
            </a:r>
            <a:endParaRPr lang="en-US" sz="2500" dirty="0"/>
          </a:p>
        </p:txBody>
      </p:sp>
    </p:spTree>
    <p:extLst>
      <p:ext uri="{BB962C8B-B14F-4D97-AF65-F5344CB8AC3E}">
        <p14:creationId xmlns:p14="http://schemas.microsoft.com/office/powerpoint/2010/main" val="1990359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AE7C8-9F3B-3ADE-4046-FD1935E801C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1A3159A-9B37-639D-A2E3-6DFA44AEEAB8}"/>
              </a:ext>
            </a:extLst>
          </p:cNvPr>
          <p:cNvSpPr txBox="1"/>
          <p:nvPr/>
        </p:nvSpPr>
        <p:spPr>
          <a:xfrm>
            <a:off x="502920" y="320040"/>
            <a:ext cx="2231060" cy="400110"/>
          </a:xfrm>
          <a:prstGeom prst="rect">
            <a:avLst/>
          </a:prstGeom>
          <a:noFill/>
          <a:ln>
            <a:noFill/>
          </a:ln>
        </p:spPr>
        <p:txBody>
          <a:bodyPr wrap="none">
            <a:spAutoFit/>
          </a:bodyPr>
          <a:lstStyle/>
          <a:p>
            <a:r>
              <a:rPr sz="2000" b="1" dirty="0">
                <a:solidFill>
                  <a:srgbClr val="2D1E44"/>
                </a:solidFill>
              </a:rPr>
              <a:t>Required reading</a:t>
            </a:r>
          </a:p>
        </p:txBody>
      </p:sp>
      <p:sp>
        <p:nvSpPr>
          <p:cNvPr id="11" name="Rounded Rectangle 10">
            <a:extLst>
              <a:ext uri="{FF2B5EF4-FFF2-40B4-BE49-F238E27FC236}">
                <a16:creationId xmlns:a16="http://schemas.microsoft.com/office/drawing/2014/main" id="{697F5081-CD6B-E5C0-B647-02C006A92909}"/>
              </a:ext>
            </a:extLst>
          </p:cNvPr>
          <p:cNvSpPr/>
          <p:nvPr/>
        </p:nvSpPr>
        <p:spPr>
          <a:xfrm>
            <a:off x="822960" y="1261872"/>
            <a:ext cx="10332720" cy="1417320"/>
          </a:xfrm>
          <a:prstGeom prst="roundRect">
            <a:avLst/>
          </a:prstGeom>
          <a:solidFill>
            <a:srgbClr val="FFFFFF"/>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2" name="TextBox 11">
            <a:extLst>
              <a:ext uri="{FF2B5EF4-FFF2-40B4-BE49-F238E27FC236}">
                <a16:creationId xmlns:a16="http://schemas.microsoft.com/office/drawing/2014/main" id="{C9F3FE26-3829-1988-9470-0DA9C5324D26}"/>
              </a:ext>
            </a:extLst>
          </p:cNvPr>
          <p:cNvSpPr txBox="1"/>
          <p:nvPr/>
        </p:nvSpPr>
        <p:spPr>
          <a:xfrm>
            <a:off x="987552" y="1380743"/>
            <a:ext cx="5202936" cy="307777"/>
          </a:xfrm>
          <a:prstGeom prst="rect">
            <a:avLst/>
          </a:prstGeom>
          <a:noFill/>
          <a:ln>
            <a:noFill/>
          </a:ln>
        </p:spPr>
        <p:txBody>
          <a:bodyPr wrap="square">
            <a:spAutoFit/>
          </a:bodyPr>
          <a:lstStyle/>
          <a:p>
            <a:pPr algn="l"/>
            <a:r>
              <a:rPr sz="1400" b="1">
                <a:solidFill>
                  <a:srgbClr val="4E247A"/>
                </a:solidFill>
              </a:rPr>
              <a:t>Main reading</a:t>
            </a:r>
          </a:p>
        </p:txBody>
      </p:sp>
      <p:sp>
        <p:nvSpPr>
          <p:cNvPr id="13" name="TextBox 12">
            <a:extLst>
              <a:ext uri="{FF2B5EF4-FFF2-40B4-BE49-F238E27FC236}">
                <a16:creationId xmlns:a16="http://schemas.microsoft.com/office/drawing/2014/main" id="{CC89FCEB-F119-760F-7E02-D6993B6B2ACF}"/>
              </a:ext>
            </a:extLst>
          </p:cNvPr>
          <p:cNvSpPr txBox="1"/>
          <p:nvPr/>
        </p:nvSpPr>
        <p:spPr>
          <a:xfrm>
            <a:off x="987552" y="1700784"/>
            <a:ext cx="10168128" cy="764312"/>
          </a:xfrm>
          <a:prstGeom prst="rect">
            <a:avLst/>
          </a:prstGeom>
          <a:noFill/>
          <a:ln>
            <a:noFill/>
          </a:ln>
        </p:spPr>
        <p:txBody>
          <a:bodyPr wrap="square">
            <a:spAutoFit/>
          </a:bodyPr>
          <a:lstStyle/>
          <a:p>
            <a:pPr>
              <a:spcAft>
                <a:spcPts val="200"/>
              </a:spcAft>
              <a:defRPr sz="1000">
                <a:solidFill>
                  <a:srgbClr val="2D1E44"/>
                </a:solidFill>
              </a:defRPr>
            </a:pPr>
            <a:r>
              <a:rPr sz="1400" dirty="0" err="1"/>
              <a:t>Amarda</a:t>
            </a:r>
            <a:r>
              <a:rPr sz="1400" dirty="0"/>
              <a:t> Shehu (2026). The Harder Charge: Teaching Technical AI Literacy Across Majors — Refusing the Breadth–Depth Tradeoff in AI Literacy. ACM AI Letters.</a:t>
            </a:r>
            <a:r>
              <a:rPr lang="en-US" sz="1400" dirty="0"/>
              <a:t> DOI: 10.1145/3816259</a:t>
            </a:r>
            <a:endParaRPr sz="1400" dirty="0"/>
          </a:p>
          <a:p>
            <a:pPr>
              <a:spcAft>
                <a:spcPts val="200"/>
              </a:spcAft>
              <a:defRPr sz="1000">
                <a:solidFill>
                  <a:srgbClr val="2D1E44"/>
                </a:solidFill>
              </a:defRPr>
            </a:pPr>
            <a:endParaRPr sz="1400" dirty="0"/>
          </a:p>
        </p:txBody>
      </p:sp>
      <p:pic>
        <p:nvPicPr>
          <p:cNvPr id="2" name="Picture 1">
            <a:extLst>
              <a:ext uri="{FF2B5EF4-FFF2-40B4-BE49-F238E27FC236}">
                <a16:creationId xmlns:a16="http://schemas.microsoft.com/office/drawing/2014/main" id="{4B1F5D3D-3A8E-6479-CB11-BF26FF6D0D74}"/>
              </a:ext>
            </a:extLst>
          </p:cNvPr>
          <p:cNvPicPr>
            <a:picLocks noChangeAspect="1"/>
          </p:cNvPicPr>
          <p:nvPr/>
        </p:nvPicPr>
        <p:blipFill>
          <a:blip r:embed="rId3"/>
          <a:srcRect b="57403"/>
          <a:stretch>
            <a:fillRect/>
          </a:stretch>
        </p:blipFill>
        <p:spPr>
          <a:xfrm>
            <a:off x="1775297" y="1700784"/>
            <a:ext cx="8428045" cy="4645945"/>
          </a:xfrm>
          <a:prstGeom prst="rect">
            <a:avLst/>
          </a:prstGeom>
        </p:spPr>
      </p:pic>
    </p:spTree>
    <p:extLst>
      <p:ext uri="{BB962C8B-B14F-4D97-AF65-F5344CB8AC3E}">
        <p14:creationId xmlns:p14="http://schemas.microsoft.com/office/powerpoint/2010/main" val="4046339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2920" y="320040"/>
            <a:ext cx="2231060" cy="400110"/>
          </a:xfrm>
          <a:prstGeom prst="rect">
            <a:avLst/>
          </a:prstGeom>
          <a:noFill/>
          <a:ln>
            <a:noFill/>
          </a:ln>
        </p:spPr>
        <p:txBody>
          <a:bodyPr wrap="none">
            <a:spAutoFit/>
          </a:bodyPr>
          <a:lstStyle/>
          <a:p>
            <a:r>
              <a:rPr sz="2000" b="1" dirty="0">
                <a:solidFill>
                  <a:srgbClr val="2D1E44"/>
                </a:solidFill>
              </a:rPr>
              <a:t>Required reading</a:t>
            </a:r>
          </a:p>
        </p:txBody>
      </p:sp>
      <p:sp>
        <p:nvSpPr>
          <p:cNvPr id="11" name="Rounded Rectangle 10"/>
          <p:cNvSpPr/>
          <p:nvPr/>
        </p:nvSpPr>
        <p:spPr>
          <a:xfrm>
            <a:off x="822960" y="1261872"/>
            <a:ext cx="10332720" cy="1417320"/>
          </a:xfrm>
          <a:prstGeom prst="roundRect">
            <a:avLst/>
          </a:prstGeom>
          <a:solidFill>
            <a:srgbClr val="FFFFFF"/>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2" name="TextBox 11"/>
          <p:cNvSpPr txBox="1"/>
          <p:nvPr/>
        </p:nvSpPr>
        <p:spPr>
          <a:xfrm>
            <a:off x="987552" y="1380743"/>
            <a:ext cx="5202936" cy="307777"/>
          </a:xfrm>
          <a:prstGeom prst="rect">
            <a:avLst/>
          </a:prstGeom>
          <a:noFill/>
          <a:ln>
            <a:noFill/>
          </a:ln>
        </p:spPr>
        <p:txBody>
          <a:bodyPr wrap="square">
            <a:spAutoFit/>
          </a:bodyPr>
          <a:lstStyle/>
          <a:p>
            <a:pPr algn="l"/>
            <a:r>
              <a:rPr sz="1400" b="1">
                <a:solidFill>
                  <a:srgbClr val="4E247A"/>
                </a:solidFill>
              </a:rPr>
              <a:t>Main reading</a:t>
            </a:r>
          </a:p>
        </p:txBody>
      </p:sp>
      <p:sp>
        <p:nvSpPr>
          <p:cNvPr id="13" name="TextBox 12"/>
          <p:cNvSpPr txBox="1"/>
          <p:nvPr/>
        </p:nvSpPr>
        <p:spPr>
          <a:xfrm>
            <a:off x="987552" y="1700784"/>
            <a:ext cx="10168128" cy="764312"/>
          </a:xfrm>
          <a:prstGeom prst="rect">
            <a:avLst/>
          </a:prstGeom>
          <a:noFill/>
          <a:ln>
            <a:noFill/>
          </a:ln>
        </p:spPr>
        <p:txBody>
          <a:bodyPr wrap="square">
            <a:spAutoFit/>
          </a:bodyPr>
          <a:lstStyle/>
          <a:p>
            <a:pPr>
              <a:spcAft>
                <a:spcPts val="200"/>
              </a:spcAft>
              <a:defRPr sz="1000">
                <a:solidFill>
                  <a:srgbClr val="2D1E44"/>
                </a:solidFill>
              </a:defRPr>
            </a:pPr>
            <a:r>
              <a:rPr sz="1400" dirty="0" err="1"/>
              <a:t>Amarda</a:t>
            </a:r>
            <a:r>
              <a:rPr sz="1400" dirty="0"/>
              <a:t> Shehu (2026). The Harder Charge: Teaching Technical AI Literacy Across Majors — Refusing the Breadth–Depth Tradeoff in AI Literacy. ACM AI Letters.</a:t>
            </a:r>
            <a:r>
              <a:rPr lang="en-US" sz="1400" dirty="0"/>
              <a:t> DOI: 10.1145/3816259</a:t>
            </a:r>
            <a:endParaRPr sz="1400" dirty="0"/>
          </a:p>
          <a:p>
            <a:pPr>
              <a:spcAft>
                <a:spcPts val="200"/>
              </a:spcAft>
              <a:defRPr sz="1000">
                <a:solidFill>
                  <a:srgbClr val="2D1E44"/>
                </a:solidFill>
              </a:defRPr>
            </a:pPr>
            <a:endParaRPr sz="1400" dirty="0"/>
          </a:p>
        </p:txBody>
      </p:sp>
      <p:sp>
        <p:nvSpPr>
          <p:cNvPr id="17" name="Rounded Rectangle 16"/>
          <p:cNvSpPr/>
          <p:nvPr/>
        </p:nvSpPr>
        <p:spPr>
          <a:xfrm>
            <a:off x="2319529" y="3044955"/>
            <a:ext cx="3337560" cy="1600200"/>
          </a:xfrm>
          <a:prstGeom prst="roundRect">
            <a:avLst/>
          </a:prstGeom>
          <a:solidFill>
            <a:srgbClr val="F7F3FF"/>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8" name="TextBox 17"/>
          <p:cNvSpPr txBox="1"/>
          <p:nvPr/>
        </p:nvSpPr>
        <p:spPr>
          <a:xfrm>
            <a:off x="2484121" y="3163827"/>
            <a:ext cx="3008376" cy="307777"/>
          </a:xfrm>
          <a:prstGeom prst="rect">
            <a:avLst/>
          </a:prstGeom>
          <a:noFill/>
          <a:ln>
            <a:noFill/>
          </a:ln>
        </p:spPr>
        <p:txBody>
          <a:bodyPr wrap="square">
            <a:spAutoFit/>
          </a:bodyPr>
          <a:lstStyle/>
          <a:p>
            <a:pPr algn="l"/>
            <a:r>
              <a:rPr sz="1400" b="1">
                <a:solidFill>
                  <a:srgbClr val="4E247A"/>
                </a:solidFill>
              </a:rPr>
              <a:t>Read for</a:t>
            </a:r>
          </a:p>
        </p:txBody>
      </p:sp>
      <p:sp>
        <p:nvSpPr>
          <p:cNvPr id="19" name="TextBox 18"/>
          <p:cNvSpPr txBox="1"/>
          <p:nvPr/>
        </p:nvSpPr>
        <p:spPr>
          <a:xfrm>
            <a:off x="2484121" y="3483867"/>
            <a:ext cx="3008376" cy="1051560"/>
          </a:xfrm>
          <a:prstGeom prst="rect">
            <a:avLst/>
          </a:prstGeom>
          <a:noFill/>
          <a:ln>
            <a:noFill/>
          </a:ln>
        </p:spPr>
        <p:txBody>
          <a:bodyPr wrap="square">
            <a:spAutoFit/>
          </a:bodyPr>
          <a:lstStyle/>
          <a:p>
            <a:pPr>
              <a:spcAft>
                <a:spcPts val="200"/>
              </a:spcAft>
              <a:defRPr sz="960">
                <a:solidFill>
                  <a:srgbClr val="2D1E44"/>
                </a:solidFill>
              </a:defRPr>
            </a:pPr>
            <a:r>
              <a:rPr sz="1400"/>
              <a:t>• users vs. reasoners</a:t>
            </a:r>
          </a:p>
          <a:p>
            <a:pPr>
              <a:spcAft>
                <a:spcPts val="200"/>
              </a:spcAft>
              <a:defRPr sz="960">
                <a:solidFill>
                  <a:srgbClr val="2D1E44"/>
                </a:solidFill>
              </a:defRPr>
            </a:pPr>
            <a:r>
              <a:rPr sz="1400"/>
              <a:t>• breadth–depth tradeoff</a:t>
            </a:r>
          </a:p>
          <a:p>
            <a:pPr>
              <a:spcAft>
                <a:spcPts val="200"/>
              </a:spcAft>
              <a:defRPr sz="960">
                <a:solidFill>
                  <a:srgbClr val="2D1E44"/>
                </a:solidFill>
              </a:defRPr>
            </a:pPr>
            <a:r>
              <a:rPr sz="1400"/>
              <a:t>• technical literacy across majors</a:t>
            </a:r>
          </a:p>
          <a:p>
            <a:pPr>
              <a:spcAft>
                <a:spcPts val="200"/>
              </a:spcAft>
              <a:defRPr sz="960">
                <a:solidFill>
                  <a:srgbClr val="2D1E44"/>
                </a:solidFill>
              </a:defRPr>
            </a:pPr>
            <a:r>
              <a:rPr sz="1400"/>
              <a:t>• ethics as structural, not separate</a:t>
            </a:r>
          </a:p>
        </p:txBody>
      </p:sp>
      <p:sp>
        <p:nvSpPr>
          <p:cNvPr id="20" name="Rounded Rectangle 19"/>
          <p:cNvSpPr/>
          <p:nvPr/>
        </p:nvSpPr>
        <p:spPr>
          <a:xfrm>
            <a:off x="5931409" y="3044955"/>
            <a:ext cx="3337560" cy="1600200"/>
          </a:xfrm>
          <a:prstGeom prst="roundRect">
            <a:avLst/>
          </a:prstGeom>
          <a:solidFill>
            <a:srgbClr val="E2F3F4"/>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1" name="TextBox 20"/>
          <p:cNvSpPr txBox="1"/>
          <p:nvPr/>
        </p:nvSpPr>
        <p:spPr>
          <a:xfrm>
            <a:off x="6096000" y="3163827"/>
            <a:ext cx="3008376" cy="307777"/>
          </a:xfrm>
          <a:prstGeom prst="rect">
            <a:avLst/>
          </a:prstGeom>
          <a:noFill/>
          <a:ln>
            <a:noFill/>
          </a:ln>
        </p:spPr>
        <p:txBody>
          <a:bodyPr wrap="square">
            <a:spAutoFit/>
          </a:bodyPr>
          <a:lstStyle/>
          <a:p>
            <a:pPr algn="l"/>
            <a:r>
              <a:rPr sz="1400" b="1">
                <a:solidFill>
                  <a:srgbClr val="4E247A"/>
                </a:solidFill>
              </a:rPr>
              <a:t>Architecture translation</a:t>
            </a:r>
          </a:p>
        </p:txBody>
      </p:sp>
      <p:sp>
        <p:nvSpPr>
          <p:cNvPr id="22" name="TextBox 21"/>
          <p:cNvSpPr txBox="1"/>
          <p:nvPr/>
        </p:nvSpPr>
        <p:spPr>
          <a:xfrm>
            <a:off x="6096000" y="3483867"/>
            <a:ext cx="3008376" cy="1169551"/>
          </a:xfrm>
          <a:prstGeom prst="rect">
            <a:avLst/>
          </a:prstGeom>
          <a:noFill/>
          <a:ln>
            <a:noFill/>
          </a:ln>
        </p:spPr>
        <p:txBody>
          <a:bodyPr wrap="square">
            <a:spAutoFit/>
          </a:bodyPr>
          <a:lstStyle/>
          <a:p>
            <a:pPr>
              <a:spcAft>
                <a:spcPts val="200"/>
              </a:spcAft>
              <a:defRPr sz="960">
                <a:solidFill>
                  <a:srgbClr val="2D1E44"/>
                </a:solidFill>
              </a:defRPr>
            </a:pPr>
            <a:r>
              <a:rPr sz="1400"/>
              <a:t>Architecture students need enough AI literacy to question datasets, model assumptions, performance metrics, and deployment contexts—not only generate outputs.</a:t>
            </a:r>
          </a:p>
        </p:txBody>
      </p:sp>
      <p:sp>
        <p:nvSpPr>
          <p:cNvPr id="29" name="TextBox 28">
            <a:extLst>
              <a:ext uri="{FF2B5EF4-FFF2-40B4-BE49-F238E27FC236}">
                <a16:creationId xmlns:a16="http://schemas.microsoft.com/office/drawing/2014/main" id="{C085EB0E-BB39-91D3-7688-EE1E5C98923F}"/>
              </a:ext>
            </a:extLst>
          </p:cNvPr>
          <p:cNvSpPr txBox="1"/>
          <p:nvPr/>
        </p:nvSpPr>
        <p:spPr>
          <a:xfrm>
            <a:off x="2023872" y="5107925"/>
            <a:ext cx="10168128" cy="369332"/>
          </a:xfrm>
          <a:prstGeom prst="rect">
            <a:avLst/>
          </a:prstGeom>
          <a:noFill/>
        </p:spPr>
        <p:txBody>
          <a:bodyPr wrap="square">
            <a:spAutoFit/>
          </a:bodyPr>
          <a:lstStyle/>
          <a:p>
            <a:pPr>
              <a:spcAft>
                <a:spcPts val="200"/>
              </a:spcAft>
              <a:defRPr sz="960">
                <a:solidFill>
                  <a:srgbClr val="2D1E44"/>
                </a:solidFill>
              </a:defRPr>
            </a:pPr>
            <a:r>
              <a:rPr lang="en-US" sz="1800" b="1" dirty="0"/>
              <a:t>It explains why ethical judgment must be connected to technical judgment.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2920" y="320040"/>
            <a:ext cx="10698480" cy="457200"/>
          </a:xfrm>
          <a:prstGeom prst="rect">
            <a:avLst/>
          </a:prstGeom>
          <a:noFill/>
          <a:ln>
            <a:noFill/>
          </a:ln>
        </p:spPr>
        <p:txBody>
          <a:bodyPr wrap="none">
            <a:spAutoFit/>
          </a:bodyPr>
          <a:lstStyle/>
          <a:p>
            <a:r>
              <a:rPr sz="2000" b="1">
                <a:solidFill>
                  <a:srgbClr val="2D1E44"/>
                </a:solidFill>
              </a:rPr>
              <a:t>From AI users to AI reasoners</a:t>
            </a:r>
          </a:p>
        </p:txBody>
      </p:sp>
      <p:sp>
        <p:nvSpPr>
          <p:cNvPr id="6" name="TextBox 5"/>
          <p:cNvSpPr txBox="1"/>
          <p:nvPr/>
        </p:nvSpPr>
        <p:spPr>
          <a:xfrm>
            <a:off x="521207" y="795528"/>
            <a:ext cx="5141151" cy="276999"/>
          </a:xfrm>
          <a:prstGeom prst="rect">
            <a:avLst/>
          </a:prstGeom>
          <a:noFill/>
          <a:ln>
            <a:noFill/>
          </a:ln>
        </p:spPr>
        <p:txBody>
          <a:bodyPr wrap="none">
            <a:spAutoFit/>
          </a:bodyPr>
          <a:lstStyle/>
          <a:p>
            <a:r>
              <a:rPr sz="1200">
                <a:solidFill>
                  <a:srgbClr val="5C5864"/>
                </a:solidFill>
              </a:rPr>
              <a:t>The article challenges a shallow model of AI literacy built around tool use alone</a:t>
            </a:r>
          </a:p>
        </p:txBody>
      </p:sp>
      <p:sp>
        <p:nvSpPr>
          <p:cNvPr id="11" name="Rounded Rectangle 10"/>
          <p:cNvSpPr/>
          <p:nvPr/>
        </p:nvSpPr>
        <p:spPr>
          <a:xfrm>
            <a:off x="777240" y="1234440"/>
            <a:ext cx="10472928" cy="1508760"/>
          </a:xfrm>
          <a:prstGeom prst="roundRect">
            <a:avLst/>
          </a:prstGeom>
          <a:solidFill>
            <a:srgbClr val="FFFFFF"/>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2" name="TextBox 11"/>
          <p:cNvSpPr txBox="1"/>
          <p:nvPr/>
        </p:nvSpPr>
        <p:spPr>
          <a:xfrm>
            <a:off x="941832" y="1353312"/>
            <a:ext cx="4562855" cy="307777"/>
          </a:xfrm>
          <a:prstGeom prst="rect">
            <a:avLst/>
          </a:prstGeom>
          <a:noFill/>
          <a:ln>
            <a:noFill/>
          </a:ln>
        </p:spPr>
        <p:txBody>
          <a:bodyPr wrap="square">
            <a:spAutoFit/>
          </a:bodyPr>
          <a:lstStyle/>
          <a:p>
            <a:pPr algn="l"/>
            <a:r>
              <a:rPr sz="1400" b="1">
                <a:solidFill>
                  <a:srgbClr val="4E247A"/>
                </a:solidFill>
              </a:rPr>
              <a:t>Core claim</a:t>
            </a:r>
          </a:p>
        </p:txBody>
      </p:sp>
      <p:sp>
        <p:nvSpPr>
          <p:cNvPr id="13" name="TextBox 12"/>
          <p:cNvSpPr txBox="1"/>
          <p:nvPr/>
        </p:nvSpPr>
        <p:spPr>
          <a:xfrm>
            <a:off x="941832" y="1673352"/>
            <a:ext cx="10186416" cy="523220"/>
          </a:xfrm>
          <a:prstGeom prst="rect">
            <a:avLst/>
          </a:prstGeom>
          <a:noFill/>
          <a:ln>
            <a:noFill/>
          </a:ln>
        </p:spPr>
        <p:txBody>
          <a:bodyPr wrap="square">
            <a:spAutoFit/>
          </a:bodyPr>
          <a:lstStyle/>
          <a:p>
            <a:pPr>
              <a:spcAft>
                <a:spcPts val="200"/>
              </a:spcAft>
              <a:defRPr sz="1050">
                <a:solidFill>
                  <a:srgbClr val="2D1E44"/>
                </a:solidFill>
              </a:defRPr>
            </a:pPr>
            <a:r>
              <a:rPr sz="1400" dirty="0"/>
              <a:t>Universities should not simply teach students how to operate AI tools. They should prepare students to understand, question, and steer AI systems whose decisions shape society.</a:t>
            </a:r>
          </a:p>
        </p:txBody>
      </p:sp>
      <p:sp>
        <p:nvSpPr>
          <p:cNvPr id="17" name="Rounded Rectangle 16"/>
          <p:cNvSpPr/>
          <p:nvPr/>
        </p:nvSpPr>
        <p:spPr>
          <a:xfrm>
            <a:off x="914400" y="3429000"/>
            <a:ext cx="2971800" cy="1280160"/>
          </a:xfrm>
          <a:prstGeom prst="roundRect">
            <a:avLst/>
          </a:prstGeom>
          <a:solidFill>
            <a:srgbClr val="F7F3FF"/>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8" name="TextBox 17"/>
          <p:cNvSpPr txBox="1"/>
          <p:nvPr/>
        </p:nvSpPr>
        <p:spPr>
          <a:xfrm>
            <a:off x="1078992" y="3547872"/>
            <a:ext cx="2642616" cy="307777"/>
          </a:xfrm>
          <a:prstGeom prst="rect">
            <a:avLst/>
          </a:prstGeom>
          <a:noFill/>
          <a:ln>
            <a:noFill/>
          </a:ln>
        </p:spPr>
        <p:txBody>
          <a:bodyPr wrap="square">
            <a:spAutoFit/>
          </a:bodyPr>
          <a:lstStyle/>
          <a:p>
            <a:pPr algn="l"/>
            <a:r>
              <a:rPr sz="1400" b="1">
                <a:solidFill>
                  <a:srgbClr val="4E247A"/>
                </a:solidFill>
              </a:rPr>
              <a:t>Tool use</a:t>
            </a:r>
          </a:p>
        </p:txBody>
      </p:sp>
      <p:sp>
        <p:nvSpPr>
          <p:cNvPr id="19" name="TextBox 18"/>
          <p:cNvSpPr txBox="1"/>
          <p:nvPr/>
        </p:nvSpPr>
        <p:spPr>
          <a:xfrm>
            <a:off x="1078992" y="3867912"/>
            <a:ext cx="2642616" cy="307777"/>
          </a:xfrm>
          <a:prstGeom prst="rect">
            <a:avLst/>
          </a:prstGeom>
          <a:noFill/>
          <a:ln>
            <a:noFill/>
          </a:ln>
        </p:spPr>
        <p:txBody>
          <a:bodyPr wrap="square">
            <a:spAutoFit/>
          </a:bodyPr>
          <a:lstStyle/>
          <a:p>
            <a:pPr>
              <a:spcAft>
                <a:spcPts val="200"/>
              </a:spcAft>
              <a:defRPr sz="919">
                <a:solidFill>
                  <a:srgbClr val="2D1E44"/>
                </a:solidFill>
              </a:defRPr>
            </a:pPr>
            <a:r>
              <a:rPr sz="1400"/>
              <a:t>Prompt, generate, automate</a:t>
            </a:r>
          </a:p>
        </p:txBody>
      </p:sp>
      <p:sp>
        <p:nvSpPr>
          <p:cNvPr id="20" name="Right Arrow 19"/>
          <p:cNvSpPr/>
          <p:nvPr/>
        </p:nvSpPr>
        <p:spPr>
          <a:xfrm>
            <a:off x="3995928" y="3886200"/>
            <a:ext cx="411480" cy="292608"/>
          </a:xfrm>
          <a:prstGeom prst="rightArrow">
            <a:avLst/>
          </a:prstGeom>
          <a:solidFill>
            <a:srgbClr val="4E2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1" name="Rounded Rectangle 20"/>
          <p:cNvSpPr/>
          <p:nvPr/>
        </p:nvSpPr>
        <p:spPr>
          <a:xfrm>
            <a:off x="4617720" y="3429000"/>
            <a:ext cx="2971800" cy="1280160"/>
          </a:xfrm>
          <a:prstGeom prst="roundRect">
            <a:avLst/>
          </a:prstGeom>
          <a:solidFill>
            <a:srgbClr val="E2F3F4"/>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2" name="TextBox 21"/>
          <p:cNvSpPr txBox="1"/>
          <p:nvPr/>
        </p:nvSpPr>
        <p:spPr>
          <a:xfrm>
            <a:off x="4782312" y="3547872"/>
            <a:ext cx="2642616" cy="307777"/>
          </a:xfrm>
          <a:prstGeom prst="rect">
            <a:avLst/>
          </a:prstGeom>
          <a:noFill/>
          <a:ln>
            <a:noFill/>
          </a:ln>
        </p:spPr>
        <p:txBody>
          <a:bodyPr wrap="square">
            <a:spAutoFit/>
          </a:bodyPr>
          <a:lstStyle/>
          <a:p>
            <a:pPr algn="l"/>
            <a:r>
              <a:rPr sz="1400" b="1">
                <a:solidFill>
                  <a:srgbClr val="4E247A"/>
                </a:solidFill>
              </a:rPr>
              <a:t>System reasoning</a:t>
            </a:r>
          </a:p>
        </p:txBody>
      </p:sp>
      <p:sp>
        <p:nvSpPr>
          <p:cNvPr id="23" name="TextBox 22"/>
          <p:cNvSpPr txBox="1"/>
          <p:nvPr/>
        </p:nvSpPr>
        <p:spPr>
          <a:xfrm>
            <a:off x="4782312" y="3867912"/>
            <a:ext cx="2642616" cy="523220"/>
          </a:xfrm>
          <a:prstGeom prst="rect">
            <a:avLst/>
          </a:prstGeom>
          <a:noFill/>
          <a:ln>
            <a:noFill/>
          </a:ln>
        </p:spPr>
        <p:txBody>
          <a:bodyPr wrap="square">
            <a:spAutoFit/>
          </a:bodyPr>
          <a:lstStyle/>
          <a:p>
            <a:pPr>
              <a:spcAft>
                <a:spcPts val="200"/>
              </a:spcAft>
              <a:defRPr sz="919">
                <a:solidFill>
                  <a:srgbClr val="2D1E44"/>
                </a:solidFill>
              </a:defRPr>
            </a:pPr>
            <a:r>
              <a:rPr sz="1400"/>
              <a:t>Ask how the model works, fails, and generalizes</a:t>
            </a:r>
          </a:p>
        </p:txBody>
      </p:sp>
      <p:sp>
        <p:nvSpPr>
          <p:cNvPr id="24" name="Right Arrow 23"/>
          <p:cNvSpPr/>
          <p:nvPr/>
        </p:nvSpPr>
        <p:spPr>
          <a:xfrm>
            <a:off x="7699248" y="3886200"/>
            <a:ext cx="411480" cy="292608"/>
          </a:xfrm>
          <a:prstGeom prst="rightArrow">
            <a:avLst/>
          </a:prstGeom>
          <a:solidFill>
            <a:srgbClr val="4E2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5" name="Rounded Rectangle 24"/>
          <p:cNvSpPr/>
          <p:nvPr/>
        </p:nvSpPr>
        <p:spPr>
          <a:xfrm>
            <a:off x="8321040" y="3429000"/>
            <a:ext cx="2971800" cy="1280160"/>
          </a:xfrm>
          <a:prstGeom prst="roundRect">
            <a:avLst/>
          </a:prstGeom>
          <a:solidFill>
            <a:srgbClr val="E4F1DD"/>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6" name="TextBox 25"/>
          <p:cNvSpPr txBox="1"/>
          <p:nvPr/>
        </p:nvSpPr>
        <p:spPr>
          <a:xfrm>
            <a:off x="8485632" y="3547872"/>
            <a:ext cx="2642616" cy="307777"/>
          </a:xfrm>
          <a:prstGeom prst="rect">
            <a:avLst/>
          </a:prstGeom>
          <a:noFill/>
          <a:ln>
            <a:noFill/>
          </a:ln>
        </p:spPr>
        <p:txBody>
          <a:bodyPr wrap="square">
            <a:spAutoFit/>
          </a:bodyPr>
          <a:lstStyle/>
          <a:p>
            <a:pPr algn="l"/>
            <a:r>
              <a:rPr sz="1400" b="1">
                <a:solidFill>
                  <a:srgbClr val="4E247A"/>
                </a:solidFill>
              </a:rPr>
              <a:t>Responsible judgment</a:t>
            </a:r>
          </a:p>
        </p:txBody>
      </p:sp>
      <p:sp>
        <p:nvSpPr>
          <p:cNvPr id="27" name="TextBox 26"/>
          <p:cNvSpPr txBox="1"/>
          <p:nvPr/>
        </p:nvSpPr>
        <p:spPr>
          <a:xfrm>
            <a:off x="8485632" y="3867912"/>
            <a:ext cx="2642616" cy="523220"/>
          </a:xfrm>
          <a:prstGeom prst="rect">
            <a:avLst/>
          </a:prstGeom>
          <a:noFill/>
          <a:ln>
            <a:noFill/>
          </a:ln>
        </p:spPr>
        <p:txBody>
          <a:bodyPr wrap="square">
            <a:spAutoFit/>
          </a:bodyPr>
          <a:lstStyle/>
          <a:p>
            <a:pPr>
              <a:spcAft>
                <a:spcPts val="200"/>
              </a:spcAft>
              <a:defRPr sz="919">
                <a:solidFill>
                  <a:srgbClr val="2D1E44"/>
                </a:solidFill>
              </a:defRPr>
            </a:pPr>
            <a:r>
              <a:rPr sz="1400"/>
              <a:t>Decide what should be trusted, disclosed, or rejected</a:t>
            </a:r>
          </a:p>
        </p:txBody>
      </p:sp>
      <p:sp>
        <p:nvSpPr>
          <p:cNvPr id="28" name="TextBox 27"/>
          <p:cNvSpPr txBox="1"/>
          <p:nvPr/>
        </p:nvSpPr>
        <p:spPr>
          <a:xfrm>
            <a:off x="914400" y="5349240"/>
            <a:ext cx="10870232" cy="307777"/>
          </a:xfrm>
          <a:prstGeom prst="rect">
            <a:avLst/>
          </a:prstGeom>
          <a:noFill/>
          <a:ln>
            <a:noFill/>
          </a:ln>
        </p:spPr>
        <p:txBody>
          <a:bodyPr wrap="square">
            <a:spAutoFit/>
          </a:bodyPr>
          <a:lstStyle/>
          <a:p>
            <a:r>
              <a:rPr sz="1400" b="1" dirty="0">
                <a:solidFill>
                  <a:srgbClr val="4E247A"/>
                </a:solidFill>
              </a:rPr>
              <a:t>What is the difference between using AI for architectural production and understanding AI as a design-research methodology?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2920" y="320040"/>
            <a:ext cx="10698480" cy="457200"/>
          </a:xfrm>
          <a:prstGeom prst="rect">
            <a:avLst/>
          </a:prstGeom>
          <a:noFill/>
          <a:ln>
            <a:noFill/>
          </a:ln>
        </p:spPr>
        <p:txBody>
          <a:bodyPr wrap="none">
            <a:spAutoFit/>
          </a:bodyPr>
          <a:lstStyle/>
          <a:p>
            <a:r>
              <a:rPr sz="2000" b="1">
                <a:solidFill>
                  <a:srgbClr val="2D1E44"/>
                </a:solidFill>
              </a:rPr>
              <a:t>Refusing the breadth–depth tradeoff</a:t>
            </a:r>
          </a:p>
        </p:txBody>
      </p:sp>
      <p:sp>
        <p:nvSpPr>
          <p:cNvPr id="6" name="TextBox 5"/>
          <p:cNvSpPr txBox="1"/>
          <p:nvPr/>
        </p:nvSpPr>
        <p:spPr>
          <a:xfrm>
            <a:off x="521207" y="795528"/>
            <a:ext cx="3638817" cy="276999"/>
          </a:xfrm>
          <a:prstGeom prst="rect">
            <a:avLst/>
          </a:prstGeom>
          <a:noFill/>
          <a:ln>
            <a:noFill/>
          </a:ln>
        </p:spPr>
        <p:txBody>
          <a:bodyPr wrap="none">
            <a:spAutoFit/>
          </a:bodyPr>
          <a:lstStyle/>
          <a:p>
            <a:r>
              <a:rPr sz="1200">
                <a:solidFill>
                  <a:srgbClr val="5C5864"/>
                </a:solidFill>
              </a:rPr>
              <a:t>Broad access does not have to mean shallow AI literacy</a:t>
            </a:r>
          </a:p>
        </p:txBody>
      </p:sp>
      <p:sp>
        <p:nvSpPr>
          <p:cNvPr id="11" name="Rounded Rectangle 10"/>
          <p:cNvSpPr/>
          <p:nvPr/>
        </p:nvSpPr>
        <p:spPr>
          <a:xfrm>
            <a:off x="868680" y="1874519"/>
            <a:ext cx="6629400" cy="3611880"/>
          </a:xfrm>
          <a:prstGeom prst="roundRect">
            <a:avLst/>
          </a:prstGeom>
          <a:solidFill>
            <a:srgbClr val="FFFFFF"/>
          </a:solidFill>
          <a:ln>
            <a:solidFill>
              <a:srgbClr val="DAD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8872" y="4882896"/>
            <a:ext cx="713232" cy="182880"/>
          </a:xfrm>
          <a:prstGeom prst="rect">
            <a:avLst/>
          </a:prstGeom>
          <a:noFill/>
          <a:ln>
            <a:noFill/>
          </a:ln>
        </p:spPr>
        <p:txBody>
          <a:bodyPr wrap="square">
            <a:spAutoFit/>
          </a:bodyPr>
          <a:lstStyle/>
          <a:p>
            <a:pPr algn="r"/>
            <a:r>
              <a:rPr sz="720" b="0">
                <a:solidFill>
                  <a:srgbClr val="5C5864"/>
                </a:solidFill>
              </a:rPr>
              <a:t>Remember</a:t>
            </a:r>
          </a:p>
        </p:txBody>
      </p:sp>
      <p:cxnSp>
        <p:nvCxnSpPr>
          <p:cNvPr id="13" name="Connector 12"/>
          <p:cNvCxnSpPr/>
          <p:nvPr/>
        </p:nvCxnSpPr>
        <p:spPr>
          <a:xfrm>
            <a:off x="1005839" y="4937760"/>
            <a:ext cx="6309360" cy="0"/>
          </a:xfrm>
          <a:prstGeom prst="line">
            <a:avLst/>
          </a:prstGeom>
          <a:ln w="5080">
            <a:solidFill>
              <a:srgbClr val="EBE8E2"/>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8872" y="4379976"/>
            <a:ext cx="713232" cy="182880"/>
          </a:xfrm>
          <a:prstGeom prst="rect">
            <a:avLst/>
          </a:prstGeom>
          <a:noFill/>
          <a:ln>
            <a:noFill/>
          </a:ln>
        </p:spPr>
        <p:txBody>
          <a:bodyPr wrap="square">
            <a:spAutoFit/>
          </a:bodyPr>
          <a:lstStyle/>
          <a:p>
            <a:pPr algn="r"/>
            <a:r>
              <a:rPr sz="720" b="0">
                <a:solidFill>
                  <a:srgbClr val="5C5864"/>
                </a:solidFill>
              </a:rPr>
              <a:t>Understand</a:t>
            </a:r>
          </a:p>
        </p:txBody>
      </p:sp>
      <p:cxnSp>
        <p:nvCxnSpPr>
          <p:cNvPr id="15" name="Connector 14"/>
          <p:cNvCxnSpPr/>
          <p:nvPr/>
        </p:nvCxnSpPr>
        <p:spPr>
          <a:xfrm>
            <a:off x="1005839" y="4434840"/>
            <a:ext cx="6309360" cy="0"/>
          </a:xfrm>
          <a:prstGeom prst="line">
            <a:avLst/>
          </a:prstGeom>
          <a:ln w="5080">
            <a:solidFill>
              <a:srgbClr val="EBE8E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18872" y="3877056"/>
            <a:ext cx="713232" cy="182880"/>
          </a:xfrm>
          <a:prstGeom prst="rect">
            <a:avLst/>
          </a:prstGeom>
          <a:noFill/>
          <a:ln>
            <a:noFill/>
          </a:ln>
        </p:spPr>
        <p:txBody>
          <a:bodyPr wrap="square">
            <a:spAutoFit/>
          </a:bodyPr>
          <a:lstStyle/>
          <a:p>
            <a:pPr algn="r"/>
            <a:r>
              <a:rPr sz="720" b="0">
                <a:solidFill>
                  <a:srgbClr val="5C5864"/>
                </a:solidFill>
              </a:rPr>
              <a:t>Apply</a:t>
            </a:r>
          </a:p>
        </p:txBody>
      </p:sp>
      <p:cxnSp>
        <p:nvCxnSpPr>
          <p:cNvPr id="17" name="Connector 16"/>
          <p:cNvCxnSpPr/>
          <p:nvPr/>
        </p:nvCxnSpPr>
        <p:spPr>
          <a:xfrm>
            <a:off x="1005839" y="3931920"/>
            <a:ext cx="6309360" cy="0"/>
          </a:xfrm>
          <a:prstGeom prst="line">
            <a:avLst/>
          </a:prstGeom>
          <a:ln w="5080">
            <a:solidFill>
              <a:srgbClr val="EBE8E2"/>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8872" y="3374136"/>
            <a:ext cx="713232" cy="182880"/>
          </a:xfrm>
          <a:prstGeom prst="rect">
            <a:avLst/>
          </a:prstGeom>
          <a:noFill/>
          <a:ln>
            <a:noFill/>
          </a:ln>
        </p:spPr>
        <p:txBody>
          <a:bodyPr wrap="square">
            <a:spAutoFit/>
          </a:bodyPr>
          <a:lstStyle/>
          <a:p>
            <a:pPr algn="r"/>
            <a:r>
              <a:rPr sz="720" b="0">
                <a:solidFill>
                  <a:srgbClr val="5C5864"/>
                </a:solidFill>
              </a:rPr>
              <a:t>Analyze</a:t>
            </a:r>
          </a:p>
        </p:txBody>
      </p:sp>
      <p:cxnSp>
        <p:nvCxnSpPr>
          <p:cNvPr id="19" name="Connector 18"/>
          <p:cNvCxnSpPr/>
          <p:nvPr/>
        </p:nvCxnSpPr>
        <p:spPr>
          <a:xfrm>
            <a:off x="1005839" y="3429000"/>
            <a:ext cx="6309360" cy="0"/>
          </a:xfrm>
          <a:prstGeom prst="line">
            <a:avLst/>
          </a:prstGeom>
          <a:ln w="5080">
            <a:solidFill>
              <a:srgbClr val="EBE8E2"/>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18872" y="2871216"/>
            <a:ext cx="713232" cy="182880"/>
          </a:xfrm>
          <a:prstGeom prst="rect">
            <a:avLst/>
          </a:prstGeom>
          <a:noFill/>
          <a:ln>
            <a:noFill/>
          </a:ln>
        </p:spPr>
        <p:txBody>
          <a:bodyPr wrap="square">
            <a:spAutoFit/>
          </a:bodyPr>
          <a:lstStyle/>
          <a:p>
            <a:pPr algn="r"/>
            <a:r>
              <a:rPr sz="720" b="0">
                <a:solidFill>
                  <a:srgbClr val="5C5864"/>
                </a:solidFill>
              </a:rPr>
              <a:t>Evaluate</a:t>
            </a:r>
          </a:p>
        </p:txBody>
      </p:sp>
      <p:cxnSp>
        <p:nvCxnSpPr>
          <p:cNvPr id="21" name="Connector 20"/>
          <p:cNvCxnSpPr/>
          <p:nvPr/>
        </p:nvCxnSpPr>
        <p:spPr>
          <a:xfrm>
            <a:off x="1005839" y="2926080"/>
            <a:ext cx="6309360" cy="0"/>
          </a:xfrm>
          <a:prstGeom prst="line">
            <a:avLst/>
          </a:prstGeom>
          <a:ln w="5080">
            <a:solidFill>
              <a:srgbClr val="EBE8E2"/>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18872" y="2368296"/>
            <a:ext cx="713232" cy="182880"/>
          </a:xfrm>
          <a:prstGeom prst="rect">
            <a:avLst/>
          </a:prstGeom>
          <a:noFill/>
          <a:ln>
            <a:noFill/>
          </a:ln>
        </p:spPr>
        <p:txBody>
          <a:bodyPr wrap="square">
            <a:spAutoFit/>
          </a:bodyPr>
          <a:lstStyle/>
          <a:p>
            <a:pPr algn="r"/>
            <a:r>
              <a:rPr sz="720" b="0">
                <a:solidFill>
                  <a:srgbClr val="5C5864"/>
                </a:solidFill>
              </a:rPr>
              <a:t>Create</a:t>
            </a:r>
          </a:p>
        </p:txBody>
      </p:sp>
      <p:cxnSp>
        <p:nvCxnSpPr>
          <p:cNvPr id="23" name="Connector 22"/>
          <p:cNvCxnSpPr/>
          <p:nvPr/>
        </p:nvCxnSpPr>
        <p:spPr>
          <a:xfrm>
            <a:off x="1005839" y="2423160"/>
            <a:ext cx="6309360" cy="0"/>
          </a:xfrm>
          <a:prstGeom prst="line">
            <a:avLst/>
          </a:prstGeom>
          <a:ln w="5080">
            <a:solidFill>
              <a:srgbClr val="EBE8E2"/>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200400" y="5632704"/>
            <a:ext cx="2194560" cy="228600"/>
          </a:xfrm>
          <a:prstGeom prst="rect">
            <a:avLst/>
          </a:prstGeom>
          <a:noFill/>
          <a:ln>
            <a:noFill/>
          </a:ln>
        </p:spPr>
        <p:txBody>
          <a:bodyPr wrap="square">
            <a:spAutoFit/>
          </a:bodyPr>
          <a:lstStyle/>
          <a:p>
            <a:pPr algn="ctr"/>
            <a:r>
              <a:rPr sz="819" b="1">
                <a:solidFill>
                  <a:srgbClr val="2D1E44"/>
                </a:solidFill>
              </a:rPr>
              <a:t>Audience breadth</a:t>
            </a:r>
          </a:p>
        </p:txBody>
      </p:sp>
      <p:sp>
        <p:nvSpPr>
          <p:cNvPr id="25" name="TextBox 24"/>
          <p:cNvSpPr txBox="1"/>
          <p:nvPr/>
        </p:nvSpPr>
        <p:spPr>
          <a:xfrm>
            <a:off x="822960" y="1536192"/>
            <a:ext cx="1143000" cy="228600"/>
          </a:xfrm>
          <a:prstGeom prst="rect">
            <a:avLst/>
          </a:prstGeom>
          <a:noFill/>
          <a:ln>
            <a:noFill/>
          </a:ln>
        </p:spPr>
        <p:txBody>
          <a:bodyPr wrap="square">
            <a:spAutoFit/>
          </a:bodyPr>
          <a:lstStyle/>
          <a:p>
            <a:pPr algn="l"/>
            <a:r>
              <a:rPr sz="800" b="1">
                <a:solidFill>
                  <a:srgbClr val="2D1E44"/>
                </a:solidFill>
              </a:rPr>
              <a:t>Bloom’s level</a:t>
            </a:r>
          </a:p>
        </p:txBody>
      </p:sp>
      <p:sp>
        <p:nvSpPr>
          <p:cNvPr id="26" name="Rounded Rectangle 25"/>
          <p:cNvSpPr/>
          <p:nvPr/>
        </p:nvSpPr>
        <p:spPr>
          <a:xfrm>
            <a:off x="1325880" y="2103120"/>
            <a:ext cx="1645920" cy="530352"/>
          </a:xfrm>
          <a:prstGeom prst="roundRect">
            <a:avLst/>
          </a:prstGeom>
          <a:solidFill>
            <a:srgbClr val="E4F1DD"/>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490472" y="2221991"/>
            <a:ext cx="1316736" cy="256032"/>
          </a:xfrm>
          <a:prstGeom prst="rect">
            <a:avLst/>
          </a:prstGeom>
          <a:noFill/>
          <a:ln>
            <a:noFill/>
          </a:ln>
        </p:spPr>
        <p:txBody>
          <a:bodyPr wrap="square">
            <a:spAutoFit/>
          </a:bodyPr>
          <a:lstStyle/>
          <a:p>
            <a:pPr algn="l"/>
            <a:r>
              <a:rPr sz="950" b="1">
                <a:solidFill>
                  <a:srgbClr val="4E247A"/>
                </a:solidFill>
              </a:rPr>
              <a:t>CS elective</a:t>
            </a:r>
          </a:p>
        </p:txBody>
      </p:sp>
      <p:sp>
        <p:nvSpPr>
          <p:cNvPr id="28" name="TextBox 27"/>
          <p:cNvSpPr txBox="1"/>
          <p:nvPr/>
        </p:nvSpPr>
        <p:spPr>
          <a:xfrm>
            <a:off x="1490472" y="2542032"/>
            <a:ext cx="1316736" cy="0"/>
          </a:xfrm>
          <a:prstGeom prst="rect">
            <a:avLst/>
          </a:prstGeom>
          <a:noFill/>
          <a:ln>
            <a:noFill/>
          </a:ln>
        </p:spPr>
        <p:txBody>
          <a:bodyPr wrap="square">
            <a:spAutoFit/>
          </a:bodyPr>
          <a:lstStyle/>
          <a:p>
            <a:pPr>
              <a:spcAft>
                <a:spcPts val="200"/>
              </a:spcAft>
              <a:defRPr sz="620">
                <a:solidFill>
                  <a:srgbClr val="2D1E44"/>
                </a:solidFill>
              </a:defRPr>
            </a:pPr>
            <a:r>
              <a:t>Create</a:t>
            </a:r>
          </a:p>
          <a:p>
            <a:pPr>
              <a:spcAft>
                <a:spcPts val="200"/>
              </a:spcAft>
              <a:defRPr sz="620">
                <a:solidFill>
                  <a:srgbClr val="2D1E44"/>
                </a:solidFill>
              </a:defRPr>
            </a:pPr>
            <a:r>
              <a:t>CS prerequisites</a:t>
            </a:r>
          </a:p>
        </p:txBody>
      </p:sp>
      <p:sp>
        <p:nvSpPr>
          <p:cNvPr id="29" name="Rounded Rectangle 28"/>
          <p:cNvSpPr/>
          <p:nvPr/>
        </p:nvSpPr>
        <p:spPr>
          <a:xfrm>
            <a:off x="4206240" y="3840479"/>
            <a:ext cx="1554480" cy="530352"/>
          </a:xfrm>
          <a:prstGeom prst="roundRect">
            <a:avLst/>
          </a:prstGeom>
          <a:solidFill>
            <a:srgbClr val="E4F1DD"/>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370831" y="3959351"/>
            <a:ext cx="1225295" cy="256032"/>
          </a:xfrm>
          <a:prstGeom prst="rect">
            <a:avLst/>
          </a:prstGeom>
          <a:noFill/>
          <a:ln>
            <a:noFill/>
          </a:ln>
        </p:spPr>
        <p:txBody>
          <a:bodyPr wrap="square">
            <a:spAutoFit/>
          </a:bodyPr>
          <a:lstStyle/>
          <a:p>
            <a:pPr algn="l"/>
            <a:r>
              <a:rPr sz="950" b="1">
                <a:solidFill>
                  <a:srgbClr val="4E247A"/>
                </a:solidFill>
              </a:rPr>
              <a:t>Broad AI course</a:t>
            </a:r>
          </a:p>
        </p:txBody>
      </p:sp>
      <p:sp>
        <p:nvSpPr>
          <p:cNvPr id="31" name="TextBox 30"/>
          <p:cNvSpPr txBox="1"/>
          <p:nvPr/>
        </p:nvSpPr>
        <p:spPr>
          <a:xfrm>
            <a:off x="4370831" y="4279392"/>
            <a:ext cx="1225295" cy="0"/>
          </a:xfrm>
          <a:prstGeom prst="rect">
            <a:avLst/>
          </a:prstGeom>
          <a:noFill/>
          <a:ln>
            <a:noFill/>
          </a:ln>
        </p:spPr>
        <p:txBody>
          <a:bodyPr wrap="square">
            <a:spAutoFit/>
          </a:bodyPr>
          <a:lstStyle/>
          <a:p>
            <a:pPr>
              <a:spcAft>
                <a:spcPts val="200"/>
              </a:spcAft>
              <a:defRPr sz="620">
                <a:solidFill>
                  <a:srgbClr val="2D1E44"/>
                </a:solidFill>
              </a:defRPr>
            </a:pPr>
            <a:r>
              <a:t>Understand / Apply</a:t>
            </a:r>
          </a:p>
        </p:txBody>
      </p:sp>
      <p:sp>
        <p:nvSpPr>
          <p:cNvPr id="32" name="Rounded Rectangle 31"/>
          <p:cNvSpPr/>
          <p:nvPr/>
        </p:nvSpPr>
        <p:spPr>
          <a:xfrm>
            <a:off x="5897880" y="4389120"/>
            <a:ext cx="1143000" cy="457200"/>
          </a:xfrm>
          <a:prstGeom prst="roundRect">
            <a:avLst/>
          </a:prstGeom>
          <a:solidFill>
            <a:srgbClr val="E4F1DD"/>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062472" y="4507992"/>
            <a:ext cx="813816" cy="256032"/>
          </a:xfrm>
          <a:prstGeom prst="rect">
            <a:avLst/>
          </a:prstGeom>
          <a:noFill/>
          <a:ln>
            <a:noFill/>
          </a:ln>
        </p:spPr>
        <p:txBody>
          <a:bodyPr wrap="square">
            <a:spAutoFit/>
          </a:bodyPr>
          <a:lstStyle/>
          <a:p>
            <a:pPr algn="l"/>
            <a:r>
              <a:rPr sz="950" b="1">
                <a:solidFill>
                  <a:srgbClr val="4E247A"/>
                </a:solidFill>
              </a:rPr>
              <a:t>Tool course</a:t>
            </a:r>
          </a:p>
        </p:txBody>
      </p:sp>
      <p:sp>
        <p:nvSpPr>
          <p:cNvPr id="34" name="TextBox 33"/>
          <p:cNvSpPr txBox="1"/>
          <p:nvPr/>
        </p:nvSpPr>
        <p:spPr>
          <a:xfrm>
            <a:off x="6062472" y="4882896"/>
            <a:ext cx="813816" cy="0"/>
          </a:xfrm>
          <a:prstGeom prst="rect">
            <a:avLst/>
          </a:prstGeom>
          <a:noFill/>
          <a:ln>
            <a:noFill/>
          </a:ln>
        </p:spPr>
        <p:txBody>
          <a:bodyPr wrap="square">
            <a:spAutoFit/>
          </a:bodyPr>
          <a:lstStyle/>
          <a:p>
            <a:pPr>
              <a:spcAft>
                <a:spcPts val="200"/>
              </a:spcAft>
              <a:defRPr sz="620">
                <a:solidFill>
                  <a:srgbClr val="2D1E44"/>
                </a:solidFill>
              </a:defRPr>
            </a:pPr>
            <a:r>
              <a:rPr dirty="0"/>
              <a:t>Prompt/use</a:t>
            </a:r>
          </a:p>
        </p:txBody>
      </p:sp>
      <p:sp>
        <p:nvSpPr>
          <p:cNvPr id="35" name="Rounded Rectangle 34"/>
          <p:cNvSpPr/>
          <p:nvPr/>
        </p:nvSpPr>
        <p:spPr>
          <a:xfrm>
            <a:off x="5760720" y="2057400"/>
            <a:ext cx="1463040" cy="594360"/>
          </a:xfrm>
          <a:prstGeom prst="roundRect">
            <a:avLst/>
          </a:prstGeom>
          <a:solidFill>
            <a:srgbClr val="1B4830"/>
          </a:solidFill>
          <a:ln>
            <a:solidFill>
              <a:srgbClr val="1B483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FFFFFF"/>
                </a:solidFill>
              </a:rPr>
              <a:t>Broad access
+ higher-order reasoning</a:t>
            </a:r>
          </a:p>
        </p:txBody>
      </p:sp>
      <p:sp>
        <p:nvSpPr>
          <p:cNvPr id="36" name="Up Arrow 35"/>
          <p:cNvSpPr/>
          <p:nvPr/>
        </p:nvSpPr>
        <p:spPr>
          <a:xfrm>
            <a:off x="3017520" y="2468879"/>
            <a:ext cx="502920" cy="2286000"/>
          </a:xfrm>
          <a:prstGeom prst="upArrow">
            <a:avLst/>
          </a:prstGeom>
          <a:solidFill>
            <a:srgbClr val="FFF5E8"/>
          </a:solidFill>
          <a:ln>
            <a:solidFill>
              <a:srgbClr val="B25E3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B25E33"/>
                </a:solidFill>
              </a:rPr>
              <a:t>Fluency</a:t>
            </a:r>
          </a:p>
        </p:txBody>
      </p:sp>
      <p:sp>
        <p:nvSpPr>
          <p:cNvPr id="37" name="TextBox 36"/>
          <p:cNvSpPr txBox="1"/>
          <p:nvPr/>
        </p:nvSpPr>
        <p:spPr>
          <a:xfrm>
            <a:off x="1005839" y="5102352"/>
            <a:ext cx="2468880" cy="201168"/>
          </a:xfrm>
          <a:prstGeom prst="rect">
            <a:avLst/>
          </a:prstGeom>
          <a:noFill/>
          <a:ln>
            <a:noFill/>
          </a:ln>
        </p:spPr>
        <p:txBody>
          <a:bodyPr wrap="square">
            <a:spAutoFit/>
          </a:bodyPr>
          <a:lstStyle/>
          <a:p>
            <a:pPr algn="l"/>
            <a:r>
              <a:rPr sz="750" b="0">
                <a:solidFill>
                  <a:srgbClr val="5C5864"/>
                </a:solidFill>
              </a:rPr>
              <a:t>CS majors (prereqs)</a:t>
            </a:r>
          </a:p>
        </p:txBody>
      </p:sp>
      <p:sp>
        <p:nvSpPr>
          <p:cNvPr id="38" name="TextBox 37"/>
          <p:cNvSpPr txBox="1"/>
          <p:nvPr/>
        </p:nvSpPr>
        <p:spPr>
          <a:xfrm>
            <a:off x="5623559" y="5102352"/>
            <a:ext cx="1737360" cy="201168"/>
          </a:xfrm>
          <a:prstGeom prst="rect">
            <a:avLst/>
          </a:prstGeom>
          <a:noFill/>
          <a:ln>
            <a:noFill/>
          </a:ln>
        </p:spPr>
        <p:txBody>
          <a:bodyPr wrap="square">
            <a:spAutoFit/>
          </a:bodyPr>
          <a:lstStyle/>
          <a:p>
            <a:pPr algn="r"/>
            <a:r>
              <a:rPr sz="750" b="0">
                <a:solidFill>
                  <a:srgbClr val="5C5864"/>
                </a:solidFill>
              </a:rPr>
              <a:t>All majors (no prereqs)</a:t>
            </a:r>
          </a:p>
        </p:txBody>
      </p:sp>
      <p:sp>
        <p:nvSpPr>
          <p:cNvPr id="39" name="TextBox 38"/>
          <p:cNvSpPr txBox="1"/>
          <p:nvPr/>
        </p:nvSpPr>
        <p:spPr>
          <a:xfrm>
            <a:off x="1056131" y="5844135"/>
            <a:ext cx="6629400" cy="276999"/>
          </a:xfrm>
          <a:prstGeom prst="rect">
            <a:avLst/>
          </a:prstGeom>
          <a:noFill/>
          <a:ln>
            <a:noFill/>
          </a:ln>
        </p:spPr>
        <p:txBody>
          <a:bodyPr wrap="square">
            <a:spAutoFit/>
          </a:bodyPr>
          <a:lstStyle/>
          <a:p>
            <a:pPr algn="l"/>
            <a:r>
              <a:rPr sz="1200" b="0" dirty="0">
                <a:solidFill>
                  <a:srgbClr val="5C5864"/>
                </a:solidFill>
              </a:rPr>
              <a:t>Adapted conceptually from Shehu (2026), Figure 1. </a:t>
            </a:r>
            <a:endParaRPr lang="en-US" sz="1200" b="0" dirty="0">
              <a:solidFill>
                <a:srgbClr val="5C5864"/>
              </a:solidFill>
            </a:endParaRPr>
          </a:p>
        </p:txBody>
      </p:sp>
      <p:sp>
        <p:nvSpPr>
          <p:cNvPr id="40" name="Rounded Rectangle 39"/>
          <p:cNvSpPr/>
          <p:nvPr/>
        </p:nvSpPr>
        <p:spPr>
          <a:xfrm>
            <a:off x="7909560" y="1700808"/>
            <a:ext cx="3337560" cy="1051560"/>
          </a:xfrm>
          <a:prstGeom prst="roundRect">
            <a:avLst/>
          </a:prstGeom>
          <a:solidFill>
            <a:srgbClr val="F9EFCF"/>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1" name="TextBox 40"/>
          <p:cNvSpPr txBox="1"/>
          <p:nvPr/>
        </p:nvSpPr>
        <p:spPr>
          <a:xfrm>
            <a:off x="8074152" y="1819680"/>
            <a:ext cx="3008376" cy="261610"/>
          </a:xfrm>
          <a:prstGeom prst="rect">
            <a:avLst/>
          </a:prstGeom>
          <a:noFill/>
          <a:ln>
            <a:noFill/>
          </a:ln>
        </p:spPr>
        <p:txBody>
          <a:bodyPr wrap="square">
            <a:spAutoFit/>
          </a:bodyPr>
          <a:lstStyle/>
          <a:p>
            <a:pPr algn="l"/>
            <a:r>
              <a:rPr sz="1100" b="1">
                <a:solidFill>
                  <a:srgbClr val="4E247A"/>
                </a:solidFill>
              </a:rPr>
              <a:t>Article argument</a:t>
            </a:r>
          </a:p>
        </p:txBody>
      </p:sp>
      <p:sp>
        <p:nvSpPr>
          <p:cNvPr id="42" name="TextBox 41"/>
          <p:cNvSpPr txBox="1"/>
          <p:nvPr/>
        </p:nvSpPr>
        <p:spPr>
          <a:xfrm>
            <a:off x="8074152" y="2036741"/>
            <a:ext cx="3008376" cy="461665"/>
          </a:xfrm>
          <a:prstGeom prst="rect">
            <a:avLst/>
          </a:prstGeom>
          <a:noFill/>
          <a:ln>
            <a:noFill/>
          </a:ln>
        </p:spPr>
        <p:txBody>
          <a:bodyPr wrap="square">
            <a:spAutoFit/>
          </a:bodyPr>
          <a:lstStyle/>
          <a:p>
            <a:pPr>
              <a:spcAft>
                <a:spcPts val="200"/>
              </a:spcAft>
              <a:defRPr sz="919">
                <a:solidFill>
                  <a:srgbClr val="2D1E44"/>
                </a:solidFill>
              </a:defRPr>
            </a:pPr>
            <a:r>
              <a:rPr sz="1200" dirty="0"/>
              <a:t>The breadth–depth tradeoff is inherited rather than inherent. </a:t>
            </a:r>
          </a:p>
        </p:txBody>
      </p:sp>
      <p:sp>
        <p:nvSpPr>
          <p:cNvPr id="43" name="Rounded Rectangle 42"/>
          <p:cNvSpPr/>
          <p:nvPr/>
        </p:nvSpPr>
        <p:spPr>
          <a:xfrm>
            <a:off x="7909560" y="2950072"/>
            <a:ext cx="3337560" cy="1271016"/>
          </a:xfrm>
          <a:prstGeom prst="roundRect">
            <a:avLst/>
          </a:prstGeom>
          <a:solidFill>
            <a:srgbClr val="F7F3FF"/>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4" name="TextBox 43"/>
          <p:cNvSpPr txBox="1"/>
          <p:nvPr/>
        </p:nvSpPr>
        <p:spPr>
          <a:xfrm>
            <a:off x="8074152" y="3068943"/>
            <a:ext cx="3008376" cy="261610"/>
          </a:xfrm>
          <a:prstGeom prst="rect">
            <a:avLst/>
          </a:prstGeom>
          <a:noFill/>
          <a:ln>
            <a:noFill/>
          </a:ln>
        </p:spPr>
        <p:txBody>
          <a:bodyPr wrap="square">
            <a:spAutoFit/>
          </a:bodyPr>
          <a:lstStyle/>
          <a:p>
            <a:pPr algn="l"/>
            <a:r>
              <a:rPr sz="1100" b="1">
                <a:solidFill>
                  <a:srgbClr val="4E247A"/>
                </a:solidFill>
              </a:rPr>
              <a:t>Teaching implication</a:t>
            </a:r>
          </a:p>
        </p:txBody>
      </p:sp>
      <p:sp>
        <p:nvSpPr>
          <p:cNvPr id="45" name="TextBox 44"/>
          <p:cNvSpPr txBox="1"/>
          <p:nvPr/>
        </p:nvSpPr>
        <p:spPr>
          <a:xfrm>
            <a:off x="8074152" y="3286005"/>
            <a:ext cx="3008376" cy="830997"/>
          </a:xfrm>
          <a:prstGeom prst="rect">
            <a:avLst/>
          </a:prstGeom>
          <a:noFill/>
          <a:ln>
            <a:noFill/>
          </a:ln>
        </p:spPr>
        <p:txBody>
          <a:bodyPr wrap="square">
            <a:spAutoFit/>
          </a:bodyPr>
          <a:lstStyle/>
          <a:p>
            <a:pPr>
              <a:spcAft>
                <a:spcPts val="200"/>
              </a:spcAft>
              <a:defRPr sz="919">
                <a:solidFill>
                  <a:srgbClr val="2D1E44"/>
                </a:solidFill>
              </a:defRPr>
            </a:pPr>
            <a:r>
              <a:rPr sz="1200" dirty="0"/>
              <a:t>Us</a:t>
            </a:r>
            <a:r>
              <a:rPr lang="en-US" sz="1200" dirty="0"/>
              <a:t>ing</a:t>
            </a:r>
            <a:r>
              <a:rPr sz="1200" dirty="0"/>
              <a:t> conceptual sequencing, technically faithful analogies, and repeated workflows to move non-CS students toward higher-order reasoning.</a:t>
            </a:r>
          </a:p>
        </p:txBody>
      </p:sp>
      <p:sp>
        <p:nvSpPr>
          <p:cNvPr id="46" name="Rounded Rectangle 45"/>
          <p:cNvSpPr/>
          <p:nvPr/>
        </p:nvSpPr>
        <p:spPr>
          <a:xfrm>
            <a:off x="7909560" y="4393664"/>
            <a:ext cx="3337560" cy="1051560"/>
          </a:xfrm>
          <a:prstGeom prst="roundRect">
            <a:avLst/>
          </a:prstGeom>
          <a:solidFill>
            <a:srgbClr val="E2F3F4"/>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7" name="TextBox 46"/>
          <p:cNvSpPr txBox="1"/>
          <p:nvPr/>
        </p:nvSpPr>
        <p:spPr>
          <a:xfrm>
            <a:off x="8074152" y="4512536"/>
            <a:ext cx="3008376" cy="261610"/>
          </a:xfrm>
          <a:prstGeom prst="rect">
            <a:avLst/>
          </a:prstGeom>
          <a:noFill/>
          <a:ln>
            <a:noFill/>
          </a:ln>
        </p:spPr>
        <p:txBody>
          <a:bodyPr wrap="square">
            <a:spAutoFit/>
          </a:bodyPr>
          <a:lstStyle/>
          <a:p>
            <a:pPr algn="l"/>
            <a:r>
              <a:rPr sz="1100" b="1">
                <a:solidFill>
                  <a:srgbClr val="4E247A"/>
                </a:solidFill>
              </a:rPr>
              <a:t>Architecture implication</a:t>
            </a:r>
          </a:p>
        </p:txBody>
      </p:sp>
      <p:sp>
        <p:nvSpPr>
          <p:cNvPr id="48" name="TextBox 47"/>
          <p:cNvSpPr txBox="1"/>
          <p:nvPr/>
        </p:nvSpPr>
        <p:spPr>
          <a:xfrm>
            <a:off x="8074152" y="4729596"/>
            <a:ext cx="3008376" cy="646331"/>
          </a:xfrm>
          <a:prstGeom prst="rect">
            <a:avLst/>
          </a:prstGeom>
          <a:noFill/>
          <a:ln>
            <a:noFill/>
          </a:ln>
        </p:spPr>
        <p:txBody>
          <a:bodyPr wrap="square">
            <a:spAutoFit/>
          </a:bodyPr>
          <a:lstStyle/>
          <a:p>
            <a:pPr>
              <a:spcAft>
                <a:spcPts val="200"/>
              </a:spcAft>
              <a:defRPr sz="919">
                <a:solidFill>
                  <a:srgbClr val="2D1E44"/>
                </a:solidFill>
              </a:defRPr>
            </a:pPr>
            <a:r>
              <a:rPr sz="1200" dirty="0"/>
              <a:t>Mov</a:t>
            </a:r>
            <a:r>
              <a:rPr lang="en-US" sz="1200" dirty="0"/>
              <a:t>ing</a:t>
            </a:r>
            <a:r>
              <a:rPr sz="1200" dirty="0"/>
              <a:t> beyond “AI as production tool” toward AI as a method for framing, evaluating, and responsibly applying design decisions.</a:t>
            </a:r>
          </a:p>
        </p:txBody>
      </p:sp>
      <p:sp>
        <p:nvSpPr>
          <p:cNvPr id="49" name="TextBox 48"/>
          <p:cNvSpPr txBox="1"/>
          <p:nvPr/>
        </p:nvSpPr>
        <p:spPr>
          <a:xfrm>
            <a:off x="7688580" y="5682521"/>
            <a:ext cx="4282440" cy="523220"/>
          </a:xfrm>
          <a:prstGeom prst="rect">
            <a:avLst/>
          </a:prstGeom>
          <a:noFill/>
          <a:ln>
            <a:noFill/>
          </a:ln>
        </p:spPr>
        <p:txBody>
          <a:bodyPr wrap="square">
            <a:spAutoFit/>
          </a:bodyPr>
          <a:lstStyle/>
          <a:p>
            <a:r>
              <a:rPr sz="1400" b="1" dirty="0">
                <a:solidFill>
                  <a:srgbClr val="4E247A"/>
                </a:solidFill>
              </a:rPr>
              <a:t>Learning target: Analyze → Evaluate → Create, not only Understand → Apply.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2920" y="320040"/>
            <a:ext cx="10698480" cy="457200"/>
          </a:xfrm>
          <a:prstGeom prst="rect">
            <a:avLst/>
          </a:prstGeom>
          <a:noFill/>
          <a:ln>
            <a:noFill/>
          </a:ln>
        </p:spPr>
        <p:txBody>
          <a:bodyPr wrap="none">
            <a:spAutoFit/>
          </a:bodyPr>
          <a:lstStyle/>
          <a:p>
            <a:r>
              <a:rPr sz="2000" b="1">
                <a:solidFill>
                  <a:srgbClr val="2D1E44"/>
                </a:solidFill>
              </a:rPr>
              <a:t>Ethics as structural, not separate</a:t>
            </a:r>
          </a:p>
        </p:txBody>
      </p:sp>
      <p:sp>
        <p:nvSpPr>
          <p:cNvPr id="6" name="TextBox 5"/>
          <p:cNvSpPr txBox="1"/>
          <p:nvPr/>
        </p:nvSpPr>
        <p:spPr>
          <a:xfrm>
            <a:off x="521207" y="795528"/>
            <a:ext cx="4917757" cy="276999"/>
          </a:xfrm>
          <a:prstGeom prst="rect">
            <a:avLst/>
          </a:prstGeom>
          <a:noFill/>
          <a:ln>
            <a:noFill/>
          </a:ln>
        </p:spPr>
        <p:txBody>
          <a:bodyPr wrap="none">
            <a:spAutoFit/>
          </a:bodyPr>
          <a:lstStyle/>
          <a:p>
            <a:r>
              <a:rPr sz="1200" dirty="0">
                <a:solidFill>
                  <a:srgbClr val="5C5864"/>
                </a:solidFill>
              </a:rPr>
              <a:t>Ethical reasoning should emerge inside technical AI work—not as an add-on</a:t>
            </a:r>
          </a:p>
        </p:txBody>
      </p:sp>
      <p:sp>
        <p:nvSpPr>
          <p:cNvPr id="11" name="Rounded Rectangle 10"/>
          <p:cNvSpPr/>
          <p:nvPr/>
        </p:nvSpPr>
        <p:spPr>
          <a:xfrm>
            <a:off x="685800" y="1600200"/>
            <a:ext cx="1783080" cy="1143000"/>
          </a:xfrm>
          <a:prstGeom prst="roundRect">
            <a:avLst/>
          </a:prstGeom>
          <a:solidFill>
            <a:srgbClr val="F7F3FF"/>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2" name="TextBox 11"/>
          <p:cNvSpPr txBox="1"/>
          <p:nvPr/>
        </p:nvSpPr>
        <p:spPr>
          <a:xfrm>
            <a:off x="768095" y="1731335"/>
            <a:ext cx="1618487" cy="307777"/>
          </a:xfrm>
          <a:prstGeom prst="rect">
            <a:avLst/>
          </a:prstGeom>
          <a:noFill/>
          <a:ln>
            <a:noFill/>
          </a:ln>
        </p:spPr>
        <p:txBody>
          <a:bodyPr wrap="square">
            <a:spAutoFit/>
          </a:bodyPr>
          <a:lstStyle/>
          <a:p>
            <a:pPr algn="l"/>
            <a:r>
              <a:rPr sz="1400" b="1" dirty="0">
                <a:solidFill>
                  <a:srgbClr val="4E247A"/>
                </a:solidFill>
              </a:rPr>
              <a:t>Problem framing</a:t>
            </a:r>
          </a:p>
        </p:txBody>
      </p:sp>
      <p:sp>
        <p:nvSpPr>
          <p:cNvPr id="13" name="TextBox 12"/>
          <p:cNvSpPr txBox="1"/>
          <p:nvPr/>
        </p:nvSpPr>
        <p:spPr>
          <a:xfrm>
            <a:off x="850392" y="2039112"/>
            <a:ext cx="1453895" cy="523220"/>
          </a:xfrm>
          <a:prstGeom prst="rect">
            <a:avLst/>
          </a:prstGeom>
          <a:noFill/>
          <a:ln>
            <a:noFill/>
          </a:ln>
        </p:spPr>
        <p:txBody>
          <a:bodyPr wrap="square">
            <a:spAutoFit/>
          </a:bodyPr>
          <a:lstStyle/>
          <a:p>
            <a:pPr>
              <a:spcAft>
                <a:spcPts val="200"/>
              </a:spcAft>
              <a:defRPr sz="830">
                <a:solidFill>
                  <a:srgbClr val="2D1E44"/>
                </a:solidFill>
              </a:defRPr>
            </a:pPr>
            <a:r>
              <a:rPr sz="1400"/>
              <a:t>Who defines the problem?</a:t>
            </a:r>
          </a:p>
        </p:txBody>
      </p:sp>
      <p:sp>
        <p:nvSpPr>
          <p:cNvPr id="14" name="Right Arrow 13"/>
          <p:cNvSpPr/>
          <p:nvPr/>
        </p:nvSpPr>
        <p:spPr>
          <a:xfrm>
            <a:off x="2542032" y="2029967"/>
            <a:ext cx="320040" cy="256032"/>
          </a:xfrm>
          <a:prstGeom prst="rightArrow">
            <a:avLst/>
          </a:prstGeom>
          <a:solidFill>
            <a:srgbClr val="4E2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Rounded Rectangle 14"/>
          <p:cNvSpPr/>
          <p:nvPr/>
        </p:nvSpPr>
        <p:spPr>
          <a:xfrm>
            <a:off x="2935224" y="1600200"/>
            <a:ext cx="1783080" cy="1143000"/>
          </a:xfrm>
          <a:prstGeom prst="roundRect">
            <a:avLst/>
          </a:prstGeom>
          <a:solidFill>
            <a:srgbClr val="E2F3F4"/>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6" name="TextBox 15"/>
          <p:cNvSpPr txBox="1"/>
          <p:nvPr/>
        </p:nvSpPr>
        <p:spPr>
          <a:xfrm>
            <a:off x="3099816" y="1719072"/>
            <a:ext cx="1453895" cy="307777"/>
          </a:xfrm>
          <a:prstGeom prst="rect">
            <a:avLst/>
          </a:prstGeom>
          <a:noFill/>
          <a:ln>
            <a:noFill/>
          </a:ln>
        </p:spPr>
        <p:txBody>
          <a:bodyPr wrap="square">
            <a:spAutoFit/>
          </a:bodyPr>
          <a:lstStyle/>
          <a:p>
            <a:pPr algn="l"/>
            <a:r>
              <a:rPr sz="1400" b="1">
                <a:solidFill>
                  <a:srgbClr val="4E247A"/>
                </a:solidFill>
              </a:rPr>
              <a:t>Data</a:t>
            </a:r>
          </a:p>
        </p:txBody>
      </p:sp>
      <p:sp>
        <p:nvSpPr>
          <p:cNvPr id="17" name="TextBox 16"/>
          <p:cNvSpPr txBox="1"/>
          <p:nvPr/>
        </p:nvSpPr>
        <p:spPr>
          <a:xfrm>
            <a:off x="3099816" y="2039112"/>
            <a:ext cx="1453895" cy="523220"/>
          </a:xfrm>
          <a:prstGeom prst="rect">
            <a:avLst/>
          </a:prstGeom>
          <a:noFill/>
          <a:ln>
            <a:noFill/>
          </a:ln>
        </p:spPr>
        <p:txBody>
          <a:bodyPr wrap="square">
            <a:spAutoFit/>
          </a:bodyPr>
          <a:lstStyle/>
          <a:p>
            <a:pPr>
              <a:spcAft>
                <a:spcPts val="200"/>
              </a:spcAft>
              <a:defRPr sz="830">
                <a:solidFill>
                  <a:srgbClr val="2D1E44"/>
                </a:solidFill>
              </a:defRPr>
            </a:pPr>
            <a:r>
              <a:rPr sz="1400"/>
              <a:t>Consent, provenance, bias</a:t>
            </a:r>
          </a:p>
        </p:txBody>
      </p:sp>
      <p:sp>
        <p:nvSpPr>
          <p:cNvPr id="18" name="Right Arrow 17"/>
          <p:cNvSpPr/>
          <p:nvPr/>
        </p:nvSpPr>
        <p:spPr>
          <a:xfrm>
            <a:off x="4791456" y="2029967"/>
            <a:ext cx="320040" cy="256032"/>
          </a:xfrm>
          <a:prstGeom prst="rightArrow">
            <a:avLst/>
          </a:prstGeom>
          <a:solidFill>
            <a:srgbClr val="4E2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9" name="Rounded Rectangle 18"/>
          <p:cNvSpPr/>
          <p:nvPr/>
        </p:nvSpPr>
        <p:spPr>
          <a:xfrm>
            <a:off x="5184648" y="1600200"/>
            <a:ext cx="1783080" cy="1143000"/>
          </a:xfrm>
          <a:prstGeom prst="roundRect">
            <a:avLst/>
          </a:prstGeom>
          <a:solidFill>
            <a:srgbClr val="F9EFCF"/>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0" name="TextBox 19"/>
          <p:cNvSpPr txBox="1"/>
          <p:nvPr/>
        </p:nvSpPr>
        <p:spPr>
          <a:xfrm>
            <a:off x="5349240" y="1719072"/>
            <a:ext cx="1453895" cy="307777"/>
          </a:xfrm>
          <a:prstGeom prst="rect">
            <a:avLst/>
          </a:prstGeom>
          <a:noFill/>
          <a:ln>
            <a:noFill/>
          </a:ln>
        </p:spPr>
        <p:txBody>
          <a:bodyPr wrap="square">
            <a:spAutoFit/>
          </a:bodyPr>
          <a:lstStyle/>
          <a:p>
            <a:pPr algn="l"/>
            <a:r>
              <a:rPr sz="1400" b="1">
                <a:solidFill>
                  <a:srgbClr val="4E247A"/>
                </a:solidFill>
              </a:rPr>
              <a:t>Model</a:t>
            </a:r>
          </a:p>
        </p:txBody>
      </p:sp>
      <p:sp>
        <p:nvSpPr>
          <p:cNvPr id="21" name="TextBox 20"/>
          <p:cNvSpPr txBox="1"/>
          <p:nvPr/>
        </p:nvSpPr>
        <p:spPr>
          <a:xfrm>
            <a:off x="5349240" y="2039112"/>
            <a:ext cx="1453895" cy="523220"/>
          </a:xfrm>
          <a:prstGeom prst="rect">
            <a:avLst/>
          </a:prstGeom>
          <a:noFill/>
          <a:ln>
            <a:noFill/>
          </a:ln>
        </p:spPr>
        <p:txBody>
          <a:bodyPr wrap="square">
            <a:spAutoFit/>
          </a:bodyPr>
          <a:lstStyle/>
          <a:p>
            <a:pPr>
              <a:spcAft>
                <a:spcPts val="200"/>
              </a:spcAft>
              <a:defRPr sz="830">
                <a:solidFill>
                  <a:srgbClr val="2D1E44"/>
                </a:solidFill>
              </a:defRPr>
            </a:pPr>
            <a:r>
              <a:rPr sz="1400"/>
              <a:t>Failure modes, assumptions</a:t>
            </a:r>
          </a:p>
        </p:txBody>
      </p:sp>
      <p:sp>
        <p:nvSpPr>
          <p:cNvPr id="22" name="Right Arrow 21"/>
          <p:cNvSpPr/>
          <p:nvPr/>
        </p:nvSpPr>
        <p:spPr>
          <a:xfrm>
            <a:off x="7040879" y="2029967"/>
            <a:ext cx="320040" cy="256032"/>
          </a:xfrm>
          <a:prstGeom prst="rightArrow">
            <a:avLst/>
          </a:prstGeom>
          <a:solidFill>
            <a:srgbClr val="4E2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3" name="Rounded Rectangle 22"/>
          <p:cNvSpPr/>
          <p:nvPr/>
        </p:nvSpPr>
        <p:spPr>
          <a:xfrm>
            <a:off x="7434071" y="1600200"/>
            <a:ext cx="1783080" cy="1143000"/>
          </a:xfrm>
          <a:prstGeom prst="roundRect">
            <a:avLst/>
          </a:prstGeom>
          <a:solidFill>
            <a:srgbClr val="E4F1DD"/>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4" name="TextBox 23"/>
          <p:cNvSpPr txBox="1"/>
          <p:nvPr/>
        </p:nvSpPr>
        <p:spPr>
          <a:xfrm>
            <a:off x="7598663" y="1719072"/>
            <a:ext cx="1453895" cy="307777"/>
          </a:xfrm>
          <a:prstGeom prst="rect">
            <a:avLst/>
          </a:prstGeom>
          <a:noFill/>
          <a:ln>
            <a:noFill/>
          </a:ln>
        </p:spPr>
        <p:txBody>
          <a:bodyPr wrap="square">
            <a:spAutoFit/>
          </a:bodyPr>
          <a:lstStyle/>
          <a:p>
            <a:pPr algn="l"/>
            <a:r>
              <a:rPr sz="1400" b="1">
                <a:solidFill>
                  <a:srgbClr val="4E247A"/>
                </a:solidFill>
              </a:rPr>
              <a:t>Output</a:t>
            </a:r>
          </a:p>
        </p:txBody>
      </p:sp>
      <p:sp>
        <p:nvSpPr>
          <p:cNvPr id="25" name="TextBox 24"/>
          <p:cNvSpPr txBox="1"/>
          <p:nvPr/>
        </p:nvSpPr>
        <p:spPr>
          <a:xfrm>
            <a:off x="7598663" y="2039112"/>
            <a:ext cx="1453895" cy="523220"/>
          </a:xfrm>
          <a:prstGeom prst="rect">
            <a:avLst/>
          </a:prstGeom>
          <a:noFill/>
          <a:ln>
            <a:noFill/>
          </a:ln>
        </p:spPr>
        <p:txBody>
          <a:bodyPr wrap="square">
            <a:spAutoFit/>
          </a:bodyPr>
          <a:lstStyle/>
          <a:p>
            <a:pPr>
              <a:spcAft>
                <a:spcPts val="200"/>
              </a:spcAft>
              <a:defRPr sz="830">
                <a:solidFill>
                  <a:srgbClr val="2D1E44"/>
                </a:solidFill>
              </a:defRPr>
            </a:pPr>
            <a:r>
              <a:rPr sz="1400"/>
              <a:t>Uncertainty, interpretation</a:t>
            </a:r>
          </a:p>
        </p:txBody>
      </p:sp>
      <p:sp>
        <p:nvSpPr>
          <p:cNvPr id="26" name="Right Arrow 25"/>
          <p:cNvSpPr/>
          <p:nvPr/>
        </p:nvSpPr>
        <p:spPr>
          <a:xfrm>
            <a:off x="9290303" y="2029967"/>
            <a:ext cx="320040" cy="256032"/>
          </a:xfrm>
          <a:prstGeom prst="rightArrow">
            <a:avLst/>
          </a:prstGeom>
          <a:solidFill>
            <a:srgbClr val="4E2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7" name="Rounded Rectangle 26"/>
          <p:cNvSpPr/>
          <p:nvPr/>
        </p:nvSpPr>
        <p:spPr>
          <a:xfrm>
            <a:off x="9683496" y="1600200"/>
            <a:ext cx="1783080" cy="1143000"/>
          </a:xfrm>
          <a:prstGeom prst="roundRect">
            <a:avLst/>
          </a:prstGeom>
          <a:solidFill>
            <a:srgbClr val="EFE7FF"/>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8" name="TextBox 27"/>
          <p:cNvSpPr txBox="1"/>
          <p:nvPr/>
        </p:nvSpPr>
        <p:spPr>
          <a:xfrm>
            <a:off x="9848088" y="1719072"/>
            <a:ext cx="1453895" cy="307777"/>
          </a:xfrm>
          <a:prstGeom prst="rect">
            <a:avLst/>
          </a:prstGeom>
          <a:noFill/>
          <a:ln>
            <a:noFill/>
          </a:ln>
        </p:spPr>
        <p:txBody>
          <a:bodyPr wrap="square">
            <a:spAutoFit/>
          </a:bodyPr>
          <a:lstStyle/>
          <a:p>
            <a:pPr algn="l"/>
            <a:r>
              <a:rPr sz="1400" b="1">
                <a:solidFill>
                  <a:srgbClr val="4E247A"/>
                </a:solidFill>
              </a:rPr>
              <a:t>Deployment</a:t>
            </a:r>
          </a:p>
        </p:txBody>
      </p:sp>
      <p:sp>
        <p:nvSpPr>
          <p:cNvPr id="29" name="TextBox 28"/>
          <p:cNvSpPr txBox="1"/>
          <p:nvPr/>
        </p:nvSpPr>
        <p:spPr>
          <a:xfrm>
            <a:off x="9848088" y="2039112"/>
            <a:ext cx="1453895" cy="523220"/>
          </a:xfrm>
          <a:prstGeom prst="rect">
            <a:avLst/>
          </a:prstGeom>
          <a:noFill/>
          <a:ln>
            <a:noFill/>
          </a:ln>
        </p:spPr>
        <p:txBody>
          <a:bodyPr wrap="square">
            <a:spAutoFit/>
          </a:bodyPr>
          <a:lstStyle/>
          <a:p>
            <a:pPr>
              <a:spcAft>
                <a:spcPts val="200"/>
              </a:spcAft>
              <a:defRPr sz="830">
                <a:solidFill>
                  <a:srgbClr val="2D1E44"/>
                </a:solidFill>
              </a:defRPr>
            </a:pPr>
            <a:r>
              <a:rPr sz="1400"/>
              <a:t>Accountability, harm</a:t>
            </a:r>
          </a:p>
        </p:txBody>
      </p:sp>
      <p:sp>
        <p:nvSpPr>
          <p:cNvPr id="30" name="Rounded Rectangle 29"/>
          <p:cNvSpPr/>
          <p:nvPr/>
        </p:nvSpPr>
        <p:spPr>
          <a:xfrm>
            <a:off x="2235528" y="3337561"/>
            <a:ext cx="3246120" cy="1554478"/>
          </a:xfrm>
          <a:prstGeom prst="roundRect">
            <a:avLst/>
          </a:prstGeom>
          <a:solidFill>
            <a:srgbClr val="FFFFFF"/>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1" name="TextBox 30"/>
          <p:cNvSpPr txBox="1"/>
          <p:nvPr/>
        </p:nvSpPr>
        <p:spPr>
          <a:xfrm>
            <a:off x="2400119" y="3456433"/>
            <a:ext cx="2916936" cy="307777"/>
          </a:xfrm>
          <a:prstGeom prst="rect">
            <a:avLst/>
          </a:prstGeom>
          <a:noFill/>
          <a:ln>
            <a:noFill/>
          </a:ln>
        </p:spPr>
        <p:txBody>
          <a:bodyPr wrap="square">
            <a:spAutoFit/>
          </a:bodyPr>
          <a:lstStyle/>
          <a:p>
            <a:pPr algn="l"/>
            <a:r>
              <a:rPr sz="1400" b="1">
                <a:solidFill>
                  <a:srgbClr val="4E247A"/>
                </a:solidFill>
              </a:rPr>
              <a:t>Article example</a:t>
            </a:r>
          </a:p>
        </p:txBody>
      </p:sp>
      <p:sp>
        <p:nvSpPr>
          <p:cNvPr id="32" name="TextBox 31"/>
          <p:cNvSpPr txBox="1"/>
          <p:nvPr/>
        </p:nvSpPr>
        <p:spPr>
          <a:xfrm>
            <a:off x="2400119" y="3776473"/>
            <a:ext cx="2916936" cy="954107"/>
          </a:xfrm>
          <a:prstGeom prst="rect">
            <a:avLst/>
          </a:prstGeom>
          <a:noFill/>
          <a:ln>
            <a:noFill/>
          </a:ln>
        </p:spPr>
        <p:txBody>
          <a:bodyPr wrap="square">
            <a:spAutoFit/>
          </a:bodyPr>
          <a:lstStyle/>
          <a:p>
            <a:pPr>
              <a:spcAft>
                <a:spcPts val="200"/>
              </a:spcAft>
              <a:defRPr sz="940">
                <a:solidFill>
                  <a:srgbClr val="2D1E44"/>
                </a:solidFill>
              </a:defRPr>
            </a:pPr>
            <a:r>
              <a:rPr sz="1400"/>
              <a:t>In an image-classifier activity, questions of consent, provenance, bias, and representation surfaced from the technical work itself.</a:t>
            </a:r>
          </a:p>
        </p:txBody>
      </p:sp>
      <p:sp>
        <p:nvSpPr>
          <p:cNvPr id="33" name="Rounded Rectangle 32"/>
          <p:cNvSpPr/>
          <p:nvPr/>
        </p:nvSpPr>
        <p:spPr>
          <a:xfrm>
            <a:off x="5847408" y="3337560"/>
            <a:ext cx="3246120" cy="1554479"/>
          </a:xfrm>
          <a:prstGeom prst="roundRect">
            <a:avLst/>
          </a:prstGeom>
          <a:solidFill>
            <a:srgbClr val="FFFFFF"/>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4" name="TextBox 33"/>
          <p:cNvSpPr txBox="1"/>
          <p:nvPr/>
        </p:nvSpPr>
        <p:spPr>
          <a:xfrm>
            <a:off x="6012000" y="3456433"/>
            <a:ext cx="2916936" cy="307777"/>
          </a:xfrm>
          <a:prstGeom prst="rect">
            <a:avLst/>
          </a:prstGeom>
          <a:noFill/>
          <a:ln>
            <a:noFill/>
          </a:ln>
        </p:spPr>
        <p:txBody>
          <a:bodyPr wrap="square">
            <a:spAutoFit/>
          </a:bodyPr>
          <a:lstStyle/>
          <a:p>
            <a:pPr algn="l"/>
            <a:r>
              <a:rPr sz="1400" b="1">
                <a:solidFill>
                  <a:srgbClr val="4E247A"/>
                </a:solidFill>
              </a:rPr>
              <a:t>Architecture example</a:t>
            </a:r>
          </a:p>
        </p:txBody>
      </p:sp>
      <p:sp>
        <p:nvSpPr>
          <p:cNvPr id="35" name="TextBox 34"/>
          <p:cNvSpPr txBox="1"/>
          <p:nvPr/>
        </p:nvSpPr>
        <p:spPr>
          <a:xfrm>
            <a:off x="6012000" y="3776473"/>
            <a:ext cx="2916936" cy="954107"/>
          </a:xfrm>
          <a:prstGeom prst="rect">
            <a:avLst/>
          </a:prstGeom>
          <a:noFill/>
          <a:ln>
            <a:noFill/>
          </a:ln>
        </p:spPr>
        <p:txBody>
          <a:bodyPr wrap="square">
            <a:spAutoFit/>
          </a:bodyPr>
          <a:lstStyle/>
          <a:p>
            <a:pPr>
              <a:spcAft>
                <a:spcPts val="200"/>
              </a:spcAft>
              <a:defRPr sz="940">
                <a:solidFill>
                  <a:srgbClr val="2D1E44"/>
                </a:solidFill>
              </a:defRPr>
            </a:pPr>
            <a:r>
              <a:rPr sz="1400"/>
              <a:t>A facade classifier or energy surrogate is never only technical: training data, labeling, proxies, and metrics shape what the system sees.</a:t>
            </a:r>
          </a:p>
        </p:txBody>
      </p:sp>
      <p:sp>
        <p:nvSpPr>
          <p:cNvPr id="39" name="TextBox 38"/>
          <p:cNvSpPr txBox="1"/>
          <p:nvPr/>
        </p:nvSpPr>
        <p:spPr>
          <a:xfrm>
            <a:off x="1051560" y="5349240"/>
            <a:ext cx="10058400" cy="738664"/>
          </a:xfrm>
          <a:prstGeom prst="rect">
            <a:avLst/>
          </a:prstGeom>
          <a:noFill/>
          <a:ln>
            <a:noFill/>
          </a:ln>
        </p:spPr>
        <p:txBody>
          <a:bodyPr wrap="square">
            <a:spAutoFit/>
          </a:bodyPr>
          <a:lstStyle/>
          <a:p>
            <a:r>
              <a:rPr sz="1400" b="1" dirty="0">
                <a:solidFill>
                  <a:srgbClr val="4E247A"/>
                </a:solidFill>
              </a:rPr>
              <a:t>Key takeaway: </a:t>
            </a:r>
            <a:endParaRPr lang="en-US" sz="1400" b="1" dirty="0">
              <a:solidFill>
                <a:srgbClr val="4E247A"/>
              </a:solidFill>
            </a:endParaRPr>
          </a:p>
          <a:p>
            <a:r>
              <a:rPr sz="1400" b="1" dirty="0">
                <a:solidFill>
                  <a:srgbClr val="4E247A"/>
                </a:solidFill>
              </a:rPr>
              <a:t>responsible AI is not a separate topic; it is a way of designing, validating, and communicating AI workflows.</a:t>
            </a:r>
            <a:endParaRPr lang="en-US" sz="1400" b="1" dirty="0">
              <a:solidFill>
                <a:srgbClr val="4E247A"/>
              </a:solidFill>
            </a:endParaRPr>
          </a:p>
          <a:p>
            <a:r>
              <a:rPr lang="en-US" sz="1400" b="1" dirty="0">
                <a:solidFill>
                  <a:srgbClr val="4E247A"/>
                </a:solidFill>
              </a:rPr>
              <a:t> identify the ethical issue at the same moment you make a technical choice.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2920" y="320040"/>
            <a:ext cx="10698480" cy="457200"/>
          </a:xfrm>
          <a:prstGeom prst="rect">
            <a:avLst/>
          </a:prstGeom>
          <a:noFill/>
          <a:ln>
            <a:noFill/>
          </a:ln>
        </p:spPr>
        <p:txBody>
          <a:bodyPr wrap="none">
            <a:spAutoFit/>
          </a:bodyPr>
          <a:lstStyle/>
          <a:p>
            <a:r>
              <a:rPr sz="2000" b="1">
                <a:solidFill>
                  <a:srgbClr val="2D1E44"/>
                </a:solidFill>
              </a:rPr>
              <a:t>Assessment as discovery</a:t>
            </a:r>
          </a:p>
        </p:txBody>
      </p:sp>
      <p:sp>
        <p:nvSpPr>
          <p:cNvPr id="6" name="TextBox 5"/>
          <p:cNvSpPr txBox="1"/>
          <p:nvPr/>
        </p:nvSpPr>
        <p:spPr>
          <a:xfrm>
            <a:off x="521207" y="795528"/>
            <a:ext cx="4539320" cy="276999"/>
          </a:xfrm>
          <a:prstGeom prst="rect">
            <a:avLst/>
          </a:prstGeom>
          <a:noFill/>
          <a:ln>
            <a:noFill/>
          </a:ln>
        </p:spPr>
        <p:txBody>
          <a:bodyPr wrap="none">
            <a:spAutoFit/>
          </a:bodyPr>
          <a:lstStyle/>
          <a:p>
            <a:r>
              <a:rPr sz="1200" dirty="0">
                <a:solidFill>
                  <a:srgbClr val="5C5864"/>
                </a:solidFill>
              </a:rPr>
              <a:t>The article offers a useful precedent for AI seminar/studio assessment</a:t>
            </a:r>
          </a:p>
        </p:txBody>
      </p:sp>
      <p:sp>
        <p:nvSpPr>
          <p:cNvPr id="11" name="Rectangle 10"/>
          <p:cNvSpPr/>
          <p:nvPr/>
        </p:nvSpPr>
        <p:spPr>
          <a:xfrm>
            <a:off x="960120" y="3422142"/>
            <a:ext cx="594360" cy="848105"/>
          </a:xfrm>
          <a:prstGeom prst="rect">
            <a:avLst/>
          </a:prstGeom>
          <a:solidFill>
            <a:srgbClr val="C6D6B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3736466"/>
            <a:ext cx="594360" cy="210312"/>
          </a:xfrm>
          <a:prstGeom prst="rect">
            <a:avLst/>
          </a:prstGeom>
          <a:noFill/>
          <a:ln>
            <a:noFill/>
          </a:ln>
        </p:spPr>
        <p:txBody>
          <a:bodyPr wrap="none">
            <a:spAutoFit/>
          </a:bodyPr>
          <a:lstStyle/>
          <a:p>
            <a:pPr algn="ctr"/>
            <a:r>
              <a:rPr sz="800" b="1">
                <a:solidFill>
                  <a:srgbClr val="2D1E44"/>
                </a:solidFill>
              </a:rPr>
              <a:t>35%</a:t>
            </a:r>
          </a:p>
        </p:txBody>
      </p:sp>
      <p:sp>
        <p:nvSpPr>
          <p:cNvPr id="13" name="Rectangle 12"/>
          <p:cNvSpPr/>
          <p:nvPr/>
        </p:nvSpPr>
        <p:spPr>
          <a:xfrm>
            <a:off x="960120" y="2089404"/>
            <a:ext cx="594360" cy="1332738"/>
          </a:xfrm>
          <a:prstGeom prst="rect">
            <a:avLst/>
          </a:prstGeom>
          <a:solidFill>
            <a:srgbClr val="90BE9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 y="2646045"/>
            <a:ext cx="594360" cy="210312"/>
          </a:xfrm>
          <a:prstGeom prst="rect">
            <a:avLst/>
          </a:prstGeom>
          <a:noFill/>
          <a:ln>
            <a:noFill/>
          </a:ln>
        </p:spPr>
        <p:txBody>
          <a:bodyPr wrap="none">
            <a:spAutoFit/>
          </a:bodyPr>
          <a:lstStyle/>
          <a:p>
            <a:pPr algn="ctr"/>
            <a:r>
              <a:rPr sz="800" b="1">
                <a:solidFill>
                  <a:srgbClr val="2D1E44"/>
                </a:solidFill>
              </a:rPr>
              <a:t>55%</a:t>
            </a:r>
          </a:p>
        </p:txBody>
      </p:sp>
      <p:sp>
        <p:nvSpPr>
          <p:cNvPr id="15" name="Rectangle 14"/>
          <p:cNvSpPr/>
          <p:nvPr/>
        </p:nvSpPr>
        <p:spPr>
          <a:xfrm>
            <a:off x="960120" y="1847088"/>
            <a:ext cx="594360" cy="242316"/>
          </a:xfrm>
          <a:prstGeom prst="rect">
            <a:avLst/>
          </a:prstGeom>
          <a:solidFill>
            <a:srgbClr val="36764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4379976"/>
            <a:ext cx="777240" cy="201168"/>
          </a:xfrm>
          <a:prstGeom prst="rect">
            <a:avLst/>
          </a:prstGeom>
          <a:noFill/>
          <a:ln>
            <a:noFill/>
          </a:ln>
        </p:spPr>
        <p:txBody>
          <a:bodyPr wrap="square">
            <a:spAutoFit/>
          </a:bodyPr>
          <a:lstStyle/>
          <a:p>
            <a:pPr algn="ctr"/>
            <a:r>
              <a:rPr sz="830" b="1">
                <a:solidFill>
                  <a:srgbClr val="2D1E44"/>
                </a:solidFill>
              </a:rPr>
              <a:t>HW1</a:t>
            </a:r>
          </a:p>
        </p:txBody>
      </p:sp>
      <p:sp>
        <p:nvSpPr>
          <p:cNvPr id="17" name="Rectangle 16"/>
          <p:cNvSpPr/>
          <p:nvPr/>
        </p:nvSpPr>
        <p:spPr>
          <a:xfrm>
            <a:off x="2057400" y="3906774"/>
            <a:ext cx="594360" cy="363473"/>
          </a:xfrm>
          <a:prstGeom prst="rect">
            <a:avLst/>
          </a:prstGeom>
          <a:solidFill>
            <a:srgbClr val="C6D6B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57400" y="3978782"/>
            <a:ext cx="594360" cy="210312"/>
          </a:xfrm>
          <a:prstGeom prst="rect">
            <a:avLst/>
          </a:prstGeom>
          <a:noFill/>
          <a:ln>
            <a:noFill/>
          </a:ln>
        </p:spPr>
        <p:txBody>
          <a:bodyPr wrap="none">
            <a:spAutoFit/>
          </a:bodyPr>
          <a:lstStyle/>
          <a:p>
            <a:pPr algn="ctr"/>
            <a:r>
              <a:rPr sz="800" b="1">
                <a:solidFill>
                  <a:srgbClr val="2D1E44"/>
                </a:solidFill>
              </a:rPr>
              <a:t>15%</a:t>
            </a:r>
          </a:p>
        </p:txBody>
      </p:sp>
      <p:sp>
        <p:nvSpPr>
          <p:cNvPr id="19" name="Rectangle 18"/>
          <p:cNvSpPr/>
          <p:nvPr/>
        </p:nvSpPr>
        <p:spPr>
          <a:xfrm>
            <a:off x="2057400" y="2864815"/>
            <a:ext cx="594360" cy="1041958"/>
          </a:xfrm>
          <a:prstGeom prst="rect">
            <a:avLst/>
          </a:prstGeom>
          <a:solidFill>
            <a:srgbClr val="90BE9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057400" y="3276066"/>
            <a:ext cx="594360" cy="210312"/>
          </a:xfrm>
          <a:prstGeom prst="rect">
            <a:avLst/>
          </a:prstGeom>
          <a:noFill/>
          <a:ln>
            <a:noFill/>
          </a:ln>
        </p:spPr>
        <p:txBody>
          <a:bodyPr wrap="none">
            <a:spAutoFit/>
          </a:bodyPr>
          <a:lstStyle/>
          <a:p>
            <a:pPr algn="ctr"/>
            <a:r>
              <a:rPr sz="800" b="1">
                <a:solidFill>
                  <a:srgbClr val="2D1E44"/>
                </a:solidFill>
              </a:rPr>
              <a:t>43%</a:t>
            </a:r>
          </a:p>
        </p:txBody>
      </p:sp>
      <p:sp>
        <p:nvSpPr>
          <p:cNvPr id="21" name="Rectangle 20"/>
          <p:cNvSpPr/>
          <p:nvPr/>
        </p:nvSpPr>
        <p:spPr>
          <a:xfrm>
            <a:off x="2057400" y="2137867"/>
            <a:ext cx="594360" cy="726947"/>
          </a:xfrm>
          <a:prstGeom prst="rect">
            <a:avLst/>
          </a:prstGeom>
          <a:solidFill>
            <a:srgbClr val="609D6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057400" y="2391613"/>
            <a:ext cx="594360" cy="210312"/>
          </a:xfrm>
          <a:prstGeom prst="rect">
            <a:avLst/>
          </a:prstGeom>
          <a:noFill/>
          <a:ln>
            <a:noFill/>
          </a:ln>
        </p:spPr>
        <p:txBody>
          <a:bodyPr wrap="none">
            <a:spAutoFit/>
          </a:bodyPr>
          <a:lstStyle/>
          <a:p>
            <a:pPr algn="ctr"/>
            <a:r>
              <a:rPr sz="800" b="1">
                <a:solidFill>
                  <a:srgbClr val="FFFFFF"/>
                </a:solidFill>
              </a:rPr>
              <a:t>30%</a:t>
            </a:r>
          </a:p>
        </p:txBody>
      </p:sp>
      <p:sp>
        <p:nvSpPr>
          <p:cNvPr id="23" name="Rectangle 22"/>
          <p:cNvSpPr/>
          <p:nvPr/>
        </p:nvSpPr>
        <p:spPr>
          <a:xfrm>
            <a:off x="2057400" y="1847088"/>
            <a:ext cx="594360" cy="290779"/>
          </a:xfrm>
          <a:prstGeom prst="rect">
            <a:avLst/>
          </a:prstGeom>
          <a:solidFill>
            <a:srgbClr val="36764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057400" y="1882749"/>
            <a:ext cx="594360" cy="210312"/>
          </a:xfrm>
          <a:prstGeom prst="rect">
            <a:avLst/>
          </a:prstGeom>
          <a:noFill/>
          <a:ln>
            <a:noFill/>
          </a:ln>
        </p:spPr>
        <p:txBody>
          <a:bodyPr wrap="none">
            <a:spAutoFit/>
          </a:bodyPr>
          <a:lstStyle/>
          <a:p>
            <a:pPr algn="ctr"/>
            <a:r>
              <a:rPr sz="800" b="1">
                <a:solidFill>
                  <a:srgbClr val="FFFFFF"/>
                </a:solidFill>
              </a:rPr>
              <a:t>12%</a:t>
            </a:r>
          </a:p>
        </p:txBody>
      </p:sp>
      <p:sp>
        <p:nvSpPr>
          <p:cNvPr id="25" name="TextBox 24"/>
          <p:cNvSpPr txBox="1"/>
          <p:nvPr/>
        </p:nvSpPr>
        <p:spPr>
          <a:xfrm>
            <a:off x="1965960" y="4379976"/>
            <a:ext cx="777240" cy="201168"/>
          </a:xfrm>
          <a:prstGeom prst="rect">
            <a:avLst/>
          </a:prstGeom>
          <a:noFill/>
          <a:ln>
            <a:noFill/>
          </a:ln>
        </p:spPr>
        <p:txBody>
          <a:bodyPr wrap="square">
            <a:spAutoFit/>
          </a:bodyPr>
          <a:lstStyle/>
          <a:p>
            <a:pPr algn="ctr"/>
            <a:r>
              <a:rPr sz="830" b="1">
                <a:solidFill>
                  <a:srgbClr val="2D1E44"/>
                </a:solidFill>
              </a:rPr>
              <a:t>Debates</a:t>
            </a:r>
          </a:p>
        </p:txBody>
      </p:sp>
      <p:sp>
        <p:nvSpPr>
          <p:cNvPr id="26" name="Rectangle 25"/>
          <p:cNvSpPr/>
          <p:nvPr/>
        </p:nvSpPr>
        <p:spPr>
          <a:xfrm>
            <a:off x="3154680" y="4149089"/>
            <a:ext cx="594360" cy="121158"/>
          </a:xfrm>
          <a:prstGeom prst="rect">
            <a:avLst/>
          </a:prstGeom>
          <a:solidFill>
            <a:srgbClr val="C6D6B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154680" y="3664457"/>
            <a:ext cx="594360" cy="484632"/>
          </a:xfrm>
          <a:prstGeom prst="rect">
            <a:avLst/>
          </a:prstGeom>
          <a:solidFill>
            <a:srgbClr val="90BE9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154680" y="3797045"/>
            <a:ext cx="594360" cy="210312"/>
          </a:xfrm>
          <a:prstGeom prst="rect">
            <a:avLst/>
          </a:prstGeom>
          <a:noFill/>
          <a:ln>
            <a:noFill/>
          </a:ln>
        </p:spPr>
        <p:txBody>
          <a:bodyPr wrap="none">
            <a:spAutoFit/>
          </a:bodyPr>
          <a:lstStyle/>
          <a:p>
            <a:pPr algn="ctr"/>
            <a:r>
              <a:rPr sz="800" b="1">
                <a:solidFill>
                  <a:srgbClr val="2D1E44"/>
                </a:solidFill>
              </a:rPr>
              <a:t>20%</a:t>
            </a:r>
          </a:p>
        </p:txBody>
      </p:sp>
      <p:sp>
        <p:nvSpPr>
          <p:cNvPr id="29" name="Rectangle 28"/>
          <p:cNvSpPr/>
          <p:nvPr/>
        </p:nvSpPr>
        <p:spPr>
          <a:xfrm>
            <a:off x="3154680" y="2816351"/>
            <a:ext cx="594360" cy="848105"/>
          </a:xfrm>
          <a:prstGeom prst="rect">
            <a:avLst/>
          </a:prstGeom>
          <a:solidFill>
            <a:srgbClr val="609D6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154680" y="3130676"/>
            <a:ext cx="594360" cy="210312"/>
          </a:xfrm>
          <a:prstGeom prst="rect">
            <a:avLst/>
          </a:prstGeom>
          <a:noFill/>
          <a:ln>
            <a:noFill/>
          </a:ln>
        </p:spPr>
        <p:txBody>
          <a:bodyPr wrap="none">
            <a:spAutoFit/>
          </a:bodyPr>
          <a:lstStyle/>
          <a:p>
            <a:pPr algn="ctr"/>
            <a:r>
              <a:rPr sz="800" b="1">
                <a:solidFill>
                  <a:srgbClr val="FFFFFF"/>
                </a:solidFill>
              </a:rPr>
              <a:t>35%</a:t>
            </a:r>
          </a:p>
        </p:txBody>
      </p:sp>
      <p:sp>
        <p:nvSpPr>
          <p:cNvPr id="31" name="Rectangle 30"/>
          <p:cNvSpPr/>
          <p:nvPr/>
        </p:nvSpPr>
        <p:spPr>
          <a:xfrm>
            <a:off x="3154680" y="1968245"/>
            <a:ext cx="594360" cy="848105"/>
          </a:xfrm>
          <a:prstGeom prst="rect">
            <a:avLst/>
          </a:prstGeom>
          <a:solidFill>
            <a:srgbClr val="36764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154680" y="2282571"/>
            <a:ext cx="594360" cy="210312"/>
          </a:xfrm>
          <a:prstGeom prst="rect">
            <a:avLst/>
          </a:prstGeom>
          <a:noFill/>
          <a:ln>
            <a:noFill/>
          </a:ln>
        </p:spPr>
        <p:txBody>
          <a:bodyPr wrap="none">
            <a:spAutoFit/>
          </a:bodyPr>
          <a:lstStyle/>
          <a:p>
            <a:pPr algn="ctr"/>
            <a:r>
              <a:rPr sz="800" b="1">
                <a:solidFill>
                  <a:srgbClr val="FFFFFF"/>
                </a:solidFill>
              </a:rPr>
              <a:t>35%</a:t>
            </a:r>
          </a:p>
        </p:txBody>
      </p:sp>
      <p:sp>
        <p:nvSpPr>
          <p:cNvPr id="33" name="Rectangle 32"/>
          <p:cNvSpPr/>
          <p:nvPr/>
        </p:nvSpPr>
        <p:spPr>
          <a:xfrm>
            <a:off x="3154680" y="1847088"/>
            <a:ext cx="594360" cy="121158"/>
          </a:xfrm>
          <a:prstGeom prst="rect">
            <a:avLst/>
          </a:prstGeom>
          <a:solidFill>
            <a:srgbClr val="1B483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063240" y="4379976"/>
            <a:ext cx="777240" cy="220060"/>
          </a:xfrm>
          <a:prstGeom prst="rect">
            <a:avLst/>
          </a:prstGeom>
          <a:noFill/>
          <a:ln>
            <a:noFill/>
          </a:ln>
        </p:spPr>
        <p:txBody>
          <a:bodyPr wrap="square">
            <a:spAutoFit/>
          </a:bodyPr>
          <a:lstStyle/>
          <a:p>
            <a:pPr algn="ctr"/>
            <a:r>
              <a:rPr sz="830" b="1" dirty="0">
                <a:solidFill>
                  <a:srgbClr val="2D1E44"/>
                </a:solidFill>
              </a:rPr>
              <a:t>HW</a:t>
            </a:r>
            <a:r>
              <a:rPr lang="en-US" sz="830" b="1" dirty="0">
                <a:solidFill>
                  <a:srgbClr val="2D1E44"/>
                </a:solidFill>
              </a:rPr>
              <a:t>…</a:t>
            </a:r>
            <a:endParaRPr sz="830" b="1" dirty="0">
              <a:solidFill>
                <a:srgbClr val="2D1E44"/>
              </a:solidFill>
            </a:endParaRPr>
          </a:p>
        </p:txBody>
      </p:sp>
      <p:sp>
        <p:nvSpPr>
          <p:cNvPr id="35" name="Rectangle 34"/>
          <p:cNvSpPr/>
          <p:nvPr/>
        </p:nvSpPr>
        <p:spPr>
          <a:xfrm>
            <a:off x="4251960" y="4149089"/>
            <a:ext cx="594360" cy="121158"/>
          </a:xfrm>
          <a:prstGeom prst="rect">
            <a:avLst/>
          </a:prstGeom>
          <a:solidFill>
            <a:srgbClr val="C6D6B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251960" y="3664457"/>
            <a:ext cx="594360" cy="484632"/>
          </a:xfrm>
          <a:prstGeom prst="rect">
            <a:avLst/>
          </a:prstGeom>
          <a:solidFill>
            <a:srgbClr val="90BE9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251960" y="3797045"/>
            <a:ext cx="594360" cy="210312"/>
          </a:xfrm>
          <a:prstGeom prst="rect">
            <a:avLst/>
          </a:prstGeom>
          <a:noFill/>
          <a:ln>
            <a:noFill/>
          </a:ln>
        </p:spPr>
        <p:txBody>
          <a:bodyPr wrap="none">
            <a:spAutoFit/>
          </a:bodyPr>
          <a:lstStyle/>
          <a:p>
            <a:pPr algn="ctr"/>
            <a:r>
              <a:rPr sz="800" b="1">
                <a:solidFill>
                  <a:srgbClr val="2D1E44"/>
                </a:solidFill>
              </a:rPr>
              <a:t>20%</a:t>
            </a:r>
          </a:p>
        </p:txBody>
      </p:sp>
      <p:sp>
        <p:nvSpPr>
          <p:cNvPr id="38" name="Rectangle 37"/>
          <p:cNvSpPr/>
          <p:nvPr/>
        </p:nvSpPr>
        <p:spPr>
          <a:xfrm>
            <a:off x="4251960" y="2816351"/>
            <a:ext cx="594360" cy="848105"/>
          </a:xfrm>
          <a:prstGeom prst="rect">
            <a:avLst/>
          </a:prstGeom>
          <a:solidFill>
            <a:srgbClr val="36764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251960" y="3130676"/>
            <a:ext cx="594360" cy="210312"/>
          </a:xfrm>
          <a:prstGeom prst="rect">
            <a:avLst/>
          </a:prstGeom>
          <a:noFill/>
          <a:ln>
            <a:noFill/>
          </a:ln>
        </p:spPr>
        <p:txBody>
          <a:bodyPr wrap="none">
            <a:spAutoFit/>
          </a:bodyPr>
          <a:lstStyle/>
          <a:p>
            <a:pPr algn="ctr"/>
            <a:r>
              <a:rPr sz="800" b="1">
                <a:solidFill>
                  <a:srgbClr val="FFFFFF"/>
                </a:solidFill>
              </a:rPr>
              <a:t>35%</a:t>
            </a:r>
          </a:p>
        </p:txBody>
      </p:sp>
      <p:sp>
        <p:nvSpPr>
          <p:cNvPr id="40" name="Rectangle 39"/>
          <p:cNvSpPr/>
          <p:nvPr/>
        </p:nvSpPr>
        <p:spPr>
          <a:xfrm>
            <a:off x="4251960" y="1847087"/>
            <a:ext cx="594360" cy="969264"/>
          </a:xfrm>
          <a:prstGeom prst="rect">
            <a:avLst/>
          </a:prstGeom>
          <a:solidFill>
            <a:srgbClr val="1B483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251960" y="2221991"/>
            <a:ext cx="594360" cy="210312"/>
          </a:xfrm>
          <a:prstGeom prst="rect">
            <a:avLst/>
          </a:prstGeom>
          <a:noFill/>
          <a:ln>
            <a:noFill/>
          </a:ln>
        </p:spPr>
        <p:txBody>
          <a:bodyPr wrap="none">
            <a:spAutoFit/>
          </a:bodyPr>
          <a:lstStyle/>
          <a:p>
            <a:pPr algn="ctr"/>
            <a:r>
              <a:rPr sz="800" b="1">
                <a:solidFill>
                  <a:srgbClr val="FFFFFF"/>
                </a:solidFill>
              </a:rPr>
              <a:t>40%</a:t>
            </a:r>
          </a:p>
        </p:txBody>
      </p:sp>
      <p:sp>
        <p:nvSpPr>
          <p:cNvPr id="42" name="TextBox 41"/>
          <p:cNvSpPr txBox="1"/>
          <p:nvPr/>
        </p:nvSpPr>
        <p:spPr>
          <a:xfrm>
            <a:off x="4160520" y="4379976"/>
            <a:ext cx="777240" cy="201168"/>
          </a:xfrm>
          <a:prstGeom prst="rect">
            <a:avLst/>
          </a:prstGeom>
          <a:noFill/>
          <a:ln>
            <a:noFill/>
          </a:ln>
        </p:spPr>
        <p:txBody>
          <a:bodyPr wrap="square">
            <a:spAutoFit/>
          </a:bodyPr>
          <a:lstStyle/>
          <a:p>
            <a:pPr algn="ctr"/>
            <a:r>
              <a:rPr sz="830" b="1">
                <a:solidFill>
                  <a:srgbClr val="2D1E44"/>
                </a:solidFill>
              </a:rPr>
              <a:t>Final</a:t>
            </a:r>
          </a:p>
        </p:txBody>
      </p:sp>
      <p:sp>
        <p:nvSpPr>
          <p:cNvPr id="43" name="TextBox 42"/>
          <p:cNvSpPr txBox="1"/>
          <p:nvPr/>
        </p:nvSpPr>
        <p:spPr>
          <a:xfrm>
            <a:off x="960120" y="1499616"/>
            <a:ext cx="3566160" cy="228600"/>
          </a:xfrm>
          <a:prstGeom prst="rect">
            <a:avLst/>
          </a:prstGeom>
          <a:noFill/>
          <a:ln>
            <a:noFill/>
          </a:ln>
        </p:spPr>
        <p:txBody>
          <a:bodyPr wrap="square">
            <a:spAutoFit/>
          </a:bodyPr>
          <a:lstStyle/>
          <a:p>
            <a:pPr algn="l"/>
            <a:r>
              <a:rPr sz="1050" b="1">
                <a:solidFill>
                  <a:srgbClr val="2D1E44"/>
                </a:solidFill>
              </a:rPr>
              <a:t>Student reasoning shifts toward higher-order work</a:t>
            </a:r>
          </a:p>
        </p:txBody>
      </p:sp>
      <p:sp>
        <p:nvSpPr>
          <p:cNvPr id="44" name="TextBox 43"/>
          <p:cNvSpPr txBox="1"/>
          <p:nvPr/>
        </p:nvSpPr>
        <p:spPr>
          <a:xfrm>
            <a:off x="960120" y="4773168"/>
            <a:ext cx="3749039" cy="182880"/>
          </a:xfrm>
          <a:prstGeom prst="rect">
            <a:avLst/>
          </a:prstGeom>
          <a:noFill/>
          <a:ln>
            <a:noFill/>
          </a:ln>
        </p:spPr>
        <p:txBody>
          <a:bodyPr wrap="square">
            <a:spAutoFit/>
          </a:bodyPr>
          <a:lstStyle/>
          <a:p>
            <a:pPr algn="ctr"/>
            <a:r>
              <a:rPr sz="780" b="1">
                <a:solidFill>
                  <a:srgbClr val="5C5864"/>
                </a:solidFill>
              </a:rPr>
              <a:t>Course progression</a:t>
            </a:r>
          </a:p>
        </p:txBody>
      </p:sp>
      <p:sp>
        <p:nvSpPr>
          <p:cNvPr id="45" name="TextBox 44"/>
          <p:cNvSpPr txBox="1"/>
          <p:nvPr/>
        </p:nvSpPr>
        <p:spPr>
          <a:xfrm>
            <a:off x="5532120" y="1728216"/>
            <a:ext cx="2011680" cy="228600"/>
          </a:xfrm>
          <a:prstGeom prst="rect">
            <a:avLst/>
          </a:prstGeom>
          <a:noFill/>
          <a:ln>
            <a:noFill/>
          </a:ln>
        </p:spPr>
        <p:txBody>
          <a:bodyPr wrap="square">
            <a:spAutoFit/>
          </a:bodyPr>
          <a:lstStyle/>
          <a:p>
            <a:pPr algn="l"/>
            <a:r>
              <a:rPr sz="850" b="1">
                <a:solidFill>
                  <a:srgbClr val="2D1E44"/>
                </a:solidFill>
              </a:rPr>
              <a:t>Bloom’s revised taxonomy</a:t>
            </a:r>
          </a:p>
        </p:txBody>
      </p:sp>
      <p:sp>
        <p:nvSpPr>
          <p:cNvPr id="46" name="Rectangle 45"/>
          <p:cNvSpPr/>
          <p:nvPr/>
        </p:nvSpPr>
        <p:spPr>
          <a:xfrm>
            <a:off x="5532120" y="1984248"/>
            <a:ext cx="182880" cy="182880"/>
          </a:xfrm>
          <a:prstGeom prst="rect">
            <a:avLst/>
          </a:prstGeom>
          <a:solidFill>
            <a:srgbClr val="1B4830"/>
          </a:solidFill>
          <a:ln>
            <a:solidFill>
              <a:srgbClr val="1B48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824728" y="1965960"/>
            <a:ext cx="1645920" cy="182880"/>
          </a:xfrm>
          <a:prstGeom prst="rect">
            <a:avLst/>
          </a:prstGeom>
          <a:noFill/>
          <a:ln>
            <a:noFill/>
          </a:ln>
        </p:spPr>
        <p:txBody>
          <a:bodyPr wrap="square">
            <a:spAutoFit/>
          </a:bodyPr>
          <a:lstStyle/>
          <a:p>
            <a:pPr algn="l"/>
            <a:r>
              <a:rPr sz="750" b="0">
                <a:solidFill>
                  <a:srgbClr val="5C5864"/>
                </a:solidFill>
              </a:rPr>
              <a:t>Create</a:t>
            </a:r>
          </a:p>
        </p:txBody>
      </p:sp>
      <p:sp>
        <p:nvSpPr>
          <p:cNvPr id="48" name="Rectangle 47"/>
          <p:cNvSpPr/>
          <p:nvPr/>
        </p:nvSpPr>
        <p:spPr>
          <a:xfrm>
            <a:off x="5532120" y="2331720"/>
            <a:ext cx="182880" cy="182880"/>
          </a:xfrm>
          <a:prstGeom prst="rect">
            <a:avLst/>
          </a:prstGeom>
          <a:solidFill>
            <a:srgbClr val="36764F"/>
          </a:solidFill>
          <a:ln>
            <a:solidFill>
              <a:srgbClr val="367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824728" y="2313432"/>
            <a:ext cx="1645920" cy="182880"/>
          </a:xfrm>
          <a:prstGeom prst="rect">
            <a:avLst/>
          </a:prstGeom>
          <a:noFill/>
          <a:ln>
            <a:noFill/>
          </a:ln>
        </p:spPr>
        <p:txBody>
          <a:bodyPr wrap="square">
            <a:spAutoFit/>
          </a:bodyPr>
          <a:lstStyle/>
          <a:p>
            <a:pPr algn="l"/>
            <a:r>
              <a:rPr sz="750" b="0">
                <a:solidFill>
                  <a:srgbClr val="5C5864"/>
                </a:solidFill>
              </a:rPr>
              <a:t>Evaluate</a:t>
            </a:r>
          </a:p>
        </p:txBody>
      </p:sp>
      <p:sp>
        <p:nvSpPr>
          <p:cNvPr id="50" name="Rectangle 49"/>
          <p:cNvSpPr/>
          <p:nvPr/>
        </p:nvSpPr>
        <p:spPr>
          <a:xfrm>
            <a:off x="5532120" y="2679191"/>
            <a:ext cx="182880" cy="182880"/>
          </a:xfrm>
          <a:prstGeom prst="rect">
            <a:avLst/>
          </a:prstGeom>
          <a:solidFill>
            <a:srgbClr val="609D6F"/>
          </a:solidFill>
          <a:ln>
            <a:solidFill>
              <a:srgbClr val="609D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824728" y="2660903"/>
            <a:ext cx="1645920" cy="182880"/>
          </a:xfrm>
          <a:prstGeom prst="rect">
            <a:avLst/>
          </a:prstGeom>
          <a:noFill/>
          <a:ln>
            <a:noFill/>
          </a:ln>
        </p:spPr>
        <p:txBody>
          <a:bodyPr wrap="square">
            <a:spAutoFit/>
          </a:bodyPr>
          <a:lstStyle/>
          <a:p>
            <a:pPr algn="l"/>
            <a:r>
              <a:rPr sz="750" b="0">
                <a:solidFill>
                  <a:srgbClr val="5C5864"/>
                </a:solidFill>
              </a:rPr>
              <a:t>Analyze</a:t>
            </a:r>
          </a:p>
        </p:txBody>
      </p:sp>
      <p:sp>
        <p:nvSpPr>
          <p:cNvPr id="52" name="Rectangle 51"/>
          <p:cNvSpPr/>
          <p:nvPr/>
        </p:nvSpPr>
        <p:spPr>
          <a:xfrm>
            <a:off x="5532120" y="3026664"/>
            <a:ext cx="182880" cy="182880"/>
          </a:xfrm>
          <a:prstGeom prst="rect">
            <a:avLst/>
          </a:prstGeom>
          <a:solidFill>
            <a:srgbClr val="90BE91"/>
          </a:solidFill>
          <a:ln>
            <a:solidFill>
              <a:srgbClr val="90BE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824728" y="3008376"/>
            <a:ext cx="1645920" cy="182880"/>
          </a:xfrm>
          <a:prstGeom prst="rect">
            <a:avLst/>
          </a:prstGeom>
          <a:noFill/>
          <a:ln>
            <a:noFill/>
          </a:ln>
        </p:spPr>
        <p:txBody>
          <a:bodyPr wrap="square">
            <a:spAutoFit/>
          </a:bodyPr>
          <a:lstStyle/>
          <a:p>
            <a:pPr algn="l"/>
            <a:r>
              <a:rPr sz="750" b="0">
                <a:solidFill>
                  <a:srgbClr val="5C5864"/>
                </a:solidFill>
              </a:rPr>
              <a:t>Apply</a:t>
            </a:r>
          </a:p>
        </p:txBody>
      </p:sp>
      <p:sp>
        <p:nvSpPr>
          <p:cNvPr id="54" name="Rectangle 53"/>
          <p:cNvSpPr/>
          <p:nvPr/>
        </p:nvSpPr>
        <p:spPr>
          <a:xfrm>
            <a:off x="5532120" y="3374136"/>
            <a:ext cx="182880" cy="182880"/>
          </a:xfrm>
          <a:prstGeom prst="rect">
            <a:avLst/>
          </a:prstGeom>
          <a:solidFill>
            <a:srgbClr val="C6D6B8"/>
          </a:solidFill>
          <a:ln>
            <a:solidFill>
              <a:srgbClr val="C6D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824728" y="3355848"/>
            <a:ext cx="1645920" cy="182880"/>
          </a:xfrm>
          <a:prstGeom prst="rect">
            <a:avLst/>
          </a:prstGeom>
          <a:noFill/>
          <a:ln>
            <a:noFill/>
          </a:ln>
        </p:spPr>
        <p:txBody>
          <a:bodyPr wrap="square">
            <a:spAutoFit/>
          </a:bodyPr>
          <a:lstStyle/>
          <a:p>
            <a:pPr algn="l"/>
            <a:r>
              <a:rPr sz="750" b="0">
                <a:solidFill>
                  <a:srgbClr val="5C5864"/>
                </a:solidFill>
              </a:rPr>
              <a:t>Remember / Understand</a:t>
            </a:r>
          </a:p>
        </p:txBody>
      </p:sp>
      <p:sp>
        <p:nvSpPr>
          <p:cNvPr id="56" name="TextBox 55"/>
          <p:cNvSpPr txBox="1"/>
          <p:nvPr/>
        </p:nvSpPr>
        <p:spPr>
          <a:xfrm>
            <a:off x="960120" y="5074920"/>
            <a:ext cx="6400800" cy="230832"/>
          </a:xfrm>
          <a:prstGeom prst="rect">
            <a:avLst/>
          </a:prstGeom>
          <a:noFill/>
          <a:ln>
            <a:noFill/>
          </a:ln>
        </p:spPr>
        <p:txBody>
          <a:bodyPr wrap="square">
            <a:spAutoFit/>
          </a:bodyPr>
          <a:lstStyle/>
          <a:p>
            <a:pPr algn="l"/>
            <a:r>
              <a:rPr sz="900" b="0">
                <a:solidFill>
                  <a:srgbClr val="5C5864"/>
                </a:solidFill>
              </a:rPr>
              <a:t>Adapted conceptually from Shehu (2026), Figure 2: assessments can be designed as discovery, not just content checks.</a:t>
            </a:r>
          </a:p>
        </p:txBody>
      </p:sp>
      <p:sp>
        <p:nvSpPr>
          <p:cNvPr id="57" name="Rounded Rectangle 56"/>
          <p:cNvSpPr/>
          <p:nvPr/>
        </p:nvSpPr>
        <p:spPr>
          <a:xfrm>
            <a:off x="7306056" y="1318642"/>
            <a:ext cx="3840480" cy="1383866"/>
          </a:xfrm>
          <a:prstGeom prst="roundRect">
            <a:avLst/>
          </a:prstGeom>
          <a:solidFill>
            <a:srgbClr val="FFFFFF"/>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8" name="TextBox 57"/>
          <p:cNvSpPr txBox="1"/>
          <p:nvPr/>
        </p:nvSpPr>
        <p:spPr>
          <a:xfrm>
            <a:off x="7470648" y="1437514"/>
            <a:ext cx="3511296" cy="307777"/>
          </a:xfrm>
          <a:prstGeom prst="rect">
            <a:avLst/>
          </a:prstGeom>
          <a:noFill/>
          <a:ln>
            <a:noFill/>
          </a:ln>
        </p:spPr>
        <p:txBody>
          <a:bodyPr wrap="square">
            <a:spAutoFit/>
          </a:bodyPr>
          <a:lstStyle/>
          <a:p>
            <a:pPr algn="l"/>
            <a:r>
              <a:rPr sz="1400" b="1" dirty="0">
                <a:solidFill>
                  <a:srgbClr val="4E247A"/>
                </a:solidFill>
              </a:rPr>
              <a:t>Assessment principle</a:t>
            </a:r>
          </a:p>
        </p:txBody>
      </p:sp>
      <p:sp>
        <p:nvSpPr>
          <p:cNvPr id="59" name="TextBox 58"/>
          <p:cNvSpPr txBox="1"/>
          <p:nvPr/>
        </p:nvSpPr>
        <p:spPr>
          <a:xfrm>
            <a:off x="7470648" y="1757554"/>
            <a:ext cx="3511296" cy="954107"/>
          </a:xfrm>
          <a:prstGeom prst="rect">
            <a:avLst/>
          </a:prstGeom>
          <a:noFill/>
          <a:ln>
            <a:noFill/>
          </a:ln>
        </p:spPr>
        <p:txBody>
          <a:bodyPr wrap="square">
            <a:spAutoFit/>
          </a:bodyPr>
          <a:lstStyle/>
          <a:p>
            <a:pPr>
              <a:spcAft>
                <a:spcPts val="200"/>
              </a:spcAft>
              <a:defRPr sz="880">
                <a:solidFill>
                  <a:srgbClr val="2D1E44"/>
                </a:solidFill>
              </a:defRPr>
            </a:pPr>
            <a:r>
              <a:rPr sz="1400" dirty="0"/>
              <a:t>Assignments operate as experiments, not only content checks: </a:t>
            </a:r>
            <a:r>
              <a:rPr lang="en-US" sz="1400" dirty="0"/>
              <a:t>you</a:t>
            </a:r>
            <a:r>
              <a:rPr sz="1400" dirty="0"/>
              <a:t> form hypotheses, test tools, evaluate outputs, and reflect on uncertainty.</a:t>
            </a:r>
          </a:p>
        </p:txBody>
      </p:sp>
      <p:sp>
        <p:nvSpPr>
          <p:cNvPr id="60" name="Rounded Rectangle 59"/>
          <p:cNvSpPr/>
          <p:nvPr/>
        </p:nvSpPr>
        <p:spPr>
          <a:xfrm>
            <a:off x="7306056" y="2921965"/>
            <a:ext cx="3840480" cy="1307592"/>
          </a:xfrm>
          <a:prstGeom prst="roundRect">
            <a:avLst/>
          </a:prstGeom>
          <a:solidFill>
            <a:srgbClr val="F9EFCF"/>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1" name="TextBox 60"/>
          <p:cNvSpPr txBox="1"/>
          <p:nvPr/>
        </p:nvSpPr>
        <p:spPr>
          <a:xfrm>
            <a:off x="7470648" y="3040837"/>
            <a:ext cx="3511296" cy="307777"/>
          </a:xfrm>
          <a:prstGeom prst="rect">
            <a:avLst/>
          </a:prstGeom>
          <a:noFill/>
          <a:ln>
            <a:noFill/>
          </a:ln>
        </p:spPr>
        <p:txBody>
          <a:bodyPr wrap="square">
            <a:spAutoFit/>
          </a:bodyPr>
          <a:lstStyle/>
          <a:p>
            <a:pPr algn="l"/>
            <a:r>
              <a:rPr sz="1400" b="1">
                <a:solidFill>
                  <a:srgbClr val="4E247A"/>
                </a:solidFill>
              </a:rPr>
              <a:t>Relevance to student projects</a:t>
            </a:r>
          </a:p>
        </p:txBody>
      </p:sp>
      <p:sp>
        <p:nvSpPr>
          <p:cNvPr id="62" name="TextBox 61"/>
          <p:cNvSpPr txBox="1"/>
          <p:nvPr/>
        </p:nvSpPr>
        <p:spPr>
          <a:xfrm>
            <a:off x="7470648" y="3360877"/>
            <a:ext cx="3511296" cy="738664"/>
          </a:xfrm>
          <a:prstGeom prst="rect">
            <a:avLst/>
          </a:prstGeom>
          <a:noFill/>
          <a:ln>
            <a:noFill/>
          </a:ln>
        </p:spPr>
        <p:txBody>
          <a:bodyPr wrap="square">
            <a:spAutoFit/>
          </a:bodyPr>
          <a:lstStyle/>
          <a:p>
            <a:pPr>
              <a:spcAft>
                <a:spcPts val="200"/>
              </a:spcAft>
              <a:defRPr sz="880">
                <a:solidFill>
                  <a:srgbClr val="2D1E44"/>
                </a:solidFill>
              </a:defRPr>
            </a:pPr>
            <a:r>
              <a:rPr sz="1400" dirty="0"/>
              <a:t>This supports final projects where </a:t>
            </a:r>
            <a:r>
              <a:rPr lang="en-US" sz="1400" dirty="0"/>
              <a:t>you</a:t>
            </a:r>
            <a:r>
              <a:rPr sz="1400" dirty="0"/>
              <a:t> defend data sources, model selection, validation, ethical risks, and responsible use.</a:t>
            </a:r>
          </a:p>
        </p:txBody>
      </p:sp>
      <p:sp>
        <p:nvSpPr>
          <p:cNvPr id="63" name="Rounded Rectangle 62"/>
          <p:cNvSpPr/>
          <p:nvPr/>
        </p:nvSpPr>
        <p:spPr>
          <a:xfrm>
            <a:off x="7306056" y="4414986"/>
            <a:ext cx="3840480" cy="1405282"/>
          </a:xfrm>
          <a:prstGeom prst="roundRect">
            <a:avLst/>
          </a:prstGeom>
          <a:solidFill>
            <a:srgbClr val="F7F3FF"/>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4" name="TextBox 63"/>
          <p:cNvSpPr txBox="1"/>
          <p:nvPr/>
        </p:nvSpPr>
        <p:spPr>
          <a:xfrm>
            <a:off x="7470648" y="4533858"/>
            <a:ext cx="3511296" cy="307777"/>
          </a:xfrm>
          <a:prstGeom prst="rect">
            <a:avLst/>
          </a:prstGeom>
          <a:noFill/>
          <a:ln>
            <a:noFill/>
          </a:ln>
        </p:spPr>
        <p:txBody>
          <a:bodyPr wrap="square">
            <a:spAutoFit/>
          </a:bodyPr>
          <a:lstStyle/>
          <a:p>
            <a:pPr algn="l"/>
            <a:r>
              <a:rPr sz="1400" b="1">
                <a:solidFill>
                  <a:srgbClr val="4E247A"/>
                </a:solidFill>
              </a:rPr>
              <a:t>Studio translation</a:t>
            </a:r>
          </a:p>
        </p:txBody>
      </p:sp>
      <p:sp>
        <p:nvSpPr>
          <p:cNvPr id="65" name="TextBox 64"/>
          <p:cNvSpPr txBox="1"/>
          <p:nvPr/>
        </p:nvSpPr>
        <p:spPr>
          <a:xfrm>
            <a:off x="7470648" y="4853898"/>
            <a:ext cx="3511296" cy="954107"/>
          </a:xfrm>
          <a:prstGeom prst="rect">
            <a:avLst/>
          </a:prstGeom>
          <a:noFill/>
          <a:ln>
            <a:noFill/>
          </a:ln>
        </p:spPr>
        <p:txBody>
          <a:bodyPr wrap="square">
            <a:spAutoFit/>
          </a:bodyPr>
          <a:lstStyle/>
          <a:p>
            <a:pPr>
              <a:spcAft>
                <a:spcPts val="200"/>
              </a:spcAft>
              <a:defRPr sz="880">
                <a:solidFill>
                  <a:srgbClr val="2D1E44"/>
                </a:solidFill>
              </a:defRPr>
            </a:pPr>
            <a:r>
              <a:rPr sz="1400" dirty="0"/>
              <a:t>External reviews can function as accountability moments: </a:t>
            </a:r>
            <a:r>
              <a:rPr lang="en-US" sz="1400" dirty="0"/>
              <a:t>you</a:t>
            </a:r>
            <a:r>
              <a:rPr sz="1400" dirty="0"/>
              <a:t> must justify not only what AI produced, but how and why it should be trusted.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2920" y="320040"/>
            <a:ext cx="1433406" cy="400110"/>
          </a:xfrm>
          <a:prstGeom prst="rect">
            <a:avLst/>
          </a:prstGeom>
          <a:noFill/>
          <a:ln>
            <a:noFill/>
          </a:ln>
        </p:spPr>
        <p:txBody>
          <a:bodyPr wrap="none">
            <a:spAutoFit/>
          </a:bodyPr>
          <a:lstStyle/>
          <a:p>
            <a:r>
              <a:rPr sz="2000" b="1" dirty="0">
                <a:solidFill>
                  <a:srgbClr val="2D1E44"/>
                </a:solidFill>
              </a:rPr>
              <a:t>Discussion</a:t>
            </a:r>
          </a:p>
        </p:txBody>
      </p:sp>
      <p:sp>
        <p:nvSpPr>
          <p:cNvPr id="6" name="TextBox 5"/>
          <p:cNvSpPr txBox="1"/>
          <p:nvPr/>
        </p:nvSpPr>
        <p:spPr>
          <a:xfrm>
            <a:off x="521207" y="795528"/>
            <a:ext cx="2929007" cy="276999"/>
          </a:xfrm>
          <a:prstGeom prst="rect">
            <a:avLst/>
          </a:prstGeom>
          <a:noFill/>
          <a:ln>
            <a:noFill/>
          </a:ln>
        </p:spPr>
        <p:txBody>
          <a:bodyPr wrap="none">
            <a:spAutoFit/>
          </a:bodyPr>
          <a:lstStyle/>
          <a:p>
            <a:r>
              <a:rPr sz="1200">
                <a:solidFill>
                  <a:srgbClr val="5C5864"/>
                </a:solidFill>
              </a:rPr>
              <a:t>What kind of AI literacy do architects need?</a:t>
            </a:r>
          </a:p>
        </p:txBody>
      </p:sp>
      <p:sp>
        <p:nvSpPr>
          <p:cNvPr id="11" name="Rounded Rectangle 10"/>
          <p:cNvSpPr/>
          <p:nvPr/>
        </p:nvSpPr>
        <p:spPr>
          <a:xfrm>
            <a:off x="777240" y="1325880"/>
            <a:ext cx="5074920" cy="1051560"/>
          </a:xfrm>
          <a:prstGeom prst="roundRect">
            <a:avLst/>
          </a:prstGeom>
          <a:solidFill>
            <a:srgbClr val="FFFFFF"/>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2" name="TextBox 11"/>
          <p:cNvSpPr txBox="1"/>
          <p:nvPr/>
        </p:nvSpPr>
        <p:spPr>
          <a:xfrm>
            <a:off x="941832" y="1444752"/>
            <a:ext cx="4745736" cy="292388"/>
          </a:xfrm>
          <a:prstGeom prst="rect">
            <a:avLst/>
          </a:prstGeom>
          <a:noFill/>
          <a:ln>
            <a:noFill/>
          </a:ln>
        </p:spPr>
        <p:txBody>
          <a:bodyPr wrap="square">
            <a:spAutoFit/>
          </a:bodyPr>
          <a:lstStyle/>
          <a:p>
            <a:pPr algn="l"/>
            <a:r>
              <a:rPr sz="1300" b="1">
                <a:solidFill>
                  <a:srgbClr val="4E247A"/>
                </a:solidFill>
              </a:rPr>
              <a:t>Question 1</a:t>
            </a:r>
          </a:p>
        </p:txBody>
      </p:sp>
      <p:sp>
        <p:nvSpPr>
          <p:cNvPr id="13" name="TextBox 12"/>
          <p:cNvSpPr txBox="1"/>
          <p:nvPr/>
        </p:nvSpPr>
        <p:spPr>
          <a:xfrm>
            <a:off x="941832" y="1764792"/>
            <a:ext cx="4745736" cy="492443"/>
          </a:xfrm>
          <a:prstGeom prst="rect">
            <a:avLst/>
          </a:prstGeom>
          <a:noFill/>
          <a:ln>
            <a:noFill/>
          </a:ln>
        </p:spPr>
        <p:txBody>
          <a:bodyPr wrap="square">
            <a:spAutoFit/>
          </a:bodyPr>
          <a:lstStyle/>
          <a:p>
            <a:pPr>
              <a:spcAft>
                <a:spcPts val="200"/>
              </a:spcAft>
              <a:defRPr sz="919">
                <a:solidFill>
                  <a:srgbClr val="2D1E44"/>
                </a:solidFill>
              </a:defRPr>
            </a:pPr>
            <a:r>
              <a:rPr sz="1300"/>
              <a:t>What is the difference between using AI tools and reasoning about AI systems?</a:t>
            </a:r>
          </a:p>
        </p:txBody>
      </p:sp>
      <p:sp>
        <p:nvSpPr>
          <p:cNvPr id="14" name="Rounded Rectangle 13"/>
          <p:cNvSpPr/>
          <p:nvPr/>
        </p:nvSpPr>
        <p:spPr>
          <a:xfrm>
            <a:off x="777240" y="2743200"/>
            <a:ext cx="5074920" cy="1051560"/>
          </a:xfrm>
          <a:prstGeom prst="roundRect">
            <a:avLst/>
          </a:prstGeom>
          <a:solidFill>
            <a:srgbClr val="F7F3FF"/>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5" name="TextBox 14"/>
          <p:cNvSpPr txBox="1"/>
          <p:nvPr/>
        </p:nvSpPr>
        <p:spPr>
          <a:xfrm>
            <a:off x="941832" y="2862072"/>
            <a:ext cx="4745736" cy="292388"/>
          </a:xfrm>
          <a:prstGeom prst="rect">
            <a:avLst/>
          </a:prstGeom>
          <a:noFill/>
          <a:ln>
            <a:noFill/>
          </a:ln>
        </p:spPr>
        <p:txBody>
          <a:bodyPr wrap="square">
            <a:spAutoFit/>
          </a:bodyPr>
          <a:lstStyle/>
          <a:p>
            <a:pPr algn="l"/>
            <a:r>
              <a:rPr sz="1300" b="1">
                <a:solidFill>
                  <a:srgbClr val="4E247A"/>
                </a:solidFill>
              </a:rPr>
              <a:t>Question 2</a:t>
            </a:r>
          </a:p>
        </p:txBody>
      </p:sp>
      <p:sp>
        <p:nvSpPr>
          <p:cNvPr id="16" name="TextBox 15"/>
          <p:cNvSpPr txBox="1"/>
          <p:nvPr/>
        </p:nvSpPr>
        <p:spPr>
          <a:xfrm>
            <a:off x="941832" y="3182112"/>
            <a:ext cx="4745736" cy="292388"/>
          </a:xfrm>
          <a:prstGeom prst="rect">
            <a:avLst/>
          </a:prstGeom>
          <a:noFill/>
          <a:ln>
            <a:noFill/>
          </a:ln>
        </p:spPr>
        <p:txBody>
          <a:bodyPr wrap="square">
            <a:spAutoFit/>
          </a:bodyPr>
          <a:lstStyle/>
          <a:p>
            <a:pPr>
              <a:spcAft>
                <a:spcPts val="200"/>
              </a:spcAft>
              <a:defRPr sz="919">
                <a:solidFill>
                  <a:srgbClr val="2D1E44"/>
                </a:solidFill>
              </a:defRPr>
            </a:pPr>
            <a:r>
              <a:rPr sz="1300"/>
              <a:t>How does the breadth–depth tradeoff appear in design education?</a:t>
            </a:r>
          </a:p>
        </p:txBody>
      </p:sp>
      <p:sp>
        <p:nvSpPr>
          <p:cNvPr id="20" name="Rounded Rectangle 19"/>
          <p:cNvSpPr/>
          <p:nvPr/>
        </p:nvSpPr>
        <p:spPr>
          <a:xfrm>
            <a:off x="6263640" y="1325880"/>
            <a:ext cx="5074920" cy="1051560"/>
          </a:xfrm>
          <a:prstGeom prst="roundRect">
            <a:avLst/>
          </a:prstGeom>
          <a:solidFill>
            <a:srgbClr val="F7F3FF"/>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21" name="TextBox 20"/>
          <p:cNvSpPr txBox="1"/>
          <p:nvPr/>
        </p:nvSpPr>
        <p:spPr>
          <a:xfrm>
            <a:off x="6428231" y="1444752"/>
            <a:ext cx="4745736" cy="292388"/>
          </a:xfrm>
          <a:prstGeom prst="rect">
            <a:avLst/>
          </a:prstGeom>
          <a:noFill/>
          <a:ln>
            <a:noFill/>
          </a:ln>
        </p:spPr>
        <p:txBody>
          <a:bodyPr wrap="square">
            <a:spAutoFit/>
          </a:bodyPr>
          <a:lstStyle/>
          <a:p>
            <a:pPr algn="l"/>
            <a:r>
              <a:rPr sz="1300" b="1" dirty="0">
                <a:solidFill>
                  <a:srgbClr val="4E247A"/>
                </a:solidFill>
              </a:rPr>
              <a:t>Question </a:t>
            </a:r>
            <a:r>
              <a:rPr lang="en-US" sz="1300" b="1" dirty="0">
                <a:solidFill>
                  <a:srgbClr val="4E247A"/>
                </a:solidFill>
              </a:rPr>
              <a:t>3</a:t>
            </a:r>
            <a:endParaRPr sz="1300" b="1" dirty="0">
              <a:solidFill>
                <a:srgbClr val="4E247A"/>
              </a:solidFill>
            </a:endParaRPr>
          </a:p>
        </p:txBody>
      </p:sp>
      <p:sp>
        <p:nvSpPr>
          <p:cNvPr id="22" name="TextBox 21"/>
          <p:cNvSpPr txBox="1"/>
          <p:nvPr/>
        </p:nvSpPr>
        <p:spPr>
          <a:xfrm>
            <a:off x="6428231" y="1764792"/>
            <a:ext cx="4745736" cy="492443"/>
          </a:xfrm>
          <a:prstGeom prst="rect">
            <a:avLst/>
          </a:prstGeom>
          <a:noFill/>
          <a:ln>
            <a:noFill/>
          </a:ln>
        </p:spPr>
        <p:txBody>
          <a:bodyPr wrap="square">
            <a:spAutoFit/>
          </a:bodyPr>
          <a:lstStyle/>
          <a:p>
            <a:pPr>
              <a:spcAft>
                <a:spcPts val="200"/>
              </a:spcAft>
              <a:defRPr sz="919">
                <a:solidFill>
                  <a:srgbClr val="2D1E44"/>
                </a:solidFill>
              </a:defRPr>
            </a:pPr>
            <a:r>
              <a:rPr sz="1300"/>
              <a:t>What would it mean for ethics to be “structural” in a performance-driven design workflow?</a:t>
            </a:r>
          </a:p>
        </p:txBody>
      </p:sp>
      <p:sp>
        <p:nvSpPr>
          <p:cNvPr id="23" name="Rounded Rectangle 22"/>
          <p:cNvSpPr/>
          <p:nvPr/>
        </p:nvSpPr>
        <p:spPr>
          <a:xfrm>
            <a:off x="6263640" y="2743200"/>
            <a:ext cx="5074920" cy="1051560"/>
          </a:xfrm>
          <a:prstGeom prst="roundRect">
            <a:avLst/>
          </a:prstGeom>
          <a:solidFill>
            <a:srgbClr val="FFFFFF"/>
          </a:solidFill>
          <a:ln>
            <a:solidFill>
              <a:srgbClr val="E0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24" name="TextBox 23"/>
          <p:cNvSpPr txBox="1"/>
          <p:nvPr/>
        </p:nvSpPr>
        <p:spPr>
          <a:xfrm>
            <a:off x="6428231" y="2862072"/>
            <a:ext cx="4745736" cy="292388"/>
          </a:xfrm>
          <a:prstGeom prst="rect">
            <a:avLst/>
          </a:prstGeom>
          <a:noFill/>
          <a:ln>
            <a:noFill/>
          </a:ln>
        </p:spPr>
        <p:txBody>
          <a:bodyPr wrap="square">
            <a:spAutoFit/>
          </a:bodyPr>
          <a:lstStyle/>
          <a:p>
            <a:pPr algn="l"/>
            <a:r>
              <a:rPr sz="1300" b="1" dirty="0">
                <a:solidFill>
                  <a:srgbClr val="4E247A"/>
                </a:solidFill>
              </a:rPr>
              <a:t>Question </a:t>
            </a:r>
            <a:r>
              <a:rPr lang="en-US" sz="1300" b="1" dirty="0">
                <a:solidFill>
                  <a:srgbClr val="4E247A"/>
                </a:solidFill>
              </a:rPr>
              <a:t>4</a:t>
            </a:r>
            <a:endParaRPr sz="1300" b="1" dirty="0">
              <a:solidFill>
                <a:srgbClr val="4E247A"/>
              </a:solidFill>
            </a:endParaRPr>
          </a:p>
        </p:txBody>
      </p:sp>
      <p:sp>
        <p:nvSpPr>
          <p:cNvPr id="25" name="TextBox 24"/>
          <p:cNvSpPr txBox="1"/>
          <p:nvPr/>
        </p:nvSpPr>
        <p:spPr>
          <a:xfrm>
            <a:off x="6428231" y="3068960"/>
            <a:ext cx="4745736" cy="692497"/>
          </a:xfrm>
          <a:prstGeom prst="rect">
            <a:avLst/>
          </a:prstGeom>
          <a:noFill/>
          <a:ln>
            <a:noFill/>
          </a:ln>
        </p:spPr>
        <p:txBody>
          <a:bodyPr wrap="square">
            <a:spAutoFit/>
          </a:bodyPr>
          <a:lstStyle/>
          <a:p>
            <a:pPr>
              <a:spcAft>
                <a:spcPts val="200"/>
              </a:spcAft>
              <a:defRPr sz="919">
                <a:solidFill>
                  <a:srgbClr val="2D1E44"/>
                </a:solidFill>
              </a:defRPr>
            </a:pPr>
            <a:r>
              <a:rPr sz="1300" dirty="0"/>
              <a:t>Where should students disclose AI assistance: ideation, coding, analysis, writing, image generation, simulation support, or all of these?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Why this matters for architecture</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180" dirty="0">
                <a:solidFill>
                  <a:srgbClr val="5B5B66"/>
                </a:solidFill>
                <a:ea typeface="Aptos" pitchFamily="34" charset="-122"/>
                <a:cs typeface="Aptos" pitchFamily="34" charset="-120"/>
              </a:rPr>
              <a:t>AI is becoming part of representation, analysis, evaluation, and decision-making</a:t>
            </a:r>
            <a:endParaRPr lang="en-US" sz="1180" dirty="0"/>
          </a:p>
        </p:txBody>
      </p:sp>
      <p:sp>
        <p:nvSpPr>
          <p:cNvPr id="11" name="Shape 9"/>
          <p:cNvSpPr/>
          <p:nvPr/>
        </p:nvSpPr>
        <p:spPr>
          <a:xfrm>
            <a:off x="640080" y="1261872"/>
            <a:ext cx="3383280" cy="1600200"/>
          </a:xfrm>
          <a:prstGeom prst="roundRect">
            <a:avLst>
              <a:gd name="adj" fmla="val 5143"/>
            </a:avLst>
          </a:prstGeom>
          <a:solidFill>
            <a:srgbClr val="FFFFFF"/>
          </a:solidFill>
          <a:ln w="12700">
            <a:solidFill>
              <a:srgbClr val="FFFFFF"/>
            </a:solidFill>
            <a:prstDash val="solid"/>
          </a:ln>
        </p:spPr>
        <p:txBody>
          <a:bodyPr/>
          <a:lstStyle/>
          <a:p>
            <a:endParaRPr/>
          </a:p>
        </p:txBody>
      </p:sp>
      <p:sp>
        <p:nvSpPr>
          <p:cNvPr id="12" name="Text 10"/>
          <p:cNvSpPr/>
          <p:nvPr/>
        </p:nvSpPr>
        <p:spPr>
          <a:xfrm>
            <a:off x="839416" y="1974602"/>
            <a:ext cx="3054096" cy="301752"/>
          </a:xfrm>
          <a:prstGeom prst="rect">
            <a:avLst/>
          </a:prstGeom>
          <a:noFill/>
          <a:ln/>
        </p:spPr>
        <p:txBody>
          <a:bodyPr wrap="square" lIns="762" tIns="762" rIns="762" bIns="762" rtlCol="0" anchor="t">
            <a:normAutofit/>
          </a:bodyPr>
          <a:lstStyle/>
          <a:p>
            <a:pPr marL="0" indent="0" algn="l">
              <a:lnSpc>
                <a:spcPct val="95000"/>
              </a:lnSpc>
              <a:buNone/>
            </a:pPr>
            <a:r>
              <a:rPr lang="en-US" sz="1350" b="1" dirty="0">
                <a:solidFill>
                  <a:srgbClr val="4B2E83"/>
                </a:solidFill>
                <a:ea typeface="Aptos" pitchFamily="34" charset="-122"/>
                <a:cs typeface="Aptos" pitchFamily="34" charset="-120"/>
              </a:rPr>
              <a:t>AI is used for representation</a:t>
            </a:r>
            <a:endParaRPr lang="en-US" sz="1350" dirty="0"/>
          </a:p>
        </p:txBody>
      </p:sp>
      <p:sp>
        <p:nvSpPr>
          <p:cNvPr id="13" name="Text 11"/>
          <p:cNvSpPr/>
          <p:nvPr/>
        </p:nvSpPr>
        <p:spPr>
          <a:xfrm>
            <a:off x="839416" y="2322074"/>
            <a:ext cx="3054096" cy="1033272"/>
          </a:xfrm>
          <a:prstGeom prst="rect">
            <a:avLst/>
          </a:prstGeom>
          <a:noFill/>
          <a:ln/>
        </p:spPr>
        <p:txBody>
          <a:bodyPr wrap="square" lIns="762" tIns="762" rIns="762" bIns="762" rtlCol="0" anchor="t">
            <a:normAutofit/>
          </a:bodyPr>
          <a:lstStyle/>
          <a:p>
            <a:pPr>
              <a:lnSpc>
                <a:spcPct val="92000"/>
              </a:lnSpc>
            </a:pPr>
            <a:r>
              <a:rPr lang="en-US" sz="1080" dirty="0">
                <a:solidFill>
                  <a:srgbClr val="1E1E24"/>
                </a:solidFill>
                <a:ea typeface="Aptos" pitchFamily="34" charset="-122"/>
                <a:cs typeface="Aptos" pitchFamily="34" charset="-120"/>
              </a:rPr>
              <a:t>Concept images
</a:t>
            </a:r>
            <a:endParaRPr lang="en-US" sz="1080" dirty="0"/>
          </a:p>
          <a:p>
            <a:pPr>
              <a:lnSpc>
                <a:spcPct val="92000"/>
              </a:lnSpc>
            </a:pPr>
            <a:r>
              <a:rPr lang="en-US" sz="1080" dirty="0">
                <a:solidFill>
                  <a:srgbClr val="1E1E24"/>
                </a:solidFill>
                <a:ea typeface="Aptos" pitchFamily="34" charset="-122"/>
                <a:cs typeface="Aptos" pitchFamily="34" charset="-120"/>
              </a:rPr>
              <a:t>Style transfer and precedent search
</a:t>
            </a:r>
            <a:endParaRPr lang="en-US" sz="1080" dirty="0"/>
          </a:p>
          <a:p>
            <a:pPr>
              <a:lnSpc>
                <a:spcPct val="92000"/>
              </a:lnSpc>
            </a:pPr>
            <a:r>
              <a:rPr lang="en-US" sz="1080" dirty="0">
                <a:solidFill>
                  <a:srgbClr val="1E1E24"/>
                </a:solidFill>
                <a:ea typeface="Aptos" pitchFamily="34" charset="-122"/>
                <a:cs typeface="Aptos" pitchFamily="34" charset="-120"/>
              </a:rPr>
              <a:t>Renderings and design narratives</a:t>
            </a:r>
            <a:endParaRPr lang="en-US" sz="1080" dirty="0"/>
          </a:p>
        </p:txBody>
      </p:sp>
      <p:sp>
        <p:nvSpPr>
          <p:cNvPr id="14" name="Shape 12"/>
          <p:cNvSpPr/>
          <p:nvPr/>
        </p:nvSpPr>
        <p:spPr>
          <a:xfrm>
            <a:off x="4416552" y="1261872"/>
            <a:ext cx="3383280" cy="1600200"/>
          </a:xfrm>
          <a:prstGeom prst="roundRect">
            <a:avLst>
              <a:gd name="adj" fmla="val 5143"/>
            </a:avLst>
          </a:prstGeom>
          <a:solidFill>
            <a:srgbClr val="FFFFFF"/>
          </a:solidFill>
          <a:ln w="12700">
            <a:solidFill>
              <a:srgbClr val="FFFFFF"/>
            </a:solidFill>
            <a:prstDash val="solid"/>
          </a:ln>
        </p:spPr>
        <p:txBody>
          <a:bodyPr/>
          <a:lstStyle/>
          <a:p>
            <a:endParaRPr/>
          </a:p>
        </p:txBody>
      </p:sp>
      <p:sp>
        <p:nvSpPr>
          <p:cNvPr id="15" name="Text 13"/>
          <p:cNvSpPr/>
          <p:nvPr/>
        </p:nvSpPr>
        <p:spPr>
          <a:xfrm>
            <a:off x="4615888" y="1974602"/>
            <a:ext cx="3054096" cy="301752"/>
          </a:xfrm>
          <a:prstGeom prst="rect">
            <a:avLst/>
          </a:prstGeom>
          <a:noFill/>
          <a:ln/>
        </p:spPr>
        <p:txBody>
          <a:bodyPr wrap="square" lIns="762" tIns="762" rIns="762" bIns="762" rtlCol="0" anchor="t">
            <a:normAutofit/>
          </a:bodyPr>
          <a:lstStyle/>
          <a:p>
            <a:pPr marL="0" indent="0" algn="l">
              <a:lnSpc>
                <a:spcPct val="95000"/>
              </a:lnSpc>
              <a:buNone/>
            </a:pPr>
            <a:r>
              <a:rPr lang="en-US" sz="1350" b="1" dirty="0">
                <a:solidFill>
                  <a:srgbClr val="4B2E83"/>
                </a:solidFill>
                <a:ea typeface="Aptos" pitchFamily="34" charset="-122"/>
                <a:cs typeface="Aptos" pitchFamily="34" charset="-120"/>
              </a:rPr>
              <a:t>AI is used for performance</a:t>
            </a:r>
            <a:endParaRPr lang="en-US" sz="1350" dirty="0"/>
          </a:p>
        </p:txBody>
      </p:sp>
      <p:sp>
        <p:nvSpPr>
          <p:cNvPr id="16" name="Text 14"/>
          <p:cNvSpPr/>
          <p:nvPr/>
        </p:nvSpPr>
        <p:spPr>
          <a:xfrm>
            <a:off x="4615888" y="2322074"/>
            <a:ext cx="3054096" cy="1033272"/>
          </a:xfrm>
          <a:prstGeom prst="rect">
            <a:avLst/>
          </a:prstGeom>
          <a:noFill/>
          <a:ln/>
        </p:spPr>
        <p:txBody>
          <a:bodyPr wrap="square" lIns="762" tIns="762" rIns="762" bIns="762" rtlCol="0" anchor="t">
            <a:normAutofit/>
          </a:bodyPr>
          <a:lstStyle/>
          <a:p>
            <a:pPr>
              <a:lnSpc>
                <a:spcPct val="92000"/>
              </a:lnSpc>
            </a:pPr>
            <a:r>
              <a:rPr lang="en-US" sz="1080" dirty="0">
                <a:solidFill>
                  <a:srgbClr val="1E1E24"/>
                </a:solidFill>
                <a:ea typeface="Aptos" pitchFamily="34" charset="-122"/>
                <a:cs typeface="Aptos" pitchFamily="34" charset="-120"/>
              </a:rPr>
              <a:t>Energy prediction
</a:t>
            </a:r>
            <a:endParaRPr lang="en-US" sz="1080" dirty="0"/>
          </a:p>
          <a:p>
            <a:pPr>
              <a:lnSpc>
                <a:spcPct val="92000"/>
              </a:lnSpc>
            </a:pPr>
            <a:r>
              <a:rPr lang="en-US" sz="1080" dirty="0">
                <a:solidFill>
                  <a:srgbClr val="1E1E24"/>
                </a:solidFill>
                <a:ea typeface="Aptos" pitchFamily="34" charset="-122"/>
                <a:cs typeface="Aptos" pitchFamily="34" charset="-120"/>
              </a:rPr>
              <a:t>Daylighting and comfort modeling
</a:t>
            </a:r>
            <a:endParaRPr lang="en-US" sz="1080" dirty="0"/>
          </a:p>
          <a:p>
            <a:pPr>
              <a:lnSpc>
                <a:spcPct val="92000"/>
              </a:lnSpc>
            </a:pPr>
            <a:r>
              <a:rPr lang="en-US" sz="1080" dirty="0">
                <a:solidFill>
                  <a:srgbClr val="1E1E24"/>
                </a:solidFill>
                <a:ea typeface="Aptos" pitchFamily="34" charset="-122"/>
                <a:cs typeface="Aptos" pitchFamily="34" charset="-120"/>
              </a:rPr>
              <a:t>Surrogate modeling and scenario testing</a:t>
            </a:r>
            <a:endParaRPr lang="en-US" sz="1080" dirty="0"/>
          </a:p>
        </p:txBody>
      </p:sp>
      <p:sp>
        <p:nvSpPr>
          <p:cNvPr id="17" name="Shape 15"/>
          <p:cNvSpPr/>
          <p:nvPr/>
        </p:nvSpPr>
        <p:spPr>
          <a:xfrm>
            <a:off x="8183880" y="1261872"/>
            <a:ext cx="3383280" cy="1600200"/>
          </a:xfrm>
          <a:prstGeom prst="roundRect">
            <a:avLst>
              <a:gd name="adj" fmla="val 5143"/>
            </a:avLst>
          </a:prstGeom>
          <a:solidFill>
            <a:srgbClr val="FFFFFF"/>
          </a:solidFill>
          <a:ln w="12700">
            <a:solidFill>
              <a:srgbClr val="FFFFFF"/>
            </a:solidFill>
            <a:prstDash val="solid"/>
          </a:ln>
        </p:spPr>
        <p:txBody>
          <a:bodyPr/>
          <a:lstStyle/>
          <a:p>
            <a:endParaRPr/>
          </a:p>
        </p:txBody>
      </p:sp>
      <p:sp>
        <p:nvSpPr>
          <p:cNvPr id="18" name="Text 16"/>
          <p:cNvSpPr/>
          <p:nvPr/>
        </p:nvSpPr>
        <p:spPr>
          <a:xfrm>
            <a:off x="8383216" y="1974602"/>
            <a:ext cx="3054096" cy="301752"/>
          </a:xfrm>
          <a:prstGeom prst="rect">
            <a:avLst/>
          </a:prstGeom>
          <a:noFill/>
          <a:ln/>
        </p:spPr>
        <p:txBody>
          <a:bodyPr wrap="square" lIns="762" tIns="762" rIns="762" bIns="762" rtlCol="0" anchor="t">
            <a:normAutofit/>
          </a:bodyPr>
          <a:lstStyle/>
          <a:p>
            <a:pPr marL="0" indent="0" algn="l">
              <a:lnSpc>
                <a:spcPct val="95000"/>
              </a:lnSpc>
              <a:buNone/>
            </a:pPr>
            <a:r>
              <a:rPr lang="en-US" sz="1350" b="1" dirty="0">
                <a:solidFill>
                  <a:srgbClr val="4B2E83"/>
                </a:solidFill>
                <a:ea typeface="Aptos" pitchFamily="34" charset="-122"/>
                <a:cs typeface="Aptos" pitchFamily="34" charset="-120"/>
              </a:rPr>
              <a:t>AI is used for agency</a:t>
            </a:r>
            <a:endParaRPr lang="en-US" sz="1350" dirty="0"/>
          </a:p>
        </p:txBody>
      </p:sp>
      <p:sp>
        <p:nvSpPr>
          <p:cNvPr id="19" name="Text 17"/>
          <p:cNvSpPr/>
          <p:nvPr/>
        </p:nvSpPr>
        <p:spPr>
          <a:xfrm>
            <a:off x="8383216" y="2322074"/>
            <a:ext cx="3054096" cy="1033272"/>
          </a:xfrm>
          <a:prstGeom prst="rect">
            <a:avLst/>
          </a:prstGeom>
          <a:noFill/>
          <a:ln/>
        </p:spPr>
        <p:txBody>
          <a:bodyPr wrap="square" lIns="762" tIns="762" rIns="762" bIns="762" rtlCol="0" anchor="t">
            <a:normAutofit/>
          </a:bodyPr>
          <a:lstStyle/>
          <a:p>
            <a:pPr>
              <a:lnSpc>
                <a:spcPct val="92000"/>
              </a:lnSpc>
            </a:pPr>
            <a:r>
              <a:rPr lang="en-US" sz="1080" dirty="0">
                <a:solidFill>
                  <a:srgbClr val="1E1E24"/>
                </a:solidFill>
                <a:ea typeface="Aptos" pitchFamily="34" charset="-122"/>
                <a:cs typeface="Aptos" pitchFamily="34" charset="-120"/>
              </a:rPr>
              <a:t>Optimization
</a:t>
            </a:r>
            <a:endParaRPr lang="en-US" sz="1080" dirty="0"/>
          </a:p>
          <a:p>
            <a:pPr>
              <a:lnSpc>
                <a:spcPct val="92000"/>
              </a:lnSpc>
            </a:pPr>
            <a:r>
              <a:rPr lang="en-US" sz="1080" dirty="0">
                <a:solidFill>
                  <a:srgbClr val="1E1E24"/>
                </a:solidFill>
                <a:ea typeface="Aptos" pitchFamily="34" charset="-122"/>
                <a:cs typeface="Aptos" pitchFamily="34" charset="-120"/>
              </a:rPr>
              <a:t>Reinforcement learning
</a:t>
            </a:r>
            <a:endParaRPr lang="en-US" sz="1080" dirty="0"/>
          </a:p>
          <a:p>
            <a:pPr>
              <a:lnSpc>
                <a:spcPct val="92000"/>
              </a:lnSpc>
            </a:pPr>
            <a:r>
              <a:rPr lang="en-US" sz="1080" dirty="0">
                <a:solidFill>
                  <a:srgbClr val="1E1E24"/>
                </a:solidFill>
                <a:ea typeface="Aptos" pitchFamily="34" charset="-122"/>
                <a:cs typeface="Aptos" pitchFamily="34" charset="-120"/>
              </a:rPr>
              <a:t>Agentic design workflows and decision support</a:t>
            </a:r>
            <a:endParaRPr lang="en-US" sz="1080" dirty="0"/>
          </a:p>
        </p:txBody>
      </p:sp>
      <p:sp>
        <p:nvSpPr>
          <p:cNvPr id="20" name="Shape 18"/>
          <p:cNvSpPr/>
          <p:nvPr/>
        </p:nvSpPr>
        <p:spPr>
          <a:xfrm>
            <a:off x="1051560" y="3657600"/>
            <a:ext cx="10104120" cy="1115568"/>
          </a:xfrm>
          <a:prstGeom prst="roundRect">
            <a:avLst>
              <a:gd name="adj" fmla="val 7377"/>
            </a:avLst>
          </a:prstGeom>
          <a:solidFill>
            <a:srgbClr val="EEE9F7"/>
          </a:solidFill>
          <a:ln w="12700">
            <a:solidFill>
              <a:srgbClr val="EEE9F7"/>
            </a:solidFill>
            <a:prstDash val="solid"/>
          </a:ln>
          <a:effectLst>
            <a:outerShdw blurRad="12700" dist="50800" dir="2700000" algn="bl" rotWithShape="0">
              <a:srgbClr val="000000">
                <a:alpha val="12000"/>
              </a:srgbClr>
            </a:outerShdw>
          </a:effectLst>
        </p:spPr>
        <p:txBody>
          <a:bodyPr/>
          <a:lstStyle/>
          <a:p>
            <a:endParaRPr/>
          </a:p>
        </p:txBody>
      </p:sp>
      <p:sp>
        <p:nvSpPr>
          <p:cNvPr id="21" name="Text 19"/>
          <p:cNvSpPr/>
          <p:nvPr/>
        </p:nvSpPr>
        <p:spPr>
          <a:xfrm>
            <a:off x="1216152" y="3785616"/>
            <a:ext cx="9774936" cy="301752"/>
          </a:xfrm>
          <a:prstGeom prst="rect">
            <a:avLst/>
          </a:prstGeom>
          <a:noFill/>
          <a:ln/>
        </p:spPr>
        <p:txBody>
          <a:bodyPr wrap="square" lIns="762" tIns="762" rIns="762" bIns="762" rtlCol="0" anchor="t">
            <a:normAutofit/>
          </a:bodyPr>
          <a:lstStyle/>
          <a:p>
            <a:pPr marL="0" indent="0" algn="l">
              <a:lnSpc>
                <a:spcPct val="95000"/>
              </a:lnSpc>
              <a:buNone/>
            </a:pPr>
            <a:r>
              <a:rPr lang="en-US" sz="1500" b="1" dirty="0">
                <a:solidFill>
                  <a:srgbClr val="4B2E83"/>
                </a:solidFill>
                <a:ea typeface="Aptos" pitchFamily="34" charset="-122"/>
                <a:cs typeface="Aptos" pitchFamily="34" charset="-120"/>
              </a:rPr>
              <a:t>Core implication</a:t>
            </a:r>
            <a:endParaRPr lang="en-US" sz="1500" dirty="0"/>
          </a:p>
        </p:txBody>
      </p:sp>
      <p:sp>
        <p:nvSpPr>
          <p:cNvPr id="22" name="Text 20"/>
          <p:cNvSpPr/>
          <p:nvPr/>
        </p:nvSpPr>
        <p:spPr>
          <a:xfrm>
            <a:off x="1216152" y="4133088"/>
            <a:ext cx="9774936" cy="548640"/>
          </a:xfrm>
          <a:prstGeom prst="rect">
            <a:avLst/>
          </a:prstGeom>
          <a:noFill/>
          <a:ln/>
        </p:spPr>
        <p:txBody>
          <a:bodyPr wrap="square" lIns="762" tIns="762" rIns="762" bIns="762" rtlCol="0" anchor="t">
            <a:normAutofit/>
          </a:bodyPr>
          <a:lstStyle/>
          <a:p>
            <a:pPr marL="0" indent="0" algn="l">
              <a:lnSpc>
                <a:spcPct val="95000"/>
              </a:lnSpc>
              <a:buNone/>
            </a:pPr>
            <a:r>
              <a:rPr lang="en-US" sz="1500" dirty="0">
                <a:solidFill>
                  <a:srgbClr val="1E1E24"/>
                </a:solidFill>
                <a:ea typeface="Aptos" pitchFamily="34" charset="-122"/>
                <a:cs typeface="Aptos" pitchFamily="34" charset="-120"/>
              </a:rPr>
              <a:t>In performance-driven design,  AI does not only represent possible futures. It can influence which futures are prioritized, legitimized, funded, and built.</a:t>
            </a:r>
            <a:endParaRPr lang="en-US" sz="1500" dirty="0"/>
          </a:p>
        </p:txBody>
      </p:sp>
      <p:sp>
        <p:nvSpPr>
          <p:cNvPr id="23" name="Text 21"/>
          <p:cNvSpPr/>
          <p:nvPr/>
        </p:nvSpPr>
        <p:spPr>
          <a:xfrm>
            <a:off x="1234440" y="5230368"/>
            <a:ext cx="9784080" cy="347472"/>
          </a:xfrm>
          <a:prstGeom prst="rect">
            <a:avLst/>
          </a:prstGeom>
          <a:noFill/>
          <a:ln/>
        </p:spPr>
        <p:txBody>
          <a:bodyPr wrap="square" lIns="762" tIns="762" rIns="762" bIns="762" rtlCol="0" anchor="t">
            <a:normAutofit/>
          </a:bodyPr>
          <a:lstStyle/>
          <a:p>
            <a:pPr marL="0" indent="0" algn="ctr">
              <a:lnSpc>
                <a:spcPct val="95000"/>
              </a:lnSpc>
              <a:buNone/>
            </a:pPr>
            <a:r>
              <a:rPr lang="en-US" sz="1550" b="1" dirty="0">
                <a:ea typeface="Aptos" pitchFamily="34" charset="-122"/>
                <a:cs typeface="Aptos" pitchFamily="34" charset="-120"/>
              </a:rPr>
              <a:t>When an AI system ranks design options, what kinds of values are being embedded into the ranking?</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Technical success is not the same as responsible application</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200" dirty="0">
                <a:solidFill>
                  <a:srgbClr val="5B5B66"/>
                </a:solidFill>
                <a:ea typeface="Aptos" pitchFamily="34" charset="-122"/>
                <a:cs typeface="Aptos" pitchFamily="34" charset="-120"/>
              </a:rPr>
              <a:t>A model can be accurate and still ethically problematic</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48970511"/>
              </p:ext>
            </p:extLst>
          </p:nvPr>
        </p:nvGraphicFramePr>
        <p:xfrm>
          <a:off x="685800" y="1234440"/>
          <a:ext cx="10835640" cy="3429000"/>
        </p:xfrm>
        <a:graphic>
          <a:graphicData uri="http://schemas.openxmlformats.org/drawingml/2006/table">
            <a:tbl>
              <a:tblPr/>
              <a:tblGrid>
                <a:gridCol w="3657600">
                  <a:extLst>
                    <a:ext uri="{9D8B030D-6E8A-4147-A177-3AD203B41FA5}">
                      <a16:colId xmlns:a16="http://schemas.microsoft.com/office/drawing/2014/main" val="20000"/>
                    </a:ext>
                  </a:extLst>
                </a:gridCol>
                <a:gridCol w="7178040">
                  <a:extLst>
                    <a:ext uri="{9D8B030D-6E8A-4147-A177-3AD203B41FA5}">
                      <a16:colId xmlns:a16="http://schemas.microsoft.com/office/drawing/2014/main" val="20001"/>
                    </a:ext>
                  </a:extLst>
                </a:gridCol>
              </a:tblGrid>
              <a:tr h="571500">
                <a:tc>
                  <a:txBody>
                    <a:bodyPr/>
                    <a:lstStyle/>
                    <a:p>
                      <a:pPr marL="0" indent="0">
                        <a:buNone/>
                      </a:pPr>
                      <a:r>
                        <a:rPr lang="en-US" sz="1400" b="1" dirty="0">
                          <a:solidFill>
                            <a:srgbClr val="FFFFFF"/>
                          </a:solidFill>
                          <a:latin typeface="+mn-lt"/>
                          <a:ea typeface="Aptos" pitchFamily="34" charset="-122"/>
                          <a:cs typeface="Aptos" pitchFamily="34" charset="-120"/>
                        </a:rPr>
                        <a:t>Technical success</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4B2E83"/>
                    </a:solidFill>
                  </a:tcPr>
                </a:tc>
                <a:tc>
                  <a:txBody>
                    <a:bodyPr/>
                    <a:lstStyle/>
                    <a:p>
                      <a:pPr marL="0" indent="0">
                        <a:buNone/>
                      </a:pPr>
                      <a:r>
                        <a:rPr lang="en-US" sz="1400" b="1" dirty="0">
                          <a:solidFill>
                            <a:srgbClr val="FFFFFF"/>
                          </a:solidFill>
                          <a:latin typeface="+mn-lt"/>
                          <a:ea typeface="Aptos" pitchFamily="34" charset="-122"/>
                          <a:cs typeface="Aptos" pitchFamily="34" charset="-120"/>
                        </a:rPr>
                        <a:t>Possible ethical concern</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4B2E83"/>
                    </a:solidFill>
                  </a:tcPr>
                </a:tc>
                <a:extLst>
                  <a:ext uri="{0D108BD9-81ED-4DB2-BD59-A6C34878D82A}">
                    <a16:rowId xmlns:a16="http://schemas.microsoft.com/office/drawing/2014/main" val="10000"/>
                  </a:ext>
                </a:extLst>
              </a:tr>
              <a:tr h="571500">
                <a:tc>
                  <a:txBody>
                    <a:bodyPr/>
                    <a:lstStyle/>
                    <a:p>
                      <a:pPr marL="0" indent="0">
                        <a:buNone/>
                      </a:pPr>
                      <a:r>
                        <a:rPr lang="en-US" sz="1400" dirty="0">
                          <a:solidFill>
                            <a:srgbClr val="1E1E24"/>
                          </a:solidFill>
                          <a:latin typeface="+mn-lt"/>
                          <a:ea typeface="Aptos" pitchFamily="34" charset="-122"/>
                          <a:cs typeface="Aptos" pitchFamily="34" charset="-120"/>
                        </a:rPr>
                        <a:t>Accurate energy prediction</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r>
                        <a:rPr lang="en-US" sz="1400" dirty="0">
                          <a:solidFill>
                            <a:srgbClr val="1E1E24"/>
                          </a:solidFill>
                          <a:latin typeface="+mn-lt"/>
                          <a:ea typeface="Aptos" pitchFamily="34" charset="-122"/>
                          <a:cs typeface="Aptos" pitchFamily="34" charset="-120"/>
                        </a:rPr>
                        <a:t>Incomplete or biased building data; weak validation outside the training context</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1500">
                <a:tc>
                  <a:txBody>
                    <a:bodyPr/>
                    <a:lstStyle/>
                    <a:p>
                      <a:pPr marL="0" indent="0">
                        <a:buNone/>
                      </a:pPr>
                      <a:r>
                        <a:rPr lang="en-US" sz="1400" dirty="0">
                          <a:solidFill>
                            <a:srgbClr val="1E1E24"/>
                          </a:solidFill>
                          <a:latin typeface="+mn-lt"/>
                          <a:ea typeface="Aptos" pitchFamily="34" charset="-122"/>
                          <a:cs typeface="Aptos" pitchFamily="34" charset="-120"/>
                        </a:rPr>
                        <a:t>Fast retrofit ranking</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pPr marL="0" indent="0">
                        <a:buNone/>
                      </a:pPr>
                      <a:r>
                        <a:rPr lang="en-US" sz="1400" dirty="0">
                          <a:solidFill>
                            <a:srgbClr val="1E1E24"/>
                          </a:solidFill>
                          <a:latin typeface="+mn-lt"/>
                          <a:ea typeface="Aptos" pitchFamily="34" charset="-122"/>
                          <a:cs typeface="Aptos" pitchFamily="34" charset="-120"/>
                        </a:rPr>
                        <a:t>Carbon savings may be prioritized over health, affordability, or equity</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extLst>
                  <a:ext uri="{0D108BD9-81ED-4DB2-BD59-A6C34878D82A}">
                    <a16:rowId xmlns:a16="http://schemas.microsoft.com/office/drawing/2014/main" val="10002"/>
                  </a:ext>
                </a:extLst>
              </a:tr>
              <a:tr h="571500">
                <a:tc>
                  <a:txBody>
                    <a:bodyPr/>
                    <a:lstStyle/>
                    <a:p>
                      <a:pPr marL="0" indent="0">
                        <a:buNone/>
                      </a:pPr>
                      <a:r>
                        <a:rPr lang="en-US" sz="1400" dirty="0">
                          <a:solidFill>
                            <a:srgbClr val="1E1E24"/>
                          </a:solidFill>
                          <a:latin typeface="+mn-lt"/>
                          <a:ea typeface="Aptos" pitchFamily="34" charset="-122"/>
                          <a:cs typeface="Aptos" pitchFamily="34" charset="-120"/>
                        </a:rPr>
                        <a:t>Realistic AI rendering</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r>
                        <a:rPr lang="en-US" sz="1400" dirty="0">
                          <a:solidFill>
                            <a:srgbClr val="1E1E24"/>
                          </a:solidFill>
                          <a:latin typeface="+mn-lt"/>
                          <a:ea typeface="Aptos" pitchFamily="34" charset="-122"/>
                          <a:cs typeface="Aptos" pitchFamily="34" charset="-120"/>
                        </a:rPr>
                        <a:t>May misrepresent feasibility, authorship, or community consent</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1500">
                <a:tc>
                  <a:txBody>
                    <a:bodyPr/>
                    <a:lstStyle/>
                    <a:p>
                      <a:pPr marL="0" indent="0">
                        <a:buNone/>
                      </a:pPr>
                      <a:r>
                        <a:rPr lang="en-US" sz="1400" dirty="0">
                          <a:solidFill>
                            <a:srgbClr val="1E1E24"/>
                          </a:solidFill>
                          <a:latin typeface="+mn-lt"/>
                          <a:ea typeface="Aptos" pitchFamily="34" charset="-122"/>
                          <a:cs typeface="Aptos" pitchFamily="34" charset="-120"/>
                        </a:rPr>
                        <a:t>Efficient optimization</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pPr marL="0" indent="0">
                        <a:buNone/>
                      </a:pPr>
                      <a:r>
                        <a:rPr lang="en-US" sz="1400" dirty="0">
                          <a:solidFill>
                            <a:srgbClr val="1E1E24"/>
                          </a:solidFill>
                          <a:latin typeface="+mn-lt"/>
                          <a:ea typeface="Aptos" pitchFamily="34" charset="-122"/>
                          <a:cs typeface="Aptos" pitchFamily="34" charset="-120"/>
                        </a:rPr>
                        <a:t>May ignore cultural, social, or lived experience</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extLst>
                  <a:ext uri="{0D108BD9-81ED-4DB2-BD59-A6C34878D82A}">
                    <a16:rowId xmlns:a16="http://schemas.microsoft.com/office/drawing/2014/main" val="10004"/>
                  </a:ext>
                </a:extLst>
              </a:tr>
              <a:tr h="571500">
                <a:tc>
                  <a:txBody>
                    <a:bodyPr/>
                    <a:lstStyle/>
                    <a:p>
                      <a:pPr marL="0" indent="0">
                        <a:buNone/>
                      </a:pPr>
                      <a:r>
                        <a:rPr lang="en-US" sz="1400" dirty="0">
                          <a:solidFill>
                            <a:srgbClr val="1E1E24"/>
                          </a:solidFill>
                          <a:latin typeface="+mn-lt"/>
                          <a:ea typeface="Aptos" pitchFamily="34" charset="-122"/>
                          <a:cs typeface="Aptos" pitchFamily="34" charset="-120"/>
                        </a:rPr>
                        <a:t>High-performing agent</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r>
                        <a:rPr lang="en-US" sz="1400" dirty="0">
                          <a:solidFill>
                            <a:srgbClr val="1E1E24"/>
                          </a:solidFill>
                          <a:latin typeface="+mn-lt"/>
                          <a:ea typeface="Aptos" pitchFamily="34" charset="-122"/>
                          <a:cs typeface="Aptos" pitchFamily="34" charset="-120"/>
                        </a:rPr>
                        <a:t>May make opaque recommendations without human accountability</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2" name="Shape 9"/>
          <p:cNvSpPr/>
          <p:nvPr/>
        </p:nvSpPr>
        <p:spPr>
          <a:xfrm>
            <a:off x="1554480" y="5074920"/>
            <a:ext cx="9098280" cy="594360"/>
          </a:xfrm>
          <a:prstGeom prst="roundRect">
            <a:avLst>
              <a:gd name="adj" fmla="val 12308"/>
            </a:avLst>
          </a:prstGeom>
          <a:solidFill>
            <a:srgbClr val="F4EBD0"/>
          </a:solidFill>
          <a:ln w="12700">
            <a:solidFill>
              <a:srgbClr val="F4EBD0"/>
            </a:solidFill>
            <a:prstDash val="solid"/>
          </a:ln>
        </p:spPr>
        <p:txBody>
          <a:bodyPr/>
          <a:lstStyle/>
          <a:p>
            <a:endParaRPr sz="1400"/>
          </a:p>
        </p:txBody>
      </p:sp>
      <p:sp>
        <p:nvSpPr>
          <p:cNvPr id="13" name="Text 10"/>
          <p:cNvSpPr/>
          <p:nvPr/>
        </p:nvSpPr>
        <p:spPr>
          <a:xfrm>
            <a:off x="1691640" y="5202936"/>
            <a:ext cx="8823960" cy="411480"/>
          </a:xfrm>
          <a:prstGeom prst="rect">
            <a:avLst/>
          </a:prstGeom>
          <a:noFill/>
          <a:ln/>
        </p:spPr>
        <p:txBody>
          <a:bodyPr wrap="square" lIns="762" tIns="762" rIns="762" bIns="762" rtlCol="0" anchor="ctr">
            <a:normAutofit/>
          </a:bodyPr>
          <a:lstStyle/>
          <a:p>
            <a:pPr marL="0" indent="0" algn="ctr">
              <a:lnSpc>
                <a:spcPct val="95000"/>
              </a:lnSpc>
              <a:buNone/>
            </a:pPr>
            <a:r>
              <a:rPr lang="en-US" sz="1400" b="1" dirty="0">
                <a:solidFill>
                  <a:srgbClr val="1E1E24"/>
                </a:solidFill>
                <a:ea typeface="Aptos" pitchFamily="34" charset="-122"/>
                <a:cs typeface="Aptos" pitchFamily="34" charset="-120"/>
              </a:rPr>
              <a:t>Evaluate both model performance and social consequence.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A responsible AI lens for architecture</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r>
              <a:rPr lang="en-US" sz="1200" dirty="0">
                <a:solidFill>
                  <a:srgbClr val="5B5B66"/>
                </a:solidFill>
                <a:ea typeface="Aptos" pitchFamily="34" charset="-122"/>
                <a:cs typeface="Aptos" pitchFamily="34" charset="-120"/>
              </a:rPr>
              <a:t>Four questions that translate ethics into design evaluation / </a:t>
            </a:r>
            <a:r>
              <a:rPr lang="en-US" sz="1200" dirty="0"/>
              <a:t>use this framework for any AI-based architectural workflow</a:t>
            </a:r>
          </a:p>
        </p:txBody>
      </p:sp>
      <p:sp>
        <p:nvSpPr>
          <p:cNvPr id="11" name="Shape 9"/>
          <p:cNvSpPr/>
          <p:nvPr/>
        </p:nvSpPr>
        <p:spPr>
          <a:xfrm>
            <a:off x="749808" y="1353312"/>
            <a:ext cx="5047488" cy="1572768"/>
          </a:xfrm>
          <a:prstGeom prst="roundRect">
            <a:avLst>
              <a:gd name="adj" fmla="val 5233"/>
            </a:avLst>
          </a:prstGeom>
          <a:solidFill>
            <a:srgbClr val="EEE9F7"/>
          </a:solidFill>
          <a:ln w="12700">
            <a:solidFill>
              <a:srgbClr val="EEE9F7"/>
            </a:solidFill>
            <a:prstDash val="solid"/>
          </a:ln>
          <a:effectLst>
            <a:outerShdw blurRad="12700" dist="50800" dir="2700000" algn="bl" rotWithShape="0">
              <a:srgbClr val="000000">
                <a:alpha val="12000"/>
              </a:srgbClr>
            </a:outerShdw>
          </a:effectLst>
        </p:spPr>
        <p:txBody>
          <a:bodyPr/>
          <a:lstStyle/>
          <a:p>
            <a:endParaRPr sz="1600"/>
          </a:p>
        </p:txBody>
      </p:sp>
      <p:sp>
        <p:nvSpPr>
          <p:cNvPr id="12" name="Text 10"/>
          <p:cNvSpPr/>
          <p:nvPr/>
        </p:nvSpPr>
        <p:spPr>
          <a:xfrm>
            <a:off x="914400" y="1624176"/>
            <a:ext cx="4718304" cy="301752"/>
          </a:xfrm>
          <a:prstGeom prst="rect">
            <a:avLst/>
          </a:prstGeom>
          <a:noFill/>
          <a:ln/>
        </p:spPr>
        <p:txBody>
          <a:bodyPr wrap="square" lIns="762" tIns="762" rIns="762" bIns="762" rtlCol="0" anchor="t">
            <a:normAutofit/>
          </a:bodyPr>
          <a:lstStyle/>
          <a:p>
            <a:pPr marL="0" indent="0" algn="l">
              <a:lnSpc>
                <a:spcPct val="95000"/>
              </a:lnSpc>
              <a:buNone/>
            </a:pPr>
            <a:r>
              <a:rPr lang="en-US" sz="1600" b="1" dirty="0">
                <a:solidFill>
                  <a:srgbClr val="4B2E83"/>
                </a:solidFill>
                <a:ea typeface="Aptos" pitchFamily="34" charset="-122"/>
                <a:cs typeface="Aptos" pitchFamily="34" charset="-120"/>
              </a:rPr>
              <a:t>Representation</a:t>
            </a:r>
            <a:endParaRPr lang="en-US" sz="1600" dirty="0"/>
          </a:p>
        </p:txBody>
      </p:sp>
      <p:sp>
        <p:nvSpPr>
          <p:cNvPr id="13" name="Text 11"/>
          <p:cNvSpPr/>
          <p:nvPr/>
        </p:nvSpPr>
        <p:spPr>
          <a:xfrm>
            <a:off x="914400" y="1971648"/>
            <a:ext cx="4718304" cy="1005840"/>
          </a:xfrm>
          <a:prstGeom prst="rect">
            <a:avLst/>
          </a:prstGeom>
          <a:noFill/>
          <a:ln/>
        </p:spPr>
        <p:txBody>
          <a:bodyPr wrap="square" lIns="762" tIns="762" rIns="762" bIns="762" rtlCol="0" anchor="t">
            <a:normAutofit/>
          </a:bodyPr>
          <a:lstStyle/>
          <a:p>
            <a:pPr marL="0" indent="0" algn="l">
              <a:lnSpc>
                <a:spcPct val="95000"/>
              </a:lnSpc>
              <a:buNone/>
            </a:pPr>
            <a:r>
              <a:rPr lang="en-US" sz="1600" dirty="0">
                <a:solidFill>
                  <a:srgbClr val="1E1E24"/>
                </a:solidFill>
                <a:ea typeface="Aptos" pitchFamily="34" charset="-122"/>
                <a:cs typeface="Aptos" pitchFamily="34" charset="-120"/>
              </a:rPr>
              <a:t>Representation asks about the data and who is visible or invisible. </a:t>
            </a:r>
          </a:p>
          <a:p>
            <a:pPr marL="0" indent="0" algn="l">
              <a:lnSpc>
                <a:spcPct val="95000"/>
              </a:lnSpc>
              <a:buNone/>
            </a:pPr>
            <a:r>
              <a:rPr lang="en-US" sz="1600" dirty="0">
                <a:solidFill>
                  <a:srgbClr val="1E1E24"/>
                </a:solidFill>
                <a:ea typeface="Aptos" pitchFamily="34" charset="-122"/>
                <a:cs typeface="Aptos" pitchFamily="34" charset="-120"/>
              </a:rPr>
              <a:t>Whose buildings, bodies, climates, communities, and histories are represented?</a:t>
            </a:r>
            <a:endParaRPr lang="en-US" sz="1600" dirty="0"/>
          </a:p>
        </p:txBody>
      </p:sp>
      <p:sp>
        <p:nvSpPr>
          <p:cNvPr id="14" name="Shape 12"/>
          <p:cNvSpPr/>
          <p:nvPr/>
        </p:nvSpPr>
        <p:spPr>
          <a:xfrm>
            <a:off x="6336792" y="1353312"/>
            <a:ext cx="5047488" cy="1572768"/>
          </a:xfrm>
          <a:prstGeom prst="roundRect">
            <a:avLst>
              <a:gd name="adj" fmla="val 5233"/>
            </a:avLst>
          </a:prstGeom>
          <a:solidFill>
            <a:srgbClr val="F4EBD0"/>
          </a:solidFill>
          <a:ln w="12700">
            <a:solidFill>
              <a:srgbClr val="F4EBD0"/>
            </a:solidFill>
            <a:prstDash val="solid"/>
          </a:ln>
          <a:effectLst>
            <a:outerShdw blurRad="12700" dist="50800" dir="2700000" algn="bl" rotWithShape="0">
              <a:srgbClr val="000000">
                <a:alpha val="12000"/>
              </a:srgbClr>
            </a:outerShdw>
          </a:effectLst>
        </p:spPr>
        <p:txBody>
          <a:bodyPr/>
          <a:lstStyle/>
          <a:p>
            <a:endParaRPr sz="1600"/>
          </a:p>
        </p:txBody>
      </p:sp>
      <p:sp>
        <p:nvSpPr>
          <p:cNvPr id="15" name="Text 13"/>
          <p:cNvSpPr/>
          <p:nvPr/>
        </p:nvSpPr>
        <p:spPr>
          <a:xfrm>
            <a:off x="6501384" y="1624176"/>
            <a:ext cx="4718304" cy="301752"/>
          </a:xfrm>
          <a:prstGeom prst="rect">
            <a:avLst/>
          </a:prstGeom>
          <a:noFill/>
          <a:ln/>
        </p:spPr>
        <p:txBody>
          <a:bodyPr wrap="square" lIns="762" tIns="762" rIns="762" bIns="762" rtlCol="0" anchor="t">
            <a:normAutofit/>
          </a:bodyPr>
          <a:lstStyle/>
          <a:p>
            <a:pPr marL="0" indent="0" algn="l">
              <a:lnSpc>
                <a:spcPct val="95000"/>
              </a:lnSpc>
              <a:buNone/>
            </a:pPr>
            <a:r>
              <a:rPr lang="en-US" sz="1600" b="1" dirty="0">
                <a:solidFill>
                  <a:srgbClr val="1E1E24"/>
                </a:solidFill>
                <a:ea typeface="Aptos" pitchFamily="34" charset="-122"/>
                <a:cs typeface="Aptos" pitchFamily="34" charset="-120"/>
              </a:rPr>
              <a:t>Performance</a:t>
            </a:r>
            <a:endParaRPr lang="en-US" sz="1600" dirty="0"/>
          </a:p>
        </p:txBody>
      </p:sp>
      <p:sp>
        <p:nvSpPr>
          <p:cNvPr id="16" name="Text 14"/>
          <p:cNvSpPr/>
          <p:nvPr/>
        </p:nvSpPr>
        <p:spPr>
          <a:xfrm>
            <a:off x="6501384" y="1971648"/>
            <a:ext cx="4718304" cy="1005840"/>
          </a:xfrm>
          <a:prstGeom prst="rect">
            <a:avLst/>
          </a:prstGeom>
          <a:noFill/>
          <a:ln/>
        </p:spPr>
        <p:txBody>
          <a:bodyPr wrap="square" lIns="762" tIns="762" rIns="762" bIns="762" rtlCol="0" anchor="t">
            <a:normAutofit/>
          </a:bodyPr>
          <a:lstStyle/>
          <a:p>
            <a:pPr marL="0" indent="0" algn="l">
              <a:lnSpc>
                <a:spcPct val="95000"/>
              </a:lnSpc>
              <a:buNone/>
            </a:pPr>
            <a:r>
              <a:rPr lang="en-US" sz="1600" dirty="0">
                <a:solidFill>
                  <a:srgbClr val="1E1E24"/>
                </a:solidFill>
                <a:ea typeface="Aptos" pitchFamily="34" charset="-122"/>
                <a:cs typeface="Aptos" pitchFamily="34" charset="-120"/>
              </a:rPr>
              <a:t>Performance asks about metrics and values. </a:t>
            </a:r>
          </a:p>
          <a:p>
            <a:pPr marL="0" indent="0" algn="l">
              <a:lnSpc>
                <a:spcPct val="95000"/>
              </a:lnSpc>
              <a:buNone/>
            </a:pPr>
            <a:r>
              <a:rPr lang="en-US" sz="1600" dirty="0">
                <a:solidFill>
                  <a:srgbClr val="1E1E24"/>
                </a:solidFill>
                <a:ea typeface="Aptos" pitchFamily="34" charset="-122"/>
                <a:cs typeface="Aptos" pitchFamily="34" charset="-120"/>
              </a:rPr>
              <a:t>What is being optimized, and what is being ignored?</a:t>
            </a:r>
            <a:endParaRPr lang="en-US" sz="1600" dirty="0"/>
          </a:p>
        </p:txBody>
      </p:sp>
      <p:sp>
        <p:nvSpPr>
          <p:cNvPr id="17" name="Shape 15"/>
          <p:cNvSpPr/>
          <p:nvPr/>
        </p:nvSpPr>
        <p:spPr>
          <a:xfrm>
            <a:off x="749808" y="3749040"/>
            <a:ext cx="5047488" cy="1572768"/>
          </a:xfrm>
          <a:prstGeom prst="roundRect">
            <a:avLst>
              <a:gd name="adj" fmla="val 5233"/>
            </a:avLst>
          </a:prstGeom>
          <a:solidFill>
            <a:srgbClr val="EEE9F7"/>
          </a:solidFill>
          <a:ln w="12700">
            <a:solidFill>
              <a:srgbClr val="EEE9F7"/>
            </a:solidFill>
            <a:prstDash val="solid"/>
          </a:ln>
          <a:effectLst>
            <a:outerShdw blurRad="12700" dist="50800" dir="2700000" algn="bl" rotWithShape="0">
              <a:srgbClr val="000000">
                <a:alpha val="12000"/>
              </a:srgbClr>
            </a:outerShdw>
          </a:effectLst>
        </p:spPr>
        <p:txBody>
          <a:bodyPr/>
          <a:lstStyle/>
          <a:p>
            <a:endParaRPr sz="1600"/>
          </a:p>
        </p:txBody>
      </p:sp>
      <p:sp>
        <p:nvSpPr>
          <p:cNvPr id="18" name="Text 16"/>
          <p:cNvSpPr/>
          <p:nvPr/>
        </p:nvSpPr>
        <p:spPr>
          <a:xfrm>
            <a:off x="914400" y="4019904"/>
            <a:ext cx="4718304" cy="301752"/>
          </a:xfrm>
          <a:prstGeom prst="rect">
            <a:avLst/>
          </a:prstGeom>
          <a:noFill/>
          <a:ln/>
        </p:spPr>
        <p:txBody>
          <a:bodyPr wrap="square" lIns="762" tIns="762" rIns="762" bIns="762" rtlCol="0" anchor="t">
            <a:normAutofit/>
          </a:bodyPr>
          <a:lstStyle/>
          <a:p>
            <a:pPr marL="0" indent="0" algn="l">
              <a:lnSpc>
                <a:spcPct val="95000"/>
              </a:lnSpc>
              <a:buNone/>
            </a:pPr>
            <a:r>
              <a:rPr lang="en-US" sz="1600" b="1" dirty="0">
                <a:solidFill>
                  <a:srgbClr val="4B2E83"/>
                </a:solidFill>
                <a:ea typeface="Aptos" pitchFamily="34" charset="-122"/>
                <a:cs typeface="Aptos" pitchFamily="34" charset="-120"/>
              </a:rPr>
              <a:t>Agency</a:t>
            </a:r>
            <a:endParaRPr lang="en-US" sz="1600" dirty="0"/>
          </a:p>
        </p:txBody>
      </p:sp>
      <p:sp>
        <p:nvSpPr>
          <p:cNvPr id="19" name="Text 17"/>
          <p:cNvSpPr/>
          <p:nvPr/>
        </p:nvSpPr>
        <p:spPr>
          <a:xfrm>
            <a:off x="914400" y="4367376"/>
            <a:ext cx="4718304" cy="1005840"/>
          </a:xfrm>
          <a:prstGeom prst="rect">
            <a:avLst/>
          </a:prstGeom>
          <a:noFill/>
          <a:ln/>
        </p:spPr>
        <p:txBody>
          <a:bodyPr wrap="square" lIns="762" tIns="762" rIns="762" bIns="762" rtlCol="0" anchor="t">
            <a:normAutofit/>
          </a:bodyPr>
          <a:lstStyle/>
          <a:p>
            <a:pPr marL="0" indent="0" algn="l">
              <a:lnSpc>
                <a:spcPct val="95000"/>
              </a:lnSpc>
              <a:buNone/>
            </a:pPr>
            <a:r>
              <a:rPr lang="en-US" sz="1600" dirty="0">
                <a:solidFill>
                  <a:srgbClr val="1E1E24"/>
                </a:solidFill>
                <a:ea typeface="Aptos" pitchFamily="34" charset="-122"/>
                <a:cs typeface="Aptos" pitchFamily="34" charset="-120"/>
              </a:rPr>
              <a:t>Agency asks about decision power. </a:t>
            </a:r>
          </a:p>
          <a:p>
            <a:pPr marL="0" indent="0" algn="l">
              <a:lnSpc>
                <a:spcPct val="95000"/>
              </a:lnSpc>
              <a:buNone/>
            </a:pPr>
            <a:r>
              <a:rPr lang="en-US" sz="1600" dirty="0">
                <a:solidFill>
                  <a:srgbClr val="1E1E24"/>
                </a:solidFill>
                <a:ea typeface="Aptos" pitchFamily="34" charset="-122"/>
                <a:cs typeface="Aptos" pitchFamily="34" charset="-120"/>
              </a:rPr>
              <a:t>Who makes the final decision: designer, model, client, community, or institution?</a:t>
            </a:r>
            <a:endParaRPr lang="en-US" sz="1600" dirty="0"/>
          </a:p>
        </p:txBody>
      </p:sp>
      <p:sp>
        <p:nvSpPr>
          <p:cNvPr id="20" name="Shape 18"/>
          <p:cNvSpPr/>
          <p:nvPr/>
        </p:nvSpPr>
        <p:spPr>
          <a:xfrm>
            <a:off x="6336792" y="3749040"/>
            <a:ext cx="5047488" cy="1572768"/>
          </a:xfrm>
          <a:prstGeom prst="roundRect">
            <a:avLst>
              <a:gd name="adj" fmla="val 5233"/>
            </a:avLst>
          </a:prstGeom>
          <a:solidFill>
            <a:srgbClr val="F4EBD0"/>
          </a:solidFill>
          <a:ln w="12700">
            <a:solidFill>
              <a:srgbClr val="F4EBD0"/>
            </a:solidFill>
            <a:prstDash val="solid"/>
          </a:ln>
          <a:effectLst>
            <a:outerShdw blurRad="12700" dist="50800" dir="2700000" algn="bl" rotWithShape="0">
              <a:srgbClr val="000000">
                <a:alpha val="12000"/>
              </a:srgbClr>
            </a:outerShdw>
          </a:effectLst>
        </p:spPr>
        <p:txBody>
          <a:bodyPr/>
          <a:lstStyle/>
          <a:p>
            <a:endParaRPr sz="1600"/>
          </a:p>
        </p:txBody>
      </p:sp>
      <p:sp>
        <p:nvSpPr>
          <p:cNvPr id="21" name="Text 19"/>
          <p:cNvSpPr/>
          <p:nvPr/>
        </p:nvSpPr>
        <p:spPr>
          <a:xfrm>
            <a:off x="6501384" y="4019904"/>
            <a:ext cx="4718304" cy="301752"/>
          </a:xfrm>
          <a:prstGeom prst="rect">
            <a:avLst/>
          </a:prstGeom>
          <a:noFill/>
          <a:ln/>
        </p:spPr>
        <p:txBody>
          <a:bodyPr wrap="square" lIns="762" tIns="762" rIns="762" bIns="762" rtlCol="0" anchor="t">
            <a:normAutofit/>
          </a:bodyPr>
          <a:lstStyle/>
          <a:p>
            <a:pPr marL="0" indent="0" algn="l">
              <a:lnSpc>
                <a:spcPct val="95000"/>
              </a:lnSpc>
              <a:buNone/>
            </a:pPr>
            <a:r>
              <a:rPr lang="en-US" sz="1600" b="1" dirty="0">
                <a:solidFill>
                  <a:srgbClr val="1E1E24"/>
                </a:solidFill>
                <a:ea typeface="Aptos" pitchFamily="34" charset="-122"/>
                <a:cs typeface="Aptos" pitchFamily="34" charset="-120"/>
              </a:rPr>
              <a:t>Accountability</a:t>
            </a:r>
            <a:endParaRPr lang="en-US" sz="1600" dirty="0"/>
          </a:p>
        </p:txBody>
      </p:sp>
      <p:sp>
        <p:nvSpPr>
          <p:cNvPr id="22" name="Text 20"/>
          <p:cNvSpPr/>
          <p:nvPr/>
        </p:nvSpPr>
        <p:spPr>
          <a:xfrm>
            <a:off x="6501384" y="4367376"/>
            <a:ext cx="4718304" cy="1005840"/>
          </a:xfrm>
          <a:prstGeom prst="rect">
            <a:avLst/>
          </a:prstGeom>
          <a:noFill/>
          <a:ln/>
        </p:spPr>
        <p:txBody>
          <a:bodyPr wrap="square" lIns="762" tIns="762" rIns="762" bIns="762" rtlCol="0" anchor="t">
            <a:normAutofit/>
          </a:bodyPr>
          <a:lstStyle/>
          <a:p>
            <a:pPr marL="0" indent="0" algn="l">
              <a:lnSpc>
                <a:spcPct val="95000"/>
              </a:lnSpc>
              <a:buNone/>
            </a:pPr>
            <a:r>
              <a:rPr lang="en-US" sz="1600" dirty="0">
                <a:solidFill>
                  <a:srgbClr val="1E1E24"/>
                </a:solidFill>
                <a:ea typeface="Aptos" pitchFamily="34" charset="-122"/>
                <a:cs typeface="Aptos" pitchFamily="34" charset="-120"/>
              </a:rPr>
              <a:t>Accountability asks about responsibility and harm.</a:t>
            </a:r>
          </a:p>
          <a:p>
            <a:pPr marL="0" indent="0" algn="l">
              <a:lnSpc>
                <a:spcPct val="95000"/>
              </a:lnSpc>
              <a:buNone/>
            </a:pPr>
            <a:r>
              <a:rPr lang="en-US" sz="1600" dirty="0">
                <a:solidFill>
                  <a:srgbClr val="1E1E24"/>
                </a:solidFill>
                <a:ea typeface="Aptos" pitchFamily="34" charset="-122"/>
                <a:cs typeface="Aptos" pitchFamily="34" charset="-120"/>
              </a:rPr>
              <a:t>Who is responsible if the AI-informed decision causes harm?</a:t>
            </a:r>
            <a:endParaRPr lang="en-US" sz="1600" dirty="0"/>
          </a:p>
        </p:txBody>
      </p:sp>
      <p:sp>
        <p:nvSpPr>
          <p:cNvPr id="23" name="Shape 21"/>
          <p:cNvSpPr/>
          <p:nvPr/>
        </p:nvSpPr>
        <p:spPr>
          <a:xfrm>
            <a:off x="5230368" y="2450593"/>
            <a:ext cx="1737360" cy="1572768"/>
          </a:xfrm>
          <a:prstGeom prst="ellipse">
            <a:avLst/>
          </a:prstGeom>
          <a:solidFill>
            <a:srgbClr val="4B2E83"/>
          </a:solidFill>
          <a:ln w="12700">
            <a:solidFill>
              <a:srgbClr val="4B2E83"/>
            </a:solidFill>
            <a:prstDash val="solid"/>
          </a:ln>
        </p:spPr>
        <p:txBody>
          <a:bodyPr/>
          <a:lstStyle/>
          <a:p>
            <a:endParaRPr sz="1600"/>
          </a:p>
        </p:txBody>
      </p:sp>
      <p:sp>
        <p:nvSpPr>
          <p:cNvPr id="24" name="Text 22"/>
          <p:cNvSpPr/>
          <p:nvPr/>
        </p:nvSpPr>
        <p:spPr>
          <a:xfrm>
            <a:off x="5433060" y="3163824"/>
            <a:ext cx="1325880" cy="329184"/>
          </a:xfrm>
          <a:prstGeom prst="rect">
            <a:avLst/>
          </a:prstGeom>
          <a:noFill/>
          <a:ln/>
        </p:spPr>
        <p:txBody>
          <a:bodyPr wrap="square" lIns="762" tIns="762" rIns="762" bIns="762" rtlCol="0" anchor="ctr">
            <a:noAutofit/>
          </a:bodyPr>
          <a:lstStyle/>
          <a:p>
            <a:pPr marL="0" indent="0" algn="ctr">
              <a:lnSpc>
                <a:spcPct val="95000"/>
              </a:lnSpc>
              <a:buNone/>
            </a:pPr>
            <a:r>
              <a:rPr lang="en-US" sz="1600" b="1" dirty="0">
                <a:solidFill>
                  <a:srgbClr val="FFFFFF"/>
                </a:solidFill>
                <a:ea typeface="Aptos" pitchFamily="34" charset="-122"/>
                <a:cs typeface="Aptos" pitchFamily="34" charset="-120"/>
              </a:rPr>
              <a:t>Responsible</a:t>
            </a:r>
            <a:endParaRPr lang="en-US" sz="1600" dirty="0"/>
          </a:p>
          <a:p>
            <a:pPr marL="0" indent="0" algn="ctr">
              <a:lnSpc>
                <a:spcPct val="95000"/>
              </a:lnSpc>
              <a:buNone/>
            </a:pPr>
            <a:r>
              <a:rPr lang="en-US" sz="1600" b="1" dirty="0">
                <a:solidFill>
                  <a:srgbClr val="FFFFFF"/>
                </a:solidFill>
                <a:ea typeface="Aptos" pitchFamily="34" charset="-122"/>
                <a:cs typeface="Aptos" pitchFamily="34" charset="-120"/>
              </a:rPr>
              <a:t>AI</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0698480" cy="477054"/>
          </a:xfrm>
          <a:prstGeom prst="rect">
            <a:avLst/>
          </a:prstGeom>
          <a:noFill/>
        </p:spPr>
        <p:txBody>
          <a:bodyPr wrap="square">
            <a:spAutoFit/>
          </a:bodyPr>
          <a:lstStyle/>
          <a:p>
            <a:r>
              <a:rPr sz="2500" b="1">
                <a:solidFill>
                  <a:srgbClr val="1E1E24"/>
                </a:solidFill>
              </a:rPr>
              <a:t>Your projects are performance-driven design research</a:t>
            </a:r>
          </a:p>
        </p:txBody>
      </p:sp>
      <p:sp>
        <p:nvSpPr>
          <p:cNvPr id="3" name="TextBox 2"/>
          <p:cNvSpPr txBox="1"/>
          <p:nvPr/>
        </p:nvSpPr>
        <p:spPr>
          <a:xfrm>
            <a:off x="521207" y="795528"/>
            <a:ext cx="9875520" cy="276999"/>
          </a:xfrm>
          <a:prstGeom prst="rect">
            <a:avLst/>
          </a:prstGeom>
          <a:noFill/>
        </p:spPr>
        <p:txBody>
          <a:bodyPr wrap="square">
            <a:spAutoFit/>
          </a:bodyPr>
          <a:lstStyle/>
          <a:p>
            <a:r>
              <a:rPr sz="1200" b="0" dirty="0">
                <a:solidFill>
                  <a:srgbClr val="5B5B66"/>
                </a:solidFill>
              </a:rPr>
              <a:t>Use this module to strengthen your final research argument—not as a generic AI reflection</a:t>
            </a:r>
          </a:p>
        </p:txBody>
      </p:sp>
      <p:sp>
        <p:nvSpPr>
          <p:cNvPr id="7" name="TextBox 6"/>
          <p:cNvSpPr txBox="1"/>
          <p:nvPr/>
        </p:nvSpPr>
        <p:spPr>
          <a:xfrm>
            <a:off x="868680" y="1353312"/>
            <a:ext cx="4937760" cy="1323439"/>
          </a:xfrm>
          <a:prstGeom prst="rect">
            <a:avLst/>
          </a:prstGeom>
          <a:noFill/>
        </p:spPr>
        <p:txBody>
          <a:bodyPr wrap="square">
            <a:spAutoFit/>
          </a:bodyPr>
          <a:lstStyle/>
          <a:p>
            <a:r>
              <a:rPr sz="2000" b="1">
                <a:solidFill>
                  <a:srgbClr val="1E1E24"/>
                </a:solidFill>
              </a:rPr>
              <a:t>Each project should connect an AI method to a performance-driven design challenge and a defensible research contribution.</a:t>
            </a:r>
          </a:p>
        </p:txBody>
      </p:sp>
      <p:sp>
        <p:nvSpPr>
          <p:cNvPr id="8" name="TextBox 7"/>
          <p:cNvSpPr txBox="1"/>
          <p:nvPr/>
        </p:nvSpPr>
        <p:spPr>
          <a:xfrm>
            <a:off x="868680" y="2834640"/>
            <a:ext cx="4754880" cy="1200329"/>
          </a:xfrm>
          <a:prstGeom prst="rect">
            <a:avLst/>
          </a:prstGeom>
          <a:noFill/>
        </p:spPr>
        <p:txBody>
          <a:bodyPr wrap="square">
            <a:spAutoFit/>
          </a:bodyPr>
          <a:lstStyle/>
          <a:p>
            <a:r>
              <a:rPr b="0" dirty="0">
                <a:solidFill>
                  <a:srgbClr val="5B5B66"/>
                </a:solidFill>
              </a:rPr>
              <a:t>This means the ethical question is not only “Did I use AI responsibly?” but also “How did AI shape the evidence, assumptions, metrics, and design decisions in my research?”</a:t>
            </a:r>
          </a:p>
        </p:txBody>
      </p:sp>
      <p:sp>
        <p:nvSpPr>
          <p:cNvPr id="9" name="Rounded Rectangle 8"/>
          <p:cNvSpPr/>
          <p:nvPr/>
        </p:nvSpPr>
        <p:spPr>
          <a:xfrm>
            <a:off x="6172200" y="1234440"/>
            <a:ext cx="4572000" cy="3611880"/>
          </a:xfrm>
          <a:prstGeom prst="roundRect">
            <a:avLst/>
          </a:prstGeom>
          <a:solidFill>
            <a:srgbClr val="F1EDF7"/>
          </a:solidFill>
          <a:ln w="9525">
            <a:solidFill>
              <a:srgbClr val="D8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5080" y="1755367"/>
            <a:ext cx="4242816" cy="369332"/>
          </a:xfrm>
          <a:prstGeom prst="rect">
            <a:avLst/>
          </a:prstGeom>
          <a:noFill/>
        </p:spPr>
        <p:txBody>
          <a:bodyPr wrap="square">
            <a:spAutoFit/>
          </a:bodyPr>
          <a:lstStyle/>
          <a:p>
            <a:r>
              <a:rPr b="1" dirty="0">
                <a:solidFill>
                  <a:srgbClr val="4B2E83"/>
                </a:solidFill>
              </a:rPr>
              <a:t>Make explicit in your final work</a:t>
            </a:r>
          </a:p>
        </p:txBody>
      </p:sp>
      <p:sp>
        <p:nvSpPr>
          <p:cNvPr id="11" name="TextBox 10"/>
          <p:cNvSpPr txBox="1"/>
          <p:nvPr/>
        </p:nvSpPr>
        <p:spPr>
          <a:xfrm>
            <a:off x="6355080" y="2075407"/>
            <a:ext cx="4242816" cy="2159566"/>
          </a:xfrm>
          <a:prstGeom prst="rect">
            <a:avLst/>
          </a:prstGeom>
          <a:noFill/>
        </p:spPr>
        <p:txBody>
          <a:bodyPr wrap="square">
            <a:spAutoFit/>
          </a:bodyPr>
          <a:lstStyle/>
          <a:p>
            <a:pPr>
              <a:spcAft>
                <a:spcPts val="200"/>
              </a:spcAft>
            </a:pPr>
            <a:r>
              <a:rPr b="0" dirty="0">
                <a:solidFill>
                  <a:srgbClr val="1E1E24"/>
                </a:solidFill>
              </a:rPr>
              <a:t>• The performance-driven design challenge</a:t>
            </a:r>
          </a:p>
          <a:p>
            <a:pPr>
              <a:spcAft>
                <a:spcPts val="200"/>
              </a:spcAft>
            </a:pPr>
            <a:r>
              <a:rPr b="0" dirty="0">
                <a:solidFill>
                  <a:srgbClr val="1E1E24"/>
                </a:solidFill>
              </a:rPr>
              <a:t>• Why AI is methodologically useful</a:t>
            </a:r>
          </a:p>
          <a:p>
            <a:pPr>
              <a:spcAft>
                <a:spcPts val="200"/>
              </a:spcAft>
            </a:pPr>
            <a:r>
              <a:rPr b="0" dirty="0">
                <a:solidFill>
                  <a:srgbClr val="1E1E24"/>
                </a:solidFill>
              </a:rPr>
              <a:t>• The data, simulation, or evidence base</a:t>
            </a:r>
          </a:p>
          <a:p>
            <a:pPr>
              <a:spcAft>
                <a:spcPts val="200"/>
              </a:spcAft>
            </a:pPr>
            <a:r>
              <a:rPr b="0" dirty="0">
                <a:solidFill>
                  <a:srgbClr val="1E1E24"/>
                </a:solidFill>
              </a:rPr>
              <a:t>• Performance metrics and validation logic</a:t>
            </a:r>
          </a:p>
          <a:p>
            <a:pPr>
              <a:spcAft>
                <a:spcPts val="200"/>
              </a:spcAft>
            </a:pPr>
            <a:r>
              <a:rPr b="0" dirty="0">
                <a:solidFill>
                  <a:srgbClr val="1E1E24"/>
                </a:solidFill>
              </a:rPr>
              <a:t>• The design decision supported by AI</a:t>
            </a:r>
          </a:p>
          <a:p>
            <a:pPr>
              <a:spcAft>
                <a:spcPts val="200"/>
              </a:spcAft>
            </a:pPr>
            <a:r>
              <a:rPr b="0" dirty="0">
                <a:solidFill>
                  <a:srgbClr val="1E1E24"/>
                </a:solidFill>
              </a:rPr>
              <a:t>• Biases, uncertainties, and governance limits</a:t>
            </a:r>
          </a:p>
        </p:txBody>
      </p:sp>
      <p:sp>
        <p:nvSpPr>
          <p:cNvPr id="12" name="TextBox 11"/>
          <p:cNvSpPr txBox="1"/>
          <p:nvPr/>
        </p:nvSpPr>
        <p:spPr>
          <a:xfrm>
            <a:off x="914400" y="5166360"/>
            <a:ext cx="9875520" cy="307777"/>
          </a:xfrm>
          <a:prstGeom prst="rect">
            <a:avLst/>
          </a:prstGeom>
          <a:noFill/>
        </p:spPr>
        <p:txBody>
          <a:bodyPr wrap="square">
            <a:spAutoFit/>
          </a:bodyPr>
          <a:lstStyle/>
          <a:p>
            <a:pPr algn="ctr"/>
            <a:r>
              <a:rPr sz="1400" b="1" dirty="0">
                <a:solidFill>
                  <a:srgbClr val="4B2E83"/>
                </a:solidFill>
              </a:rPr>
              <a:t>Use this language in your introduction, methodology, discussion/limitations, and final presentation.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0698480" cy="477054"/>
          </a:xfrm>
          <a:prstGeom prst="rect">
            <a:avLst/>
          </a:prstGeom>
          <a:noFill/>
        </p:spPr>
        <p:txBody>
          <a:bodyPr wrap="square">
            <a:spAutoFit/>
          </a:bodyPr>
          <a:lstStyle/>
          <a:p>
            <a:r>
              <a:rPr sz="2500" b="1">
                <a:solidFill>
                  <a:srgbClr val="1E1E24"/>
                </a:solidFill>
              </a:rPr>
              <a:t>Research logic: from challenge to responsible application</a:t>
            </a:r>
          </a:p>
        </p:txBody>
      </p:sp>
      <p:sp>
        <p:nvSpPr>
          <p:cNvPr id="3" name="TextBox 2"/>
          <p:cNvSpPr txBox="1"/>
          <p:nvPr/>
        </p:nvSpPr>
        <p:spPr>
          <a:xfrm>
            <a:off x="521207" y="795528"/>
            <a:ext cx="9875520" cy="273921"/>
          </a:xfrm>
          <a:prstGeom prst="rect">
            <a:avLst/>
          </a:prstGeom>
          <a:noFill/>
        </p:spPr>
        <p:txBody>
          <a:bodyPr wrap="square">
            <a:spAutoFit/>
          </a:bodyPr>
          <a:lstStyle/>
          <a:p>
            <a:r>
              <a:rPr sz="1180" b="0">
                <a:solidFill>
                  <a:srgbClr val="5B5B66"/>
                </a:solidFill>
              </a:rPr>
              <a:t>Translate the design challenge into evidence, models, evaluation, and accountable design action</a:t>
            </a:r>
          </a:p>
        </p:txBody>
      </p:sp>
      <p:sp>
        <p:nvSpPr>
          <p:cNvPr id="5" name="TextBox 4"/>
          <p:cNvSpPr txBox="1"/>
          <p:nvPr/>
        </p:nvSpPr>
        <p:spPr>
          <a:xfrm>
            <a:off x="502920" y="6492240"/>
            <a:ext cx="7680960" cy="182880"/>
          </a:xfrm>
          <a:prstGeom prst="rect">
            <a:avLst/>
          </a:prstGeom>
          <a:noFill/>
        </p:spPr>
        <p:txBody>
          <a:bodyPr wrap="square">
            <a:spAutoFit/>
          </a:bodyPr>
          <a:lstStyle/>
          <a:p>
            <a:r>
              <a:rPr sz="819" b="0">
                <a:solidFill>
                  <a:srgbClr val="5B5B66"/>
                </a:solidFill>
                <a:latin typeface="Aptos"/>
              </a:rPr>
              <a:t>MODULE 4 – AI and Society</a:t>
            </a:r>
          </a:p>
        </p:txBody>
      </p:sp>
      <p:sp>
        <p:nvSpPr>
          <p:cNvPr id="6" name="TextBox 5"/>
          <p:cNvSpPr txBox="1"/>
          <p:nvPr/>
        </p:nvSpPr>
        <p:spPr>
          <a:xfrm>
            <a:off x="10927080" y="6400800"/>
            <a:ext cx="594360" cy="228600"/>
          </a:xfrm>
          <a:prstGeom prst="rect">
            <a:avLst/>
          </a:prstGeom>
          <a:noFill/>
        </p:spPr>
        <p:txBody>
          <a:bodyPr wrap="square">
            <a:spAutoFit/>
          </a:bodyPr>
          <a:lstStyle/>
          <a:p>
            <a:r>
              <a:rPr sz="1000" b="0">
                <a:solidFill>
                  <a:srgbClr val="5C5864"/>
                </a:solidFill>
                <a:latin typeface="Aptos"/>
              </a:rPr>
              <a:t>16</a:t>
            </a:r>
          </a:p>
        </p:txBody>
      </p:sp>
      <p:sp>
        <p:nvSpPr>
          <p:cNvPr id="7" name="Rounded Rectangle 6"/>
          <p:cNvSpPr/>
          <p:nvPr/>
        </p:nvSpPr>
        <p:spPr>
          <a:xfrm>
            <a:off x="502920" y="1508760"/>
            <a:ext cx="1664208" cy="1344176"/>
          </a:xfrm>
          <a:prstGeom prst="roundRect">
            <a:avLst/>
          </a:prstGeom>
          <a:solidFill>
            <a:srgbClr val="EAF2F8"/>
          </a:solidFill>
          <a:ln w="9525">
            <a:solidFill>
              <a:srgbClr val="D8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8" name="TextBox 7"/>
          <p:cNvSpPr txBox="1"/>
          <p:nvPr/>
        </p:nvSpPr>
        <p:spPr>
          <a:xfrm>
            <a:off x="667512" y="1627631"/>
            <a:ext cx="1335024" cy="261610"/>
          </a:xfrm>
          <a:prstGeom prst="rect">
            <a:avLst/>
          </a:prstGeom>
          <a:noFill/>
        </p:spPr>
        <p:txBody>
          <a:bodyPr wrap="square">
            <a:spAutoFit/>
          </a:bodyPr>
          <a:lstStyle/>
          <a:p>
            <a:r>
              <a:rPr sz="1100" b="1">
                <a:solidFill>
                  <a:srgbClr val="4B2E83"/>
                </a:solidFill>
              </a:rPr>
              <a:t>1. Challenge</a:t>
            </a:r>
          </a:p>
        </p:txBody>
      </p:sp>
      <p:sp>
        <p:nvSpPr>
          <p:cNvPr id="9" name="TextBox 8"/>
          <p:cNvSpPr txBox="1"/>
          <p:nvPr/>
        </p:nvSpPr>
        <p:spPr>
          <a:xfrm>
            <a:off x="667512" y="1947672"/>
            <a:ext cx="1335024" cy="769441"/>
          </a:xfrm>
          <a:prstGeom prst="rect">
            <a:avLst/>
          </a:prstGeom>
          <a:noFill/>
        </p:spPr>
        <p:txBody>
          <a:bodyPr wrap="square">
            <a:spAutoFit/>
          </a:bodyPr>
          <a:lstStyle/>
          <a:p>
            <a:r>
              <a:rPr sz="1100" b="0">
                <a:solidFill>
                  <a:srgbClr val="1E1E24"/>
                </a:solidFill>
              </a:rPr>
              <a:t>What performance-driven design problem are you addressing?</a:t>
            </a:r>
          </a:p>
        </p:txBody>
      </p:sp>
      <p:sp>
        <p:nvSpPr>
          <p:cNvPr id="11" name="Rounded Rectangle 10"/>
          <p:cNvSpPr/>
          <p:nvPr/>
        </p:nvSpPr>
        <p:spPr>
          <a:xfrm>
            <a:off x="2331720" y="1508760"/>
            <a:ext cx="1664208" cy="1344176"/>
          </a:xfrm>
          <a:prstGeom prst="roundRect">
            <a:avLst/>
          </a:prstGeom>
          <a:solidFill>
            <a:srgbClr val="F1EDF7"/>
          </a:solidFill>
          <a:ln w="9525">
            <a:solidFill>
              <a:srgbClr val="D8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2" name="TextBox 11"/>
          <p:cNvSpPr txBox="1"/>
          <p:nvPr/>
        </p:nvSpPr>
        <p:spPr>
          <a:xfrm>
            <a:off x="2496312" y="1627631"/>
            <a:ext cx="1335024" cy="261610"/>
          </a:xfrm>
          <a:prstGeom prst="rect">
            <a:avLst/>
          </a:prstGeom>
          <a:noFill/>
        </p:spPr>
        <p:txBody>
          <a:bodyPr wrap="square">
            <a:spAutoFit/>
          </a:bodyPr>
          <a:lstStyle/>
          <a:p>
            <a:r>
              <a:rPr sz="1100" b="1">
                <a:solidFill>
                  <a:srgbClr val="4B2E83"/>
                </a:solidFill>
              </a:rPr>
              <a:t>2. Evidence base</a:t>
            </a:r>
          </a:p>
        </p:txBody>
      </p:sp>
      <p:sp>
        <p:nvSpPr>
          <p:cNvPr id="13" name="TextBox 12"/>
          <p:cNvSpPr txBox="1"/>
          <p:nvPr/>
        </p:nvSpPr>
        <p:spPr>
          <a:xfrm>
            <a:off x="2496312" y="1947672"/>
            <a:ext cx="1335024" cy="938719"/>
          </a:xfrm>
          <a:prstGeom prst="rect">
            <a:avLst/>
          </a:prstGeom>
          <a:noFill/>
        </p:spPr>
        <p:txBody>
          <a:bodyPr wrap="square">
            <a:spAutoFit/>
          </a:bodyPr>
          <a:lstStyle/>
          <a:p>
            <a:r>
              <a:rPr sz="1100" b="0">
                <a:solidFill>
                  <a:srgbClr val="1E1E24"/>
                </a:solidFill>
              </a:rPr>
              <a:t>What data, simulation, images, sensors, or precedents support the work?</a:t>
            </a:r>
          </a:p>
        </p:txBody>
      </p:sp>
      <p:sp>
        <p:nvSpPr>
          <p:cNvPr id="15" name="Rounded Rectangle 14"/>
          <p:cNvSpPr/>
          <p:nvPr/>
        </p:nvSpPr>
        <p:spPr>
          <a:xfrm>
            <a:off x="4160520" y="1508760"/>
            <a:ext cx="1664208" cy="1344176"/>
          </a:xfrm>
          <a:prstGeom prst="roundRect">
            <a:avLst/>
          </a:prstGeom>
          <a:solidFill>
            <a:srgbClr val="ECF5EF"/>
          </a:solidFill>
          <a:ln w="9525">
            <a:solidFill>
              <a:srgbClr val="D8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6" name="TextBox 15"/>
          <p:cNvSpPr txBox="1"/>
          <p:nvPr/>
        </p:nvSpPr>
        <p:spPr>
          <a:xfrm>
            <a:off x="4325112" y="1627631"/>
            <a:ext cx="1335024" cy="261610"/>
          </a:xfrm>
          <a:prstGeom prst="rect">
            <a:avLst/>
          </a:prstGeom>
          <a:noFill/>
        </p:spPr>
        <p:txBody>
          <a:bodyPr wrap="square">
            <a:spAutoFit/>
          </a:bodyPr>
          <a:lstStyle/>
          <a:p>
            <a:r>
              <a:rPr sz="1100" b="1">
                <a:solidFill>
                  <a:srgbClr val="4B2E83"/>
                </a:solidFill>
              </a:rPr>
              <a:t>3. AI method</a:t>
            </a:r>
          </a:p>
        </p:txBody>
      </p:sp>
      <p:sp>
        <p:nvSpPr>
          <p:cNvPr id="17" name="TextBox 16"/>
          <p:cNvSpPr txBox="1"/>
          <p:nvPr/>
        </p:nvSpPr>
        <p:spPr>
          <a:xfrm>
            <a:off x="4325112" y="1947672"/>
            <a:ext cx="1335024" cy="769441"/>
          </a:xfrm>
          <a:prstGeom prst="rect">
            <a:avLst/>
          </a:prstGeom>
          <a:noFill/>
        </p:spPr>
        <p:txBody>
          <a:bodyPr wrap="square">
            <a:spAutoFit/>
          </a:bodyPr>
          <a:lstStyle/>
          <a:p>
            <a:r>
              <a:rPr sz="1100" b="0">
                <a:solidFill>
                  <a:srgbClr val="1E1E24"/>
                </a:solidFill>
              </a:rPr>
              <a:t>What model or AI workflow is used, and why is it appropriate?</a:t>
            </a:r>
          </a:p>
        </p:txBody>
      </p:sp>
      <p:sp>
        <p:nvSpPr>
          <p:cNvPr id="19" name="Rounded Rectangle 18"/>
          <p:cNvSpPr/>
          <p:nvPr/>
        </p:nvSpPr>
        <p:spPr>
          <a:xfrm>
            <a:off x="5989320" y="1508760"/>
            <a:ext cx="1664208" cy="1344176"/>
          </a:xfrm>
          <a:prstGeom prst="roundRect">
            <a:avLst/>
          </a:prstGeom>
          <a:solidFill>
            <a:srgbClr val="FBF4E7"/>
          </a:solidFill>
          <a:ln w="9525">
            <a:solidFill>
              <a:srgbClr val="D8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20" name="TextBox 19"/>
          <p:cNvSpPr txBox="1"/>
          <p:nvPr/>
        </p:nvSpPr>
        <p:spPr>
          <a:xfrm>
            <a:off x="6153912" y="1627631"/>
            <a:ext cx="1335024" cy="261610"/>
          </a:xfrm>
          <a:prstGeom prst="rect">
            <a:avLst/>
          </a:prstGeom>
          <a:noFill/>
        </p:spPr>
        <p:txBody>
          <a:bodyPr wrap="square">
            <a:spAutoFit/>
          </a:bodyPr>
          <a:lstStyle/>
          <a:p>
            <a:r>
              <a:rPr sz="1100" b="1">
                <a:solidFill>
                  <a:srgbClr val="4B2E83"/>
                </a:solidFill>
              </a:rPr>
              <a:t>4. Evaluation</a:t>
            </a:r>
          </a:p>
        </p:txBody>
      </p:sp>
      <p:sp>
        <p:nvSpPr>
          <p:cNvPr id="21" name="TextBox 20"/>
          <p:cNvSpPr txBox="1"/>
          <p:nvPr/>
        </p:nvSpPr>
        <p:spPr>
          <a:xfrm>
            <a:off x="6153912" y="1947672"/>
            <a:ext cx="1335024" cy="769441"/>
          </a:xfrm>
          <a:prstGeom prst="rect">
            <a:avLst/>
          </a:prstGeom>
          <a:noFill/>
        </p:spPr>
        <p:txBody>
          <a:bodyPr wrap="square">
            <a:spAutoFit/>
          </a:bodyPr>
          <a:lstStyle/>
          <a:p>
            <a:r>
              <a:rPr sz="1100" b="0">
                <a:solidFill>
                  <a:srgbClr val="1E1E24"/>
                </a:solidFill>
              </a:rPr>
              <a:t>How do you test accuracy, validity, uncertainty, and usefulness?</a:t>
            </a:r>
          </a:p>
        </p:txBody>
      </p:sp>
      <p:sp>
        <p:nvSpPr>
          <p:cNvPr id="23" name="Rounded Rectangle 22"/>
          <p:cNvSpPr/>
          <p:nvPr/>
        </p:nvSpPr>
        <p:spPr>
          <a:xfrm>
            <a:off x="7818120" y="1508760"/>
            <a:ext cx="1664208" cy="1344176"/>
          </a:xfrm>
          <a:prstGeom prst="roundRect">
            <a:avLst/>
          </a:prstGeom>
          <a:solidFill>
            <a:srgbClr val="EAF2F8"/>
          </a:solidFill>
          <a:ln w="9525">
            <a:solidFill>
              <a:srgbClr val="D8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24" name="TextBox 23"/>
          <p:cNvSpPr txBox="1"/>
          <p:nvPr/>
        </p:nvSpPr>
        <p:spPr>
          <a:xfrm>
            <a:off x="7982712" y="1627631"/>
            <a:ext cx="1335024" cy="430887"/>
          </a:xfrm>
          <a:prstGeom prst="rect">
            <a:avLst/>
          </a:prstGeom>
          <a:noFill/>
        </p:spPr>
        <p:txBody>
          <a:bodyPr wrap="square">
            <a:spAutoFit/>
          </a:bodyPr>
          <a:lstStyle/>
          <a:p>
            <a:r>
              <a:rPr sz="1100" b="1">
                <a:solidFill>
                  <a:srgbClr val="4B2E83"/>
                </a:solidFill>
              </a:rPr>
              <a:t>5. Design implication</a:t>
            </a:r>
          </a:p>
        </p:txBody>
      </p:sp>
      <p:sp>
        <p:nvSpPr>
          <p:cNvPr id="25" name="TextBox 24"/>
          <p:cNvSpPr txBox="1"/>
          <p:nvPr/>
        </p:nvSpPr>
        <p:spPr>
          <a:xfrm>
            <a:off x="7982712" y="2042553"/>
            <a:ext cx="1335024" cy="769441"/>
          </a:xfrm>
          <a:prstGeom prst="rect">
            <a:avLst/>
          </a:prstGeom>
          <a:noFill/>
        </p:spPr>
        <p:txBody>
          <a:bodyPr wrap="square">
            <a:spAutoFit/>
          </a:bodyPr>
          <a:lstStyle/>
          <a:p>
            <a:r>
              <a:rPr sz="1100" b="0" dirty="0">
                <a:solidFill>
                  <a:srgbClr val="1E1E24"/>
                </a:solidFill>
              </a:rPr>
              <a:t>What design decision does the AI-informed result support?</a:t>
            </a:r>
          </a:p>
        </p:txBody>
      </p:sp>
      <p:sp>
        <p:nvSpPr>
          <p:cNvPr id="27" name="Rounded Rectangle 26"/>
          <p:cNvSpPr/>
          <p:nvPr/>
        </p:nvSpPr>
        <p:spPr>
          <a:xfrm>
            <a:off x="9646920" y="1508760"/>
            <a:ext cx="1664208" cy="1344176"/>
          </a:xfrm>
          <a:prstGeom prst="roundRect">
            <a:avLst/>
          </a:prstGeom>
          <a:solidFill>
            <a:srgbClr val="F1EDF7"/>
          </a:solidFill>
          <a:ln w="9525">
            <a:solidFill>
              <a:srgbClr val="D8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28" name="TextBox 27"/>
          <p:cNvSpPr txBox="1"/>
          <p:nvPr/>
        </p:nvSpPr>
        <p:spPr>
          <a:xfrm>
            <a:off x="9811512" y="1627631"/>
            <a:ext cx="1335024" cy="430887"/>
          </a:xfrm>
          <a:prstGeom prst="rect">
            <a:avLst/>
          </a:prstGeom>
          <a:noFill/>
        </p:spPr>
        <p:txBody>
          <a:bodyPr wrap="square">
            <a:spAutoFit/>
          </a:bodyPr>
          <a:lstStyle/>
          <a:p>
            <a:r>
              <a:rPr sz="1100" b="1" dirty="0">
                <a:solidFill>
                  <a:srgbClr val="4B2E83"/>
                </a:solidFill>
              </a:rPr>
              <a:t>6. Responsible use</a:t>
            </a:r>
          </a:p>
        </p:txBody>
      </p:sp>
      <p:sp>
        <p:nvSpPr>
          <p:cNvPr id="29" name="TextBox 28"/>
          <p:cNvSpPr txBox="1"/>
          <p:nvPr/>
        </p:nvSpPr>
        <p:spPr>
          <a:xfrm>
            <a:off x="9811512" y="2042553"/>
            <a:ext cx="1335024" cy="769441"/>
          </a:xfrm>
          <a:prstGeom prst="rect">
            <a:avLst/>
          </a:prstGeom>
          <a:noFill/>
        </p:spPr>
        <p:txBody>
          <a:bodyPr wrap="square">
            <a:spAutoFit/>
          </a:bodyPr>
          <a:lstStyle/>
          <a:p>
            <a:r>
              <a:rPr sz="1100" b="0" dirty="0">
                <a:solidFill>
                  <a:srgbClr val="1E1E24"/>
                </a:solidFill>
              </a:rPr>
              <a:t>What limits, risks, disclosures, and governance steps are required?</a:t>
            </a:r>
          </a:p>
        </p:txBody>
      </p:sp>
      <p:sp>
        <p:nvSpPr>
          <p:cNvPr id="30" name="TextBox 29"/>
          <p:cNvSpPr txBox="1"/>
          <p:nvPr/>
        </p:nvSpPr>
        <p:spPr>
          <a:xfrm>
            <a:off x="521207" y="3447288"/>
            <a:ext cx="9418320" cy="384721"/>
          </a:xfrm>
          <a:prstGeom prst="rect">
            <a:avLst/>
          </a:prstGeom>
          <a:noFill/>
        </p:spPr>
        <p:txBody>
          <a:bodyPr wrap="square">
            <a:spAutoFit/>
          </a:bodyPr>
          <a:lstStyle/>
          <a:p>
            <a:pPr algn="ctr"/>
            <a:r>
              <a:rPr sz="1900" b="1" dirty="0">
                <a:solidFill>
                  <a:srgbClr val="1E1E24"/>
                </a:solidFill>
              </a:rPr>
              <a:t>Responsible AI is not a final checkbox. It travels through the entire research chain.</a:t>
            </a:r>
          </a:p>
        </p:txBody>
      </p:sp>
      <p:sp>
        <p:nvSpPr>
          <p:cNvPr id="31" name="TextBox 30"/>
          <p:cNvSpPr txBox="1"/>
          <p:nvPr/>
        </p:nvSpPr>
        <p:spPr>
          <a:xfrm>
            <a:off x="630936" y="3855280"/>
            <a:ext cx="9052560" cy="1007968"/>
          </a:xfrm>
          <a:prstGeom prst="rect">
            <a:avLst/>
          </a:prstGeom>
          <a:noFill/>
        </p:spPr>
        <p:txBody>
          <a:bodyPr wrap="square">
            <a:spAutoFit/>
          </a:bodyPr>
          <a:lstStyle/>
          <a:p>
            <a:pPr>
              <a:spcAft>
                <a:spcPts val="300"/>
              </a:spcAft>
            </a:pPr>
            <a:r>
              <a:rPr sz="1300" b="0" dirty="0">
                <a:solidFill>
                  <a:srgbClr val="1E1E24"/>
                </a:solidFill>
              </a:rPr>
              <a:t>• The research question determines what the model is allowed to optimize or explain.</a:t>
            </a:r>
          </a:p>
          <a:p>
            <a:pPr>
              <a:spcAft>
                <a:spcPts val="300"/>
              </a:spcAft>
            </a:pPr>
            <a:r>
              <a:rPr sz="1300" b="0" dirty="0">
                <a:solidFill>
                  <a:srgbClr val="1E1E24"/>
                </a:solidFill>
              </a:rPr>
              <a:t>• The evidence base determines whose buildings, behaviors, climates, and values are visible.</a:t>
            </a:r>
          </a:p>
          <a:p>
            <a:pPr>
              <a:spcAft>
                <a:spcPts val="300"/>
              </a:spcAft>
            </a:pPr>
            <a:r>
              <a:rPr sz="1300" b="0" dirty="0">
                <a:solidFill>
                  <a:srgbClr val="1E1E24"/>
                </a:solidFill>
              </a:rPr>
              <a:t>• The evaluation strategy determines whether an AI result is credible enough to inform design.</a:t>
            </a:r>
          </a:p>
          <a:p>
            <a:pPr>
              <a:spcAft>
                <a:spcPts val="300"/>
              </a:spcAft>
            </a:pPr>
            <a:r>
              <a:rPr sz="1300" b="0" dirty="0">
                <a:solidFill>
                  <a:srgbClr val="1E1E24"/>
                </a:solidFill>
              </a:rPr>
              <a:t>• The discussion/limitations section determines how responsibly the work can be interpreted.</a:t>
            </a:r>
          </a:p>
        </p:txBody>
      </p:sp>
      <p:sp>
        <p:nvSpPr>
          <p:cNvPr id="10" name="Right Arrow 9"/>
          <p:cNvSpPr/>
          <p:nvPr/>
        </p:nvSpPr>
        <p:spPr>
          <a:xfrm>
            <a:off x="2130552" y="1892807"/>
            <a:ext cx="237744" cy="310896"/>
          </a:xfrm>
          <a:prstGeom prst="rightArrow">
            <a:avLst/>
          </a:prstGeom>
          <a:solidFill>
            <a:srgbClr val="D7CFE6"/>
          </a:solidFill>
          <a:ln>
            <a:solidFill>
              <a:srgbClr val="D7C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4" name="Right Arrow 13"/>
          <p:cNvSpPr/>
          <p:nvPr/>
        </p:nvSpPr>
        <p:spPr>
          <a:xfrm>
            <a:off x="3959352" y="1892807"/>
            <a:ext cx="237744" cy="310896"/>
          </a:xfrm>
          <a:prstGeom prst="rightArrow">
            <a:avLst/>
          </a:prstGeom>
          <a:solidFill>
            <a:srgbClr val="D7CFE6"/>
          </a:solidFill>
          <a:ln>
            <a:solidFill>
              <a:srgbClr val="D7C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8" name="Right Arrow 17"/>
          <p:cNvSpPr/>
          <p:nvPr/>
        </p:nvSpPr>
        <p:spPr>
          <a:xfrm>
            <a:off x="5788152" y="1892807"/>
            <a:ext cx="237744" cy="310896"/>
          </a:xfrm>
          <a:prstGeom prst="rightArrow">
            <a:avLst/>
          </a:prstGeom>
          <a:solidFill>
            <a:srgbClr val="D7CFE6"/>
          </a:solidFill>
          <a:ln>
            <a:solidFill>
              <a:srgbClr val="D7C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22" name="Right Arrow 21"/>
          <p:cNvSpPr/>
          <p:nvPr/>
        </p:nvSpPr>
        <p:spPr>
          <a:xfrm>
            <a:off x="7616952" y="1892807"/>
            <a:ext cx="237744" cy="310896"/>
          </a:xfrm>
          <a:prstGeom prst="rightArrow">
            <a:avLst/>
          </a:prstGeom>
          <a:solidFill>
            <a:srgbClr val="D7CFE6"/>
          </a:solidFill>
          <a:ln>
            <a:solidFill>
              <a:srgbClr val="D7C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26" name="Right Arrow 25"/>
          <p:cNvSpPr/>
          <p:nvPr/>
        </p:nvSpPr>
        <p:spPr>
          <a:xfrm>
            <a:off x="9445752" y="1892807"/>
            <a:ext cx="237744" cy="310896"/>
          </a:xfrm>
          <a:prstGeom prst="rightArrow">
            <a:avLst/>
          </a:prstGeom>
          <a:solidFill>
            <a:srgbClr val="D7CFE6"/>
          </a:solidFill>
          <a:ln>
            <a:solidFill>
              <a:srgbClr val="D7C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0698480" cy="477054"/>
          </a:xfrm>
          <a:prstGeom prst="rect">
            <a:avLst/>
          </a:prstGeom>
          <a:noFill/>
        </p:spPr>
        <p:txBody>
          <a:bodyPr wrap="square">
            <a:spAutoFit/>
          </a:bodyPr>
          <a:lstStyle/>
          <a:p>
            <a:r>
              <a:rPr sz="2500" b="1">
                <a:solidFill>
                  <a:srgbClr val="1E1E24"/>
                </a:solidFill>
              </a:rPr>
              <a:t>Where ethics enters the research workflow</a:t>
            </a:r>
          </a:p>
        </p:txBody>
      </p:sp>
      <p:sp>
        <p:nvSpPr>
          <p:cNvPr id="3" name="TextBox 2"/>
          <p:cNvSpPr txBox="1"/>
          <p:nvPr/>
        </p:nvSpPr>
        <p:spPr>
          <a:xfrm>
            <a:off x="521207" y="795528"/>
            <a:ext cx="9875520" cy="276999"/>
          </a:xfrm>
          <a:prstGeom prst="rect">
            <a:avLst/>
          </a:prstGeom>
          <a:noFill/>
        </p:spPr>
        <p:txBody>
          <a:bodyPr wrap="square">
            <a:spAutoFit/>
          </a:bodyPr>
          <a:lstStyle/>
          <a:p>
            <a:r>
              <a:rPr sz="1200" b="0" dirty="0">
                <a:solidFill>
                  <a:srgbClr val="5B5B66"/>
                </a:solidFill>
              </a:rPr>
              <a:t>Bias, data use, authorship, and governance should be discussed inside the research method</a:t>
            </a:r>
          </a:p>
        </p:txBody>
      </p:sp>
      <p:sp>
        <p:nvSpPr>
          <p:cNvPr id="7" name="Rounded Rectangle 6"/>
          <p:cNvSpPr/>
          <p:nvPr/>
        </p:nvSpPr>
        <p:spPr>
          <a:xfrm>
            <a:off x="548640" y="1916832"/>
            <a:ext cx="2423160" cy="2751192"/>
          </a:xfrm>
          <a:prstGeom prst="roundRect">
            <a:avLst/>
          </a:prstGeom>
          <a:solidFill>
            <a:srgbClr val="EAF2F8"/>
          </a:solidFill>
          <a:ln w="9525">
            <a:solidFill>
              <a:srgbClr val="D8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2035704"/>
            <a:ext cx="2093976" cy="307777"/>
          </a:xfrm>
          <a:prstGeom prst="rect">
            <a:avLst/>
          </a:prstGeom>
          <a:noFill/>
        </p:spPr>
        <p:txBody>
          <a:bodyPr wrap="square">
            <a:spAutoFit/>
          </a:bodyPr>
          <a:lstStyle/>
          <a:p>
            <a:r>
              <a:rPr sz="1400" b="1">
                <a:solidFill>
                  <a:srgbClr val="4B2E83"/>
                </a:solidFill>
              </a:rPr>
              <a:t>Research framing</a:t>
            </a:r>
          </a:p>
        </p:txBody>
      </p:sp>
      <p:sp>
        <p:nvSpPr>
          <p:cNvPr id="9" name="TextBox 8"/>
          <p:cNvSpPr txBox="1"/>
          <p:nvPr/>
        </p:nvSpPr>
        <p:spPr>
          <a:xfrm>
            <a:off x="713232" y="2355744"/>
            <a:ext cx="2093976" cy="1436291"/>
          </a:xfrm>
          <a:prstGeom prst="rect">
            <a:avLst/>
          </a:prstGeom>
          <a:noFill/>
        </p:spPr>
        <p:txBody>
          <a:bodyPr wrap="square">
            <a:spAutoFit/>
          </a:bodyPr>
          <a:lstStyle/>
          <a:p>
            <a:pPr>
              <a:spcAft>
                <a:spcPts val="200"/>
              </a:spcAft>
            </a:pPr>
            <a:r>
              <a:rPr sz="1400" b="0">
                <a:solidFill>
                  <a:srgbClr val="1E1E24"/>
                </a:solidFill>
              </a:rPr>
              <a:t>• Who benefits from this research question?</a:t>
            </a:r>
          </a:p>
          <a:p>
            <a:pPr>
              <a:spcAft>
                <a:spcPts val="200"/>
              </a:spcAft>
            </a:pPr>
            <a:r>
              <a:rPr sz="1400" b="0">
                <a:solidFill>
                  <a:srgbClr val="1E1E24"/>
                </a:solidFill>
              </a:rPr>
              <a:t>• What design values are prioritized?</a:t>
            </a:r>
          </a:p>
          <a:p>
            <a:pPr>
              <a:spcAft>
                <a:spcPts val="200"/>
              </a:spcAft>
            </a:pPr>
            <a:r>
              <a:rPr sz="1400" b="0">
                <a:solidFill>
                  <a:srgbClr val="1E1E24"/>
                </a:solidFill>
              </a:rPr>
              <a:t>• What values are difficult to measure?</a:t>
            </a:r>
          </a:p>
        </p:txBody>
      </p:sp>
      <p:sp>
        <p:nvSpPr>
          <p:cNvPr id="10" name="Rounded Rectangle 9"/>
          <p:cNvSpPr/>
          <p:nvPr/>
        </p:nvSpPr>
        <p:spPr>
          <a:xfrm>
            <a:off x="3291840" y="1916832"/>
            <a:ext cx="2423160" cy="2751192"/>
          </a:xfrm>
          <a:prstGeom prst="roundRect">
            <a:avLst/>
          </a:prstGeom>
          <a:solidFill>
            <a:srgbClr val="F1EDF7"/>
          </a:solidFill>
          <a:ln w="9525">
            <a:solidFill>
              <a:srgbClr val="D8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56432" y="2035704"/>
            <a:ext cx="2093976" cy="307777"/>
          </a:xfrm>
          <a:prstGeom prst="rect">
            <a:avLst/>
          </a:prstGeom>
          <a:noFill/>
        </p:spPr>
        <p:txBody>
          <a:bodyPr wrap="square">
            <a:spAutoFit/>
          </a:bodyPr>
          <a:lstStyle/>
          <a:p>
            <a:r>
              <a:rPr sz="1400" b="1">
                <a:solidFill>
                  <a:srgbClr val="4B2E83"/>
                </a:solidFill>
              </a:rPr>
              <a:t>Data + simulation</a:t>
            </a:r>
          </a:p>
        </p:txBody>
      </p:sp>
      <p:sp>
        <p:nvSpPr>
          <p:cNvPr id="12" name="TextBox 11"/>
          <p:cNvSpPr txBox="1"/>
          <p:nvPr/>
        </p:nvSpPr>
        <p:spPr>
          <a:xfrm>
            <a:off x="3456432" y="2355744"/>
            <a:ext cx="2093976" cy="1436291"/>
          </a:xfrm>
          <a:prstGeom prst="rect">
            <a:avLst/>
          </a:prstGeom>
          <a:noFill/>
        </p:spPr>
        <p:txBody>
          <a:bodyPr wrap="square">
            <a:spAutoFit/>
          </a:bodyPr>
          <a:lstStyle/>
          <a:p>
            <a:pPr>
              <a:spcAft>
                <a:spcPts val="200"/>
              </a:spcAft>
            </a:pPr>
            <a:r>
              <a:rPr sz="1400" b="0">
                <a:solidFill>
                  <a:srgbClr val="1E1E24"/>
                </a:solidFill>
              </a:rPr>
              <a:t>• What data are missing or over-represented?</a:t>
            </a:r>
          </a:p>
          <a:p>
            <a:pPr>
              <a:spcAft>
                <a:spcPts val="200"/>
              </a:spcAft>
            </a:pPr>
            <a:r>
              <a:rPr sz="1400" b="0">
                <a:solidFill>
                  <a:srgbClr val="1E1E24"/>
                </a:solidFill>
              </a:rPr>
              <a:t>• Are proxies being used responsibly?</a:t>
            </a:r>
          </a:p>
          <a:p>
            <a:pPr>
              <a:spcAft>
                <a:spcPts val="200"/>
              </a:spcAft>
            </a:pPr>
            <a:r>
              <a:rPr sz="1400" b="0">
                <a:solidFill>
                  <a:srgbClr val="1E1E24"/>
                </a:solidFill>
              </a:rPr>
              <a:t>• Is consent, privacy, or provenance relevant?</a:t>
            </a:r>
          </a:p>
        </p:txBody>
      </p:sp>
      <p:sp>
        <p:nvSpPr>
          <p:cNvPr id="13" name="Rounded Rectangle 12"/>
          <p:cNvSpPr/>
          <p:nvPr/>
        </p:nvSpPr>
        <p:spPr>
          <a:xfrm>
            <a:off x="6035040" y="1916832"/>
            <a:ext cx="2423160" cy="2751192"/>
          </a:xfrm>
          <a:prstGeom prst="roundRect">
            <a:avLst/>
          </a:prstGeom>
          <a:solidFill>
            <a:srgbClr val="ECF5EF"/>
          </a:solidFill>
          <a:ln w="9525">
            <a:solidFill>
              <a:srgbClr val="D8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99631" y="2035704"/>
            <a:ext cx="2093976" cy="307777"/>
          </a:xfrm>
          <a:prstGeom prst="rect">
            <a:avLst/>
          </a:prstGeom>
          <a:noFill/>
        </p:spPr>
        <p:txBody>
          <a:bodyPr wrap="square">
            <a:spAutoFit/>
          </a:bodyPr>
          <a:lstStyle/>
          <a:p>
            <a:r>
              <a:rPr sz="1400" b="1">
                <a:solidFill>
                  <a:srgbClr val="4B2E83"/>
                </a:solidFill>
              </a:rPr>
              <a:t>Model + evaluation</a:t>
            </a:r>
          </a:p>
        </p:txBody>
      </p:sp>
      <p:sp>
        <p:nvSpPr>
          <p:cNvPr id="15" name="TextBox 14"/>
          <p:cNvSpPr txBox="1"/>
          <p:nvPr/>
        </p:nvSpPr>
        <p:spPr>
          <a:xfrm>
            <a:off x="6199631" y="2355744"/>
            <a:ext cx="2093976" cy="1651734"/>
          </a:xfrm>
          <a:prstGeom prst="rect">
            <a:avLst/>
          </a:prstGeom>
          <a:noFill/>
        </p:spPr>
        <p:txBody>
          <a:bodyPr wrap="square">
            <a:spAutoFit/>
          </a:bodyPr>
          <a:lstStyle/>
          <a:p>
            <a:pPr>
              <a:spcAft>
                <a:spcPts val="200"/>
              </a:spcAft>
            </a:pPr>
            <a:r>
              <a:rPr sz="1400" b="0">
                <a:solidFill>
                  <a:srgbClr val="1E1E24"/>
                </a:solidFill>
              </a:rPr>
              <a:t>• Could the model learn artifacts or correlations?</a:t>
            </a:r>
          </a:p>
          <a:p>
            <a:pPr>
              <a:spcAft>
                <a:spcPts val="200"/>
              </a:spcAft>
            </a:pPr>
            <a:r>
              <a:rPr sz="1400" b="0">
                <a:solidFill>
                  <a:srgbClr val="1E1E24"/>
                </a:solidFill>
              </a:rPr>
              <a:t>• How are error, uncertainty, and limits reported?</a:t>
            </a:r>
          </a:p>
          <a:p>
            <a:pPr>
              <a:spcAft>
                <a:spcPts val="200"/>
              </a:spcAft>
            </a:pPr>
            <a:r>
              <a:rPr sz="1400" b="0">
                <a:solidFill>
                  <a:srgbClr val="1E1E24"/>
                </a:solidFill>
              </a:rPr>
              <a:t>• What baseline or validation is needed?</a:t>
            </a:r>
          </a:p>
        </p:txBody>
      </p:sp>
      <p:sp>
        <p:nvSpPr>
          <p:cNvPr id="16" name="Rounded Rectangle 15"/>
          <p:cNvSpPr/>
          <p:nvPr/>
        </p:nvSpPr>
        <p:spPr>
          <a:xfrm>
            <a:off x="8778240" y="1916832"/>
            <a:ext cx="2423160" cy="2751192"/>
          </a:xfrm>
          <a:prstGeom prst="roundRect">
            <a:avLst/>
          </a:prstGeom>
          <a:solidFill>
            <a:srgbClr val="FBF4E7"/>
          </a:solidFill>
          <a:ln w="9525">
            <a:solidFill>
              <a:srgbClr val="D8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42832" y="2035704"/>
            <a:ext cx="2093976" cy="307777"/>
          </a:xfrm>
          <a:prstGeom prst="rect">
            <a:avLst/>
          </a:prstGeom>
          <a:noFill/>
        </p:spPr>
        <p:txBody>
          <a:bodyPr wrap="square">
            <a:spAutoFit/>
          </a:bodyPr>
          <a:lstStyle/>
          <a:p>
            <a:r>
              <a:rPr sz="1400" b="1">
                <a:solidFill>
                  <a:srgbClr val="4B2E83"/>
                </a:solidFill>
              </a:rPr>
              <a:t>Design application</a:t>
            </a:r>
          </a:p>
        </p:txBody>
      </p:sp>
      <p:sp>
        <p:nvSpPr>
          <p:cNvPr id="18" name="TextBox 17"/>
          <p:cNvSpPr txBox="1"/>
          <p:nvPr/>
        </p:nvSpPr>
        <p:spPr>
          <a:xfrm>
            <a:off x="8942832" y="2355744"/>
            <a:ext cx="2093976" cy="1436291"/>
          </a:xfrm>
          <a:prstGeom prst="rect">
            <a:avLst/>
          </a:prstGeom>
          <a:noFill/>
        </p:spPr>
        <p:txBody>
          <a:bodyPr wrap="square">
            <a:spAutoFit/>
          </a:bodyPr>
          <a:lstStyle/>
          <a:p>
            <a:pPr>
              <a:spcAft>
                <a:spcPts val="200"/>
              </a:spcAft>
            </a:pPr>
            <a:r>
              <a:rPr sz="1400" b="0" dirty="0">
                <a:solidFill>
                  <a:srgbClr val="1E1E24"/>
                </a:solidFill>
              </a:rPr>
              <a:t>• Who interprets the outputs?</a:t>
            </a:r>
          </a:p>
          <a:p>
            <a:pPr>
              <a:spcAft>
                <a:spcPts val="200"/>
              </a:spcAft>
            </a:pPr>
            <a:r>
              <a:rPr sz="1400" b="0" dirty="0">
                <a:solidFill>
                  <a:srgbClr val="1E1E24"/>
                </a:solidFill>
              </a:rPr>
              <a:t>• What decisions should remain human-led?</a:t>
            </a:r>
          </a:p>
          <a:p>
            <a:pPr>
              <a:spcAft>
                <a:spcPts val="200"/>
              </a:spcAft>
            </a:pPr>
            <a:r>
              <a:rPr sz="1400" b="0" dirty="0">
                <a:solidFill>
                  <a:srgbClr val="1E1E24"/>
                </a:solidFill>
              </a:rPr>
              <a:t>• What disclosure or governance is needed?</a:t>
            </a:r>
          </a:p>
        </p:txBody>
      </p:sp>
      <p:sp>
        <p:nvSpPr>
          <p:cNvPr id="19" name="TextBox 18"/>
          <p:cNvSpPr txBox="1"/>
          <p:nvPr/>
        </p:nvSpPr>
        <p:spPr>
          <a:xfrm>
            <a:off x="868680" y="5257800"/>
            <a:ext cx="9875520" cy="523220"/>
          </a:xfrm>
          <a:prstGeom prst="rect">
            <a:avLst/>
          </a:prstGeom>
          <a:noFill/>
        </p:spPr>
        <p:txBody>
          <a:bodyPr wrap="square">
            <a:spAutoFit/>
          </a:bodyPr>
          <a:lstStyle/>
          <a:p>
            <a:pPr algn="ctr"/>
            <a:r>
              <a:rPr sz="1400" b="1">
                <a:solidFill>
                  <a:srgbClr val="4B2E83"/>
                </a:solidFill>
              </a:rPr>
              <a:t>For final projects, ethical reasoning should be visible in the methodology and discussion—not only in a separate paragraph at the end.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0698480" cy="477054"/>
          </a:xfrm>
          <a:prstGeom prst="rect">
            <a:avLst/>
          </a:prstGeom>
          <a:noFill/>
        </p:spPr>
        <p:txBody>
          <a:bodyPr wrap="square">
            <a:spAutoFit/>
          </a:bodyPr>
          <a:lstStyle/>
          <a:p>
            <a:r>
              <a:rPr sz="2500" b="1">
                <a:solidFill>
                  <a:srgbClr val="1E1E24"/>
                </a:solidFill>
              </a:rPr>
              <a:t>Architecture-specific examples for your projects</a:t>
            </a:r>
          </a:p>
        </p:txBody>
      </p:sp>
      <p:sp>
        <p:nvSpPr>
          <p:cNvPr id="3" name="TextBox 2"/>
          <p:cNvSpPr txBox="1"/>
          <p:nvPr/>
        </p:nvSpPr>
        <p:spPr>
          <a:xfrm>
            <a:off x="521207" y="795528"/>
            <a:ext cx="9875520" cy="273921"/>
          </a:xfrm>
          <a:prstGeom prst="rect">
            <a:avLst/>
          </a:prstGeom>
          <a:noFill/>
        </p:spPr>
        <p:txBody>
          <a:bodyPr wrap="square">
            <a:spAutoFit/>
          </a:bodyPr>
          <a:lstStyle/>
          <a:p>
            <a:r>
              <a:rPr sz="1180" b="0">
                <a:solidFill>
                  <a:srgbClr val="5B5B66"/>
                </a:solidFill>
              </a:rPr>
              <a:t>Use the ethical question that matches the AI method and performance-driven design challenge</a:t>
            </a:r>
          </a:p>
        </p:txBody>
      </p:sp>
      <p:sp>
        <p:nvSpPr>
          <p:cNvPr id="7" name="TextBox 6"/>
          <p:cNvSpPr txBox="1"/>
          <p:nvPr/>
        </p:nvSpPr>
        <p:spPr>
          <a:xfrm>
            <a:off x="757808" y="1521023"/>
            <a:ext cx="2377440" cy="276999"/>
          </a:xfrm>
          <a:prstGeom prst="rect">
            <a:avLst/>
          </a:prstGeom>
          <a:noFill/>
        </p:spPr>
        <p:txBody>
          <a:bodyPr wrap="square">
            <a:spAutoFit/>
          </a:bodyPr>
          <a:lstStyle/>
          <a:p>
            <a:r>
              <a:rPr sz="1200" b="1">
                <a:solidFill>
                  <a:srgbClr val="4B2E83"/>
                </a:solidFill>
              </a:rPr>
              <a:t>Project type</a:t>
            </a:r>
          </a:p>
        </p:txBody>
      </p:sp>
      <p:sp>
        <p:nvSpPr>
          <p:cNvPr id="8" name="TextBox 7"/>
          <p:cNvSpPr txBox="1"/>
          <p:nvPr/>
        </p:nvSpPr>
        <p:spPr>
          <a:xfrm>
            <a:off x="3318128" y="1521023"/>
            <a:ext cx="3200400" cy="276999"/>
          </a:xfrm>
          <a:prstGeom prst="rect">
            <a:avLst/>
          </a:prstGeom>
          <a:noFill/>
        </p:spPr>
        <p:txBody>
          <a:bodyPr wrap="square">
            <a:spAutoFit/>
          </a:bodyPr>
          <a:lstStyle/>
          <a:p>
            <a:r>
              <a:rPr sz="1200" b="1">
                <a:solidFill>
                  <a:srgbClr val="4B2E83"/>
                </a:solidFill>
              </a:rPr>
              <a:t>Performance-driven design challenge</a:t>
            </a:r>
          </a:p>
        </p:txBody>
      </p:sp>
      <p:sp>
        <p:nvSpPr>
          <p:cNvPr id="9" name="TextBox 8"/>
          <p:cNvSpPr txBox="1"/>
          <p:nvPr/>
        </p:nvSpPr>
        <p:spPr>
          <a:xfrm>
            <a:off x="6701408" y="1521023"/>
            <a:ext cx="3886200" cy="276999"/>
          </a:xfrm>
          <a:prstGeom prst="rect">
            <a:avLst/>
          </a:prstGeom>
          <a:noFill/>
        </p:spPr>
        <p:txBody>
          <a:bodyPr wrap="square">
            <a:spAutoFit/>
          </a:bodyPr>
          <a:lstStyle/>
          <a:p>
            <a:r>
              <a:rPr sz="1200" b="1">
                <a:solidFill>
                  <a:srgbClr val="4B2E83"/>
                </a:solidFill>
              </a:rPr>
              <a:t>Ethical / governance question</a:t>
            </a:r>
          </a:p>
        </p:txBody>
      </p:sp>
      <p:sp>
        <p:nvSpPr>
          <p:cNvPr id="10" name="Rectangle 9"/>
          <p:cNvSpPr/>
          <p:nvPr/>
        </p:nvSpPr>
        <p:spPr>
          <a:xfrm>
            <a:off x="666368" y="1804487"/>
            <a:ext cx="10012680" cy="713232"/>
          </a:xfrm>
          <a:prstGeom prst="rect">
            <a:avLst/>
          </a:prstGeom>
          <a:solidFill>
            <a:srgbClr val="EAF2F8"/>
          </a:solidFill>
          <a:ln w="9525">
            <a:solidFill>
              <a:srgbClr val="E0DD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1" name="TextBox 10"/>
          <p:cNvSpPr txBox="1"/>
          <p:nvPr/>
        </p:nvSpPr>
        <p:spPr>
          <a:xfrm>
            <a:off x="803528" y="1914215"/>
            <a:ext cx="2331720" cy="461665"/>
          </a:xfrm>
          <a:prstGeom prst="rect">
            <a:avLst/>
          </a:prstGeom>
          <a:noFill/>
        </p:spPr>
        <p:txBody>
          <a:bodyPr wrap="square">
            <a:spAutoFit/>
          </a:bodyPr>
          <a:lstStyle/>
          <a:p>
            <a:r>
              <a:rPr sz="1200" b="1">
                <a:solidFill>
                  <a:srgbClr val="1E1E24"/>
                </a:solidFill>
              </a:rPr>
              <a:t>Computer vision for facades/materials</a:t>
            </a:r>
          </a:p>
        </p:txBody>
      </p:sp>
      <p:sp>
        <p:nvSpPr>
          <p:cNvPr id="12" name="TextBox 11"/>
          <p:cNvSpPr txBox="1"/>
          <p:nvPr/>
        </p:nvSpPr>
        <p:spPr>
          <a:xfrm>
            <a:off x="3318128" y="1895927"/>
            <a:ext cx="3063240" cy="276999"/>
          </a:xfrm>
          <a:prstGeom prst="rect">
            <a:avLst/>
          </a:prstGeom>
          <a:noFill/>
        </p:spPr>
        <p:txBody>
          <a:bodyPr wrap="square">
            <a:spAutoFit/>
          </a:bodyPr>
          <a:lstStyle/>
          <a:p>
            <a:r>
              <a:rPr sz="1200" b="0">
                <a:solidFill>
                  <a:srgbClr val="1E1E24"/>
                </a:solidFill>
              </a:rPr>
              <a:t>Improve envelope, solar, or retrofit analysis</a:t>
            </a:r>
          </a:p>
        </p:txBody>
      </p:sp>
      <p:sp>
        <p:nvSpPr>
          <p:cNvPr id="13" name="TextBox 12"/>
          <p:cNvSpPr txBox="1"/>
          <p:nvPr/>
        </p:nvSpPr>
        <p:spPr>
          <a:xfrm>
            <a:off x="6655688" y="1895927"/>
            <a:ext cx="3886200" cy="461665"/>
          </a:xfrm>
          <a:prstGeom prst="rect">
            <a:avLst/>
          </a:prstGeom>
          <a:noFill/>
        </p:spPr>
        <p:txBody>
          <a:bodyPr wrap="square">
            <a:spAutoFit/>
          </a:bodyPr>
          <a:lstStyle/>
          <a:p>
            <a:r>
              <a:rPr sz="1200" b="0">
                <a:solidFill>
                  <a:srgbClr val="1E1E24"/>
                </a:solidFill>
              </a:rPr>
              <a:t>Whose neighborhoods and facade conditions are represented in the image data?</a:t>
            </a:r>
          </a:p>
        </p:txBody>
      </p:sp>
      <p:sp>
        <p:nvSpPr>
          <p:cNvPr id="14" name="Rectangle 13"/>
          <p:cNvSpPr/>
          <p:nvPr/>
        </p:nvSpPr>
        <p:spPr>
          <a:xfrm>
            <a:off x="666368" y="2590871"/>
            <a:ext cx="10012680" cy="713232"/>
          </a:xfrm>
          <a:prstGeom prst="rect">
            <a:avLst/>
          </a:prstGeom>
          <a:solidFill>
            <a:srgbClr val="F1EDF7"/>
          </a:solidFill>
          <a:ln w="9525">
            <a:solidFill>
              <a:srgbClr val="E0DD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5" name="TextBox 14"/>
          <p:cNvSpPr txBox="1"/>
          <p:nvPr/>
        </p:nvSpPr>
        <p:spPr>
          <a:xfrm>
            <a:off x="803528" y="2700599"/>
            <a:ext cx="2331720" cy="461665"/>
          </a:xfrm>
          <a:prstGeom prst="rect">
            <a:avLst/>
          </a:prstGeom>
          <a:noFill/>
        </p:spPr>
        <p:txBody>
          <a:bodyPr wrap="square">
            <a:spAutoFit/>
          </a:bodyPr>
          <a:lstStyle/>
          <a:p>
            <a:r>
              <a:rPr sz="1200" b="1">
                <a:solidFill>
                  <a:srgbClr val="1E1E24"/>
                </a:solidFill>
              </a:rPr>
              <a:t>ML surrogate for energy/daylight</a:t>
            </a:r>
          </a:p>
        </p:txBody>
      </p:sp>
      <p:sp>
        <p:nvSpPr>
          <p:cNvPr id="16" name="TextBox 15"/>
          <p:cNvSpPr txBox="1"/>
          <p:nvPr/>
        </p:nvSpPr>
        <p:spPr>
          <a:xfrm>
            <a:off x="3318128" y="2682311"/>
            <a:ext cx="3063240" cy="461665"/>
          </a:xfrm>
          <a:prstGeom prst="rect">
            <a:avLst/>
          </a:prstGeom>
          <a:noFill/>
        </p:spPr>
        <p:txBody>
          <a:bodyPr wrap="square">
            <a:spAutoFit/>
          </a:bodyPr>
          <a:lstStyle/>
          <a:p>
            <a:r>
              <a:rPr sz="1200" b="0">
                <a:solidFill>
                  <a:srgbClr val="1E1E24"/>
                </a:solidFill>
              </a:rPr>
              <a:t>Accelerate scenario testing and design iteration</a:t>
            </a:r>
          </a:p>
        </p:txBody>
      </p:sp>
      <p:sp>
        <p:nvSpPr>
          <p:cNvPr id="17" name="TextBox 16"/>
          <p:cNvSpPr txBox="1"/>
          <p:nvPr/>
        </p:nvSpPr>
        <p:spPr>
          <a:xfrm>
            <a:off x="6655688" y="2682311"/>
            <a:ext cx="3886200" cy="461665"/>
          </a:xfrm>
          <a:prstGeom prst="rect">
            <a:avLst/>
          </a:prstGeom>
          <a:noFill/>
        </p:spPr>
        <p:txBody>
          <a:bodyPr wrap="square">
            <a:spAutoFit/>
          </a:bodyPr>
          <a:lstStyle/>
          <a:p>
            <a:r>
              <a:rPr sz="1200" b="0">
                <a:solidFill>
                  <a:srgbClr val="1E1E24"/>
                </a:solidFill>
              </a:rPr>
              <a:t>Is the synthetic/simulation data broad enough, and are errors reported honestly?</a:t>
            </a:r>
          </a:p>
        </p:txBody>
      </p:sp>
      <p:sp>
        <p:nvSpPr>
          <p:cNvPr id="18" name="Rectangle 17"/>
          <p:cNvSpPr/>
          <p:nvPr/>
        </p:nvSpPr>
        <p:spPr>
          <a:xfrm>
            <a:off x="666368" y="3377254"/>
            <a:ext cx="10012680" cy="713232"/>
          </a:xfrm>
          <a:prstGeom prst="rect">
            <a:avLst/>
          </a:prstGeom>
          <a:solidFill>
            <a:srgbClr val="ECF5EF"/>
          </a:solidFill>
          <a:ln w="9525">
            <a:solidFill>
              <a:srgbClr val="E0DD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9" name="TextBox 18"/>
          <p:cNvSpPr txBox="1"/>
          <p:nvPr/>
        </p:nvSpPr>
        <p:spPr>
          <a:xfrm>
            <a:off x="803528" y="3486983"/>
            <a:ext cx="2331720" cy="276999"/>
          </a:xfrm>
          <a:prstGeom prst="rect">
            <a:avLst/>
          </a:prstGeom>
          <a:noFill/>
        </p:spPr>
        <p:txBody>
          <a:bodyPr wrap="square">
            <a:spAutoFit/>
          </a:bodyPr>
          <a:lstStyle/>
          <a:p>
            <a:r>
              <a:rPr sz="1200" b="1">
                <a:solidFill>
                  <a:srgbClr val="1E1E24"/>
                </a:solidFill>
              </a:rPr>
              <a:t>RL or optimization workflow</a:t>
            </a:r>
          </a:p>
        </p:txBody>
      </p:sp>
      <p:sp>
        <p:nvSpPr>
          <p:cNvPr id="20" name="TextBox 19"/>
          <p:cNvSpPr txBox="1"/>
          <p:nvPr/>
        </p:nvSpPr>
        <p:spPr>
          <a:xfrm>
            <a:off x="3318128" y="3468694"/>
            <a:ext cx="3063240" cy="461665"/>
          </a:xfrm>
          <a:prstGeom prst="rect">
            <a:avLst/>
          </a:prstGeom>
          <a:noFill/>
        </p:spPr>
        <p:txBody>
          <a:bodyPr wrap="square">
            <a:spAutoFit/>
          </a:bodyPr>
          <a:lstStyle/>
          <a:p>
            <a:r>
              <a:rPr sz="1200" b="0">
                <a:solidFill>
                  <a:srgbClr val="1E1E24"/>
                </a:solidFill>
              </a:rPr>
              <a:t>Search for better design decisions under constraints</a:t>
            </a:r>
          </a:p>
        </p:txBody>
      </p:sp>
      <p:sp>
        <p:nvSpPr>
          <p:cNvPr id="21" name="TextBox 20"/>
          <p:cNvSpPr txBox="1"/>
          <p:nvPr/>
        </p:nvSpPr>
        <p:spPr>
          <a:xfrm>
            <a:off x="6655688" y="3468694"/>
            <a:ext cx="3886200" cy="461665"/>
          </a:xfrm>
          <a:prstGeom prst="rect">
            <a:avLst/>
          </a:prstGeom>
          <a:noFill/>
        </p:spPr>
        <p:txBody>
          <a:bodyPr wrap="square">
            <a:spAutoFit/>
          </a:bodyPr>
          <a:lstStyle/>
          <a:p>
            <a:r>
              <a:rPr sz="1200" b="0">
                <a:solidFill>
                  <a:srgbClr val="1E1E24"/>
                </a:solidFill>
              </a:rPr>
              <a:t>What value conflicts are embedded in the reward function or objective?</a:t>
            </a:r>
          </a:p>
        </p:txBody>
      </p:sp>
      <p:sp>
        <p:nvSpPr>
          <p:cNvPr id="22" name="Rectangle 21"/>
          <p:cNvSpPr/>
          <p:nvPr/>
        </p:nvSpPr>
        <p:spPr>
          <a:xfrm>
            <a:off x="666368" y="4163639"/>
            <a:ext cx="10012680" cy="713232"/>
          </a:xfrm>
          <a:prstGeom prst="rect">
            <a:avLst/>
          </a:prstGeom>
          <a:solidFill>
            <a:srgbClr val="FBF4E7"/>
          </a:solidFill>
          <a:ln w="9525">
            <a:solidFill>
              <a:srgbClr val="E0DD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3" name="TextBox 22"/>
          <p:cNvSpPr txBox="1"/>
          <p:nvPr/>
        </p:nvSpPr>
        <p:spPr>
          <a:xfrm>
            <a:off x="803528" y="4273366"/>
            <a:ext cx="2331720" cy="276999"/>
          </a:xfrm>
          <a:prstGeom prst="rect">
            <a:avLst/>
          </a:prstGeom>
          <a:noFill/>
        </p:spPr>
        <p:txBody>
          <a:bodyPr wrap="square">
            <a:spAutoFit/>
          </a:bodyPr>
          <a:lstStyle/>
          <a:p>
            <a:r>
              <a:rPr sz="1200" b="1">
                <a:solidFill>
                  <a:srgbClr val="1E1E24"/>
                </a:solidFill>
              </a:rPr>
              <a:t>Agentic design assistant</a:t>
            </a:r>
          </a:p>
        </p:txBody>
      </p:sp>
      <p:sp>
        <p:nvSpPr>
          <p:cNvPr id="24" name="TextBox 23"/>
          <p:cNvSpPr txBox="1"/>
          <p:nvPr/>
        </p:nvSpPr>
        <p:spPr>
          <a:xfrm>
            <a:off x="3318128" y="4255078"/>
            <a:ext cx="3063240" cy="461665"/>
          </a:xfrm>
          <a:prstGeom prst="rect">
            <a:avLst/>
          </a:prstGeom>
          <a:noFill/>
        </p:spPr>
        <p:txBody>
          <a:bodyPr wrap="square">
            <a:spAutoFit/>
          </a:bodyPr>
          <a:lstStyle/>
          <a:p>
            <a:r>
              <a:rPr sz="1200" b="0">
                <a:solidFill>
                  <a:srgbClr val="1E1E24"/>
                </a:solidFill>
              </a:rPr>
              <a:t>Coordinate generation, prediction, reasoning, and selection</a:t>
            </a:r>
          </a:p>
        </p:txBody>
      </p:sp>
      <p:sp>
        <p:nvSpPr>
          <p:cNvPr id="25" name="TextBox 24"/>
          <p:cNvSpPr txBox="1"/>
          <p:nvPr/>
        </p:nvSpPr>
        <p:spPr>
          <a:xfrm>
            <a:off x="6655688" y="4255078"/>
            <a:ext cx="3886200" cy="461665"/>
          </a:xfrm>
          <a:prstGeom prst="rect">
            <a:avLst/>
          </a:prstGeom>
          <a:noFill/>
        </p:spPr>
        <p:txBody>
          <a:bodyPr wrap="square">
            <a:spAutoFit/>
          </a:bodyPr>
          <a:lstStyle/>
          <a:p>
            <a:r>
              <a:rPr sz="1200" b="0">
                <a:solidFill>
                  <a:srgbClr val="1E1E24"/>
                </a:solidFill>
              </a:rPr>
              <a:t>What actions can the agent take, and where must human review intervene?</a:t>
            </a:r>
          </a:p>
        </p:txBody>
      </p:sp>
      <p:sp>
        <p:nvSpPr>
          <p:cNvPr id="26" name="Rectangle 25"/>
          <p:cNvSpPr/>
          <p:nvPr/>
        </p:nvSpPr>
        <p:spPr>
          <a:xfrm>
            <a:off x="666368" y="4950023"/>
            <a:ext cx="10012680" cy="713232"/>
          </a:xfrm>
          <a:prstGeom prst="rect">
            <a:avLst/>
          </a:prstGeom>
          <a:solidFill>
            <a:srgbClr val="EAF2F8"/>
          </a:solidFill>
          <a:ln w="9525">
            <a:solidFill>
              <a:srgbClr val="E0DD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7" name="TextBox 26"/>
          <p:cNvSpPr txBox="1"/>
          <p:nvPr/>
        </p:nvSpPr>
        <p:spPr>
          <a:xfrm>
            <a:off x="803528" y="5059751"/>
            <a:ext cx="2331720" cy="461665"/>
          </a:xfrm>
          <a:prstGeom prst="rect">
            <a:avLst/>
          </a:prstGeom>
          <a:noFill/>
        </p:spPr>
        <p:txBody>
          <a:bodyPr wrap="square">
            <a:spAutoFit/>
          </a:bodyPr>
          <a:lstStyle/>
          <a:p>
            <a:r>
              <a:rPr sz="1200" b="1">
                <a:solidFill>
                  <a:srgbClr val="1E1E24"/>
                </a:solidFill>
              </a:rPr>
              <a:t>Human-centered AI / wellbeing</a:t>
            </a:r>
          </a:p>
        </p:txBody>
      </p:sp>
      <p:sp>
        <p:nvSpPr>
          <p:cNvPr id="28" name="TextBox 27"/>
          <p:cNvSpPr txBox="1"/>
          <p:nvPr/>
        </p:nvSpPr>
        <p:spPr>
          <a:xfrm>
            <a:off x="3318128" y="5041463"/>
            <a:ext cx="3063240" cy="461665"/>
          </a:xfrm>
          <a:prstGeom prst="rect">
            <a:avLst/>
          </a:prstGeom>
          <a:noFill/>
        </p:spPr>
        <p:txBody>
          <a:bodyPr wrap="square">
            <a:spAutoFit/>
          </a:bodyPr>
          <a:lstStyle/>
          <a:p>
            <a:r>
              <a:rPr sz="1200" b="0">
                <a:solidFill>
                  <a:srgbClr val="1E1E24"/>
                </a:solidFill>
              </a:rPr>
              <a:t>Connect spatial features to comfort, health, or feedback</a:t>
            </a:r>
          </a:p>
        </p:txBody>
      </p:sp>
      <p:sp>
        <p:nvSpPr>
          <p:cNvPr id="29" name="TextBox 28"/>
          <p:cNvSpPr txBox="1"/>
          <p:nvPr/>
        </p:nvSpPr>
        <p:spPr>
          <a:xfrm>
            <a:off x="6655688" y="5041463"/>
            <a:ext cx="3886200" cy="461665"/>
          </a:xfrm>
          <a:prstGeom prst="rect">
            <a:avLst/>
          </a:prstGeom>
          <a:noFill/>
        </p:spPr>
        <p:txBody>
          <a:bodyPr wrap="square">
            <a:spAutoFit/>
          </a:bodyPr>
          <a:lstStyle/>
          <a:p>
            <a:r>
              <a:rPr sz="1200" b="0">
                <a:solidFill>
                  <a:srgbClr val="1E1E24"/>
                </a:solidFill>
              </a:rPr>
              <a:t>What consent, privacy, proxy, and interpretation risks arise from human data?</a:t>
            </a:r>
          </a:p>
        </p:txBody>
      </p:sp>
      <p:sp>
        <p:nvSpPr>
          <p:cNvPr id="30" name="TextBox 29"/>
          <p:cNvSpPr txBox="1"/>
          <p:nvPr/>
        </p:nvSpPr>
        <p:spPr>
          <a:xfrm>
            <a:off x="502920" y="5908583"/>
            <a:ext cx="10317400" cy="307777"/>
          </a:xfrm>
          <a:prstGeom prst="rect">
            <a:avLst/>
          </a:prstGeom>
          <a:noFill/>
        </p:spPr>
        <p:txBody>
          <a:bodyPr wrap="square">
            <a:spAutoFit/>
          </a:bodyPr>
          <a:lstStyle/>
          <a:p>
            <a:pPr algn="ctr"/>
            <a:r>
              <a:rPr sz="1400" b="1" dirty="0">
                <a:solidFill>
                  <a:srgbClr val="4B2E83"/>
                </a:solidFill>
              </a:rPr>
              <a:t>What is the highest-risk assumption in your project, and how will you make it visible?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Bias is not only a data problem</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180" dirty="0">
                <a:solidFill>
                  <a:srgbClr val="5B5B66"/>
                </a:solidFill>
                <a:ea typeface="Aptos" pitchFamily="34" charset="-122"/>
                <a:cs typeface="Aptos" pitchFamily="34" charset="-120"/>
              </a:rPr>
              <a:t>Bias can enter at multiple points in the AI workflow</a:t>
            </a:r>
            <a:endParaRPr lang="en-US" sz="1180" dirty="0"/>
          </a:p>
        </p:txBody>
      </p:sp>
      <p:sp>
        <p:nvSpPr>
          <p:cNvPr id="11" name="Shape 9"/>
          <p:cNvSpPr/>
          <p:nvPr/>
        </p:nvSpPr>
        <p:spPr>
          <a:xfrm>
            <a:off x="5138928" y="2953512"/>
            <a:ext cx="1883664" cy="950976"/>
          </a:xfrm>
          <a:prstGeom prst="ellipse">
            <a:avLst/>
          </a:prstGeom>
          <a:solidFill>
            <a:srgbClr val="4B2E83"/>
          </a:solidFill>
          <a:ln w="12700">
            <a:solidFill>
              <a:srgbClr val="4B2E83"/>
            </a:solidFill>
            <a:prstDash val="solid"/>
          </a:ln>
        </p:spPr>
        <p:txBody>
          <a:bodyPr/>
          <a:lstStyle/>
          <a:p>
            <a:endParaRPr sz="1300"/>
          </a:p>
        </p:txBody>
      </p:sp>
      <p:sp>
        <p:nvSpPr>
          <p:cNvPr id="12" name="Text 10"/>
          <p:cNvSpPr/>
          <p:nvPr/>
        </p:nvSpPr>
        <p:spPr>
          <a:xfrm>
            <a:off x="5394960" y="3200400"/>
            <a:ext cx="1371600" cy="411480"/>
          </a:xfrm>
          <a:prstGeom prst="rect">
            <a:avLst/>
          </a:prstGeom>
          <a:noFill/>
          <a:ln/>
        </p:spPr>
        <p:txBody>
          <a:bodyPr wrap="square" lIns="762" tIns="762" rIns="762" bIns="762" rtlCol="0" anchor="t">
            <a:normAutofit/>
          </a:bodyPr>
          <a:lstStyle/>
          <a:p>
            <a:pPr marL="0" indent="0" algn="ctr">
              <a:lnSpc>
                <a:spcPct val="95000"/>
              </a:lnSpc>
              <a:buNone/>
            </a:pPr>
            <a:r>
              <a:rPr lang="en-US" sz="1300" b="1" dirty="0">
                <a:solidFill>
                  <a:srgbClr val="FFFFFF"/>
                </a:solidFill>
                <a:ea typeface="Aptos" pitchFamily="34" charset="-122"/>
                <a:cs typeface="Aptos" pitchFamily="34" charset="-120"/>
              </a:rPr>
              <a:t>Bias</a:t>
            </a:r>
            <a:endParaRPr lang="en-US" sz="1300" dirty="0"/>
          </a:p>
          <a:p>
            <a:pPr marL="0" indent="0" algn="ctr">
              <a:lnSpc>
                <a:spcPct val="95000"/>
              </a:lnSpc>
              <a:buNone/>
            </a:pPr>
            <a:r>
              <a:rPr lang="en-US" sz="1300" b="1" dirty="0">
                <a:solidFill>
                  <a:srgbClr val="FFFFFF"/>
                </a:solidFill>
                <a:ea typeface="Aptos" pitchFamily="34" charset="-122"/>
                <a:cs typeface="Aptos" pitchFamily="34" charset="-120"/>
              </a:rPr>
              <a:t>points</a:t>
            </a:r>
            <a:endParaRPr lang="en-US" sz="1300" dirty="0"/>
          </a:p>
        </p:txBody>
      </p:sp>
      <p:sp>
        <p:nvSpPr>
          <p:cNvPr id="13" name="Shape 11"/>
          <p:cNvSpPr/>
          <p:nvPr/>
        </p:nvSpPr>
        <p:spPr>
          <a:xfrm>
            <a:off x="5120640" y="1078992"/>
            <a:ext cx="1920240" cy="585216"/>
          </a:xfrm>
          <a:prstGeom prst="roundRect">
            <a:avLst>
              <a:gd name="adj" fmla="val 9375"/>
            </a:avLst>
          </a:prstGeom>
          <a:solidFill>
            <a:srgbClr val="EEE9F7"/>
          </a:solidFill>
          <a:ln w="12700">
            <a:solidFill>
              <a:srgbClr val="EEE9F7"/>
            </a:solidFill>
            <a:prstDash val="solid"/>
          </a:ln>
        </p:spPr>
        <p:txBody>
          <a:bodyPr/>
          <a:lstStyle/>
          <a:p>
            <a:endParaRPr sz="1300"/>
          </a:p>
        </p:txBody>
      </p:sp>
      <p:sp>
        <p:nvSpPr>
          <p:cNvPr id="14" name="Text 12"/>
          <p:cNvSpPr/>
          <p:nvPr/>
        </p:nvSpPr>
        <p:spPr>
          <a:xfrm>
            <a:off x="5193792" y="1243584"/>
            <a:ext cx="1773936" cy="146304"/>
          </a:xfrm>
          <a:prstGeom prst="rect">
            <a:avLst/>
          </a:prstGeom>
          <a:noFill/>
          <a:ln/>
        </p:spPr>
        <p:txBody>
          <a:bodyPr wrap="square" lIns="762" tIns="762" rIns="762" bIns="762" rtlCol="0" anchor="t">
            <a:noAutofit/>
          </a:bodyPr>
          <a:lstStyle/>
          <a:p>
            <a:pPr marL="0" indent="0" algn="ctr">
              <a:lnSpc>
                <a:spcPct val="95000"/>
              </a:lnSpc>
              <a:buNone/>
            </a:pPr>
            <a:r>
              <a:rPr lang="en-US" sz="1300" b="1" dirty="0">
                <a:solidFill>
                  <a:srgbClr val="1E1E24"/>
                </a:solidFill>
                <a:ea typeface="Aptos" pitchFamily="34" charset="-122"/>
                <a:cs typeface="Aptos" pitchFamily="34" charset="-120"/>
              </a:rPr>
              <a:t>Problem framing</a:t>
            </a:r>
            <a:endParaRPr lang="en-US" sz="1300" dirty="0"/>
          </a:p>
        </p:txBody>
      </p:sp>
      <p:sp>
        <p:nvSpPr>
          <p:cNvPr id="15" name="Shape 13"/>
          <p:cNvSpPr/>
          <p:nvPr/>
        </p:nvSpPr>
        <p:spPr>
          <a:xfrm flipH="1">
            <a:off x="6080759" y="1371600"/>
            <a:ext cx="1" cy="1764792"/>
          </a:xfrm>
          <a:prstGeom prst="line">
            <a:avLst/>
          </a:prstGeom>
          <a:noFill/>
          <a:ln w="10160">
            <a:solidFill>
              <a:srgbClr val="B7A57A"/>
            </a:solidFill>
            <a:prstDash val="solid"/>
            <a:headEnd type="none"/>
            <a:tailEnd type="triangle"/>
          </a:ln>
        </p:spPr>
        <p:txBody>
          <a:bodyPr/>
          <a:lstStyle/>
          <a:p>
            <a:endParaRPr sz="1300"/>
          </a:p>
        </p:txBody>
      </p:sp>
      <p:sp>
        <p:nvSpPr>
          <p:cNvPr id="16" name="Shape 14"/>
          <p:cNvSpPr/>
          <p:nvPr/>
        </p:nvSpPr>
        <p:spPr>
          <a:xfrm>
            <a:off x="7771612" y="1681591"/>
            <a:ext cx="1920240" cy="585216"/>
          </a:xfrm>
          <a:prstGeom prst="roundRect">
            <a:avLst>
              <a:gd name="adj" fmla="val 9375"/>
            </a:avLst>
          </a:prstGeom>
          <a:solidFill>
            <a:srgbClr val="FFFFFF"/>
          </a:solidFill>
          <a:ln w="12700">
            <a:solidFill>
              <a:srgbClr val="E9E6DF"/>
            </a:solidFill>
            <a:prstDash val="solid"/>
          </a:ln>
        </p:spPr>
        <p:txBody>
          <a:bodyPr/>
          <a:lstStyle/>
          <a:p>
            <a:endParaRPr sz="1300"/>
          </a:p>
        </p:txBody>
      </p:sp>
      <p:sp>
        <p:nvSpPr>
          <p:cNvPr id="17" name="Text 15"/>
          <p:cNvSpPr/>
          <p:nvPr/>
        </p:nvSpPr>
        <p:spPr>
          <a:xfrm>
            <a:off x="7844764" y="1846183"/>
            <a:ext cx="1773936" cy="146304"/>
          </a:xfrm>
          <a:prstGeom prst="rect">
            <a:avLst/>
          </a:prstGeom>
          <a:noFill/>
          <a:ln/>
        </p:spPr>
        <p:txBody>
          <a:bodyPr wrap="square" lIns="762" tIns="762" rIns="762" bIns="762" rtlCol="0" anchor="t">
            <a:noAutofit/>
          </a:bodyPr>
          <a:lstStyle/>
          <a:p>
            <a:pPr marL="0" indent="0" algn="ctr">
              <a:lnSpc>
                <a:spcPct val="95000"/>
              </a:lnSpc>
              <a:buNone/>
            </a:pPr>
            <a:r>
              <a:rPr lang="en-US" sz="1300" dirty="0">
                <a:solidFill>
                  <a:srgbClr val="1E1E24"/>
                </a:solidFill>
                <a:ea typeface="Aptos" pitchFamily="34" charset="-122"/>
                <a:cs typeface="Aptos" pitchFamily="34" charset="-120"/>
              </a:rPr>
              <a:t>Data collection</a:t>
            </a:r>
            <a:endParaRPr lang="en-US" sz="1300" dirty="0"/>
          </a:p>
        </p:txBody>
      </p:sp>
      <p:sp>
        <p:nvSpPr>
          <p:cNvPr id="18" name="Shape 16"/>
          <p:cNvSpPr/>
          <p:nvPr/>
        </p:nvSpPr>
        <p:spPr>
          <a:xfrm flipH="1">
            <a:off x="6384035" y="1974199"/>
            <a:ext cx="2347697" cy="1326781"/>
          </a:xfrm>
          <a:prstGeom prst="line">
            <a:avLst/>
          </a:prstGeom>
          <a:noFill/>
          <a:ln w="10160">
            <a:solidFill>
              <a:srgbClr val="CFC9BC"/>
            </a:solidFill>
            <a:prstDash val="solid"/>
            <a:headEnd type="none"/>
            <a:tailEnd type="triangle"/>
          </a:ln>
        </p:spPr>
        <p:txBody>
          <a:bodyPr/>
          <a:lstStyle/>
          <a:p>
            <a:endParaRPr sz="1300"/>
          </a:p>
        </p:txBody>
      </p:sp>
      <p:sp>
        <p:nvSpPr>
          <p:cNvPr id="19" name="Shape 17"/>
          <p:cNvSpPr/>
          <p:nvPr/>
        </p:nvSpPr>
        <p:spPr>
          <a:xfrm>
            <a:off x="8869680" y="3136392"/>
            <a:ext cx="1920240" cy="585216"/>
          </a:xfrm>
          <a:prstGeom prst="roundRect">
            <a:avLst>
              <a:gd name="adj" fmla="val 9375"/>
            </a:avLst>
          </a:prstGeom>
          <a:solidFill>
            <a:srgbClr val="EEE9F7"/>
          </a:solidFill>
          <a:ln w="12700">
            <a:solidFill>
              <a:srgbClr val="EEE9F7"/>
            </a:solidFill>
            <a:prstDash val="solid"/>
          </a:ln>
        </p:spPr>
        <p:txBody>
          <a:bodyPr/>
          <a:lstStyle/>
          <a:p>
            <a:endParaRPr sz="1300"/>
          </a:p>
        </p:txBody>
      </p:sp>
      <p:sp>
        <p:nvSpPr>
          <p:cNvPr id="20" name="Text 18"/>
          <p:cNvSpPr/>
          <p:nvPr/>
        </p:nvSpPr>
        <p:spPr>
          <a:xfrm>
            <a:off x="8942832" y="3282696"/>
            <a:ext cx="1773936" cy="146304"/>
          </a:xfrm>
          <a:prstGeom prst="rect">
            <a:avLst/>
          </a:prstGeom>
          <a:noFill/>
          <a:ln/>
        </p:spPr>
        <p:txBody>
          <a:bodyPr wrap="square" lIns="762" tIns="762" rIns="762" bIns="762" rtlCol="0" anchor="t">
            <a:noAutofit/>
          </a:bodyPr>
          <a:lstStyle/>
          <a:p>
            <a:pPr marL="0" indent="0" algn="ctr">
              <a:lnSpc>
                <a:spcPct val="95000"/>
              </a:lnSpc>
              <a:buNone/>
            </a:pPr>
            <a:r>
              <a:rPr lang="en-US" sz="1300" dirty="0">
                <a:solidFill>
                  <a:srgbClr val="1E1E24"/>
                </a:solidFill>
                <a:ea typeface="Aptos" pitchFamily="34" charset="-122"/>
                <a:cs typeface="Aptos" pitchFamily="34" charset="-120"/>
              </a:rPr>
              <a:t>Labeling</a:t>
            </a:r>
            <a:endParaRPr lang="en-US" sz="1300" dirty="0"/>
          </a:p>
        </p:txBody>
      </p:sp>
      <p:sp>
        <p:nvSpPr>
          <p:cNvPr id="22" name="Shape 20"/>
          <p:cNvSpPr/>
          <p:nvPr/>
        </p:nvSpPr>
        <p:spPr>
          <a:xfrm>
            <a:off x="7771612" y="4591193"/>
            <a:ext cx="1920240" cy="585216"/>
          </a:xfrm>
          <a:prstGeom prst="roundRect">
            <a:avLst>
              <a:gd name="adj" fmla="val 9375"/>
            </a:avLst>
          </a:prstGeom>
          <a:solidFill>
            <a:srgbClr val="FFFFFF"/>
          </a:solidFill>
          <a:ln w="12700">
            <a:solidFill>
              <a:srgbClr val="E9E6DF"/>
            </a:solidFill>
            <a:prstDash val="solid"/>
          </a:ln>
        </p:spPr>
        <p:txBody>
          <a:bodyPr/>
          <a:lstStyle/>
          <a:p>
            <a:endParaRPr sz="1300"/>
          </a:p>
        </p:txBody>
      </p:sp>
      <p:sp>
        <p:nvSpPr>
          <p:cNvPr id="23" name="Text 21"/>
          <p:cNvSpPr/>
          <p:nvPr/>
        </p:nvSpPr>
        <p:spPr>
          <a:xfrm>
            <a:off x="7844764" y="4755785"/>
            <a:ext cx="1773936" cy="146304"/>
          </a:xfrm>
          <a:prstGeom prst="rect">
            <a:avLst/>
          </a:prstGeom>
          <a:noFill/>
          <a:ln/>
        </p:spPr>
        <p:txBody>
          <a:bodyPr wrap="square" lIns="762" tIns="762" rIns="762" bIns="762" rtlCol="0" anchor="t">
            <a:noAutofit/>
          </a:bodyPr>
          <a:lstStyle/>
          <a:p>
            <a:pPr marL="0" indent="0" algn="ctr">
              <a:lnSpc>
                <a:spcPct val="95000"/>
              </a:lnSpc>
              <a:buNone/>
            </a:pPr>
            <a:r>
              <a:rPr lang="en-US" sz="1300" dirty="0">
                <a:solidFill>
                  <a:srgbClr val="1E1E24"/>
                </a:solidFill>
                <a:ea typeface="Aptos" pitchFamily="34" charset="-122"/>
                <a:cs typeface="Aptos" pitchFamily="34" charset="-120"/>
              </a:rPr>
              <a:t>Model design</a:t>
            </a:r>
            <a:endParaRPr lang="en-US" sz="1300" dirty="0"/>
          </a:p>
        </p:txBody>
      </p:sp>
      <p:sp>
        <p:nvSpPr>
          <p:cNvPr id="25" name="Shape 23"/>
          <p:cNvSpPr/>
          <p:nvPr/>
        </p:nvSpPr>
        <p:spPr>
          <a:xfrm>
            <a:off x="5120640" y="5193792"/>
            <a:ext cx="1920240" cy="585216"/>
          </a:xfrm>
          <a:prstGeom prst="roundRect">
            <a:avLst>
              <a:gd name="adj" fmla="val 9375"/>
            </a:avLst>
          </a:prstGeom>
          <a:solidFill>
            <a:srgbClr val="EEE9F7"/>
          </a:solidFill>
          <a:ln w="12700">
            <a:solidFill>
              <a:srgbClr val="EEE9F7"/>
            </a:solidFill>
            <a:prstDash val="solid"/>
          </a:ln>
        </p:spPr>
        <p:txBody>
          <a:bodyPr/>
          <a:lstStyle/>
          <a:p>
            <a:endParaRPr sz="1300"/>
          </a:p>
        </p:txBody>
      </p:sp>
      <p:sp>
        <p:nvSpPr>
          <p:cNvPr id="26" name="Text 24"/>
          <p:cNvSpPr/>
          <p:nvPr/>
        </p:nvSpPr>
        <p:spPr>
          <a:xfrm>
            <a:off x="5193792" y="5358384"/>
            <a:ext cx="1773936" cy="146304"/>
          </a:xfrm>
          <a:prstGeom prst="rect">
            <a:avLst/>
          </a:prstGeom>
          <a:noFill/>
          <a:ln/>
        </p:spPr>
        <p:txBody>
          <a:bodyPr wrap="square" lIns="762" tIns="762" rIns="762" bIns="762" rtlCol="0" anchor="t">
            <a:noAutofit/>
          </a:bodyPr>
          <a:lstStyle/>
          <a:p>
            <a:pPr marL="0" indent="0" algn="ctr">
              <a:lnSpc>
                <a:spcPct val="95000"/>
              </a:lnSpc>
              <a:buNone/>
            </a:pPr>
            <a:r>
              <a:rPr lang="en-US" sz="1300" dirty="0">
                <a:solidFill>
                  <a:srgbClr val="1E1E24"/>
                </a:solidFill>
                <a:ea typeface="Aptos" pitchFamily="34" charset="-122"/>
                <a:cs typeface="Aptos" pitchFamily="34" charset="-120"/>
              </a:rPr>
              <a:t>Simulation assumptions</a:t>
            </a:r>
            <a:endParaRPr lang="en-US" sz="1300" dirty="0"/>
          </a:p>
        </p:txBody>
      </p:sp>
      <p:sp>
        <p:nvSpPr>
          <p:cNvPr id="28" name="Shape 26"/>
          <p:cNvSpPr/>
          <p:nvPr/>
        </p:nvSpPr>
        <p:spPr>
          <a:xfrm>
            <a:off x="2469668" y="4591193"/>
            <a:ext cx="1920240" cy="585216"/>
          </a:xfrm>
          <a:prstGeom prst="roundRect">
            <a:avLst>
              <a:gd name="adj" fmla="val 9375"/>
            </a:avLst>
          </a:prstGeom>
          <a:solidFill>
            <a:srgbClr val="FFFFFF"/>
          </a:solidFill>
          <a:ln w="12700">
            <a:solidFill>
              <a:srgbClr val="E9E6DF"/>
            </a:solidFill>
            <a:prstDash val="solid"/>
          </a:ln>
        </p:spPr>
        <p:txBody>
          <a:bodyPr/>
          <a:lstStyle/>
          <a:p>
            <a:endParaRPr sz="1300"/>
          </a:p>
        </p:txBody>
      </p:sp>
      <p:sp>
        <p:nvSpPr>
          <p:cNvPr id="29" name="Text 27"/>
          <p:cNvSpPr/>
          <p:nvPr/>
        </p:nvSpPr>
        <p:spPr>
          <a:xfrm>
            <a:off x="2542820" y="4755785"/>
            <a:ext cx="1773936" cy="146304"/>
          </a:xfrm>
          <a:prstGeom prst="rect">
            <a:avLst/>
          </a:prstGeom>
          <a:noFill/>
          <a:ln/>
        </p:spPr>
        <p:txBody>
          <a:bodyPr wrap="square" lIns="762" tIns="762" rIns="762" bIns="762" rtlCol="0" anchor="t">
            <a:noAutofit/>
          </a:bodyPr>
          <a:lstStyle/>
          <a:p>
            <a:pPr marL="0" indent="0" algn="ctr">
              <a:lnSpc>
                <a:spcPct val="95000"/>
              </a:lnSpc>
              <a:buNone/>
            </a:pPr>
            <a:r>
              <a:rPr lang="en-US" sz="1300" b="1" dirty="0">
                <a:solidFill>
                  <a:srgbClr val="1E1E24"/>
                </a:solidFill>
                <a:ea typeface="Aptos" pitchFamily="34" charset="-122"/>
                <a:cs typeface="Aptos" pitchFamily="34" charset="-120"/>
              </a:rPr>
              <a:t>Evaluation metrics</a:t>
            </a:r>
            <a:endParaRPr lang="en-US" sz="1300" dirty="0"/>
          </a:p>
        </p:txBody>
      </p:sp>
      <p:sp>
        <p:nvSpPr>
          <p:cNvPr id="30" name="Shape 28"/>
          <p:cNvSpPr/>
          <p:nvPr/>
        </p:nvSpPr>
        <p:spPr>
          <a:xfrm flipV="1">
            <a:off x="3429788" y="3665406"/>
            <a:ext cx="2378180" cy="1035515"/>
          </a:xfrm>
          <a:prstGeom prst="line">
            <a:avLst/>
          </a:prstGeom>
          <a:noFill/>
          <a:ln w="10160">
            <a:solidFill>
              <a:srgbClr val="CFC9BC"/>
            </a:solidFill>
            <a:prstDash val="solid"/>
            <a:headEnd type="none"/>
            <a:tailEnd type="triangle"/>
          </a:ln>
        </p:spPr>
        <p:txBody>
          <a:bodyPr/>
          <a:lstStyle/>
          <a:p>
            <a:endParaRPr sz="1300"/>
          </a:p>
        </p:txBody>
      </p:sp>
      <p:sp>
        <p:nvSpPr>
          <p:cNvPr id="31" name="Shape 29"/>
          <p:cNvSpPr/>
          <p:nvPr/>
        </p:nvSpPr>
        <p:spPr>
          <a:xfrm>
            <a:off x="1371600" y="3136392"/>
            <a:ext cx="1920240" cy="585216"/>
          </a:xfrm>
          <a:prstGeom prst="roundRect">
            <a:avLst>
              <a:gd name="adj" fmla="val 9375"/>
            </a:avLst>
          </a:prstGeom>
          <a:solidFill>
            <a:srgbClr val="EEE9F7"/>
          </a:solidFill>
          <a:ln w="12700">
            <a:solidFill>
              <a:srgbClr val="EEE9F7"/>
            </a:solidFill>
            <a:prstDash val="solid"/>
          </a:ln>
        </p:spPr>
        <p:txBody>
          <a:bodyPr/>
          <a:lstStyle/>
          <a:p>
            <a:endParaRPr sz="1300"/>
          </a:p>
        </p:txBody>
      </p:sp>
      <p:sp>
        <p:nvSpPr>
          <p:cNvPr id="32" name="Text 30"/>
          <p:cNvSpPr/>
          <p:nvPr/>
        </p:nvSpPr>
        <p:spPr>
          <a:xfrm>
            <a:off x="1444752" y="3300984"/>
            <a:ext cx="1773936" cy="146304"/>
          </a:xfrm>
          <a:prstGeom prst="rect">
            <a:avLst/>
          </a:prstGeom>
          <a:noFill/>
          <a:ln/>
        </p:spPr>
        <p:txBody>
          <a:bodyPr wrap="square" lIns="762" tIns="762" rIns="762" bIns="762" rtlCol="0" anchor="t">
            <a:noAutofit/>
          </a:bodyPr>
          <a:lstStyle/>
          <a:p>
            <a:pPr marL="0" indent="0" algn="ctr">
              <a:lnSpc>
                <a:spcPct val="95000"/>
              </a:lnSpc>
              <a:buNone/>
            </a:pPr>
            <a:r>
              <a:rPr lang="en-US" sz="1300" dirty="0">
                <a:solidFill>
                  <a:srgbClr val="1E1E24"/>
                </a:solidFill>
                <a:ea typeface="Aptos" pitchFamily="34" charset="-122"/>
                <a:cs typeface="Aptos" pitchFamily="34" charset="-120"/>
              </a:rPr>
              <a:t>Deployment context</a:t>
            </a:r>
            <a:endParaRPr lang="en-US" sz="1300" dirty="0"/>
          </a:p>
        </p:txBody>
      </p:sp>
      <p:sp>
        <p:nvSpPr>
          <p:cNvPr id="33" name="Shape 31"/>
          <p:cNvSpPr/>
          <p:nvPr/>
        </p:nvSpPr>
        <p:spPr>
          <a:xfrm>
            <a:off x="2331720" y="3429000"/>
            <a:ext cx="3404232" cy="71814"/>
          </a:xfrm>
          <a:prstGeom prst="line">
            <a:avLst/>
          </a:prstGeom>
          <a:noFill/>
          <a:ln w="10160">
            <a:solidFill>
              <a:srgbClr val="B7A57A"/>
            </a:solidFill>
            <a:prstDash val="solid"/>
            <a:headEnd type="none"/>
            <a:tailEnd type="triangle"/>
          </a:ln>
        </p:spPr>
        <p:txBody>
          <a:bodyPr/>
          <a:lstStyle/>
          <a:p>
            <a:endParaRPr sz="1300"/>
          </a:p>
        </p:txBody>
      </p:sp>
      <p:sp>
        <p:nvSpPr>
          <p:cNvPr id="34" name="Shape 32"/>
          <p:cNvSpPr/>
          <p:nvPr/>
        </p:nvSpPr>
        <p:spPr>
          <a:xfrm>
            <a:off x="2469668" y="1681591"/>
            <a:ext cx="1920240" cy="585216"/>
          </a:xfrm>
          <a:prstGeom prst="roundRect">
            <a:avLst>
              <a:gd name="adj" fmla="val 9375"/>
            </a:avLst>
          </a:prstGeom>
          <a:solidFill>
            <a:srgbClr val="FFFFFF"/>
          </a:solidFill>
          <a:ln w="12700">
            <a:solidFill>
              <a:srgbClr val="E9E6DF"/>
            </a:solidFill>
            <a:prstDash val="solid"/>
          </a:ln>
        </p:spPr>
        <p:txBody>
          <a:bodyPr/>
          <a:lstStyle/>
          <a:p>
            <a:endParaRPr sz="1300"/>
          </a:p>
        </p:txBody>
      </p:sp>
      <p:sp>
        <p:nvSpPr>
          <p:cNvPr id="35" name="Text 33"/>
          <p:cNvSpPr/>
          <p:nvPr/>
        </p:nvSpPr>
        <p:spPr>
          <a:xfrm>
            <a:off x="2542820" y="1846183"/>
            <a:ext cx="1773936" cy="146304"/>
          </a:xfrm>
          <a:prstGeom prst="rect">
            <a:avLst/>
          </a:prstGeom>
          <a:noFill/>
          <a:ln/>
        </p:spPr>
        <p:txBody>
          <a:bodyPr wrap="square" lIns="762" tIns="762" rIns="762" bIns="762" rtlCol="0" anchor="t">
            <a:noAutofit/>
          </a:bodyPr>
          <a:lstStyle/>
          <a:p>
            <a:pPr marL="0" indent="0" algn="ctr">
              <a:lnSpc>
                <a:spcPct val="95000"/>
              </a:lnSpc>
              <a:buNone/>
            </a:pPr>
            <a:r>
              <a:rPr lang="en-US" sz="1300" dirty="0">
                <a:solidFill>
                  <a:srgbClr val="1E1E24"/>
                </a:solidFill>
                <a:ea typeface="Aptos" pitchFamily="34" charset="-122"/>
                <a:cs typeface="Aptos" pitchFamily="34" charset="-120"/>
              </a:rPr>
              <a:t>Interpretation</a:t>
            </a:r>
            <a:endParaRPr lang="en-US" sz="1300" dirty="0"/>
          </a:p>
        </p:txBody>
      </p:sp>
      <p:sp>
        <p:nvSpPr>
          <p:cNvPr id="36" name="Shape 34"/>
          <p:cNvSpPr/>
          <p:nvPr/>
        </p:nvSpPr>
        <p:spPr>
          <a:xfrm>
            <a:off x="3429788" y="1974200"/>
            <a:ext cx="2378179" cy="1326780"/>
          </a:xfrm>
          <a:prstGeom prst="line">
            <a:avLst/>
          </a:prstGeom>
          <a:noFill/>
          <a:ln w="10160">
            <a:solidFill>
              <a:srgbClr val="CFC9BC"/>
            </a:solidFill>
            <a:prstDash val="solid"/>
            <a:headEnd type="none"/>
            <a:tailEnd type="triangle"/>
          </a:ln>
        </p:spPr>
        <p:txBody>
          <a:bodyPr/>
          <a:lstStyle/>
          <a:p>
            <a:endParaRPr sz="1300"/>
          </a:p>
        </p:txBody>
      </p:sp>
      <p:sp>
        <p:nvSpPr>
          <p:cNvPr id="37" name="Shape 35"/>
          <p:cNvSpPr/>
          <p:nvPr/>
        </p:nvSpPr>
        <p:spPr>
          <a:xfrm>
            <a:off x="792480" y="5832534"/>
            <a:ext cx="10607040" cy="566928"/>
          </a:xfrm>
          <a:prstGeom prst="roundRect">
            <a:avLst>
              <a:gd name="adj" fmla="val 12903"/>
            </a:avLst>
          </a:prstGeom>
          <a:solidFill>
            <a:srgbClr val="E7F2F2"/>
          </a:solidFill>
          <a:ln w="12700">
            <a:solidFill>
              <a:srgbClr val="E7F2F2"/>
            </a:solidFill>
            <a:prstDash val="solid"/>
          </a:ln>
        </p:spPr>
        <p:txBody>
          <a:bodyPr/>
          <a:lstStyle/>
          <a:p>
            <a:endParaRPr/>
          </a:p>
        </p:txBody>
      </p:sp>
      <p:sp>
        <p:nvSpPr>
          <p:cNvPr id="38" name="Text 36"/>
          <p:cNvSpPr/>
          <p:nvPr/>
        </p:nvSpPr>
        <p:spPr>
          <a:xfrm>
            <a:off x="929640" y="5960550"/>
            <a:ext cx="10332720" cy="384048"/>
          </a:xfrm>
          <a:prstGeom prst="rect">
            <a:avLst/>
          </a:prstGeom>
          <a:noFill/>
          <a:ln/>
        </p:spPr>
        <p:txBody>
          <a:bodyPr wrap="square" lIns="762" tIns="762" rIns="762" bIns="762" rtlCol="0" anchor="ctr">
            <a:normAutofit/>
          </a:bodyPr>
          <a:lstStyle/>
          <a:p>
            <a:pPr marL="0" indent="0" algn="ctr">
              <a:lnSpc>
                <a:spcPct val="95000"/>
              </a:lnSpc>
              <a:buNone/>
            </a:pPr>
            <a:r>
              <a:rPr lang="en-US" sz="1220" b="1" dirty="0">
                <a:solidFill>
                  <a:srgbClr val="1E1E24"/>
                </a:solidFill>
                <a:ea typeface="Aptos" pitchFamily="34" charset="-122"/>
                <a:cs typeface="Aptos" pitchFamily="34" charset="-120"/>
              </a:rPr>
              <a:t>Architecture example: a facade-material classifier trained on well-photographed commercial districts may underperform in industrial, informal, older, or under-documented neighborhoods.</a:t>
            </a:r>
            <a:endParaRPr lang="en-US" sz="1220" dirty="0"/>
          </a:p>
        </p:txBody>
      </p:sp>
      <p:sp>
        <p:nvSpPr>
          <p:cNvPr id="39" name="Shape 28">
            <a:extLst>
              <a:ext uri="{FF2B5EF4-FFF2-40B4-BE49-F238E27FC236}">
                <a16:creationId xmlns:a16="http://schemas.microsoft.com/office/drawing/2014/main" id="{4D2B333A-443C-96B6-AE88-A18898583AD4}"/>
              </a:ext>
            </a:extLst>
          </p:cNvPr>
          <p:cNvSpPr/>
          <p:nvPr/>
        </p:nvSpPr>
        <p:spPr>
          <a:xfrm flipH="1" flipV="1">
            <a:off x="6080759" y="3721608"/>
            <a:ext cx="15241" cy="1581912"/>
          </a:xfrm>
          <a:prstGeom prst="line">
            <a:avLst/>
          </a:prstGeom>
          <a:noFill/>
          <a:ln w="10160">
            <a:solidFill>
              <a:srgbClr val="CFC9BC"/>
            </a:solidFill>
            <a:prstDash val="solid"/>
            <a:headEnd type="none"/>
            <a:tailEnd type="triangle"/>
          </a:ln>
        </p:spPr>
        <p:txBody>
          <a:bodyPr/>
          <a:lstStyle/>
          <a:p>
            <a:endParaRPr sz="1300"/>
          </a:p>
        </p:txBody>
      </p:sp>
      <p:sp>
        <p:nvSpPr>
          <p:cNvPr id="40" name="Shape 28">
            <a:extLst>
              <a:ext uri="{FF2B5EF4-FFF2-40B4-BE49-F238E27FC236}">
                <a16:creationId xmlns:a16="http://schemas.microsoft.com/office/drawing/2014/main" id="{E51947CF-24D8-5437-0ECE-755C833C5C29}"/>
              </a:ext>
            </a:extLst>
          </p:cNvPr>
          <p:cNvSpPr/>
          <p:nvPr/>
        </p:nvSpPr>
        <p:spPr>
          <a:xfrm flipH="1" flipV="1">
            <a:off x="6307869" y="3665406"/>
            <a:ext cx="2516083" cy="1035515"/>
          </a:xfrm>
          <a:prstGeom prst="line">
            <a:avLst/>
          </a:prstGeom>
          <a:noFill/>
          <a:ln w="10160">
            <a:solidFill>
              <a:srgbClr val="CFC9BC"/>
            </a:solidFill>
            <a:prstDash val="solid"/>
            <a:headEnd type="none"/>
            <a:tailEnd type="triangle"/>
          </a:ln>
        </p:spPr>
        <p:txBody>
          <a:bodyPr/>
          <a:lstStyle/>
          <a:p>
            <a:endParaRPr sz="1300"/>
          </a:p>
        </p:txBody>
      </p:sp>
      <p:sp>
        <p:nvSpPr>
          <p:cNvPr id="41" name="Shape 16">
            <a:extLst>
              <a:ext uri="{FF2B5EF4-FFF2-40B4-BE49-F238E27FC236}">
                <a16:creationId xmlns:a16="http://schemas.microsoft.com/office/drawing/2014/main" id="{59ACB533-9D0C-DB33-F378-0E763EA69501}"/>
              </a:ext>
            </a:extLst>
          </p:cNvPr>
          <p:cNvSpPr/>
          <p:nvPr/>
        </p:nvSpPr>
        <p:spPr>
          <a:xfrm flipH="1">
            <a:off x="6528045" y="3428996"/>
            <a:ext cx="3332234" cy="71818"/>
          </a:xfrm>
          <a:prstGeom prst="line">
            <a:avLst/>
          </a:prstGeom>
          <a:noFill/>
          <a:ln w="10160">
            <a:solidFill>
              <a:srgbClr val="CFC9BC"/>
            </a:solidFill>
            <a:prstDash val="solid"/>
            <a:headEnd type="none"/>
            <a:tailEnd type="triangle"/>
          </a:ln>
        </p:spPr>
        <p:txBody>
          <a:bodyPr/>
          <a:lstStyle/>
          <a:p>
            <a:endParaRPr sz="13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Bias in performance-driven design</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200" dirty="0">
                <a:solidFill>
                  <a:srgbClr val="5B5B66"/>
                </a:solidFill>
                <a:ea typeface="Aptos" pitchFamily="34" charset="-122"/>
                <a:cs typeface="Aptos" pitchFamily="34" charset="-120"/>
              </a:rPr>
              <a:t>Common bias pathways in architectural AI</a:t>
            </a:r>
            <a:endParaRPr lang="en-US" sz="1200" dirty="0"/>
          </a:p>
        </p:txBody>
      </p:sp>
      <p:sp>
        <p:nvSpPr>
          <p:cNvPr id="11" name="Shape 9"/>
          <p:cNvSpPr/>
          <p:nvPr/>
        </p:nvSpPr>
        <p:spPr>
          <a:xfrm>
            <a:off x="658368" y="1161288"/>
            <a:ext cx="5376672" cy="804672"/>
          </a:xfrm>
          <a:prstGeom prst="roundRect">
            <a:avLst>
              <a:gd name="adj" fmla="val 10227"/>
            </a:avLst>
          </a:prstGeom>
          <a:solidFill>
            <a:srgbClr val="EEE9F7"/>
          </a:solidFill>
          <a:ln w="12700">
            <a:solidFill>
              <a:srgbClr val="EEE9F7"/>
            </a:solidFill>
            <a:prstDash val="solid"/>
          </a:ln>
        </p:spPr>
        <p:txBody>
          <a:bodyPr/>
          <a:lstStyle/>
          <a:p>
            <a:endParaRPr sz="1400"/>
          </a:p>
        </p:txBody>
      </p:sp>
      <p:sp>
        <p:nvSpPr>
          <p:cNvPr id="12" name="Text 10"/>
          <p:cNvSpPr/>
          <p:nvPr/>
        </p:nvSpPr>
        <p:spPr>
          <a:xfrm>
            <a:off x="822960" y="1289304"/>
            <a:ext cx="5047488"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4B2E83"/>
                </a:solidFill>
                <a:ea typeface="Aptos" pitchFamily="34" charset="-122"/>
                <a:cs typeface="Aptos" pitchFamily="34" charset="-120"/>
              </a:rPr>
              <a:t>Geographic bias</a:t>
            </a:r>
            <a:endParaRPr lang="en-US" sz="1400" dirty="0"/>
          </a:p>
        </p:txBody>
      </p:sp>
      <p:sp>
        <p:nvSpPr>
          <p:cNvPr id="13" name="Text 11"/>
          <p:cNvSpPr/>
          <p:nvPr/>
        </p:nvSpPr>
        <p:spPr>
          <a:xfrm>
            <a:off x="822960" y="1556792"/>
            <a:ext cx="5047488" cy="237744"/>
          </a:xfrm>
          <a:prstGeom prst="rect">
            <a:avLst/>
          </a:prstGeom>
          <a:noFill/>
          <a:ln/>
        </p:spPr>
        <p:txBody>
          <a:bodyPr wrap="square" lIns="762" tIns="762" rIns="762" bIns="762" rtlCol="0" anchor="t">
            <a:normAutofit/>
          </a:bodyPr>
          <a:lstStyle/>
          <a:p>
            <a:pPr marL="0" indent="0" algn="l">
              <a:lnSpc>
                <a:spcPct val="95000"/>
              </a:lnSpc>
              <a:buNone/>
            </a:pPr>
            <a:r>
              <a:rPr lang="en-US" sz="1400" dirty="0">
                <a:solidFill>
                  <a:srgbClr val="1E1E24"/>
                </a:solidFill>
                <a:ea typeface="Aptos" pitchFamily="34" charset="-122"/>
                <a:cs typeface="Aptos" pitchFamily="34" charset="-120"/>
              </a:rPr>
              <a:t>Data concentrated in cities, campuses, or well-mapped districts</a:t>
            </a:r>
            <a:endParaRPr lang="en-US" sz="1400" dirty="0"/>
          </a:p>
        </p:txBody>
      </p:sp>
      <p:sp>
        <p:nvSpPr>
          <p:cNvPr id="14" name="Shape 12"/>
          <p:cNvSpPr/>
          <p:nvPr/>
        </p:nvSpPr>
        <p:spPr>
          <a:xfrm>
            <a:off x="658368" y="2258568"/>
            <a:ext cx="5376672" cy="804672"/>
          </a:xfrm>
          <a:prstGeom prst="roundRect">
            <a:avLst>
              <a:gd name="adj" fmla="val 10227"/>
            </a:avLst>
          </a:prstGeom>
          <a:solidFill>
            <a:schemeClr val="accent4">
              <a:lumMod val="20000"/>
              <a:lumOff val="80000"/>
            </a:schemeClr>
          </a:solidFill>
          <a:ln w="12700">
            <a:solidFill>
              <a:srgbClr val="FFFFFF"/>
            </a:solidFill>
            <a:prstDash val="solid"/>
          </a:ln>
        </p:spPr>
        <p:txBody>
          <a:bodyPr/>
          <a:lstStyle/>
          <a:p>
            <a:endParaRPr sz="1400"/>
          </a:p>
        </p:txBody>
      </p:sp>
      <p:sp>
        <p:nvSpPr>
          <p:cNvPr id="15" name="Text 13"/>
          <p:cNvSpPr/>
          <p:nvPr/>
        </p:nvSpPr>
        <p:spPr>
          <a:xfrm>
            <a:off x="822960" y="2386584"/>
            <a:ext cx="5047488"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4B2E83"/>
                </a:solidFill>
                <a:ea typeface="Aptos" pitchFamily="34" charset="-122"/>
                <a:cs typeface="Aptos" pitchFamily="34" charset="-120"/>
              </a:rPr>
              <a:t>Climate-zone bias</a:t>
            </a:r>
            <a:endParaRPr lang="en-US" sz="1400" dirty="0"/>
          </a:p>
        </p:txBody>
      </p:sp>
      <p:sp>
        <p:nvSpPr>
          <p:cNvPr id="16" name="Text 14"/>
          <p:cNvSpPr/>
          <p:nvPr/>
        </p:nvSpPr>
        <p:spPr>
          <a:xfrm>
            <a:off x="822960" y="2654072"/>
            <a:ext cx="5047488" cy="237744"/>
          </a:xfrm>
          <a:prstGeom prst="rect">
            <a:avLst/>
          </a:prstGeom>
          <a:noFill/>
          <a:ln/>
        </p:spPr>
        <p:txBody>
          <a:bodyPr wrap="square" lIns="762" tIns="762" rIns="762" bIns="762" rtlCol="0" anchor="t">
            <a:normAutofit/>
          </a:bodyPr>
          <a:lstStyle/>
          <a:p>
            <a:pPr marL="0" indent="0" algn="l">
              <a:lnSpc>
                <a:spcPct val="95000"/>
              </a:lnSpc>
              <a:buNone/>
            </a:pPr>
            <a:r>
              <a:rPr lang="en-US" sz="1400" dirty="0">
                <a:solidFill>
                  <a:srgbClr val="1E1E24"/>
                </a:solidFill>
                <a:ea typeface="Aptos" pitchFamily="34" charset="-122"/>
                <a:cs typeface="Aptos" pitchFamily="34" charset="-120"/>
              </a:rPr>
              <a:t>Models trained under one climate do not generalize to another</a:t>
            </a:r>
            <a:endParaRPr lang="en-US" sz="1400" dirty="0"/>
          </a:p>
        </p:txBody>
      </p:sp>
      <p:sp>
        <p:nvSpPr>
          <p:cNvPr id="17" name="Shape 15"/>
          <p:cNvSpPr/>
          <p:nvPr/>
        </p:nvSpPr>
        <p:spPr>
          <a:xfrm>
            <a:off x="658368" y="3355848"/>
            <a:ext cx="5376672" cy="804672"/>
          </a:xfrm>
          <a:prstGeom prst="roundRect">
            <a:avLst>
              <a:gd name="adj" fmla="val 10227"/>
            </a:avLst>
          </a:prstGeom>
          <a:solidFill>
            <a:srgbClr val="EEE9F7"/>
          </a:solidFill>
          <a:ln w="12700">
            <a:solidFill>
              <a:srgbClr val="EEE9F7"/>
            </a:solidFill>
            <a:prstDash val="solid"/>
          </a:ln>
        </p:spPr>
        <p:txBody>
          <a:bodyPr/>
          <a:lstStyle/>
          <a:p>
            <a:endParaRPr sz="1400"/>
          </a:p>
        </p:txBody>
      </p:sp>
      <p:sp>
        <p:nvSpPr>
          <p:cNvPr id="18" name="Text 16"/>
          <p:cNvSpPr/>
          <p:nvPr/>
        </p:nvSpPr>
        <p:spPr>
          <a:xfrm>
            <a:off x="822960" y="3483864"/>
            <a:ext cx="5047488"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4B2E83"/>
                </a:solidFill>
                <a:ea typeface="Aptos" pitchFamily="34" charset="-122"/>
                <a:cs typeface="Aptos" pitchFamily="34" charset="-120"/>
              </a:rPr>
              <a:t>Building-type bias</a:t>
            </a:r>
            <a:endParaRPr lang="en-US" sz="1400" dirty="0"/>
          </a:p>
        </p:txBody>
      </p:sp>
      <p:sp>
        <p:nvSpPr>
          <p:cNvPr id="19" name="Text 17"/>
          <p:cNvSpPr/>
          <p:nvPr/>
        </p:nvSpPr>
        <p:spPr>
          <a:xfrm>
            <a:off x="822960" y="3687336"/>
            <a:ext cx="5047488" cy="237744"/>
          </a:xfrm>
          <a:prstGeom prst="rect">
            <a:avLst/>
          </a:prstGeom>
          <a:noFill/>
          <a:ln/>
        </p:spPr>
        <p:txBody>
          <a:bodyPr wrap="square" lIns="762" tIns="762" rIns="762" bIns="762" rtlCol="0" anchor="t">
            <a:noAutofit/>
          </a:bodyPr>
          <a:lstStyle/>
          <a:p>
            <a:pPr marL="0" indent="0" algn="l">
              <a:lnSpc>
                <a:spcPct val="95000"/>
              </a:lnSpc>
              <a:buNone/>
            </a:pPr>
            <a:r>
              <a:rPr lang="en-US" sz="1400" dirty="0">
                <a:solidFill>
                  <a:srgbClr val="1E1E24"/>
                </a:solidFill>
                <a:ea typeface="Aptos" pitchFamily="34" charset="-122"/>
                <a:cs typeface="Aptos" pitchFamily="34" charset="-120"/>
              </a:rPr>
              <a:t>Office or institutional buildings dominate; housing or informal buildings underrepresented</a:t>
            </a:r>
            <a:endParaRPr lang="en-US" sz="1400" dirty="0"/>
          </a:p>
        </p:txBody>
      </p:sp>
      <p:sp>
        <p:nvSpPr>
          <p:cNvPr id="20" name="Shape 18"/>
          <p:cNvSpPr/>
          <p:nvPr/>
        </p:nvSpPr>
        <p:spPr>
          <a:xfrm>
            <a:off x="658368" y="4453128"/>
            <a:ext cx="5376672" cy="804672"/>
          </a:xfrm>
          <a:prstGeom prst="roundRect">
            <a:avLst>
              <a:gd name="adj" fmla="val 10227"/>
            </a:avLst>
          </a:prstGeom>
          <a:solidFill>
            <a:schemeClr val="accent4">
              <a:lumMod val="20000"/>
              <a:lumOff val="80000"/>
            </a:schemeClr>
          </a:solidFill>
          <a:ln w="12700">
            <a:solidFill>
              <a:srgbClr val="FFFFFF"/>
            </a:solidFill>
            <a:prstDash val="solid"/>
          </a:ln>
        </p:spPr>
        <p:txBody>
          <a:bodyPr/>
          <a:lstStyle/>
          <a:p>
            <a:endParaRPr sz="1400"/>
          </a:p>
        </p:txBody>
      </p:sp>
      <p:sp>
        <p:nvSpPr>
          <p:cNvPr id="21" name="Text 19"/>
          <p:cNvSpPr/>
          <p:nvPr/>
        </p:nvSpPr>
        <p:spPr>
          <a:xfrm>
            <a:off x="822960" y="4581144"/>
            <a:ext cx="5047488"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4B2E83"/>
                </a:solidFill>
                <a:ea typeface="Aptos" pitchFamily="34" charset="-122"/>
                <a:cs typeface="Aptos" pitchFamily="34" charset="-120"/>
              </a:rPr>
              <a:t>Socioeconomic bias</a:t>
            </a:r>
            <a:endParaRPr lang="en-US" sz="1400" dirty="0"/>
          </a:p>
        </p:txBody>
      </p:sp>
      <p:sp>
        <p:nvSpPr>
          <p:cNvPr id="22" name="Text 20"/>
          <p:cNvSpPr/>
          <p:nvPr/>
        </p:nvSpPr>
        <p:spPr>
          <a:xfrm>
            <a:off x="822960" y="4848632"/>
            <a:ext cx="5047488" cy="237744"/>
          </a:xfrm>
          <a:prstGeom prst="rect">
            <a:avLst/>
          </a:prstGeom>
          <a:noFill/>
          <a:ln/>
        </p:spPr>
        <p:txBody>
          <a:bodyPr wrap="square" lIns="762" tIns="762" rIns="762" bIns="762" rtlCol="0" anchor="t">
            <a:noAutofit/>
          </a:bodyPr>
          <a:lstStyle/>
          <a:p>
            <a:pPr marL="0" indent="0" algn="l">
              <a:lnSpc>
                <a:spcPct val="95000"/>
              </a:lnSpc>
              <a:buNone/>
            </a:pPr>
            <a:r>
              <a:rPr lang="en-US" sz="1400" dirty="0">
                <a:solidFill>
                  <a:srgbClr val="1E1E24"/>
                </a:solidFill>
                <a:ea typeface="Aptos" pitchFamily="34" charset="-122"/>
                <a:cs typeface="Aptos" pitchFamily="34" charset="-120"/>
              </a:rPr>
              <a:t>Measured data more available for wealthy or institutionally managed contexts</a:t>
            </a:r>
            <a:endParaRPr lang="en-US" sz="1400" dirty="0"/>
          </a:p>
        </p:txBody>
      </p:sp>
      <p:sp>
        <p:nvSpPr>
          <p:cNvPr id="23" name="Shape 21"/>
          <p:cNvSpPr/>
          <p:nvPr/>
        </p:nvSpPr>
        <p:spPr>
          <a:xfrm>
            <a:off x="6291072" y="1161288"/>
            <a:ext cx="5376672" cy="804672"/>
          </a:xfrm>
          <a:prstGeom prst="roundRect">
            <a:avLst>
              <a:gd name="adj" fmla="val 10227"/>
            </a:avLst>
          </a:prstGeom>
          <a:solidFill>
            <a:srgbClr val="F4EBD0"/>
          </a:solidFill>
          <a:ln w="12700">
            <a:solidFill>
              <a:srgbClr val="F4EBD0"/>
            </a:solidFill>
            <a:prstDash val="solid"/>
          </a:ln>
        </p:spPr>
        <p:txBody>
          <a:bodyPr/>
          <a:lstStyle/>
          <a:p>
            <a:endParaRPr sz="1400"/>
          </a:p>
        </p:txBody>
      </p:sp>
      <p:sp>
        <p:nvSpPr>
          <p:cNvPr id="24" name="Text 22"/>
          <p:cNvSpPr/>
          <p:nvPr/>
        </p:nvSpPr>
        <p:spPr>
          <a:xfrm>
            <a:off x="6455664" y="1289304"/>
            <a:ext cx="5047488"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1E1E24"/>
                </a:solidFill>
                <a:ea typeface="Aptos" pitchFamily="34" charset="-122"/>
                <a:cs typeface="Aptos" pitchFamily="34" charset="-120"/>
              </a:rPr>
              <a:t>Visual-data bias</a:t>
            </a:r>
            <a:endParaRPr lang="en-US" sz="1400" dirty="0"/>
          </a:p>
        </p:txBody>
      </p:sp>
      <p:sp>
        <p:nvSpPr>
          <p:cNvPr id="25" name="Text 23"/>
          <p:cNvSpPr/>
          <p:nvPr/>
        </p:nvSpPr>
        <p:spPr>
          <a:xfrm>
            <a:off x="6455664" y="1556792"/>
            <a:ext cx="5047488" cy="237744"/>
          </a:xfrm>
          <a:prstGeom prst="rect">
            <a:avLst/>
          </a:prstGeom>
          <a:noFill/>
          <a:ln/>
        </p:spPr>
        <p:txBody>
          <a:bodyPr wrap="square" lIns="762" tIns="762" rIns="762" bIns="762" rtlCol="0" anchor="t">
            <a:noAutofit/>
          </a:bodyPr>
          <a:lstStyle/>
          <a:p>
            <a:pPr marL="0" indent="0" algn="l">
              <a:lnSpc>
                <a:spcPct val="95000"/>
              </a:lnSpc>
              <a:buNone/>
            </a:pPr>
            <a:r>
              <a:rPr lang="en-US" sz="1400" dirty="0">
                <a:solidFill>
                  <a:srgbClr val="1E1E24"/>
                </a:solidFill>
                <a:ea typeface="Aptos" pitchFamily="34" charset="-122"/>
                <a:cs typeface="Aptos" pitchFamily="34" charset="-120"/>
              </a:rPr>
              <a:t>Street-view quality, occlusion, season, angle, and lighting shape model performance</a:t>
            </a:r>
            <a:endParaRPr lang="en-US" sz="1400" dirty="0"/>
          </a:p>
        </p:txBody>
      </p:sp>
      <p:sp>
        <p:nvSpPr>
          <p:cNvPr id="26" name="Shape 24"/>
          <p:cNvSpPr/>
          <p:nvPr/>
        </p:nvSpPr>
        <p:spPr>
          <a:xfrm>
            <a:off x="6291072" y="2258568"/>
            <a:ext cx="5376672" cy="804672"/>
          </a:xfrm>
          <a:prstGeom prst="roundRect">
            <a:avLst>
              <a:gd name="adj" fmla="val 10227"/>
            </a:avLst>
          </a:prstGeom>
          <a:solidFill>
            <a:schemeClr val="accent4">
              <a:lumMod val="20000"/>
              <a:lumOff val="80000"/>
            </a:schemeClr>
          </a:solidFill>
          <a:ln w="12700">
            <a:solidFill>
              <a:srgbClr val="FFFFFF"/>
            </a:solidFill>
            <a:prstDash val="solid"/>
          </a:ln>
        </p:spPr>
        <p:txBody>
          <a:bodyPr/>
          <a:lstStyle/>
          <a:p>
            <a:endParaRPr sz="1400"/>
          </a:p>
        </p:txBody>
      </p:sp>
      <p:sp>
        <p:nvSpPr>
          <p:cNvPr id="27" name="Text 25"/>
          <p:cNvSpPr/>
          <p:nvPr/>
        </p:nvSpPr>
        <p:spPr>
          <a:xfrm>
            <a:off x="6455664" y="2386584"/>
            <a:ext cx="5047488"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1E1E24"/>
                </a:solidFill>
                <a:ea typeface="Aptos" pitchFamily="34" charset="-122"/>
                <a:cs typeface="Aptos" pitchFamily="34" charset="-120"/>
              </a:rPr>
              <a:t>Occupancy-pattern bias</a:t>
            </a:r>
            <a:endParaRPr lang="en-US" sz="1400" dirty="0"/>
          </a:p>
        </p:txBody>
      </p:sp>
      <p:sp>
        <p:nvSpPr>
          <p:cNvPr id="28" name="Text 26"/>
          <p:cNvSpPr/>
          <p:nvPr/>
        </p:nvSpPr>
        <p:spPr>
          <a:xfrm>
            <a:off x="6455664" y="2654072"/>
            <a:ext cx="5047488" cy="237744"/>
          </a:xfrm>
          <a:prstGeom prst="rect">
            <a:avLst/>
          </a:prstGeom>
          <a:noFill/>
          <a:ln/>
        </p:spPr>
        <p:txBody>
          <a:bodyPr wrap="square" lIns="762" tIns="762" rIns="762" bIns="762" rtlCol="0" anchor="t">
            <a:noAutofit/>
          </a:bodyPr>
          <a:lstStyle/>
          <a:p>
            <a:pPr marL="0" indent="0" algn="l">
              <a:lnSpc>
                <a:spcPct val="95000"/>
              </a:lnSpc>
              <a:buNone/>
            </a:pPr>
            <a:r>
              <a:rPr lang="en-US" sz="1400" dirty="0">
                <a:solidFill>
                  <a:srgbClr val="1E1E24"/>
                </a:solidFill>
                <a:ea typeface="Aptos" pitchFamily="34" charset="-122"/>
                <a:cs typeface="Aptos" pitchFamily="34" charset="-120"/>
              </a:rPr>
              <a:t>Assumptions about schedules, comfort, and behavior may not match lived reality</a:t>
            </a:r>
            <a:endParaRPr lang="en-US" sz="1400" dirty="0"/>
          </a:p>
        </p:txBody>
      </p:sp>
      <p:sp>
        <p:nvSpPr>
          <p:cNvPr id="29" name="Shape 27"/>
          <p:cNvSpPr/>
          <p:nvPr/>
        </p:nvSpPr>
        <p:spPr>
          <a:xfrm>
            <a:off x="6291072" y="3355848"/>
            <a:ext cx="5376672" cy="804672"/>
          </a:xfrm>
          <a:prstGeom prst="roundRect">
            <a:avLst>
              <a:gd name="adj" fmla="val 10227"/>
            </a:avLst>
          </a:prstGeom>
          <a:solidFill>
            <a:srgbClr val="F4EBD0"/>
          </a:solidFill>
          <a:ln w="12700">
            <a:solidFill>
              <a:srgbClr val="F4EBD0"/>
            </a:solidFill>
            <a:prstDash val="solid"/>
          </a:ln>
        </p:spPr>
        <p:txBody>
          <a:bodyPr/>
          <a:lstStyle/>
          <a:p>
            <a:endParaRPr sz="1400"/>
          </a:p>
        </p:txBody>
      </p:sp>
      <p:sp>
        <p:nvSpPr>
          <p:cNvPr id="30" name="Text 28"/>
          <p:cNvSpPr/>
          <p:nvPr/>
        </p:nvSpPr>
        <p:spPr>
          <a:xfrm>
            <a:off x="6455664" y="3483864"/>
            <a:ext cx="5047488"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1E1E24"/>
                </a:solidFill>
                <a:ea typeface="Aptos" pitchFamily="34" charset="-122"/>
                <a:cs typeface="Aptos" pitchFamily="34" charset="-120"/>
              </a:rPr>
              <a:t>Optimization bias</a:t>
            </a:r>
            <a:endParaRPr lang="en-US" sz="1400" dirty="0"/>
          </a:p>
        </p:txBody>
      </p:sp>
      <p:sp>
        <p:nvSpPr>
          <p:cNvPr id="31" name="Text 29"/>
          <p:cNvSpPr/>
          <p:nvPr/>
        </p:nvSpPr>
        <p:spPr>
          <a:xfrm>
            <a:off x="6455664" y="3751352"/>
            <a:ext cx="5047488" cy="237744"/>
          </a:xfrm>
          <a:prstGeom prst="rect">
            <a:avLst/>
          </a:prstGeom>
          <a:noFill/>
          <a:ln/>
        </p:spPr>
        <p:txBody>
          <a:bodyPr wrap="square" lIns="762" tIns="762" rIns="762" bIns="762" rtlCol="0" anchor="t">
            <a:normAutofit/>
          </a:bodyPr>
          <a:lstStyle/>
          <a:p>
            <a:pPr marL="0" indent="0" algn="l">
              <a:lnSpc>
                <a:spcPct val="95000"/>
              </a:lnSpc>
              <a:buNone/>
            </a:pPr>
            <a:r>
              <a:rPr lang="en-US" sz="1400" dirty="0">
                <a:solidFill>
                  <a:srgbClr val="1E1E24"/>
                </a:solidFill>
                <a:ea typeface="Aptos" pitchFamily="34" charset="-122"/>
                <a:cs typeface="Aptos" pitchFamily="34" charset="-120"/>
              </a:rPr>
              <a:t>Measurable performance dominates less measurable human values</a:t>
            </a:r>
            <a:endParaRPr lang="en-US" sz="1400" dirty="0"/>
          </a:p>
        </p:txBody>
      </p:sp>
      <p:sp>
        <p:nvSpPr>
          <p:cNvPr id="32" name="Shape 30"/>
          <p:cNvSpPr/>
          <p:nvPr/>
        </p:nvSpPr>
        <p:spPr>
          <a:xfrm>
            <a:off x="1417320" y="5650992"/>
            <a:ext cx="9418320" cy="457200"/>
          </a:xfrm>
          <a:prstGeom prst="roundRect">
            <a:avLst>
              <a:gd name="adj" fmla="val 16000"/>
            </a:avLst>
          </a:prstGeom>
          <a:solidFill>
            <a:srgbClr val="E7F2F2"/>
          </a:solidFill>
          <a:ln w="12700">
            <a:solidFill>
              <a:srgbClr val="E7F2F2"/>
            </a:solidFill>
            <a:prstDash val="solid"/>
          </a:ln>
        </p:spPr>
        <p:txBody>
          <a:bodyPr/>
          <a:lstStyle/>
          <a:p>
            <a:endParaRPr sz="1400"/>
          </a:p>
        </p:txBody>
      </p:sp>
      <p:sp>
        <p:nvSpPr>
          <p:cNvPr id="33" name="Text 31"/>
          <p:cNvSpPr/>
          <p:nvPr/>
        </p:nvSpPr>
        <p:spPr>
          <a:xfrm>
            <a:off x="1554480" y="5779008"/>
            <a:ext cx="9144000" cy="274320"/>
          </a:xfrm>
          <a:prstGeom prst="rect">
            <a:avLst/>
          </a:prstGeom>
          <a:noFill/>
          <a:ln/>
        </p:spPr>
        <p:txBody>
          <a:bodyPr wrap="square" lIns="762" tIns="762" rIns="762" bIns="762" rtlCol="0" anchor="ctr">
            <a:normAutofit/>
          </a:bodyPr>
          <a:lstStyle/>
          <a:p>
            <a:pPr marL="0" indent="0" algn="ctr">
              <a:lnSpc>
                <a:spcPct val="95000"/>
              </a:lnSpc>
              <a:buNone/>
            </a:pPr>
            <a:r>
              <a:rPr lang="en-US" sz="1400" b="1" dirty="0">
                <a:ea typeface="Aptos" pitchFamily="34" charset="-122"/>
                <a:cs typeface="Aptos" pitchFamily="34" charset="-120"/>
              </a:rPr>
              <a:t>What kinds of design values are easy to quantify? What kinds are difficult to quantify?</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Data use and consent</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180" dirty="0">
                <a:solidFill>
                  <a:srgbClr val="5B5B66"/>
                </a:solidFill>
                <a:ea typeface="Aptos" pitchFamily="34" charset="-122"/>
                <a:cs typeface="Aptos" pitchFamily="34" charset="-120"/>
              </a:rPr>
              <a:t>Legal access does not automatically equal ethical use</a:t>
            </a:r>
            <a:endParaRPr lang="en-US" sz="1180" dirty="0"/>
          </a:p>
        </p:txBody>
      </p:sp>
      <p:sp>
        <p:nvSpPr>
          <p:cNvPr id="11" name="Shape 9"/>
          <p:cNvSpPr/>
          <p:nvPr/>
        </p:nvSpPr>
        <p:spPr>
          <a:xfrm>
            <a:off x="685800" y="1234440"/>
            <a:ext cx="5074920" cy="3611880"/>
          </a:xfrm>
          <a:prstGeom prst="roundRect">
            <a:avLst>
              <a:gd name="adj" fmla="val 2278"/>
            </a:avLst>
          </a:prstGeom>
          <a:solidFill>
            <a:schemeClr val="accent4">
              <a:lumMod val="20000"/>
              <a:lumOff val="80000"/>
            </a:schemeClr>
          </a:solidFill>
          <a:ln w="12700">
            <a:solidFill>
              <a:srgbClr val="FFFFFF"/>
            </a:solidFill>
            <a:prstDash val="solid"/>
          </a:ln>
        </p:spPr>
        <p:txBody>
          <a:bodyPr/>
          <a:lstStyle/>
          <a:p>
            <a:endParaRPr/>
          </a:p>
        </p:txBody>
      </p:sp>
      <p:sp>
        <p:nvSpPr>
          <p:cNvPr id="12" name="Text 10"/>
          <p:cNvSpPr/>
          <p:nvPr/>
        </p:nvSpPr>
        <p:spPr>
          <a:xfrm>
            <a:off x="850392" y="1362456"/>
            <a:ext cx="4745736" cy="301752"/>
          </a:xfrm>
          <a:prstGeom prst="rect">
            <a:avLst/>
          </a:prstGeom>
          <a:noFill/>
          <a:ln/>
        </p:spPr>
        <p:txBody>
          <a:bodyPr wrap="square" lIns="762" tIns="762" rIns="762" bIns="762" rtlCol="0" anchor="t">
            <a:normAutofit/>
          </a:bodyPr>
          <a:lstStyle/>
          <a:p>
            <a:pPr marL="0" indent="0" algn="l">
              <a:lnSpc>
                <a:spcPct val="95000"/>
              </a:lnSpc>
              <a:buNone/>
            </a:pPr>
            <a:r>
              <a:rPr lang="en-US" sz="1350" b="1" dirty="0">
                <a:solidFill>
                  <a:srgbClr val="4B2E83"/>
                </a:solidFill>
                <a:ea typeface="Aptos" pitchFamily="34" charset="-122"/>
                <a:cs typeface="Aptos" pitchFamily="34" charset="-120"/>
              </a:rPr>
              <a:t>Data often used in architectural AI</a:t>
            </a:r>
            <a:endParaRPr lang="en-US" sz="1350" dirty="0"/>
          </a:p>
        </p:txBody>
      </p:sp>
      <p:sp>
        <p:nvSpPr>
          <p:cNvPr id="13" name="Text 11"/>
          <p:cNvSpPr/>
          <p:nvPr/>
        </p:nvSpPr>
        <p:spPr>
          <a:xfrm>
            <a:off x="850392" y="1709928"/>
            <a:ext cx="4745736" cy="3044952"/>
          </a:xfrm>
          <a:prstGeom prst="rect">
            <a:avLst/>
          </a:prstGeom>
          <a:noFill/>
          <a:ln/>
        </p:spPr>
        <p:txBody>
          <a:bodyPr wrap="square" lIns="762" tIns="762" rIns="762" bIns="762" rtlCol="0" anchor="t">
            <a:normAutofit/>
          </a:bodyPr>
          <a:lstStyle/>
          <a:p>
            <a:pPr>
              <a:lnSpc>
                <a:spcPct val="92000"/>
              </a:lnSpc>
            </a:pPr>
            <a:r>
              <a:rPr lang="en-US" sz="1110" dirty="0">
                <a:solidFill>
                  <a:srgbClr val="1E1E24"/>
                </a:solidFill>
                <a:ea typeface="Aptos" pitchFamily="34" charset="-122"/>
                <a:cs typeface="Aptos" pitchFamily="34" charset="-120"/>
              </a:rPr>
              <a:t>Street-view imagery
</a:t>
            </a:r>
            <a:endParaRPr lang="en-US" sz="1110" dirty="0"/>
          </a:p>
          <a:p>
            <a:pPr>
              <a:lnSpc>
                <a:spcPct val="92000"/>
              </a:lnSpc>
            </a:pPr>
            <a:r>
              <a:rPr lang="en-US" sz="1110" dirty="0">
                <a:solidFill>
                  <a:srgbClr val="1E1E24"/>
                </a:solidFill>
                <a:ea typeface="Aptos" pitchFamily="34" charset="-122"/>
                <a:cs typeface="Aptos" pitchFamily="34" charset="-120"/>
              </a:rPr>
              <a:t>Social media images
</a:t>
            </a:r>
            <a:endParaRPr lang="en-US" sz="1110" dirty="0"/>
          </a:p>
          <a:p>
            <a:pPr>
              <a:lnSpc>
                <a:spcPct val="92000"/>
              </a:lnSpc>
            </a:pPr>
            <a:r>
              <a:rPr lang="en-US" sz="1110" dirty="0">
                <a:solidFill>
                  <a:srgbClr val="1E1E24"/>
                </a:solidFill>
                <a:ea typeface="Aptos" pitchFamily="34" charset="-122"/>
                <a:cs typeface="Aptos" pitchFamily="34" charset="-120"/>
              </a:rPr>
              <a:t>Occupant behavior data
</a:t>
            </a:r>
            <a:endParaRPr lang="en-US" sz="1110" dirty="0"/>
          </a:p>
          <a:p>
            <a:pPr>
              <a:lnSpc>
                <a:spcPct val="92000"/>
              </a:lnSpc>
            </a:pPr>
            <a:r>
              <a:rPr lang="en-US" sz="1110" dirty="0">
                <a:solidFill>
                  <a:srgbClr val="1E1E24"/>
                </a:solidFill>
                <a:ea typeface="Aptos" pitchFamily="34" charset="-122"/>
                <a:cs typeface="Aptos" pitchFamily="34" charset="-120"/>
              </a:rPr>
              <a:t>Energy bills
</a:t>
            </a:r>
            <a:endParaRPr lang="en-US" sz="1110" dirty="0"/>
          </a:p>
          <a:p>
            <a:pPr>
              <a:lnSpc>
                <a:spcPct val="92000"/>
              </a:lnSpc>
            </a:pPr>
            <a:r>
              <a:rPr lang="en-US" sz="1110" dirty="0">
                <a:solidFill>
                  <a:srgbClr val="1E1E24"/>
                </a:solidFill>
                <a:ea typeface="Aptos" pitchFamily="34" charset="-122"/>
                <a:cs typeface="Aptos" pitchFamily="34" charset="-120"/>
              </a:rPr>
              <a:t>IEQ sensors
</a:t>
            </a:r>
            <a:endParaRPr lang="en-US" sz="1110" dirty="0"/>
          </a:p>
          <a:p>
            <a:pPr>
              <a:lnSpc>
                <a:spcPct val="92000"/>
              </a:lnSpc>
            </a:pPr>
            <a:r>
              <a:rPr lang="en-US" sz="1110" dirty="0">
                <a:solidFill>
                  <a:srgbClr val="1E1E24"/>
                </a:solidFill>
                <a:ea typeface="Aptos" pitchFamily="34" charset="-122"/>
                <a:cs typeface="Aptos" pitchFamily="34" charset="-120"/>
              </a:rPr>
              <a:t>Biometric or wellbeing data
</a:t>
            </a:r>
            <a:endParaRPr lang="en-US" sz="1110" dirty="0"/>
          </a:p>
          <a:p>
            <a:pPr>
              <a:lnSpc>
                <a:spcPct val="92000"/>
              </a:lnSpc>
            </a:pPr>
            <a:r>
              <a:rPr lang="en-US" sz="1110" dirty="0">
                <a:solidFill>
                  <a:srgbClr val="1E1E24"/>
                </a:solidFill>
                <a:ea typeface="Aptos" pitchFamily="34" charset="-122"/>
                <a:cs typeface="Aptos" pitchFamily="34" charset="-120"/>
              </a:rPr>
              <a:t>Community survey data
</a:t>
            </a:r>
            <a:endParaRPr lang="en-US" sz="1110" dirty="0"/>
          </a:p>
          <a:p>
            <a:pPr>
              <a:lnSpc>
                <a:spcPct val="92000"/>
              </a:lnSpc>
            </a:pPr>
            <a:r>
              <a:rPr lang="en-US" sz="1110" dirty="0">
                <a:solidFill>
                  <a:srgbClr val="1E1E24"/>
                </a:solidFill>
                <a:ea typeface="Aptos" pitchFamily="34" charset="-122"/>
                <a:cs typeface="Aptos" pitchFamily="34" charset="-120"/>
              </a:rPr>
              <a:t>GIS and parcel-level demographic data</a:t>
            </a:r>
            <a:endParaRPr lang="en-US" sz="1110" dirty="0"/>
          </a:p>
        </p:txBody>
      </p:sp>
      <p:sp>
        <p:nvSpPr>
          <p:cNvPr id="14" name="Shape 12"/>
          <p:cNvSpPr/>
          <p:nvPr/>
        </p:nvSpPr>
        <p:spPr>
          <a:xfrm>
            <a:off x="6199632" y="1234440"/>
            <a:ext cx="5303520" cy="1600200"/>
          </a:xfrm>
          <a:prstGeom prst="roundRect">
            <a:avLst>
              <a:gd name="adj" fmla="val 5143"/>
            </a:avLst>
          </a:prstGeom>
          <a:solidFill>
            <a:srgbClr val="F4EBD0"/>
          </a:solidFill>
          <a:ln w="12700">
            <a:solidFill>
              <a:srgbClr val="F4EBD0"/>
            </a:solidFill>
            <a:prstDash val="solid"/>
          </a:ln>
          <a:effectLst>
            <a:outerShdw blurRad="12700" dist="50800" dir="2700000" algn="bl" rotWithShape="0">
              <a:srgbClr val="000000">
                <a:alpha val="12000"/>
              </a:srgbClr>
            </a:outerShdw>
          </a:effectLst>
        </p:spPr>
        <p:txBody>
          <a:bodyPr/>
          <a:lstStyle/>
          <a:p>
            <a:endParaRPr/>
          </a:p>
        </p:txBody>
      </p:sp>
      <p:sp>
        <p:nvSpPr>
          <p:cNvPr id="15" name="Text 13"/>
          <p:cNvSpPr/>
          <p:nvPr/>
        </p:nvSpPr>
        <p:spPr>
          <a:xfrm>
            <a:off x="6364224" y="1362456"/>
            <a:ext cx="4974336" cy="301752"/>
          </a:xfrm>
          <a:prstGeom prst="rect">
            <a:avLst/>
          </a:prstGeom>
          <a:noFill/>
          <a:ln/>
        </p:spPr>
        <p:txBody>
          <a:bodyPr wrap="square" lIns="762" tIns="762" rIns="762" bIns="762" rtlCol="0" anchor="t">
            <a:normAutofit/>
          </a:bodyPr>
          <a:lstStyle/>
          <a:p>
            <a:pPr marL="0" indent="0" algn="l">
              <a:lnSpc>
                <a:spcPct val="95000"/>
              </a:lnSpc>
              <a:buNone/>
            </a:pPr>
            <a:r>
              <a:rPr lang="en-US" sz="1580" b="1" dirty="0">
                <a:solidFill>
                  <a:srgbClr val="1E1E24"/>
                </a:solidFill>
                <a:ea typeface="Aptos" pitchFamily="34" charset="-122"/>
                <a:cs typeface="Aptos" pitchFamily="34" charset="-120"/>
              </a:rPr>
              <a:t>Key distinction</a:t>
            </a:r>
            <a:endParaRPr lang="en-US" sz="1580" dirty="0"/>
          </a:p>
        </p:txBody>
      </p:sp>
      <p:sp>
        <p:nvSpPr>
          <p:cNvPr id="16" name="Text 14"/>
          <p:cNvSpPr/>
          <p:nvPr/>
        </p:nvSpPr>
        <p:spPr>
          <a:xfrm>
            <a:off x="6364224" y="1709928"/>
            <a:ext cx="4974336" cy="1033272"/>
          </a:xfrm>
          <a:prstGeom prst="rect">
            <a:avLst/>
          </a:prstGeom>
          <a:noFill/>
          <a:ln/>
        </p:spPr>
        <p:txBody>
          <a:bodyPr wrap="square" lIns="762" tIns="762" rIns="762" bIns="762" rtlCol="0" anchor="t">
            <a:normAutofit/>
          </a:bodyPr>
          <a:lstStyle/>
          <a:p>
            <a:pPr marL="0" indent="0" algn="l">
              <a:lnSpc>
                <a:spcPct val="95000"/>
              </a:lnSpc>
              <a:buNone/>
            </a:pPr>
            <a:r>
              <a:rPr lang="en-US" sz="1310" dirty="0">
                <a:solidFill>
                  <a:srgbClr val="1E1E24"/>
                </a:solidFill>
                <a:ea typeface="Aptos" pitchFamily="34" charset="-122"/>
                <a:cs typeface="Aptos" pitchFamily="34" charset="-120"/>
              </a:rPr>
              <a:t>Publicly visible, publicly accessible, and ethically appropriate are not the same thing. Responsible AI requires attention to consent, purpose limitation, aggregation, sensitivity, re-identification, and community expectations.</a:t>
            </a:r>
            <a:endParaRPr lang="en-US" sz="1310" dirty="0"/>
          </a:p>
        </p:txBody>
      </p:sp>
      <p:sp>
        <p:nvSpPr>
          <p:cNvPr id="17" name="Shape 15"/>
          <p:cNvSpPr/>
          <p:nvPr/>
        </p:nvSpPr>
        <p:spPr>
          <a:xfrm>
            <a:off x="6199632" y="3246120"/>
            <a:ext cx="5303520" cy="1783080"/>
          </a:xfrm>
          <a:prstGeom prst="roundRect">
            <a:avLst>
              <a:gd name="adj" fmla="val 4615"/>
            </a:avLst>
          </a:prstGeom>
          <a:solidFill>
            <a:srgbClr val="EEE9F7"/>
          </a:solidFill>
          <a:ln w="12700">
            <a:solidFill>
              <a:srgbClr val="EEE9F7"/>
            </a:solidFill>
            <a:prstDash val="solid"/>
          </a:ln>
        </p:spPr>
        <p:txBody>
          <a:bodyPr/>
          <a:lstStyle/>
          <a:p>
            <a:endParaRPr/>
          </a:p>
        </p:txBody>
      </p:sp>
      <p:sp>
        <p:nvSpPr>
          <p:cNvPr id="18" name="Text 16"/>
          <p:cNvSpPr/>
          <p:nvPr/>
        </p:nvSpPr>
        <p:spPr>
          <a:xfrm>
            <a:off x="6364224" y="3374136"/>
            <a:ext cx="4974336" cy="301752"/>
          </a:xfrm>
          <a:prstGeom prst="rect">
            <a:avLst/>
          </a:prstGeom>
          <a:noFill/>
          <a:ln/>
        </p:spPr>
        <p:txBody>
          <a:bodyPr wrap="square" lIns="762" tIns="762" rIns="762" bIns="762" rtlCol="0" anchor="t">
            <a:normAutofit/>
          </a:bodyPr>
          <a:lstStyle/>
          <a:p>
            <a:pPr marL="0" indent="0" algn="l">
              <a:lnSpc>
                <a:spcPct val="95000"/>
              </a:lnSpc>
              <a:buNone/>
            </a:pPr>
            <a:r>
              <a:rPr lang="en-US" sz="1350" b="1" dirty="0">
                <a:solidFill>
                  <a:srgbClr val="4B2E83"/>
                </a:solidFill>
                <a:ea typeface="Aptos" pitchFamily="34" charset="-122"/>
                <a:cs typeface="Aptos" pitchFamily="34" charset="-120"/>
              </a:rPr>
              <a:t>Questions to ask</a:t>
            </a:r>
            <a:endParaRPr lang="en-US" sz="1350" dirty="0"/>
          </a:p>
        </p:txBody>
      </p:sp>
      <p:sp>
        <p:nvSpPr>
          <p:cNvPr id="19" name="Text 17"/>
          <p:cNvSpPr/>
          <p:nvPr/>
        </p:nvSpPr>
        <p:spPr>
          <a:xfrm>
            <a:off x="6364224" y="3721608"/>
            <a:ext cx="4974336" cy="1216152"/>
          </a:xfrm>
          <a:prstGeom prst="rect">
            <a:avLst/>
          </a:prstGeom>
          <a:noFill/>
          <a:ln/>
        </p:spPr>
        <p:txBody>
          <a:bodyPr wrap="square" lIns="762" tIns="762" rIns="762" bIns="762" rtlCol="0" anchor="t">
            <a:normAutofit fontScale="92500" lnSpcReduction="20000"/>
          </a:bodyPr>
          <a:lstStyle/>
          <a:p>
            <a:pPr>
              <a:lnSpc>
                <a:spcPct val="92000"/>
              </a:lnSpc>
            </a:pPr>
            <a:r>
              <a:rPr lang="en-US" sz="1140" dirty="0">
                <a:solidFill>
                  <a:srgbClr val="1E1E24"/>
                </a:solidFill>
                <a:ea typeface="Aptos" pitchFamily="34" charset="-122"/>
                <a:cs typeface="Aptos" pitchFamily="34" charset="-120"/>
              </a:rPr>
              <a:t>Who provided the data?
</a:t>
            </a:r>
            <a:endParaRPr lang="en-US" sz="1140" dirty="0"/>
          </a:p>
          <a:p>
            <a:pPr>
              <a:lnSpc>
                <a:spcPct val="92000"/>
              </a:lnSpc>
            </a:pPr>
            <a:r>
              <a:rPr lang="en-US" sz="1140" dirty="0">
                <a:solidFill>
                  <a:srgbClr val="1E1E24"/>
                </a:solidFill>
                <a:ea typeface="Aptos" pitchFamily="34" charset="-122"/>
                <a:cs typeface="Aptos" pitchFamily="34" charset="-120"/>
              </a:rPr>
              <a:t>Who can be identified or inferred?
</a:t>
            </a:r>
            <a:endParaRPr lang="en-US" sz="1140" dirty="0"/>
          </a:p>
          <a:p>
            <a:pPr>
              <a:lnSpc>
                <a:spcPct val="92000"/>
              </a:lnSpc>
            </a:pPr>
            <a:r>
              <a:rPr lang="en-US" sz="1140" dirty="0">
                <a:solidFill>
                  <a:srgbClr val="1E1E24"/>
                </a:solidFill>
                <a:ea typeface="Aptos" pitchFamily="34" charset="-122"/>
                <a:cs typeface="Aptos" pitchFamily="34" charset="-120"/>
              </a:rPr>
              <a:t>Was the data collected for this purpose?
</a:t>
            </a:r>
            <a:endParaRPr lang="en-US" sz="1140" dirty="0"/>
          </a:p>
          <a:p>
            <a:pPr>
              <a:lnSpc>
                <a:spcPct val="92000"/>
              </a:lnSpc>
            </a:pPr>
            <a:r>
              <a:rPr lang="en-US" sz="1140" dirty="0">
                <a:solidFill>
                  <a:srgbClr val="1E1E24"/>
                </a:solidFill>
                <a:ea typeface="Aptos" pitchFamily="34" charset="-122"/>
                <a:cs typeface="Aptos" pitchFamily="34" charset="-120"/>
              </a:rPr>
              <a:t>Could results stigmatize a place or group?
</a:t>
            </a:r>
            <a:endParaRPr lang="en-US" sz="1140" dirty="0"/>
          </a:p>
          <a:p>
            <a:pPr>
              <a:lnSpc>
                <a:spcPct val="92000"/>
              </a:lnSpc>
            </a:pPr>
            <a:r>
              <a:rPr lang="en-US" sz="1140" dirty="0">
                <a:solidFill>
                  <a:srgbClr val="1E1E24"/>
                </a:solidFill>
                <a:ea typeface="Aptos" pitchFamily="34" charset="-122"/>
                <a:cs typeface="Aptos" pitchFamily="34" charset="-120"/>
              </a:rPr>
              <a:t>Who controls future reuse?</a:t>
            </a:r>
            <a:endParaRPr lang="en-US" sz="114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Data risk categories</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180" dirty="0">
                <a:solidFill>
                  <a:srgbClr val="5B5B66"/>
                </a:solidFill>
                <a:ea typeface="Aptos" pitchFamily="34" charset="-122"/>
                <a:cs typeface="Aptos" pitchFamily="34" charset="-120"/>
              </a:rPr>
              <a:t>Not all architectural data carries the same ethical risk</a:t>
            </a:r>
            <a:endParaRPr lang="en-US" sz="1180" dirty="0"/>
          </a:p>
        </p:txBody>
      </p:sp>
      <p:graphicFrame>
        <p:nvGraphicFramePr>
          <p:cNvPr id="13" name="Table 0"/>
          <p:cNvGraphicFramePr>
            <a:graphicFrameLocks noGrp="1"/>
          </p:cNvGraphicFramePr>
          <p:nvPr>
            <p:extLst>
              <p:ext uri="{D42A27DB-BD31-4B8C-83A1-F6EECF244321}">
                <p14:modId xmlns:p14="http://schemas.microsoft.com/office/powerpoint/2010/main" val="3777098714"/>
              </p:ext>
            </p:extLst>
          </p:nvPr>
        </p:nvGraphicFramePr>
        <p:xfrm>
          <a:off x="502920" y="1115568"/>
          <a:ext cx="11201400" cy="5166360"/>
        </p:xfrm>
        <a:graphic>
          <a:graphicData uri="http://schemas.openxmlformats.org/drawingml/2006/table">
            <a:tbl>
              <a:tblPr/>
              <a:tblGrid>
                <a:gridCol w="324612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6172200">
                  <a:extLst>
                    <a:ext uri="{9D8B030D-6E8A-4147-A177-3AD203B41FA5}">
                      <a16:colId xmlns:a16="http://schemas.microsoft.com/office/drawing/2014/main" val="20002"/>
                    </a:ext>
                  </a:extLst>
                </a:gridCol>
              </a:tblGrid>
              <a:tr h="645795">
                <a:tc>
                  <a:txBody>
                    <a:bodyPr/>
                    <a:lstStyle/>
                    <a:p>
                      <a:pPr marL="0" indent="0">
                        <a:buNone/>
                      </a:pPr>
                      <a:r>
                        <a:rPr lang="en-US" sz="1400" b="1" dirty="0">
                          <a:solidFill>
                            <a:srgbClr val="FFFFFF"/>
                          </a:solidFill>
                          <a:latin typeface="+mn-lt"/>
                          <a:ea typeface="Aptos" pitchFamily="34" charset="-122"/>
                          <a:cs typeface="Aptos" pitchFamily="34" charset="-120"/>
                        </a:rPr>
                        <a:t>Data type</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4B2E83"/>
                    </a:solidFill>
                  </a:tcPr>
                </a:tc>
                <a:tc>
                  <a:txBody>
                    <a:bodyPr/>
                    <a:lstStyle/>
                    <a:p>
                      <a:pPr marL="0" indent="0">
                        <a:buNone/>
                      </a:pPr>
                      <a:r>
                        <a:rPr lang="en-US" sz="1400" b="1" dirty="0">
                          <a:solidFill>
                            <a:srgbClr val="FFFFFF"/>
                          </a:solidFill>
                          <a:latin typeface="+mn-lt"/>
                          <a:ea typeface="Aptos" pitchFamily="34" charset="-122"/>
                          <a:cs typeface="Aptos" pitchFamily="34" charset="-120"/>
                        </a:rPr>
                        <a:t>Typical risk level</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4B2E83"/>
                    </a:solidFill>
                  </a:tcPr>
                </a:tc>
                <a:tc>
                  <a:txBody>
                    <a:bodyPr/>
                    <a:lstStyle/>
                    <a:p>
                      <a:pPr marL="0" indent="0">
                        <a:buNone/>
                      </a:pPr>
                      <a:r>
                        <a:rPr lang="en-US" sz="1400" b="1" dirty="0">
                          <a:solidFill>
                            <a:srgbClr val="FFFFFF"/>
                          </a:solidFill>
                          <a:latin typeface="+mn-lt"/>
                          <a:ea typeface="Aptos" pitchFamily="34" charset="-122"/>
                          <a:cs typeface="Aptos" pitchFamily="34" charset="-120"/>
                        </a:rPr>
                        <a:t>Main ethical issue</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4B2E83"/>
                    </a:solidFill>
                  </a:tcPr>
                </a:tc>
                <a:extLst>
                  <a:ext uri="{0D108BD9-81ED-4DB2-BD59-A6C34878D82A}">
                    <a16:rowId xmlns:a16="http://schemas.microsoft.com/office/drawing/2014/main" val="10000"/>
                  </a:ext>
                </a:extLst>
              </a:tr>
              <a:tr h="645795">
                <a:tc>
                  <a:txBody>
                    <a:bodyPr/>
                    <a:lstStyle/>
                    <a:p>
                      <a:pPr marL="0" indent="0">
                        <a:buNone/>
                      </a:pPr>
                      <a:r>
                        <a:rPr lang="en-US" sz="1400" dirty="0">
                          <a:solidFill>
                            <a:srgbClr val="1E1E24"/>
                          </a:solidFill>
                          <a:latin typeface="+mn-lt"/>
                          <a:ea typeface="Aptos" pitchFamily="34" charset="-122"/>
                          <a:cs typeface="Aptos" pitchFamily="34" charset="-120"/>
                        </a:rPr>
                        <a:t>Weather files / climate data</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r>
                        <a:rPr lang="en-US" sz="1400" dirty="0">
                          <a:solidFill>
                            <a:srgbClr val="1E1E24"/>
                          </a:solidFill>
                          <a:latin typeface="+mn-lt"/>
                          <a:ea typeface="Aptos" pitchFamily="34" charset="-122"/>
                          <a:cs typeface="Aptos" pitchFamily="34" charset="-120"/>
                        </a:rPr>
                        <a:t>Low</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r>
                        <a:rPr lang="en-US" sz="1400" dirty="0">
                          <a:solidFill>
                            <a:srgbClr val="1E1E24"/>
                          </a:solidFill>
                          <a:latin typeface="+mn-lt"/>
                          <a:ea typeface="Aptos" pitchFamily="34" charset="-122"/>
                          <a:cs typeface="Aptos" pitchFamily="34" charset="-120"/>
                        </a:rPr>
                        <a:t>Usually low privacy risk; uncertainty and representativeness matter</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5795">
                <a:tc>
                  <a:txBody>
                    <a:bodyPr/>
                    <a:lstStyle/>
                    <a:p>
                      <a:pPr marL="0" indent="0">
                        <a:buNone/>
                      </a:pPr>
                      <a:r>
                        <a:rPr lang="en-US" sz="1400" dirty="0">
                          <a:solidFill>
                            <a:srgbClr val="1E1E24"/>
                          </a:solidFill>
                          <a:latin typeface="+mn-lt"/>
                          <a:ea typeface="Aptos" pitchFamily="34" charset="-122"/>
                          <a:cs typeface="Aptos" pitchFamily="34" charset="-120"/>
                        </a:rPr>
                        <a:t>Building geometry / GIS massing</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pPr marL="0" indent="0">
                        <a:buNone/>
                      </a:pPr>
                      <a:r>
                        <a:rPr lang="en-US" sz="1400" dirty="0">
                          <a:solidFill>
                            <a:srgbClr val="1E1E24"/>
                          </a:solidFill>
                          <a:latin typeface="+mn-lt"/>
                          <a:ea typeface="Aptos" pitchFamily="34" charset="-122"/>
                          <a:cs typeface="Aptos" pitchFamily="34" charset="-120"/>
                        </a:rPr>
                        <a:t>Low–medium</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pPr marL="0" indent="0">
                        <a:buNone/>
                      </a:pPr>
                      <a:r>
                        <a:rPr lang="en-US" sz="1400" dirty="0">
                          <a:solidFill>
                            <a:srgbClr val="1E1E24"/>
                          </a:solidFill>
                          <a:latin typeface="+mn-lt"/>
                          <a:ea typeface="Aptos" pitchFamily="34" charset="-122"/>
                          <a:cs typeface="Aptos" pitchFamily="34" charset="-120"/>
                        </a:rPr>
                        <a:t>Ownership, accuracy, and potential misuse</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extLst>
                  <a:ext uri="{0D108BD9-81ED-4DB2-BD59-A6C34878D82A}">
                    <a16:rowId xmlns:a16="http://schemas.microsoft.com/office/drawing/2014/main" val="10002"/>
                  </a:ext>
                </a:extLst>
              </a:tr>
              <a:tr h="645795">
                <a:tc>
                  <a:txBody>
                    <a:bodyPr/>
                    <a:lstStyle/>
                    <a:p>
                      <a:pPr marL="0" indent="0">
                        <a:buNone/>
                      </a:pPr>
                      <a:r>
                        <a:rPr lang="en-US" sz="1400" dirty="0">
                          <a:solidFill>
                            <a:srgbClr val="1E1E24"/>
                          </a:solidFill>
                          <a:latin typeface="+mn-lt"/>
                          <a:ea typeface="Aptos" pitchFamily="34" charset="-122"/>
                          <a:cs typeface="Aptos" pitchFamily="34" charset="-120"/>
                        </a:rPr>
                        <a:t>Street-view imagery</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r>
                        <a:rPr lang="en-US" sz="1400" dirty="0">
                          <a:solidFill>
                            <a:srgbClr val="1E1E24"/>
                          </a:solidFill>
                          <a:latin typeface="+mn-lt"/>
                          <a:ea typeface="Aptos" pitchFamily="34" charset="-122"/>
                          <a:cs typeface="Aptos" pitchFamily="34" charset="-120"/>
                        </a:rPr>
                        <a:t>Medium</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r>
                        <a:rPr lang="en-US" sz="1400" dirty="0">
                          <a:solidFill>
                            <a:srgbClr val="1E1E24"/>
                          </a:solidFill>
                          <a:latin typeface="+mn-lt"/>
                          <a:ea typeface="Aptos" pitchFamily="34" charset="-122"/>
                          <a:cs typeface="Aptos" pitchFamily="34" charset="-120"/>
                        </a:rPr>
                        <a:t>Public visibility vs. consent; neighborhood representation</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5795">
                <a:tc>
                  <a:txBody>
                    <a:bodyPr/>
                    <a:lstStyle/>
                    <a:p>
                      <a:pPr marL="0" indent="0">
                        <a:buNone/>
                      </a:pPr>
                      <a:r>
                        <a:rPr lang="en-US" sz="1400" dirty="0">
                          <a:solidFill>
                            <a:srgbClr val="1E1E24"/>
                          </a:solidFill>
                          <a:latin typeface="+mn-lt"/>
                          <a:ea typeface="Aptos" pitchFamily="34" charset="-122"/>
                          <a:cs typeface="Aptos" pitchFamily="34" charset="-120"/>
                        </a:rPr>
                        <a:t>Energy-use data</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pPr marL="0" indent="0">
                        <a:buNone/>
                      </a:pPr>
                      <a:r>
                        <a:rPr lang="en-US" sz="1400" dirty="0">
                          <a:solidFill>
                            <a:srgbClr val="1E1E24"/>
                          </a:solidFill>
                          <a:latin typeface="+mn-lt"/>
                          <a:ea typeface="Aptos" pitchFamily="34" charset="-122"/>
                          <a:cs typeface="Aptos" pitchFamily="34" charset="-120"/>
                        </a:rPr>
                        <a:t>Medium–high</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pPr marL="0" indent="0">
                        <a:buNone/>
                      </a:pPr>
                      <a:r>
                        <a:rPr lang="en-US" sz="1400" dirty="0">
                          <a:solidFill>
                            <a:srgbClr val="1E1E24"/>
                          </a:solidFill>
                          <a:latin typeface="+mn-lt"/>
                          <a:ea typeface="Aptos" pitchFamily="34" charset="-122"/>
                          <a:cs typeface="Aptos" pitchFamily="34" charset="-120"/>
                        </a:rPr>
                        <a:t>Re-identification, occupancy inference, and privacy</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extLst>
                  <a:ext uri="{0D108BD9-81ED-4DB2-BD59-A6C34878D82A}">
                    <a16:rowId xmlns:a16="http://schemas.microsoft.com/office/drawing/2014/main" val="10004"/>
                  </a:ext>
                </a:extLst>
              </a:tr>
              <a:tr h="645795">
                <a:tc>
                  <a:txBody>
                    <a:bodyPr/>
                    <a:lstStyle/>
                    <a:p>
                      <a:pPr marL="0" indent="0">
                        <a:buNone/>
                      </a:pPr>
                      <a:r>
                        <a:rPr lang="en-US" sz="1400" dirty="0">
                          <a:solidFill>
                            <a:srgbClr val="1E1E24"/>
                          </a:solidFill>
                          <a:latin typeface="+mn-lt"/>
                          <a:ea typeface="Aptos" pitchFamily="34" charset="-122"/>
                          <a:cs typeface="Aptos" pitchFamily="34" charset="-120"/>
                        </a:rPr>
                        <a:t>Occupant feedback / POE</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r>
                        <a:rPr lang="en-US" sz="1400" dirty="0">
                          <a:solidFill>
                            <a:srgbClr val="1E1E24"/>
                          </a:solidFill>
                          <a:latin typeface="+mn-lt"/>
                          <a:ea typeface="Aptos" pitchFamily="34" charset="-122"/>
                          <a:cs typeface="Aptos" pitchFamily="34" charset="-120"/>
                        </a:rPr>
                        <a:t>High</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r>
                        <a:rPr lang="en-US" sz="1400" dirty="0">
                          <a:solidFill>
                            <a:srgbClr val="1E1E24"/>
                          </a:solidFill>
                          <a:latin typeface="+mn-lt"/>
                          <a:ea typeface="Aptos" pitchFamily="34" charset="-122"/>
                          <a:cs typeface="Aptos" pitchFamily="34" charset="-120"/>
                        </a:rPr>
                        <a:t>Consent, interpretation, vulnerability, and power relations</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45795">
                <a:tc>
                  <a:txBody>
                    <a:bodyPr/>
                    <a:lstStyle/>
                    <a:p>
                      <a:pPr marL="0" indent="0">
                        <a:buNone/>
                      </a:pPr>
                      <a:r>
                        <a:rPr lang="en-US" sz="1400" dirty="0">
                          <a:solidFill>
                            <a:srgbClr val="1E1E24"/>
                          </a:solidFill>
                          <a:latin typeface="+mn-lt"/>
                          <a:ea typeface="Aptos" pitchFamily="34" charset="-122"/>
                          <a:cs typeface="Aptos" pitchFamily="34" charset="-120"/>
                        </a:rPr>
                        <a:t>Biometric / wellbeing data</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pPr marL="0" indent="0">
                        <a:buNone/>
                      </a:pPr>
                      <a:r>
                        <a:rPr lang="en-US" sz="1400" dirty="0">
                          <a:solidFill>
                            <a:srgbClr val="1E1E24"/>
                          </a:solidFill>
                          <a:latin typeface="+mn-lt"/>
                          <a:ea typeface="Aptos" pitchFamily="34" charset="-122"/>
                          <a:cs typeface="Aptos" pitchFamily="34" charset="-120"/>
                        </a:rPr>
                        <a:t>Very high</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pPr marL="0" indent="0">
                        <a:buNone/>
                      </a:pPr>
                      <a:r>
                        <a:rPr lang="en-US" sz="1400" dirty="0">
                          <a:solidFill>
                            <a:srgbClr val="1E1E24"/>
                          </a:solidFill>
                          <a:latin typeface="+mn-lt"/>
                          <a:ea typeface="Aptos" pitchFamily="34" charset="-122"/>
                          <a:cs typeface="Aptos" pitchFamily="34" charset="-120"/>
                        </a:rPr>
                        <a:t>Health, identity, surveillance, and human-subjects concerns</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extLst>
                  <a:ext uri="{0D108BD9-81ED-4DB2-BD59-A6C34878D82A}">
                    <a16:rowId xmlns:a16="http://schemas.microsoft.com/office/drawing/2014/main" val="10006"/>
                  </a:ext>
                </a:extLst>
              </a:tr>
              <a:tr h="645795">
                <a:tc>
                  <a:txBody>
                    <a:bodyPr/>
                    <a:lstStyle/>
                    <a:p>
                      <a:pPr marL="0" indent="0">
                        <a:buNone/>
                      </a:pPr>
                      <a:r>
                        <a:rPr lang="en-US" sz="1400" dirty="0">
                          <a:solidFill>
                            <a:srgbClr val="1E1E24"/>
                          </a:solidFill>
                          <a:latin typeface="+mn-lt"/>
                          <a:ea typeface="Aptos" pitchFamily="34" charset="-122"/>
                          <a:cs typeface="Aptos" pitchFamily="34" charset="-120"/>
                        </a:rPr>
                        <a:t>Community health / vulnerability data</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r>
                        <a:rPr lang="en-US" sz="1400" dirty="0">
                          <a:solidFill>
                            <a:srgbClr val="1E1E24"/>
                          </a:solidFill>
                          <a:latin typeface="+mn-lt"/>
                          <a:ea typeface="Aptos" pitchFamily="34" charset="-122"/>
                          <a:cs typeface="Aptos" pitchFamily="34" charset="-120"/>
                        </a:rPr>
                        <a:t>Very high</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r>
                        <a:rPr lang="en-US" sz="1400" dirty="0">
                          <a:solidFill>
                            <a:srgbClr val="1E1E24"/>
                          </a:solidFill>
                          <a:latin typeface="+mn-lt"/>
                          <a:ea typeface="Aptos" pitchFamily="34" charset="-122"/>
                          <a:cs typeface="Aptos" pitchFamily="34" charset="-120"/>
                        </a:rPr>
                        <a:t>Equity, stigmatization, aggregation, and governance</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The problem of proxy variables</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180" dirty="0">
                <a:solidFill>
                  <a:srgbClr val="5B5B66"/>
                </a:solidFill>
                <a:ea typeface="Aptos" pitchFamily="34" charset="-122"/>
                <a:cs typeface="Aptos" pitchFamily="34" charset="-120"/>
              </a:rPr>
              <a:t>AI often learns from indirect indicators rather than the thing we actually care about</a:t>
            </a:r>
            <a:endParaRPr lang="en-US" sz="1180" dirty="0"/>
          </a:p>
        </p:txBody>
      </p:sp>
      <p:sp>
        <p:nvSpPr>
          <p:cNvPr id="11" name="Shape 9"/>
          <p:cNvSpPr/>
          <p:nvPr/>
        </p:nvSpPr>
        <p:spPr>
          <a:xfrm>
            <a:off x="627888" y="1856145"/>
            <a:ext cx="4526280" cy="2834640"/>
          </a:xfrm>
          <a:prstGeom prst="roundRect">
            <a:avLst>
              <a:gd name="adj" fmla="val 2903"/>
            </a:avLst>
          </a:prstGeom>
          <a:solidFill>
            <a:schemeClr val="accent4">
              <a:lumMod val="20000"/>
              <a:lumOff val="80000"/>
            </a:schemeClr>
          </a:solidFill>
          <a:ln w="12700">
            <a:solidFill>
              <a:srgbClr val="FFFFFF"/>
            </a:solidFill>
            <a:prstDash val="solid"/>
          </a:ln>
        </p:spPr>
        <p:txBody>
          <a:bodyPr/>
          <a:lstStyle/>
          <a:p>
            <a:endParaRPr sz="1400"/>
          </a:p>
        </p:txBody>
      </p:sp>
      <p:sp>
        <p:nvSpPr>
          <p:cNvPr id="12" name="Text 10"/>
          <p:cNvSpPr/>
          <p:nvPr/>
        </p:nvSpPr>
        <p:spPr>
          <a:xfrm>
            <a:off x="792480" y="1984161"/>
            <a:ext cx="4197096"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4B2E83"/>
                </a:solidFill>
                <a:ea typeface="Aptos" pitchFamily="34" charset="-122"/>
                <a:cs typeface="Aptos" pitchFamily="34" charset="-120"/>
              </a:rPr>
              <a:t>Common proxies</a:t>
            </a:r>
            <a:endParaRPr lang="en-US" sz="1400" dirty="0"/>
          </a:p>
        </p:txBody>
      </p:sp>
      <p:sp>
        <p:nvSpPr>
          <p:cNvPr id="13" name="Text 11"/>
          <p:cNvSpPr/>
          <p:nvPr/>
        </p:nvSpPr>
        <p:spPr>
          <a:xfrm>
            <a:off x="792480" y="2331633"/>
            <a:ext cx="4197096" cy="2267712"/>
          </a:xfrm>
          <a:prstGeom prst="rect">
            <a:avLst/>
          </a:prstGeom>
          <a:noFill/>
          <a:ln/>
        </p:spPr>
        <p:txBody>
          <a:bodyPr wrap="square" lIns="762" tIns="762" rIns="762" bIns="762" rtlCol="0" anchor="t">
            <a:normAutofit/>
          </a:bodyPr>
          <a:lstStyle/>
          <a:p>
            <a:pPr>
              <a:lnSpc>
                <a:spcPct val="92000"/>
              </a:lnSpc>
            </a:pPr>
            <a:r>
              <a:rPr lang="en-US" sz="1400" dirty="0">
                <a:solidFill>
                  <a:srgbClr val="1E1E24"/>
                </a:solidFill>
                <a:ea typeface="Aptos" pitchFamily="34" charset="-122"/>
                <a:cs typeface="Aptos" pitchFamily="34" charset="-120"/>
              </a:rPr>
              <a:t>Income → vulnerability
</a:t>
            </a:r>
            <a:endParaRPr lang="en-US" sz="1400" dirty="0"/>
          </a:p>
          <a:p>
            <a:pPr>
              <a:lnSpc>
                <a:spcPct val="92000"/>
              </a:lnSpc>
            </a:pPr>
            <a:r>
              <a:rPr lang="en-US" sz="1400" dirty="0">
                <a:solidFill>
                  <a:srgbClr val="1E1E24"/>
                </a:solidFill>
                <a:ea typeface="Aptos" pitchFamily="34" charset="-122"/>
                <a:cs typeface="Aptos" pitchFamily="34" charset="-120"/>
              </a:rPr>
              <a:t>Building age → inefficiency
</a:t>
            </a:r>
            <a:endParaRPr lang="en-US" sz="1400" dirty="0"/>
          </a:p>
          <a:p>
            <a:pPr>
              <a:lnSpc>
                <a:spcPct val="92000"/>
              </a:lnSpc>
            </a:pPr>
            <a:r>
              <a:rPr lang="en-US" sz="1400" dirty="0">
                <a:solidFill>
                  <a:srgbClr val="1E1E24"/>
                </a:solidFill>
                <a:ea typeface="Aptos" pitchFamily="34" charset="-122"/>
                <a:cs typeface="Aptos" pitchFamily="34" charset="-120"/>
              </a:rPr>
              <a:t>Facade condition → retrofit need
</a:t>
            </a:r>
            <a:endParaRPr lang="en-US" sz="1400" dirty="0"/>
          </a:p>
          <a:p>
            <a:pPr>
              <a:lnSpc>
                <a:spcPct val="92000"/>
              </a:lnSpc>
            </a:pPr>
            <a:r>
              <a:rPr lang="en-US" sz="1400" dirty="0">
                <a:solidFill>
                  <a:srgbClr val="1E1E24"/>
                </a:solidFill>
                <a:ea typeface="Aptos" pitchFamily="34" charset="-122"/>
                <a:cs typeface="Aptos" pitchFamily="34" charset="-120"/>
              </a:rPr>
              <a:t>Sensor readings → comfort
</a:t>
            </a:r>
            <a:endParaRPr lang="en-US" sz="1400" dirty="0"/>
          </a:p>
          <a:p>
            <a:pPr>
              <a:lnSpc>
                <a:spcPct val="92000"/>
              </a:lnSpc>
            </a:pPr>
            <a:r>
              <a:rPr lang="en-US" sz="1400" dirty="0">
                <a:solidFill>
                  <a:srgbClr val="1E1E24"/>
                </a:solidFill>
                <a:ea typeface="Aptos" pitchFamily="34" charset="-122"/>
                <a:cs typeface="Aptos" pitchFamily="34" charset="-120"/>
              </a:rPr>
              <a:t>Online images → public preference
</a:t>
            </a:r>
            <a:endParaRPr lang="en-US" sz="1400" dirty="0"/>
          </a:p>
          <a:p>
            <a:pPr>
              <a:lnSpc>
                <a:spcPct val="92000"/>
              </a:lnSpc>
            </a:pPr>
            <a:r>
              <a:rPr lang="en-US" sz="1400" dirty="0">
                <a:solidFill>
                  <a:srgbClr val="1E1E24"/>
                </a:solidFill>
                <a:ea typeface="Aptos" pitchFamily="34" charset="-122"/>
                <a:cs typeface="Aptos" pitchFamily="34" charset="-120"/>
              </a:rPr>
              <a:t>Distance to transit → access</a:t>
            </a:r>
            <a:endParaRPr lang="en-US" sz="1400" dirty="0"/>
          </a:p>
        </p:txBody>
      </p:sp>
      <p:sp>
        <p:nvSpPr>
          <p:cNvPr id="14" name="Shape 12"/>
          <p:cNvSpPr/>
          <p:nvPr/>
        </p:nvSpPr>
        <p:spPr>
          <a:xfrm>
            <a:off x="5501640" y="1856145"/>
            <a:ext cx="2880360" cy="2834640"/>
          </a:xfrm>
          <a:prstGeom prst="roundRect">
            <a:avLst>
              <a:gd name="adj" fmla="val 2903"/>
            </a:avLst>
          </a:prstGeom>
          <a:solidFill>
            <a:srgbClr val="E7F2F2"/>
          </a:solidFill>
          <a:ln w="12700">
            <a:solidFill>
              <a:srgbClr val="E7F2F2"/>
            </a:solidFill>
            <a:prstDash val="solid"/>
          </a:ln>
        </p:spPr>
        <p:txBody>
          <a:bodyPr/>
          <a:lstStyle/>
          <a:p>
            <a:endParaRPr sz="1400"/>
          </a:p>
        </p:txBody>
      </p:sp>
      <p:sp>
        <p:nvSpPr>
          <p:cNvPr id="15" name="Text 13"/>
          <p:cNvSpPr/>
          <p:nvPr/>
        </p:nvSpPr>
        <p:spPr>
          <a:xfrm>
            <a:off x="5666232" y="1984161"/>
            <a:ext cx="2551176"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2D7A7B"/>
                </a:solidFill>
                <a:ea typeface="Aptos" pitchFamily="34" charset="-122"/>
                <a:cs typeface="Aptos" pitchFamily="34" charset="-120"/>
              </a:rPr>
              <a:t>Why proxies are useful</a:t>
            </a:r>
            <a:endParaRPr lang="en-US" sz="1400" dirty="0"/>
          </a:p>
        </p:txBody>
      </p:sp>
      <p:sp>
        <p:nvSpPr>
          <p:cNvPr id="16" name="Text 14"/>
          <p:cNvSpPr/>
          <p:nvPr/>
        </p:nvSpPr>
        <p:spPr>
          <a:xfrm>
            <a:off x="5666232" y="2331633"/>
            <a:ext cx="2551176" cy="2267712"/>
          </a:xfrm>
          <a:prstGeom prst="rect">
            <a:avLst/>
          </a:prstGeom>
          <a:noFill/>
          <a:ln/>
        </p:spPr>
        <p:txBody>
          <a:bodyPr wrap="square" lIns="762" tIns="762" rIns="762" bIns="762" rtlCol="0" anchor="t">
            <a:normAutofit/>
          </a:bodyPr>
          <a:lstStyle/>
          <a:p>
            <a:pPr marL="0" indent="0" algn="l">
              <a:lnSpc>
                <a:spcPct val="95000"/>
              </a:lnSpc>
              <a:buNone/>
            </a:pPr>
            <a:r>
              <a:rPr lang="en-US" sz="1400" dirty="0">
                <a:solidFill>
                  <a:srgbClr val="1E1E24"/>
                </a:solidFill>
                <a:ea typeface="Aptos" pitchFamily="34" charset="-122"/>
                <a:cs typeface="Aptos" pitchFamily="34" charset="-120"/>
              </a:rPr>
              <a:t>They make complex conditions measurable. They can help compare options, identify patterns, and support early-stage screening when direct measurement is unavailable.</a:t>
            </a:r>
            <a:endParaRPr lang="en-US" sz="1400" dirty="0"/>
          </a:p>
        </p:txBody>
      </p:sp>
      <p:sp>
        <p:nvSpPr>
          <p:cNvPr id="17" name="Shape 15"/>
          <p:cNvSpPr/>
          <p:nvPr/>
        </p:nvSpPr>
        <p:spPr>
          <a:xfrm>
            <a:off x="8674608" y="1856145"/>
            <a:ext cx="2834640" cy="2834640"/>
          </a:xfrm>
          <a:prstGeom prst="roundRect">
            <a:avLst>
              <a:gd name="adj" fmla="val 2903"/>
            </a:avLst>
          </a:prstGeom>
          <a:solidFill>
            <a:srgbClr val="F5E8E8"/>
          </a:solidFill>
          <a:ln w="12700">
            <a:solidFill>
              <a:srgbClr val="F5E8E8"/>
            </a:solidFill>
            <a:prstDash val="solid"/>
          </a:ln>
        </p:spPr>
        <p:txBody>
          <a:bodyPr/>
          <a:lstStyle/>
          <a:p>
            <a:endParaRPr sz="1400"/>
          </a:p>
        </p:txBody>
      </p:sp>
      <p:sp>
        <p:nvSpPr>
          <p:cNvPr id="18" name="Text 16"/>
          <p:cNvSpPr/>
          <p:nvPr/>
        </p:nvSpPr>
        <p:spPr>
          <a:xfrm>
            <a:off x="8839200" y="1984161"/>
            <a:ext cx="2505456"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9A3B3B"/>
                </a:solidFill>
                <a:ea typeface="Aptos" pitchFamily="34" charset="-122"/>
                <a:cs typeface="Aptos" pitchFamily="34" charset="-120"/>
              </a:rPr>
              <a:t>Why proxies are risky</a:t>
            </a:r>
            <a:endParaRPr lang="en-US" sz="1400" dirty="0"/>
          </a:p>
        </p:txBody>
      </p:sp>
      <p:sp>
        <p:nvSpPr>
          <p:cNvPr id="19" name="Text 17"/>
          <p:cNvSpPr/>
          <p:nvPr/>
        </p:nvSpPr>
        <p:spPr>
          <a:xfrm>
            <a:off x="8839200" y="2331633"/>
            <a:ext cx="2505456" cy="2267712"/>
          </a:xfrm>
          <a:prstGeom prst="rect">
            <a:avLst/>
          </a:prstGeom>
          <a:noFill/>
          <a:ln/>
        </p:spPr>
        <p:txBody>
          <a:bodyPr wrap="square" lIns="762" tIns="762" rIns="762" bIns="762" rtlCol="0" anchor="t">
            <a:normAutofit/>
          </a:bodyPr>
          <a:lstStyle/>
          <a:p>
            <a:pPr marL="0" indent="0" algn="l">
              <a:lnSpc>
                <a:spcPct val="95000"/>
              </a:lnSpc>
              <a:buNone/>
            </a:pPr>
            <a:r>
              <a:rPr lang="en-US" sz="1400" dirty="0">
                <a:solidFill>
                  <a:srgbClr val="1E1E24"/>
                </a:solidFill>
                <a:ea typeface="Aptos" pitchFamily="34" charset="-122"/>
                <a:cs typeface="Aptos" pitchFamily="34" charset="-120"/>
              </a:rPr>
              <a:t>They can reduce people and places to simplified labels, amplify historical inequities, or hide uncertainty behind a numeric score.</a:t>
            </a:r>
            <a:endParaRPr lang="en-US" sz="1400" dirty="0"/>
          </a:p>
        </p:txBody>
      </p:sp>
      <p:sp>
        <p:nvSpPr>
          <p:cNvPr id="20" name="Shape 18"/>
          <p:cNvSpPr/>
          <p:nvPr/>
        </p:nvSpPr>
        <p:spPr>
          <a:xfrm>
            <a:off x="1386840" y="5422305"/>
            <a:ext cx="9418320" cy="658368"/>
          </a:xfrm>
          <a:prstGeom prst="roundRect">
            <a:avLst>
              <a:gd name="adj" fmla="val 11111"/>
            </a:avLst>
          </a:prstGeom>
          <a:solidFill>
            <a:srgbClr val="F4EBD0"/>
          </a:solidFill>
          <a:ln w="12700">
            <a:solidFill>
              <a:srgbClr val="F4EBD0"/>
            </a:solidFill>
            <a:prstDash val="solid"/>
          </a:ln>
        </p:spPr>
        <p:txBody>
          <a:bodyPr/>
          <a:lstStyle/>
          <a:p>
            <a:endParaRPr sz="1400"/>
          </a:p>
        </p:txBody>
      </p:sp>
      <p:sp>
        <p:nvSpPr>
          <p:cNvPr id="21" name="Text 19"/>
          <p:cNvSpPr/>
          <p:nvPr/>
        </p:nvSpPr>
        <p:spPr>
          <a:xfrm>
            <a:off x="1524000" y="5550321"/>
            <a:ext cx="9144000" cy="475488"/>
          </a:xfrm>
          <a:prstGeom prst="rect">
            <a:avLst/>
          </a:prstGeom>
          <a:noFill/>
          <a:ln/>
        </p:spPr>
        <p:txBody>
          <a:bodyPr wrap="square" lIns="762" tIns="762" rIns="762" bIns="762" rtlCol="0" anchor="ctr">
            <a:normAutofit/>
          </a:bodyPr>
          <a:lstStyle/>
          <a:p>
            <a:pPr marL="0" indent="0" algn="ctr">
              <a:lnSpc>
                <a:spcPct val="95000"/>
              </a:lnSpc>
              <a:buNone/>
            </a:pPr>
            <a:r>
              <a:rPr lang="en-US" sz="1400" b="1" dirty="0">
                <a:solidFill>
                  <a:srgbClr val="1E1E24"/>
                </a:solidFill>
                <a:ea typeface="Aptos" pitchFamily="34" charset="-122"/>
                <a:cs typeface="Aptos" pitchFamily="34" charset="-120"/>
              </a:rPr>
              <a:t>Question: When does a proxy become useful, and when does it become reductive or harmful?</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Performance metrics are ethical choices</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180" dirty="0">
                <a:solidFill>
                  <a:srgbClr val="5B5B66"/>
                </a:solidFill>
                <a:ea typeface="Aptos" pitchFamily="34" charset="-122"/>
                <a:cs typeface="Aptos" pitchFamily="34" charset="-120"/>
              </a:rPr>
              <a:t>What we choose to measure becomes what the model learns to value</a:t>
            </a:r>
            <a:endParaRPr lang="en-US" sz="1180" dirty="0"/>
          </a:p>
        </p:txBody>
      </p:sp>
      <p:sp>
        <p:nvSpPr>
          <p:cNvPr id="11" name="Shape 9"/>
          <p:cNvSpPr/>
          <p:nvPr/>
        </p:nvSpPr>
        <p:spPr>
          <a:xfrm>
            <a:off x="685800" y="1234440"/>
            <a:ext cx="5029200" cy="1143000"/>
          </a:xfrm>
          <a:prstGeom prst="roundRect">
            <a:avLst>
              <a:gd name="adj" fmla="val 7200"/>
            </a:avLst>
          </a:prstGeom>
          <a:solidFill>
            <a:schemeClr val="accent4">
              <a:lumMod val="20000"/>
              <a:lumOff val="80000"/>
            </a:schemeClr>
          </a:solidFill>
          <a:ln w="12700">
            <a:solidFill>
              <a:srgbClr val="FFFFFF"/>
            </a:solidFill>
            <a:prstDash val="solid"/>
          </a:ln>
          <a:effectLst>
            <a:outerShdw blurRad="12700" dist="50800" dir="2700000" algn="bl" rotWithShape="0">
              <a:srgbClr val="000000">
                <a:alpha val="12000"/>
              </a:srgbClr>
            </a:outerShdw>
          </a:effectLst>
        </p:spPr>
        <p:txBody>
          <a:bodyPr/>
          <a:lstStyle/>
          <a:p>
            <a:endParaRPr dirty="0"/>
          </a:p>
        </p:txBody>
      </p:sp>
      <p:sp>
        <p:nvSpPr>
          <p:cNvPr id="12" name="Text 10"/>
          <p:cNvSpPr/>
          <p:nvPr/>
        </p:nvSpPr>
        <p:spPr>
          <a:xfrm>
            <a:off x="850392" y="1362456"/>
            <a:ext cx="4700016" cy="301752"/>
          </a:xfrm>
          <a:prstGeom prst="rect">
            <a:avLst/>
          </a:prstGeom>
          <a:noFill/>
          <a:ln/>
        </p:spPr>
        <p:txBody>
          <a:bodyPr wrap="square" lIns="762" tIns="762" rIns="762" bIns="762" rtlCol="0" anchor="t">
            <a:normAutofit/>
          </a:bodyPr>
          <a:lstStyle/>
          <a:p>
            <a:pPr marL="0" indent="0" algn="l">
              <a:lnSpc>
                <a:spcPct val="95000"/>
              </a:lnSpc>
              <a:buNone/>
            </a:pPr>
            <a:r>
              <a:rPr lang="en-US" sz="1480" b="1" dirty="0">
                <a:solidFill>
                  <a:srgbClr val="4B2E83"/>
                </a:solidFill>
                <a:ea typeface="Aptos" pitchFamily="34" charset="-122"/>
                <a:cs typeface="Aptos" pitchFamily="34" charset="-120"/>
              </a:rPr>
              <a:t>Energy / carbon</a:t>
            </a:r>
            <a:endParaRPr lang="en-US" sz="1480" dirty="0"/>
          </a:p>
        </p:txBody>
      </p:sp>
      <p:sp>
        <p:nvSpPr>
          <p:cNvPr id="13" name="Text 11"/>
          <p:cNvSpPr/>
          <p:nvPr/>
        </p:nvSpPr>
        <p:spPr>
          <a:xfrm>
            <a:off x="850392" y="1709928"/>
            <a:ext cx="4700016" cy="576072"/>
          </a:xfrm>
          <a:prstGeom prst="rect">
            <a:avLst/>
          </a:prstGeom>
          <a:noFill/>
          <a:ln/>
        </p:spPr>
        <p:txBody>
          <a:bodyPr wrap="square" lIns="762" tIns="762" rIns="762" bIns="762" rtlCol="0" anchor="t">
            <a:normAutofit/>
          </a:bodyPr>
          <a:lstStyle/>
          <a:p>
            <a:pPr marL="0" indent="0" algn="l">
              <a:lnSpc>
                <a:spcPct val="95000"/>
              </a:lnSpc>
              <a:buNone/>
            </a:pPr>
            <a:r>
              <a:rPr lang="en-US" sz="1220" dirty="0">
                <a:solidFill>
                  <a:srgbClr val="1E1E24"/>
                </a:solidFill>
                <a:ea typeface="Aptos" pitchFamily="34" charset="-122"/>
                <a:cs typeface="Aptos" pitchFamily="34" charset="-120"/>
              </a:rPr>
              <a:t>EUI, peak load, operational carbon, embodied carbon</a:t>
            </a:r>
            <a:endParaRPr lang="en-US" sz="1220" dirty="0"/>
          </a:p>
        </p:txBody>
      </p:sp>
      <p:sp>
        <p:nvSpPr>
          <p:cNvPr id="14" name="Shape 12"/>
          <p:cNvSpPr/>
          <p:nvPr/>
        </p:nvSpPr>
        <p:spPr>
          <a:xfrm>
            <a:off x="6217920" y="1234440"/>
            <a:ext cx="5029200" cy="1143000"/>
          </a:xfrm>
          <a:prstGeom prst="roundRect">
            <a:avLst>
              <a:gd name="adj" fmla="val 7200"/>
            </a:avLst>
          </a:prstGeom>
          <a:solidFill>
            <a:schemeClr val="accent4">
              <a:lumMod val="20000"/>
              <a:lumOff val="80000"/>
            </a:schemeClr>
          </a:solidFill>
          <a:ln w="12700">
            <a:solidFill>
              <a:srgbClr val="FFFFFF"/>
            </a:solidFill>
            <a:prstDash val="solid"/>
          </a:ln>
          <a:effectLst>
            <a:outerShdw blurRad="12700" dist="50800" dir="2700000" algn="bl" rotWithShape="0">
              <a:srgbClr val="000000">
                <a:alpha val="12000"/>
              </a:srgbClr>
            </a:outerShdw>
          </a:effectLst>
        </p:spPr>
        <p:txBody>
          <a:bodyPr/>
          <a:lstStyle/>
          <a:p>
            <a:endParaRPr/>
          </a:p>
        </p:txBody>
      </p:sp>
      <p:sp>
        <p:nvSpPr>
          <p:cNvPr id="15" name="Text 13"/>
          <p:cNvSpPr/>
          <p:nvPr/>
        </p:nvSpPr>
        <p:spPr>
          <a:xfrm>
            <a:off x="6382512" y="1362456"/>
            <a:ext cx="4700016" cy="301752"/>
          </a:xfrm>
          <a:prstGeom prst="rect">
            <a:avLst/>
          </a:prstGeom>
          <a:noFill/>
          <a:ln/>
        </p:spPr>
        <p:txBody>
          <a:bodyPr wrap="square" lIns="762" tIns="762" rIns="762" bIns="762" rtlCol="0" anchor="t">
            <a:normAutofit/>
          </a:bodyPr>
          <a:lstStyle/>
          <a:p>
            <a:pPr marL="0" indent="0" algn="l">
              <a:lnSpc>
                <a:spcPct val="95000"/>
              </a:lnSpc>
              <a:buNone/>
            </a:pPr>
            <a:r>
              <a:rPr lang="en-US" sz="1480" b="1" dirty="0">
                <a:solidFill>
                  <a:srgbClr val="4B2E83"/>
                </a:solidFill>
                <a:ea typeface="Aptos" pitchFamily="34" charset="-122"/>
                <a:cs typeface="Aptos" pitchFamily="34" charset="-120"/>
              </a:rPr>
              <a:t>Environmental quality</a:t>
            </a:r>
            <a:endParaRPr lang="en-US" sz="1480" dirty="0"/>
          </a:p>
        </p:txBody>
      </p:sp>
      <p:sp>
        <p:nvSpPr>
          <p:cNvPr id="16" name="Text 14"/>
          <p:cNvSpPr/>
          <p:nvPr/>
        </p:nvSpPr>
        <p:spPr>
          <a:xfrm>
            <a:off x="6382512" y="1709928"/>
            <a:ext cx="4700016" cy="576072"/>
          </a:xfrm>
          <a:prstGeom prst="rect">
            <a:avLst/>
          </a:prstGeom>
          <a:noFill/>
          <a:ln/>
        </p:spPr>
        <p:txBody>
          <a:bodyPr wrap="square" lIns="762" tIns="762" rIns="762" bIns="762" rtlCol="0" anchor="t">
            <a:normAutofit/>
          </a:bodyPr>
          <a:lstStyle/>
          <a:p>
            <a:pPr marL="0" indent="0" algn="l">
              <a:lnSpc>
                <a:spcPct val="95000"/>
              </a:lnSpc>
              <a:buNone/>
            </a:pPr>
            <a:r>
              <a:rPr lang="en-US" sz="1220" dirty="0">
                <a:solidFill>
                  <a:srgbClr val="1E1E24"/>
                </a:solidFill>
                <a:ea typeface="Aptos" pitchFamily="34" charset="-122"/>
                <a:cs typeface="Aptos" pitchFamily="34" charset="-120"/>
              </a:rPr>
              <a:t>sDA, ASE, glare, PMV, adaptive comfort, air quality</a:t>
            </a:r>
            <a:endParaRPr lang="en-US" sz="1220" dirty="0"/>
          </a:p>
        </p:txBody>
      </p:sp>
      <p:sp>
        <p:nvSpPr>
          <p:cNvPr id="17" name="Shape 15"/>
          <p:cNvSpPr/>
          <p:nvPr/>
        </p:nvSpPr>
        <p:spPr>
          <a:xfrm>
            <a:off x="685800" y="2834640"/>
            <a:ext cx="5029200" cy="1143000"/>
          </a:xfrm>
          <a:prstGeom prst="roundRect">
            <a:avLst>
              <a:gd name="adj" fmla="val 7200"/>
            </a:avLst>
          </a:prstGeom>
          <a:solidFill>
            <a:srgbClr val="EEE9F7"/>
          </a:solidFill>
          <a:ln w="12700">
            <a:solidFill>
              <a:srgbClr val="EEE9F7"/>
            </a:solidFill>
            <a:prstDash val="solid"/>
          </a:ln>
          <a:effectLst>
            <a:outerShdw blurRad="12700" dist="50800" dir="2700000" algn="bl" rotWithShape="0">
              <a:srgbClr val="000000">
                <a:alpha val="12000"/>
              </a:srgbClr>
            </a:outerShdw>
          </a:effectLst>
        </p:spPr>
        <p:txBody>
          <a:bodyPr/>
          <a:lstStyle/>
          <a:p>
            <a:endParaRPr/>
          </a:p>
        </p:txBody>
      </p:sp>
      <p:sp>
        <p:nvSpPr>
          <p:cNvPr id="18" name="Text 16"/>
          <p:cNvSpPr/>
          <p:nvPr/>
        </p:nvSpPr>
        <p:spPr>
          <a:xfrm>
            <a:off x="850392" y="2962656"/>
            <a:ext cx="4700016" cy="301752"/>
          </a:xfrm>
          <a:prstGeom prst="rect">
            <a:avLst/>
          </a:prstGeom>
          <a:noFill/>
          <a:ln/>
        </p:spPr>
        <p:txBody>
          <a:bodyPr wrap="square" lIns="762" tIns="762" rIns="762" bIns="762" rtlCol="0" anchor="t">
            <a:normAutofit/>
          </a:bodyPr>
          <a:lstStyle/>
          <a:p>
            <a:pPr marL="0" indent="0" algn="l">
              <a:lnSpc>
                <a:spcPct val="95000"/>
              </a:lnSpc>
              <a:buNone/>
            </a:pPr>
            <a:r>
              <a:rPr lang="en-US" sz="1480" b="1" dirty="0">
                <a:solidFill>
                  <a:srgbClr val="4B2E83"/>
                </a:solidFill>
                <a:ea typeface="Aptos" pitchFamily="34" charset="-122"/>
                <a:cs typeface="Aptos" pitchFamily="34" charset="-120"/>
              </a:rPr>
              <a:t>Economic factors</a:t>
            </a:r>
            <a:endParaRPr lang="en-US" sz="1480" dirty="0"/>
          </a:p>
        </p:txBody>
      </p:sp>
      <p:sp>
        <p:nvSpPr>
          <p:cNvPr id="19" name="Text 17"/>
          <p:cNvSpPr/>
          <p:nvPr/>
        </p:nvSpPr>
        <p:spPr>
          <a:xfrm>
            <a:off x="850392" y="3310128"/>
            <a:ext cx="4700016" cy="576072"/>
          </a:xfrm>
          <a:prstGeom prst="rect">
            <a:avLst/>
          </a:prstGeom>
          <a:noFill/>
          <a:ln/>
        </p:spPr>
        <p:txBody>
          <a:bodyPr wrap="square" lIns="762" tIns="762" rIns="762" bIns="762" rtlCol="0" anchor="t">
            <a:normAutofit/>
          </a:bodyPr>
          <a:lstStyle/>
          <a:p>
            <a:pPr marL="0" indent="0" algn="l">
              <a:lnSpc>
                <a:spcPct val="95000"/>
              </a:lnSpc>
              <a:buNone/>
            </a:pPr>
            <a:r>
              <a:rPr lang="en-US" sz="1220" dirty="0">
                <a:solidFill>
                  <a:srgbClr val="1E1E24"/>
                </a:solidFill>
                <a:ea typeface="Aptos" pitchFamily="34" charset="-122"/>
                <a:cs typeface="Aptos" pitchFamily="34" charset="-120"/>
              </a:rPr>
              <a:t>Cost, payback period, affordability, maintenance burden</a:t>
            </a:r>
            <a:endParaRPr lang="en-US" sz="1220" dirty="0"/>
          </a:p>
        </p:txBody>
      </p:sp>
      <p:sp>
        <p:nvSpPr>
          <p:cNvPr id="20" name="Shape 18"/>
          <p:cNvSpPr/>
          <p:nvPr/>
        </p:nvSpPr>
        <p:spPr>
          <a:xfrm>
            <a:off x="6217920" y="2834640"/>
            <a:ext cx="5029200" cy="1143000"/>
          </a:xfrm>
          <a:prstGeom prst="roundRect">
            <a:avLst>
              <a:gd name="adj" fmla="val 7200"/>
            </a:avLst>
          </a:prstGeom>
          <a:solidFill>
            <a:srgbClr val="EEE9F7"/>
          </a:solidFill>
          <a:ln w="12700">
            <a:solidFill>
              <a:srgbClr val="EEE9F7"/>
            </a:solidFill>
            <a:prstDash val="solid"/>
          </a:ln>
          <a:effectLst>
            <a:outerShdw blurRad="12700" dist="50800" dir="2700000" algn="bl" rotWithShape="0">
              <a:srgbClr val="000000">
                <a:alpha val="12000"/>
              </a:srgbClr>
            </a:outerShdw>
          </a:effectLst>
        </p:spPr>
        <p:txBody>
          <a:bodyPr/>
          <a:lstStyle/>
          <a:p>
            <a:endParaRPr/>
          </a:p>
        </p:txBody>
      </p:sp>
      <p:sp>
        <p:nvSpPr>
          <p:cNvPr id="21" name="Text 19"/>
          <p:cNvSpPr/>
          <p:nvPr/>
        </p:nvSpPr>
        <p:spPr>
          <a:xfrm>
            <a:off x="6382512" y="2962656"/>
            <a:ext cx="4700016" cy="301752"/>
          </a:xfrm>
          <a:prstGeom prst="rect">
            <a:avLst/>
          </a:prstGeom>
          <a:noFill/>
          <a:ln/>
        </p:spPr>
        <p:txBody>
          <a:bodyPr wrap="square" lIns="762" tIns="762" rIns="762" bIns="762" rtlCol="0" anchor="t">
            <a:normAutofit/>
          </a:bodyPr>
          <a:lstStyle/>
          <a:p>
            <a:pPr marL="0" indent="0" algn="l">
              <a:lnSpc>
                <a:spcPct val="95000"/>
              </a:lnSpc>
              <a:buNone/>
            </a:pPr>
            <a:r>
              <a:rPr lang="en-US" sz="1480" b="1" dirty="0">
                <a:solidFill>
                  <a:srgbClr val="4B2E83"/>
                </a:solidFill>
                <a:ea typeface="Aptos" pitchFamily="34" charset="-122"/>
                <a:cs typeface="Aptos" pitchFamily="34" charset="-120"/>
              </a:rPr>
              <a:t>Social / health equity</a:t>
            </a:r>
            <a:endParaRPr lang="en-US" sz="1480" dirty="0"/>
          </a:p>
        </p:txBody>
      </p:sp>
      <p:sp>
        <p:nvSpPr>
          <p:cNvPr id="22" name="Text 20"/>
          <p:cNvSpPr/>
          <p:nvPr/>
        </p:nvSpPr>
        <p:spPr>
          <a:xfrm>
            <a:off x="6382512" y="3310128"/>
            <a:ext cx="4700016" cy="576072"/>
          </a:xfrm>
          <a:prstGeom prst="rect">
            <a:avLst/>
          </a:prstGeom>
          <a:noFill/>
          <a:ln/>
        </p:spPr>
        <p:txBody>
          <a:bodyPr wrap="square" lIns="762" tIns="762" rIns="762" bIns="762" rtlCol="0" anchor="t">
            <a:normAutofit/>
          </a:bodyPr>
          <a:lstStyle/>
          <a:p>
            <a:pPr marL="0" indent="0" algn="l">
              <a:lnSpc>
                <a:spcPct val="95000"/>
              </a:lnSpc>
              <a:buNone/>
            </a:pPr>
            <a:r>
              <a:rPr lang="en-US" sz="1220" dirty="0">
                <a:solidFill>
                  <a:srgbClr val="1E1E24"/>
                </a:solidFill>
                <a:ea typeface="Aptos" pitchFamily="34" charset="-122"/>
                <a:cs typeface="Aptos" pitchFamily="34" charset="-120"/>
              </a:rPr>
              <a:t>Energy burden, heat vulnerability, exposure, access, community preference</a:t>
            </a:r>
            <a:endParaRPr lang="en-US" sz="1220" dirty="0"/>
          </a:p>
        </p:txBody>
      </p:sp>
      <p:sp>
        <p:nvSpPr>
          <p:cNvPr id="23" name="Shape 21"/>
          <p:cNvSpPr/>
          <p:nvPr/>
        </p:nvSpPr>
        <p:spPr>
          <a:xfrm>
            <a:off x="1325880" y="4736592"/>
            <a:ext cx="9555480" cy="594360"/>
          </a:xfrm>
          <a:prstGeom prst="roundRect">
            <a:avLst>
              <a:gd name="adj" fmla="val 12308"/>
            </a:avLst>
          </a:prstGeom>
          <a:solidFill>
            <a:srgbClr val="F4EBD0"/>
          </a:solidFill>
          <a:ln w="12700">
            <a:solidFill>
              <a:srgbClr val="F4EBD0"/>
            </a:solidFill>
            <a:prstDash val="solid"/>
          </a:ln>
        </p:spPr>
        <p:txBody>
          <a:bodyPr/>
          <a:lstStyle/>
          <a:p>
            <a:endParaRPr/>
          </a:p>
        </p:txBody>
      </p:sp>
      <p:sp>
        <p:nvSpPr>
          <p:cNvPr id="24" name="Text 22"/>
          <p:cNvSpPr/>
          <p:nvPr/>
        </p:nvSpPr>
        <p:spPr>
          <a:xfrm>
            <a:off x="1463040" y="4864608"/>
            <a:ext cx="9281160" cy="411480"/>
          </a:xfrm>
          <a:prstGeom prst="rect">
            <a:avLst/>
          </a:prstGeom>
          <a:noFill/>
          <a:ln/>
        </p:spPr>
        <p:txBody>
          <a:bodyPr wrap="square" lIns="762" tIns="762" rIns="762" bIns="762" rtlCol="0" anchor="ctr">
            <a:normAutofit/>
          </a:bodyPr>
          <a:lstStyle/>
          <a:p>
            <a:pPr>
              <a:lnSpc>
                <a:spcPct val="95000"/>
              </a:lnSpc>
            </a:pPr>
            <a:r>
              <a:rPr lang="en-US" sz="1220" b="1" dirty="0">
                <a:solidFill>
                  <a:srgbClr val="1E1E24"/>
                </a:solidFill>
                <a:ea typeface="Aptos" pitchFamily="34" charset="-122"/>
                <a:cs typeface="Aptos" pitchFamily="34" charset="-120"/>
              </a:rPr>
              <a:t>Question: What is optimized? What is constrained? What is ignored? </a:t>
            </a:r>
            <a:r>
              <a:rPr lang="en-US" sz="1220" b="1" dirty="0">
                <a:solidFill>
                  <a:srgbClr val="1E1E24"/>
                </a:solidFill>
              </a:rPr>
              <a:t>identify the main metric in their own project and one value that is currently not captured.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Optimization and value conflict</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180" dirty="0">
                <a:solidFill>
                  <a:srgbClr val="5B5B66"/>
                </a:solidFill>
                <a:ea typeface="Aptos" pitchFamily="34" charset="-122"/>
                <a:cs typeface="Aptos" pitchFamily="34" charset="-120"/>
              </a:rPr>
              <a:t>AI optimization often requires trade-offs</a:t>
            </a:r>
            <a:endParaRPr lang="en-US" sz="1180" dirty="0"/>
          </a:p>
        </p:txBody>
      </p:sp>
      <p:graphicFrame>
        <p:nvGraphicFramePr>
          <p:cNvPr id="16" name="Table 0"/>
          <p:cNvGraphicFramePr>
            <a:graphicFrameLocks noGrp="1"/>
          </p:cNvGraphicFramePr>
          <p:nvPr>
            <p:extLst>
              <p:ext uri="{D42A27DB-BD31-4B8C-83A1-F6EECF244321}">
                <p14:modId xmlns:p14="http://schemas.microsoft.com/office/powerpoint/2010/main" val="3587633687"/>
              </p:ext>
            </p:extLst>
          </p:nvPr>
        </p:nvGraphicFramePr>
        <p:xfrm>
          <a:off x="658368" y="1409280"/>
          <a:ext cx="10881360" cy="3794763"/>
        </p:xfrm>
        <a:graphic>
          <a:graphicData uri="http://schemas.openxmlformats.org/drawingml/2006/table">
            <a:tbl>
              <a:tblPr/>
              <a:tblGrid>
                <a:gridCol w="3383280">
                  <a:extLst>
                    <a:ext uri="{9D8B030D-6E8A-4147-A177-3AD203B41FA5}">
                      <a16:colId xmlns:a16="http://schemas.microsoft.com/office/drawing/2014/main" val="20000"/>
                    </a:ext>
                  </a:extLst>
                </a:gridCol>
                <a:gridCol w="7498080">
                  <a:extLst>
                    <a:ext uri="{9D8B030D-6E8A-4147-A177-3AD203B41FA5}">
                      <a16:colId xmlns:a16="http://schemas.microsoft.com/office/drawing/2014/main" val="20001"/>
                    </a:ext>
                  </a:extLst>
                </a:gridCol>
              </a:tblGrid>
              <a:tr h="542109">
                <a:tc>
                  <a:txBody>
                    <a:bodyPr/>
                    <a:lstStyle/>
                    <a:p>
                      <a:pPr marL="0" indent="0">
                        <a:buNone/>
                      </a:pPr>
                      <a:r>
                        <a:rPr lang="en-US" sz="1400" b="1" dirty="0">
                          <a:solidFill>
                            <a:srgbClr val="FFFFFF"/>
                          </a:solidFill>
                          <a:latin typeface="+mn-lt"/>
                          <a:ea typeface="Aptos" pitchFamily="34" charset="-122"/>
                          <a:cs typeface="Aptos" pitchFamily="34" charset="-120"/>
                        </a:rPr>
                        <a:t>Goal</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4B2E83"/>
                    </a:solidFill>
                  </a:tcPr>
                </a:tc>
                <a:tc>
                  <a:txBody>
                    <a:bodyPr/>
                    <a:lstStyle/>
                    <a:p>
                      <a:pPr marL="0" indent="0">
                        <a:buNone/>
                      </a:pPr>
                      <a:r>
                        <a:rPr lang="en-US" sz="1400" b="1" dirty="0">
                          <a:solidFill>
                            <a:srgbClr val="FFFFFF"/>
                          </a:solidFill>
                          <a:latin typeface="+mn-lt"/>
                          <a:ea typeface="Aptos" pitchFamily="34" charset="-122"/>
                          <a:cs typeface="Aptos" pitchFamily="34" charset="-120"/>
                        </a:rPr>
                        <a:t>Possible conflict</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4B2E83"/>
                    </a:solidFill>
                  </a:tcPr>
                </a:tc>
                <a:extLst>
                  <a:ext uri="{0D108BD9-81ED-4DB2-BD59-A6C34878D82A}">
                    <a16:rowId xmlns:a16="http://schemas.microsoft.com/office/drawing/2014/main" val="10000"/>
                  </a:ext>
                </a:extLst>
              </a:tr>
              <a:tr h="542109">
                <a:tc>
                  <a:txBody>
                    <a:bodyPr/>
                    <a:lstStyle/>
                    <a:p>
                      <a:pPr marL="0" indent="0">
                        <a:buNone/>
                      </a:pPr>
                      <a:r>
                        <a:rPr lang="en-US" sz="1400" dirty="0">
                          <a:solidFill>
                            <a:srgbClr val="1E1E24"/>
                          </a:solidFill>
                          <a:latin typeface="+mn-lt"/>
                          <a:ea typeface="Aptos" pitchFamily="34" charset="-122"/>
                          <a:cs typeface="Aptos" pitchFamily="34" charset="-120"/>
                        </a:rPr>
                        <a:t>Reduce carbon</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r>
                        <a:rPr lang="en-US" sz="1400" dirty="0">
                          <a:solidFill>
                            <a:srgbClr val="1E1E24"/>
                          </a:solidFill>
                          <a:latin typeface="+mn-lt"/>
                          <a:ea typeface="Aptos" pitchFamily="34" charset="-122"/>
                          <a:cs typeface="Aptos" pitchFamily="34" charset="-120"/>
                        </a:rPr>
                        <a:t>May favor large buildings over vulnerable households</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2109">
                <a:tc>
                  <a:txBody>
                    <a:bodyPr/>
                    <a:lstStyle/>
                    <a:p>
                      <a:pPr marL="0" indent="0">
                        <a:buNone/>
                      </a:pPr>
                      <a:r>
                        <a:rPr lang="en-US" sz="1400" dirty="0">
                          <a:solidFill>
                            <a:srgbClr val="1E1E24"/>
                          </a:solidFill>
                          <a:latin typeface="+mn-lt"/>
                          <a:ea typeface="Aptos" pitchFamily="34" charset="-122"/>
                          <a:cs typeface="Aptos" pitchFamily="34" charset="-120"/>
                        </a:rPr>
                        <a:t>Reduce cost</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pPr marL="0" indent="0">
                        <a:buNone/>
                      </a:pPr>
                      <a:r>
                        <a:rPr lang="en-US" sz="1400" dirty="0">
                          <a:solidFill>
                            <a:srgbClr val="1E1E24"/>
                          </a:solidFill>
                          <a:latin typeface="+mn-lt"/>
                          <a:ea typeface="Aptos" pitchFamily="34" charset="-122"/>
                          <a:cs typeface="Aptos" pitchFamily="34" charset="-120"/>
                        </a:rPr>
                        <a:t>May deprioritize deep retrofits or long-term resilience</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extLst>
                  <a:ext uri="{0D108BD9-81ED-4DB2-BD59-A6C34878D82A}">
                    <a16:rowId xmlns:a16="http://schemas.microsoft.com/office/drawing/2014/main" val="10002"/>
                  </a:ext>
                </a:extLst>
              </a:tr>
              <a:tr h="542109">
                <a:tc>
                  <a:txBody>
                    <a:bodyPr/>
                    <a:lstStyle/>
                    <a:p>
                      <a:pPr marL="0" indent="0">
                        <a:buNone/>
                      </a:pPr>
                      <a:r>
                        <a:rPr lang="en-US" sz="1400" dirty="0">
                          <a:solidFill>
                            <a:srgbClr val="1E1E24"/>
                          </a:solidFill>
                          <a:latin typeface="+mn-lt"/>
                          <a:ea typeface="Aptos" pitchFamily="34" charset="-122"/>
                          <a:cs typeface="Aptos" pitchFamily="34" charset="-120"/>
                        </a:rPr>
                        <a:t>Improve health</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r>
                        <a:rPr lang="en-US" sz="1400" dirty="0">
                          <a:solidFill>
                            <a:srgbClr val="1E1E24"/>
                          </a:solidFill>
                          <a:latin typeface="+mn-lt"/>
                          <a:ea typeface="Aptos" pitchFamily="34" charset="-122"/>
                          <a:cs typeface="Aptos" pitchFamily="34" charset="-120"/>
                        </a:rPr>
                        <a:t>May require non-energy interventions and community knowledge</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2109">
                <a:tc>
                  <a:txBody>
                    <a:bodyPr/>
                    <a:lstStyle/>
                    <a:p>
                      <a:pPr marL="0" indent="0">
                        <a:buNone/>
                      </a:pPr>
                      <a:r>
                        <a:rPr lang="en-US" sz="1400" dirty="0">
                          <a:solidFill>
                            <a:srgbClr val="1E1E24"/>
                          </a:solidFill>
                          <a:latin typeface="+mn-lt"/>
                          <a:ea typeface="Aptos" pitchFamily="34" charset="-122"/>
                          <a:cs typeface="Aptos" pitchFamily="34" charset="-120"/>
                        </a:rPr>
                        <a:t>Maximize PV</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pPr marL="0" indent="0">
                        <a:buNone/>
                      </a:pPr>
                      <a:r>
                        <a:rPr lang="en-US" sz="1400" dirty="0">
                          <a:solidFill>
                            <a:srgbClr val="1E1E24"/>
                          </a:solidFill>
                          <a:latin typeface="+mn-lt"/>
                          <a:ea typeface="Aptos" pitchFamily="34" charset="-122"/>
                          <a:cs typeface="Aptos" pitchFamily="34" charset="-120"/>
                        </a:rPr>
                        <a:t>May ignore ownership, affordability, maintenance, or aesthetics</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extLst>
                  <a:ext uri="{0D108BD9-81ED-4DB2-BD59-A6C34878D82A}">
                    <a16:rowId xmlns:a16="http://schemas.microsoft.com/office/drawing/2014/main" val="10004"/>
                  </a:ext>
                </a:extLst>
              </a:tr>
              <a:tr h="542109">
                <a:tc>
                  <a:txBody>
                    <a:bodyPr/>
                    <a:lstStyle/>
                    <a:p>
                      <a:pPr marL="0" indent="0">
                        <a:buNone/>
                      </a:pPr>
                      <a:r>
                        <a:rPr lang="en-US" sz="1400" dirty="0">
                          <a:solidFill>
                            <a:srgbClr val="1E1E24"/>
                          </a:solidFill>
                          <a:latin typeface="+mn-lt"/>
                          <a:ea typeface="Aptos" pitchFamily="34" charset="-122"/>
                          <a:cs typeface="Aptos" pitchFamily="34" charset="-120"/>
                        </a:rPr>
                        <a:t>Increase efficiency</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r>
                        <a:rPr lang="en-US" sz="1400" dirty="0">
                          <a:solidFill>
                            <a:srgbClr val="1E1E24"/>
                          </a:solidFill>
                          <a:latin typeface="+mn-lt"/>
                          <a:ea typeface="Aptos" pitchFamily="34" charset="-122"/>
                          <a:cs typeface="Aptos" pitchFamily="34" charset="-120"/>
                        </a:rPr>
                        <a:t>May reduce ventilation, flexibility, or occupant control</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2109">
                <a:tc>
                  <a:txBody>
                    <a:bodyPr/>
                    <a:lstStyle/>
                    <a:p>
                      <a:pPr marL="0" indent="0">
                        <a:buNone/>
                      </a:pPr>
                      <a:r>
                        <a:rPr lang="en-US" sz="1400" dirty="0">
                          <a:solidFill>
                            <a:srgbClr val="1E1E24"/>
                          </a:solidFill>
                          <a:latin typeface="+mn-lt"/>
                          <a:ea typeface="Aptos" pitchFamily="34" charset="-122"/>
                          <a:cs typeface="Aptos" pitchFamily="34" charset="-120"/>
                        </a:rPr>
                        <a:t>Maximize predicted performance</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pPr marL="0" indent="0">
                        <a:buNone/>
                      </a:pPr>
                      <a:r>
                        <a:rPr lang="en-US" sz="1400" dirty="0">
                          <a:solidFill>
                            <a:srgbClr val="1E1E24"/>
                          </a:solidFill>
                          <a:latin typeface="+mn-lt"/>
                          <a:ea typeface="Aptos" pitchFamily="34" charset="-122"/>
                          <a:cs typeface="Aptos" pitchFamily="34" charset="-120"/>
                        </a:rPr>
                        <a:t>May hide uncertainty, simplify behavior, or overfit to model assumptions</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Activity 1: Bias audit of an AI design research workflow</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180" dirty="0">
                <a:solidFill>
                  <a:srgbClr val="5B5B66"/>
                </a:solidFill>
                <a:ea typeface="Aptos" pitchFamily="34" charset="-122"/>
                <a:cs typeface="Aptos" pitchFamily="34" charset="-120"/>
              </a:rPr>
              <a:t>15 minutes | small groups</a:t>
            </a:r>
            <a:endParaRPr lang="en-US" sz="1180" dirty="0"/>
          </a:p>
        </p:txBody>
      </p:sp>
      <p:sp>
        <p:nvSpPr>
          <p:cNvPr id="11" name="Shape 9"/>
          <p:cNvSpPr/>
          <p:nvPr/>
        </p:nvSpPr>
        <p:spPr>
          <a:xfrm>
            <a:off x="685800" y="1234440"/>
            <a:ext cx="5120640" cy="2971800"/>
          </a:xfrm>
          <a:prstGeom prst="roundRect">
            <a:avLst>
              <a:gd name="adj" fmla="val 2769"/>
            </a:avLst>
          </a:prstGeom>
          <a:solidFill>
            <a:schemeClr val="accent4">
              <a:lumMod val="20000"/>
              <a:lumOff val="80000"/>
            </a:schemeClr>
          </a:solidFill>
          <a:ln w="12700">
            <a:solidFill>
              <a:srgbClr val="FFFFFF"/>
            </a:solidFill>
            <a:prstDash val="solid"/>
          </a:ln>
        </p:spPr>
        <p:txBody>
          <a:bodyPr/>
          <a:lstStyle/>
          <a:p>
            <a:endParaRPr/>
          </a:p>
        </p:txBody>
      </p:sp>
      <p:sp>
        <p:nvSpPr>
          <p:cNvPr id="12" name="Text 10"/>
          <p:cNvSpPr/>
          <p:nvPr/>
        </p:nvSpPr>
        <p:spPr>
          <a:xfrm>
            <a:off x="850392" y="1362456"/>
            <a:ext cx="4791456" cy="301752"/>
          </a:xfrm>
          <a:prstGeom prst="rect">
            <a:avLst/>
          </a:prstGeom>
          <a:noFill/>
          <a:ln/>
        </p:spPr>
        <p:txBody>
          <a:bodyPr wrap="square" lIns="762" tIns="762" rIns="762" bIns="762" rtlCol="0" anchor="t">
            <a:normAutofit/>
          </a:bodyPr>
          <a:lstStyle/>
          <a:p>
            <a:pPr marL="0" indent="0" algn="l">
              <a:lnSpc>
                <a:spcPct val="95000"/>
              </a:lnSpc>
              <a:buNone/>
            </a:pPr>
            <a:r>
              <a:rPr lang="en-US" sz="1350" b="1" dirty="0">
                <a:solidFill>
                  <a:srgbClr val="4B2E83"/>
                </a:solidFill>
                <a:ea typeface="Aptos" pitchFamily="34" charset="-122"/>
                <a:cs typeface="Aptos" pitchFamily="34" charset="-120"/>
              </a:rPr>
              <a:t>Choose one workflow</a:t>
            </a:r>
            <a:endParaRPr lang="en-US" sz="1350" dirty="0"/>
          </a:p>
        </p:txBody>
      </p:sp>
      <p:sp>
        <p:nvSpPr>
          <p:cNvPr id="13" name="Text 11"/>
          <p:cNvSpPr/>
          <p:nvPr/>
        </p:nvSpPr>
        <p:spPr>
          <a:xfrm>
            <a:off x="850392" y="1709928"/>
            <a:ext cx="4791456" cy="2404872"/>
          </a:xfrm>
          <a:prstGeom prst="rect">
            <a:avLst/>
          </a:prstGeom>
          <a:noFill/>
          <a:ln/>
        </p:spPr>
        <p:txBody>
          <a:bodyPr wrap="square" lIns="762" tIns="762" rIns="762" bIns="762" rtlCol="0" anchor="t">
            <a:normAutofit/>
          </a:bodyPr>
          <a:lstStyle/>
          <a:p>
            <a:pPr>
              <a:lnSpc>
                <a:spcPct val="92000"/>
              </a:lnSpc>
            </a:pPr>
            <a:r>
              <a:rPr lang="en-US" sz="1200" dirty="0">
                <a:solidFill>
                  <a:srgbClr val="1E1E24"/>
                </a:solidFill>
                <a:ea typeface="Aptos" pitchFamily="34" charset="-122"/>
                <a:cs typeface="Aptos" pitchFamily="34" charset="-120"/>
              </a:rPr>
              <a:t>AI-generated housing design images
</a:t>
            </a:r>
            <a:endParaRPr lang="en-US" sz="1200" dirty="0"/>
          </a:p>
          <a:p>
            <a:pPr>
              <a:lnSpc>
                <a:spcPct val="92000"/>
              </a:lnSpc>
            </a:pPr>
            <a:r>
              <a:rPr lang="en-US" sz="1200" dirty="0">
                <a:solidFill>
                  <a:srgbClr val="1E1E24"/>
                </a:solidFill>
                <a:ea typeface="Aptos" pitchFamily="34" charset="-122"/>
                <a:cs typeface="Aptos" pitchFamily="34" charset="-120"/>
              </a:rPr>
              <a:t>ML-based energy prediction model
</a:t>
            </a:r>
            <a:endParaRPr lang="en-US" sz="1200" dirty="0"/>
          </a:p>
          <a:p>
            <a:pPr>
              <a:lnSpc>
                <a:spcPct val="92000"/>
              </a:lnSpc>
            </a:pPr>
            <a:r>
              <a:rPr lang="en-US" sz="1200" dirty="0">
                <a:solidFill>
                  <a:srgbClr val="1E1E24"/>
                </a:solidFill>
                <a:ea typeface="Aptos" pitchFamily="34" charset="-122"/>
                <a:cs typeface="Aptos" pitchFamily="34" charset="-120"/>
              </a:rPr>
              <a:t>Computer-vision facade material classifier
</a:t>
            </a:r>
            <a:endParaRPr lang="en-US" sz="1200" dirty="0"/>
          </a:p>
          <a:p>
            <a:pPr>
              <a:lnSpc>
                <a:spcPct val="92000"/>
              </a:lnSpc>
            </a:pPr>
            <a:r>
              <a:rPr lang="en-US" sz="1200" dirty="0">
                <a:solidFill>
                  <a:srgbClr val="1E1E24"/>
                </a:solidFill>
                <a:ea typeface="Aptos" pitchFamily="34" charset="-122"/>
                <a:cs typeface="Aptos" pitchFamily="34" charset="-120"/>
              </a:rPr>
              <a:t>AI agent for retrofit recommendations
</a:t>
            </a:r>
            <a:endParaRPr lang="en-US" sz="1200" dirty="0"/>
          </a:p>
          <a:p>
            <a:pPr>
              <a:lnSpc>
                <a:spcPct val="92000"/>
              </a:lnSpc>
            </a:pPr>
            <a:r>
              <a:rPr lang="en-US" sz="1200" dirty="0">
                <a:solidFill>
                  <a:srgbClr val="1E1E24"/>
                </a:solidFill>
                <a:ea typeface="Aptos" pitchFamily="34" charset="-122"/>
                <a:cs typeface="Aptos" pitchFamily="34" charset="-120"/>
              </a:rPr>
              <a:t>Generative floor plan tool
</a:t>
            </a:r>
            <a:endParaRPr lang="en-US" sz="1200" dirty="0"/>
          </a:p>
          <a:p>
            <a:pPr>
              <a:lnSpc>
                <a:spcPct val="92000"/>
              </a:lnSpc>
            </a:pPr>
            <a:r>
              <a:rPr lang="en-US" sz="1200" dirty="0">
                <a:solidFill>
                  <a:srgbClr val="1E1E24"/>
                </a:solidFill>
                <a:ea typeface="Aptos" pitchFamily="34" charset="-122"/>
                <a:cs typeface="Aptos" pitchFamily="34" charset="-120"/>
              </a:rPr>
              <a:t>Urban heat vulnerability prediction model</a:t>
            </a:r>
            <a:endParaRPr lang="en-US" sz="1200" dirty="0"/>
          </a:p>
        </p:txBody>
      </p:sp>
      <p:sp>
        <p:nvSpPr>
          <p:cNvPr id="14" name="Shape 12"/>
          <p:cNvSpPr/>
          <p:nvPr/>
        </p:nvSpPr>
        <p:spPr>
          <a:xfrm>
            <a:off x="6199632" y="1234440"/>
            <a:ext cx="5321808" cy="2971800"/>
          </a:xfrm>
          <a:prstGeom prst="roundRect">
            <a:avLst>
              <a:gd name="adj" fmla="val 2769"/>
            </a:avLst>
          </a:prstGeom>
          <a:solidFill>
            <a:srgbClr val="EEE9F7"/>
          </a:solidFill>
          <a:ln w="12700">
            <a:solidFill>
              <a:srgbClr val="EEE9F7"/>
            </a:solidFill>
            <a:prstDash val="solid"/>
          </a:ln>
        </p:spPr>
        <p:txBody>
          <a:bodyPr/>
          <a:lstStyle/>
          <a:p>
            <a:endParaRPr/>
          </a:p>
        </p:txBody>
      </p:sp>
      <p:sp>
        <p:nvSpPr>
          <p:cNvPr id="15" name="Text 13"/>
          <p:cNvSpPr/>
          <p:nvPr/>
        </p:nvSpPr>
        <p:spPr>
          <a:xfrm>
            <a:off x="6364224" y="1362456"/>
            <a:ext cx="4992624" cy="301752"/>
          </a:xfrm>
          <a:prstGeom prst="rect">
            <a:avLst/>
          </a:prstGeom>
          <a:noFill/>
          <a:ln/>
        </p:spPr>
        <p:txBody>
          <a:bodyPr wrap="square" lIns="762" tIns="762" rIns="762" bIns="762" rtlCol="0" anchor="t">
            <a:normAutofit/>
          </a:bodyPr>
          <a:lstStyle/>
          <a:p>
            <a:pPr marL="0" indent="0" algn="l">
              <a:lnSpc>
                <a:spcPct val="95000"/>
              </a:lnSpc>
              <a:buNone/>
            </a:pPr>
            <a:r>
              <a:rPr lang="en-US" sz="1350" b="1" dirty="0">
                <a:solidFill>
                  <a:srgbClr val="4B2E83"/>
                </a:solidFill>
                <a:ea typeface="Aptos" pitchFamily="34" charset="-122"/>
                <a:cs typeface="Aptos" pitchFamily="34" charset="-120"/>
              </a:rPr>
              <a:t>Group task</a:t>
            </a:r>
            <a:endParaRPr lang="en-US" sz="1350" dirty="0"/>
          </a:p>
        </p:txBody>
      </p:sp>
      <p:sp>
        <p:nvSpPr>
          <p:cNvPr id="16" name="Text 14"/>
          <p:cNvSpPr/>
          <p:nvPr/>
        </p:nvSpPr>
        <p:spPr>
          <a:xfrm>
            <a:off x="6364224" y="1709928"/>
            <a:ext cx="4992624" cy="2404872"/>
          </a:xfrm>
          <a:prstGeom prst="rect">
            <a:avLst/>
          </a:prstGeom>
          <a:noFill/>
          <a:ln/>
        </p:spPr>
        <p:txBody>
          <a:bodyPr wrap="square" lIns="762" tIns="762" rIns="762" bIns="762" rtlCol="0" anchor="t">
            <a:normAutofit/>
          </a:bodyPr>
          <a:lstStyle/>
          <a:p>
            <a:pPr>
              <a:lnSpc>
                <a:spcPct val="92000"/>
              </a:lnSpc>
            </a:pPr>
            <a:r>
              <a:rPr lang="en-US" sz="1200" dirty="0">
                <a:solidFill>
                  <a:srgbClr val="1E1E24"/>
                </a:solidFill>
                <a:ea typeface="Aptos" pitchFamily="34" charset="-122"/>
                <a:cs typeface="Aptos" pitchFamily="34" charset="-120"/>
              </a:rPr>
              <a:t>Name the system purpose
</a:t>
            </a:r>
            <a:endParaRPr lang="en-US" sz="1200" dirty="0"/>
          </a:p>
          <a:p>
            <a:pPr>
              <a:lnSpc>
                <a:spcPct val="92000"/>
              </a:lnSpc>
            </a:pPr>
            <a:r>
              <a:rPr lang="en-US" sz="1200" dirty="0">
                <a:solidFill>
                  <a:srgbClr val="1E1E24"/>
                </a:solidFill>
                <a:ea typeface="Aptos" pitchFamily="34" charset="-122"/>
                <a:cs typeface="Aptos" pitchFamily="34" charset="-120"/>
              </a:rPr>
              <a:t>Identify data sources
</a:t>
            </a:r>
            <a:endParaRPr lang="en-US" sz="1200" dirty="0"/>
          </a:p>
          <a:p>
            <a:pPr>
              <a:lnSpc>
                <a:spcPct val="92000"/>
              </a:lnSpc>
            </a:pPr>
            <a:r>
              <a:rPr lang="en-US" sz="1200" dirty="0">
                <a:solidFill>
                  <a:srgbClr val="1E1E24"/>
                </a:solidFill>
                <a:ea typeface="Aptos" pitchFamily="34" charset="-122"/>
                <a:cs typeface="Aptos" pitchFamily="34" charset="-120"/>
              </a:rPr>
              <a:t>Identify who is represented and who is missing
</a:t>
            </a:r>
            <a:endParaRPr lang="en-US" sz="1200" dirty="0"/>
          </a:p>
          <a:p>
            <a:pPr>
              <a:lnSpc>
                <a:spcPct val="92000"/>
              </a:lnSpc>
            </a:pPr>
            <a:r>
              <a:rPr lang="en-US" sz="1200" dirty="0">
                <a:solidFill>
                  <a:srgbClr val="1E1E24"/>
                </a:solidFill>
                <a:ea typeface="Aptos" pitchFamily="34" charset="-122"/>
                <a:cs typeface="Aptos" pitchFamily="34" charset="-120"/>
              </a:rPr>
              <a:t>List what could go wrong
</a:t>
            </a:r>
            <a:endParaRPr lang="en-US" sz="1200" dirty="0"/>
          </a:p>
          <a:p>
            <a:pPr>
              <a:lnSpc>
                <a:spcPct val="92000"/>
              </a:lnSpc>
            </a:pPr>
            <a:r>
              <a:rPr lang="en-US" sz="1200" dirty="0">
                <a:solidFill>
                  <a:srgbClr val="1E1E24"/>
                </a:solidFill>
                <a:ea typeface="Aptos" pitchFamily="34" charset="-122"/>
                <a:cs typeface="Aptos" pitchFamily="34" charset="-120"/>
              </a:rPr>
              <a:t>Name who could be harmed
</a:t>
            </a:r>
            <a:endParaRPr lang="en-US" sz="1200" dirty="0"/>
          </a:p>
          <a:p>
            <a:pPr>
              <a:lnSpc>
                <a:spcPct val="92000"/>
              </a:lnSpc>
            </a:pPr>
            <a:r>
              <a:rPr lang="en-US" sz="1200" dirty="0">
                <a:solidFill>
                  <a:srgbClr val="1E1E24"/>
                </a:solidFill>
                <a:ea typeface="Aptos" pitchFamily="34" charset="-122"/>
                <a:cs typeface="Aptos" pitchFamily="34" charset="-120"/>
              </a:rPr>
              <a:t>Define how a designer should verify the output</a:t>
            </a:r>
            <a:endParaRPr lang="en-US" sz="1200" dirty="0"/>
          </a:p>
        </p:txBody>
      </p:sp>
      <p:sp>
        <p:nvSpPr>
          <p:cNvPr id="17" name="Shape 15"/>
          <p:cNvSpPr/>
          <p:nvPr/>
        </p:nvSpPr>
        <p:spPr>
          <a:xfrm>
            <a:off x="1234440" y="4892040"/>
            <a:ext cx="9692640" cy="658368"/>
          </a:xfrm>
          <a:prstGeom prst="roundRect">
            <a:avLst>
              <a:gd name="adj" fmla="val 11111"/>
            </a:avLst>
          </a:prstGeom>
          <a:solidFill>
            <a:srgbClr val="F4EBD0"/>
          </a:solidFill>
          <a:ln w="12700">
            <a:solidFill>
              <a:srgbClr val="F4EBD0"/>
            </a:solidFill>
            <a:prstDash val="solid"/>
          </a:ln>
        </p:spPr>
        <p:txBody>
          <a:bodyPr/>
          <a:lstStyle/>
          <a:p>
            <a:endParaRPr/>
          </a:p>
        </p:txBody>
      </p:sp>
      <p:sp>
        <p:nvSpPr>
          <p:cNvPr id="18" name="Text 16"/>
          <p:cNvSpPr/>
          <p:nvPr/>
        </p:nvSpPr>
        <p:spPr>
          <a:xfrm>
            <a:off x="1371600" y="5020056"/>
            <a:ext cx="9418320" cy="475488"/>
          </a:xfrm>
          <a:prstGeom prst="rect">
            <a:avLst/>
          </a:prstGeom>
          <a:noFill/>
          <a:ln/>
        </p:spPr>
        <p:txBody>
          <a:bodyPr wrap="square" lIns="762" tIns="762" rIns="762" bIns="762" rtlCol="0" anchor="ctr">
            <a:normAutofit/>
          </a:bodyPr>
          <a:lstStyle/>
          <a:p>
            <a:pPr marL="0" indent="0" algn="ctr">
              <a:lnSpc>
                <a:spcPct val="95000"/>
              </a:lnSpc>
              <a:buNone/>
            </a:pPr>
            <a:r>
              <a:rPr lang="en-US" sz="1220" b="1" dirty="0">
                <a:solidFill>
                  <a:srgbClr val="1E1E24"/>
                </a:solidFill>
                <a:ea typeface="Aptos" pitchFamily="34" charset="-122"/>
                <a:cs typeface="Aptos" pitchFamily="34" charset="-120"/>
              </a:rPr>
              <a:t>question: What is one ethical risk that is not visible if we only look at model accuracy?</a:t>
            </a:r>
            <a:endParaRPr lang="en-US" sz="122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Activity 1 worksheet</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180" dirty="0">
                <a:solidFill>
                  <a:srgbClr val="5B5B66"/>
                </a:solidFill>
                <a:ea typeface="Aptos" pitchFamily="34" charset="-122"/>
                <a:cs typeface="Aptos" pitchFamily="34" charset="-120"/>
              </a:rPr>
              <a:t>Bias audit template</a:t>
            </a:r>
            <a:endParaRPr lang="en-US" sz="1180" dirty="0"/>
          </a:p>
        </p:txBody>
      </p:sp>
      <p:graphicFrame>
        <p:nvGraphicFramePr>
          <p:cNvPr id="18" name="Table 0"/>
          <p:cNvGraphicFramePr>
            <a:graphicFrameLocks noGrp="1"/>
          </p:cNvGraphicFramePr>
          <p:nvPr>
            <p:extLst>
              <p:ext uri="{D42A27DB-BD31-4B8C-83A1-F6EECF244321}">
                <p14:modId xmlns:p14="http://schemas.microsoft.com/office/powerpoint/2010/main" val="3431933350"/>
              </p:ext>
            </p:extLst>
          </p:nvPr>
        </p:nvGraphicFramePr>
        <p:xfrm>
          <a:off x="685800" y="1115568"/>
          <a:ext cx="10835640" cy="5166360"/>
        </p:xfrm>
        <a:graphic>
          <a:graphicData uri="http://schemas.openxmlformats.org/drawingml/2006/table">
            <a:tbl>
              <a:tblPr/>
              <a:tblGrid>
                <a:gridCol w="3840480">
                  <a:extLst>
                    <a:ext uri="{9D8B030D-6E8A-4147-A177-3AD203B41FA5}">
                      <a16:colId xmlns:a16="http://schemas.microsoft.com/office/drawing/2014/main" val="20000"/>
                    </a:ext>
                  </a:extLst>
                </a:gridCol>
                <a:gridCol w="6995160">
                  <a:extLst>
                    <a:ext uri="{9D8B030D-6E8A-4147-A177-3AD203B41FA5}">
                      <a16:colId xmlns:a16="http://schemas.microsoft.com/office/drawing/2014/main" val="20001"/>
                    </a:ext>
                  </a:extLst>
                </a:gridCol>
              </a:tblGrid>
              <a:tr h="645795">
                <a:tc>
                  <a:txBody>
                    <a:bodyPr/>
                    <a:lstStyle/>
                    <a:p>
                      <a:pPr marL="0" indent="0">
                        <a:buNone/>
                      </a:pPr>
                      <a:r>
                        <a:rPr lang="en-US" sz="1400" b="1" dirty="0">
                          <a:solidFill>
                            <a:srgbClr val="FFFFFF"/>
                          </a:solidFill>
                          <a:latin typeface="+mn-lt"/>
                          <a:ea typeface="Aptos" pitchFamily="34" charset="-122"/>
                          <a:cs typeface="Aptos" pitchFamily="34" charset="-120"/>
                        </a:rPr>
                        <a:t>Question</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4B2E83"/>
                    </a:solidFill>
                  </a:tcPr>
                </a:tc>
                <a:tc>
                  <a:txBody>
                    <a:bodyPr/>
                    <a:lstStyle/>
                    <a:p>
                      <a:pPr marL="0" indent="0">
                        <a:buNone/>
                      </a:pPr>
                      <a:r>
                        <a:rPr lang="en-US" sz="1400" b="1" dirty="0">
                          <a:solidFill>
                            <a:srgbClr val="FFFFFF"/>
                          </a:solidFill>
                          <a:latin typeface="+mn-lt"/>
                          <a:ea typeface="Aptos" pitchFamily="34" charset="-122"/>
                          <a:cs typeface="Aptos" pitchFamily="34" charset="-120"/>
                        </a:rPr>
                        <a:t>Group response</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4B2E83"/>
                    </a:solidFill>
                  </a:tcPr>
                </a:tc>
                <a:extLst>
                  <a:ext uri="{0D108BD9-81ED-4DB2-BD59-A6C34878D82A}">
                    <a16:rowId xmlns:a16="http://schemas.microsoft.com/office/drawing/2014/main" val="10000"/>
                  </a:ext>
                </a:extLst>
              </a:tr>
              <a:tr h="645795">
                <a:tc>
                  <a:txBody>
                    <a:bodyPr/>
                    <a:lstStyle/>
                    <a:p>
                      <a:pPr marL="0" indent="0">
                        <a:buNone/>
                      </a:pPr>
                      <a:r>
                        <a:rPr lang="en-US" sz="1400" dirty="0">
                          <a:solidFill>
                            <a:srgbClr val="1E1E24"/>
                          </a:solidFill>
                          <a:latin typeface="+mn-lt"/>
                          <a:ea typeface="Aptos" pitchFamily="34" charset="-122"/>
                          <a:cs typeface="Aptos" pitchFamily="34" charset="-120"/>
                        </a:rPr>
                        <a:t>What is the AI system trying to do?</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5795">
                <a:tc>
                  <a:txBody>
                    <a:bodyPr/>
                    <a:lstStyle/>
                    <a:p>
                      <a:pPr marL="0" indent="0">
                        <a:buNone/>
                      </a:pPr>
                      <a:r>
                        <a:rPr lang="en-US" sz="1400" dirty="0">
                          <a:solidFill>
                            <a:srgbClr val="1E1E24"/>
                          </a:solidFill>
                          <a:latin typeface="+mn-lt"/>
                          <a:ea typeface="Aptos" pitchFamily="34" charset="-122"/>
                          <a:cs typeface="Aptos" pitchFamily="34" charset="-120"/>
                        </a:rPr>
                        <a:t>What data does it use?</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pPr marL="0" indent="0">
                        <a:buNone/>
                      </a:pP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extLst>
                  <a:ext uri="{0D108BD9-81ED-4DB2-BD59-A6C34878D82A}">
                    <a16:rowId xmlns:a16="http://schemas.microsoft.com/office/drawing/2014/main" val="10002"/>
                  </a:ext>
                </a:extLst>
              </a:tr>
              <a:tr h="645795">
                <a:tc>
                  <a:txBody>
                    <a:bodyPr/>
                    <a:lstStyle/>
                    <a:p>
                      <a:pPr marL="0" indent="0">
                        <a:buNone/>
                      </a:pPr>
                      <a:r>
                        <a:rPr lang="en-US" sz="1400" dirty="0">
                          <a:solidFill>
                            <a:srgbClr val="1E1E24"/>
                          </a:solidFill>
                          <a:latin typeface="+mn-lt"/>
                          <a:ea typeface="Aptos" pitchFamily="34" charset="-122"/>
                          <a:cs typeface="Aptos" pitchFamily="34" charset="-120"/>
                        </a:rPr>
                        <a:t>Who is represented in the data?</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5795">
                <a:tc>
                  <a:txBody>
                    <a:bodyPr/>
                    <a:lstStyle/>
                    <a:p>
                      <a:pPr marL="0" indent="0">
                        <a:buNone/>
                      </a:pPr>
                      <a:r>
                        <a:rPr lang="en-US" sz="1400" dirty="0">
                          <a:solidFill>
                            <a:srgbClr val="1E1E24"/>
                          </a:solidFill>
                          <a:latin typeface="+mn-lt"/>
                          <a:ea typeface="Aptos" pitchFamily="34" charset="-122"/>
                          <a:cs typeface="Aptos" pitchFamily="34" charset="-120"/>
                        </a:rPr>
                        <a:t>Who may be missing or misrepresented?</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pPr marL="0" indent="0">
                        <a:buNone/>
                      </a:pP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extLst>
                  <a:ext uri="{0D108BD9-81ED-4DB2-BD59-A6C34878D82A}">
                    <a16:rowId xmlns:a16="http://schemas.microsoft.com/office/drawing/2014/main" val="10004"/>
                  </a:ext>
                </a:extLst>
              </a:tr>
              <a:tr h="645795">
                <a:tc>
                  <a:txBody>
                    <a:bodyPr/>
                    <a:lstStyle/>
                    <a:p>
                      <a:pPr marL="0" indent="0">
                        <a:buNone/>
                      </a:pPr>
                      <a:r>
                        <a:rPr lang="en-US" sz="1400" dirty="0">
                          <a:solidFill>
                            <a:srgbClr val="1E1E24"/>
                          </a:solidFill>
                          <a:latin typeface="+mn-lt"/>
                          <a:ea typeface="Aptos" pitchFamily="34" charset="-122"/>
                          <a:cs typeface="Aptos" pitchFamily="34" charset="-120"/>
                        </a:rPr>
                        <a:t>What could the model get wrong?</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45795">
                <a:tc>
                  <a:txBody>
                    <a:bodyPr/>
                    <a:lstStyle/>
                    <a:p>
                      <a:pPr marL="0" indent="0">
                        <a:buNone/>
                      </a:pPr>
                      <a:r>
                        <a:rPr lang="en-US" sz="1400" dirty="0">
                          <a:solidFill>
                            <a:srgbClr val="1E1E24"/>
                          </a:solidFill>
                          <a:latin typeface="+mn-lt"/>
                          <a:ea typeface="Aptos" pitchFamily="34" charset="-122"/>
                          <a:cs typeface="Aptos" pitchFamily="34" charset="-120"/>
                        </a:rPr>
                        <a:t>Who could be harmed by incorrect results?</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pPr marL="0" indent="0">
                        <a:buNone/>
                      </a:pP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extLst>
                  <a:ext uri="{0D108BD9-81ED-4DB2-BD59-A6C34878D82A}">
                    <a16:rowId xmlns:a16="http://schemas.microsoft.com/office/drawing/2014/main" val="10006"/>
                  </a:ext>
                </a:extLst>
              </a:tr>
              <a:tr h="645795">
                <a:tc>
                  <a:txBody>
                    <a:bodyPr/>
                    <a:lstStyle/>
                    <a:p>
                      <a:pPr marL="0" indent="0">
                        <a:buNone/>
                      </a:pPr>
                      <a:r>
                        <a:rPr lang="en-US" sz="1400" dirty="0">
                          <a:solidFill>
                            <a:srgbClr val="1E1E24"/>
                          </a:solidFill>
                          <a:latin typeface="+mn-lt"/>
                          <a:ea typeface="Aptos" pitchFamily="34" charset="-122"/>
                          <a:cs typeface="Aptos" pitchFamily="34" charset="-120"/>
                        </a:rPr>
                        <a:t>How should the designer/researcher verify the output?</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Authorship and originality</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180" dirty="0">
                <a:solidFill>
                  <a:srgbClr val="5B5B66"/>
                </a:solidFill>
                <a:ea typeface="Aptos" pitchFamily="34" charset="-122"/>
                <a:cs typeface="Aptos" pitchFamily="34" charset="-120"/>
              </a:rPr>
              <a:t>AI complicates authorship because outputs combine many forms of labor and selection</a:t>
            </a:r>
            <a:endParaRPr lang="en-US" sz="1180" dirty="0"/>
          </a:p>
        </p:txBody>
      </p:sp>
      <p:sp>
        <p:nvSpPr>
          <p:cNvPr id="11" name="Shape 9"/>
          <p:cNvSpPr/>
          <p:nvPr/>
        </p:nvSpPr>
        <p:spPr>
          <a:xfrm>
            <a:off x="685800" y="1234440"/>
            <a:ext cx="4937760" cy="3337560"/>
          </a:xfrm>
          <a:prstGeom prst="roundRect">
            <a:avLst>
              <a:gd name="adj" fmla="val 2466"/>
            </a:avLst>
          </a:prstGeom>
          <a:solidFill>
            <a:schemeClr val="accent4">
              <a:lumMod val="20000"/>
              <a:lumOff val="80000"/>
            </a:schemeClr>
          </a:solidFill>
          <a:ln w="12700">
            <a:solidFill>
              <a:srgbClr val="FFFFFF"/>
            </a:solidFill>
            <a:prstDash val="solid"/>
          </a:ln>
        </p:spPr>
        <p:txBody>
          <a:bodyPr/>
          <a:lstStyle/>
          <a:p>
            <a:endParaRPr/>
          </a:p>
        </p:txBody>
      </p:sp>
      <p:sp>
        <p:nvSpPr>
          <p:cNvPr id="12" name="Text 10"/>
          <p:cNvSpPr/>
          <p:nvPr/>
        </p:nvSpPr>
        <p:spPr>
          <a:xfrm>
            <a:off x="850392" y="1362456"/>
            <a:ext cx="4608576" cy="301752"/>
          </a:xfrm>
          <a:prstGeom prst="rect">
            <a:avLst/>
          </a:prstGeom>
          <a:noFill/>
          <a:ln/>
        </p:spPr>
        <p:txBody>
          <a:bodyPr wrap="square" lIns="762" tIns="762" rIns="762" bIns="762" rtlCol="0" anchor="t">
            <a:normAutofit/>
          </a:bodyPr>
          <a:lstStyle/>
          <a:p>
            <a:pPr marL="0" indent="0" algn="l">
              <a:lnSpc>
                <a:spcPct val="95000"/>
              </a:lnSpc>
              <a:buNone/>
            </a:pPr>
            <a:r>
              <a:rPr lang="en-US" sz="1350" b="1" dirty="0">
                <a:solidFill>
                  <a:srgbClr val="4B2E83"/>
                </a:solidFill>
                <a:ea typeface="Aptos" pitchFamily="34" charset="-122"/>
                <a:cs typeface="Aptos" pitchFamily="34" charset="-120"/>
              </a:rPr>
              <a:t>AI outputs may combine</a:t>
            </a:r>
            <a:endParaRPr lang="en-US" sz="1350" dirty="0"/>
          </a:p>
        </p:txBody>
      </p:sp>
      <p:sp>
        <p:nvSpPr>
          <p:cNvPr id="13" name="Text 11"/>
          <p:cNvSpPr/>
          <p:nvPr/>
        </p:nvSpPr>
        <p:spPr>
          <a:xfrm>
            <a:off x="850392" y="1709928"/>
            <a:ext cx="4608576" cy="2770632"/>
          </a:xfrm>
          <a:prstGeom prst="rect">
            <a:avLst/>
          </a:prstGeom>
          <a:noFill/>
          <a:ln/>
        </p:spPr>
        <p:txBody>
          <a:bodyPr wrap="square" lIns="762" tIns="762" rIns="762" bIns="762" rtlCol="0" anchor="t">
            <a:normAutofit/>
          </a:bodyPr>
          <a:lstStyle/>
          <a:p>
            <a:pPr>
              <a:lnSpc>
                <a:spcPct val="92000"/>
              </a:lnSpc>
            </a:pPr>
            <a:r>
              <a:rPr lang="en-US" sz="1120" dirty="0">
                <a:solidFill>
                  <a:srgbClr val="1E1E24"/>
                </a:solidFill>
                <a:ea typeface="Aptos" pitchFamily="34" charset="-122"/>
                <a:cs typeface="Aptos" pitchFamily="34" charset="-120"/>
              </a:rPr>
              <a:t>User prompts
</a:t>
            </a:r>
            <a:endParaRPr lang="en-US" sz="1120" dirty="0"/>
          </a:p>
          <a:p>
            <a:pPr>
              <a:lnSpc>
                <a:spcPct val="92000"/>
              </a:lnSpc>
            </a:pPr>
            <a:r>
              <a:rPr lang="en-US" sz="1120" dirty="0">
                <a:solidFill>
                  <a:srgbClr val="1E1E24"/>
                </a:solidFill>
                <a:ea typeface="Aptos" pitchFamily="34" charset="-122"/>
                <a:cs typeface="Aptos" pitchFamily="34" charset="-120"/>
              </a:rPr>
              <a:t>Training data
</a:t>
            </a:r>
            <a:endParaRPr lang="en-US" sz="1120" dirty="0"/>
          </a:p>
          <a:p>
            <a:pPr>
              <a:lnSpc>
                <a:spcPct val="92000"/>
              </a:lnSpc>
            </a:pPr>
            <a:r>
              <a:rPr lang="en-US" sz="1120" dirty="0">
                <a:solidFill>
                  <a:srgbClr val="1E1E24"/>
                </a:solidFill>
                <a:ea typeface="Aptos" pitchFamily="34" charset="-122"/>
                <a:cs typeface="Aptos" pitchFamily="34" charset="-120"/>
              </a:rPr>
              <a:t>Model behavior
</a:t>
            </a:r>
            <a:endParaRPr lang="en-US" sz="1120" dirty="0"/>
          </a:p>
          <a:p>
            <a:pPr>
              <a:lnSpc>
                <a:spcPct val="92000"/>
              </a:lnSpc>
            </a:pPr>
            <a:r>
              <a:rPr lang="en-US" sz="1120" dirty="0">
                <a:solidFill>
                  <a:srgbClr val="1E1E24"/>
                </a:solidFill>
                <a:ea typeface="Aptos" pitchFamily="34" charset="-122"/>
                <a:cs typeface="Aptos" pitchFamily="34" charset="-120"/>
              </a:rPr>
              <a:t>Software defaults
</a:t>
            </a:r>
            <a:endParaRPr lang="en-US" sz="1120" dirty="0"/>
          </a:p>
          <a:p>
            <a:pPr>
              <a:lnSpc>
                <a:spcPct val="92000"/>
              </a:lnSpc>
            </a:pPr>
            <a:r>
              <a:rPr lang="en-US" sz="1120" dirty="0">
                <a:solidFill>
                  <a:srgbClr val="1E1E24"/>
                </a:solidFill>
                <a:ea typeface="Aptos" pitchFamily="34" charset="-122"/>
                <a:cs typeface="Aptos" pitchFamily="34" charset="-120"/>
              </a:rPr>
              <a:t>Human selection
</a:t>
            </a:r>
            <a:endParaRPr lang="en-US" sz="1120" dirty="0"/>
          </a:p>
          <a:p>
            <a:pPr>
              <a:lnSpc>
                <a:spcPct val="92000"/>
              </a:lnSpc>
            </a:pPr>
            <a:r>
              <a:rPr lang="en-US" sz="1120" dirty="0">
                <a:solidFill>
                  <a:srgbClr val="1E1E24"/>
                </a:solidFill>
                <a:ea typeface="Aptos" pitchFamily="34" charset="-122"/>
                <a:cs typeface="Aptos" pitchFamily="34" charset="-120"/>
              </a:rPr>
              <a:t>Human editing
</a:t>
            </a:r>
            <a:endParaRPr lang="en-US" sz="1120" dirty="0"/>
          </a:p>
          <a:p>
            <a:pPr>
              <a:lnSpc>
                <a:spcPct val="92000"/>
              </a:lnSpc>
            </a:pPr>
            <a:r>
              <a:rPr lang="en-US" sz="1120" dirty="0">
                <a:solidFill>
                  <a:srgbClr val="1E1E24"/>
                </a:solidFill>
                <a:ea typeface="Aptos" pitchFamily="34" charset="-122"/>
                <a:cs typeface="Aptos" pitchFamily="34" charset="-120"/>
              </a:rPr>
              <a:t>Design judgment
</a:t>
            </a:r>
            <a:endParaRPr lang="en-US" sz="1120" dirty="0"/>
          </a:p>
          <a:p>
            <a:pPr>
              <a:lnSpc>
                <a:spcPct val="92000"/>
              </a:lnSpc>
            </a:pPr>
            <a:r>
              <a:rPr lang="en-US" sz="1120" dirty="0">
                <a:solidFill>
                  <a:srgbClr val="1E1E24"/>
                </a:solidFill>
                <a:ea typeface="Aptos" pitchFamily="34" charset="-122"/>
                <a:cs typeface="Aptos" pitchFamily="34" charset="-120"/>
              </a:rPr>
              <a:t>Post-processing
</a:t>
            </a:r>
            <a:endParaRPr lang="en-US" sz="1120" dirty="0"/>
          </a:p>
          <a:p>
            <a:pPr>
              <a:lnSpc>
                <a:spcPct val="92000"/>
              </a:lnSpc>
            </a:pPr>
            <a:r>
              <a:rPr lang="en-US" sz="1120" dirty="0">
                <a:solidFill>
                  <a:srgbClr val="1E1E24"/>
                </a:solidFill>
                <a:ea typeface="Aptos" pitchFamily="34" charset="-122"/>
                <a:cs typeface="Aptos" pitchFamily="34" charset="-120"/>
              </a:rPr>
              <a:t>Institutional requirements</a:t>
            </a:r>
            <a:endParaRPr lang="en-US" sz="1120" dirty="0"/>
          </a:p>
        </p:txBody>
      </p:sp>
      <p:sp>
        <p:nvSpPr>
          <p:cNvPr id="14" name="Shape 12"/>
          <p:cNvSpPr/>
          <p:nvPr/>
        </p:nvSpPr>
        <p:spPr>
          <a:xfrm>
            <a:off x="6080760" y="1234440"/>
            <a:ext cx="5349240" cy="1554480"/>
          </a:xfrm>
          <a:prstGeom prst="roundRect">
            <a:avLst>
              <a:gd name="adj" fmla="val 5294"/>
            </a:avLst>
          </a:prstGeom>
          <a:solidFill>
            <a:srgbClr val="F4EBD0"/>
          </a:solidFill>
          <a:ln w="12700">
            <a:solidFill>
              <a:srgbClr val="F4EBD0"/>
            </a:solidFill>
            <a:prstDash val="solid"/>
          </a:ln>
          <a:effectLst>
            <a:outerShdw blurRad="12700" dist="50800" dir="2700000" algn="bl" rotWithShape="0">
              <a:srgbClr val="000000">
                <a:alpha val="12000"/>
              </a:srgbClr>
            </a:outerShdw>
          </a:effectLst>
        </p:spPr>
        <p:txBody>
          <a:bodyPr/>
          <a:lstStyle/>
          <a:p>
            <a:endParaRPr/>
          </a:p>
        </p:txBody>
      </p:sp>
      <p:sp>
        <p:nvSpPr>
          <p:cNvPr id="15" name="Text 13"/>
          <p:cNvSpPr/>
          <p:nvPr/>
        </p:nvSpPr>
        <p:spPr>
          <a:xfrm>
            <a:off x="6245352" y="1362456"/>
            <a:ext cx="5020056" cy="301752"/>
          </a:xfrm>
          <a:prstGeom prst="rect">
            <a:avLst/>
          </a:prstGeom>
          <a:noFill/>
          <a:ln/>
        </p:spPr>
        <p:txBody>
          <a:bodyPr wrap="square" lIns="762" tIns="762" rIns="762" bIns="762" rtlCol="0" anchor="t">
            <a:normAutofit/>
          </a:bodyPr>
          <a:lstStyle/>
          <a:p>
            <a:pPr marL="0" indent="0" algn="l">
              <a:lnSpc>
                <a:spcPct val="95000"/>
              </a:lnSpc>
              <a:buNone/>
            </a:pPr>
            <a:r>
              <a:rPr lang="en-US" sz="1480" b="1" dirty="0">
                <a:solidFill>
                  <a:srgbClr val="1E1E24"/>
                </a:solidFill>
                <a:ea typeface="Aptos" pitchFamily="34" charset="-122"/>
                <a:cs typeface="Aptos" pitchFamily="34" charset="-120"/>
              </a:rPr>
              <a:t>Publication ethics anchor</a:t>
            </a:r>
            <a:endParaRPr lang="en-US" sz="1480" dirty="0"/>
          </a:p>
        </p:txBody>
      </p:sp>
      <p:sp>
        <p:nvSpPr>
          <p:cNvPr id="16" name="Text 14"/>
          <p:cNvSpPr/>
          <p:nvPr/>
        </p:nvSpPr>
        <p:spPr>
          <a:xfrm>
            <a:off x="6245352" y="1709928"/>
            <a:ext cx="5020056" cy="987552"/>
          </a:xfrm>
          <a:prstGeom prst="rect">
            <a:avLst/>
          </a:prstGeom>
          <a:noFill/>
          <a:ln/>
        </p:spPr>
        <p:txBody>
          <a:bodyPr wrap="square" lIns="762" tIns="762" rIns="762" bIns="762" rtlCol="0" anchor="t">
            <a:normAutofit/>
          </a:bodyPr>
          <a:lstStyle/>
          <a:p>
            <a:pPr marL="0" indent="0" algn="l">
              <a:lnSpc>
                <a:spcPct val="95000"/>
              </a:lnSpc>
              <a:buNone/>
            </a:pPr>
            <a:r>
              <a:rPr lang="en-US" sz="1250" dirty="0">
                <a:solidFill>
                  <a:srgbClr val="1E1E24"/>
                </a:solidFill>
                <a:ea typeface="Aptos" pitchFamily="34" charset="-122"/>
                <a:cs typeface="Aptos" pitchFamily="34" charset="-120"/>
              </a:rPr>
              <a:t>COPE and ICMJE guidance is clear: AI tools cannot be listed as authors because authorship requires responsibility for the work. Humans remain responsible for accuracy, integrity, originality, attribution, permissions, and disclosure.</a:t>
            </a:r>
            <a:endParaRPr lang="en-US" sz="1250" dirty="0"/>
          </a:p>
        </p:txBody>
      </p:sp>
      <p:sp>
        <p:nvSpPr>
          <p:cNvPr id="17" name="Shape 15"/>
          <p:cNvSpPr/>
          <p:nvPr/>
        </p:nvSpPr>
        <p:spPr>
          <a:xfrm>
            <a:off x="6080760" y="3246120"/>
            <a:ext cx="5349240" cy="1325880"/>
          </a:xfrm>
          <a:prstGeom prst="roundRect">
            <a:avLst>
              <a:gd name="adj" fmla="val 6207"/>
            </a:avLst>
          </a:prstGeom>
          <a:solidFill>
            <a:srgbClr val="EEE9F7"/>
          </a:solidFill>
          <a:ln w="12700">
            <a:solidFill>
              <a:srgbClr val="EEE9F7"/>
            </a:solidFill>
            <a:prstDash val="solid"/>
          </a:ln>
        </p:spPr>
        <p:txBody>
          <a:bodyPr/>
          <a:lstStyle/>
          <a:p>
            <a:endParaRPr/>
          </a:p>
        </p:txBody>
      </p:sp>
      <p:sp>
        <p:nvSpPr>
          <p:cNvPr id="18" name="Text 16"/>
          <p:cNvSpPr/>
          <p:nvPr/>
        </p:nvSpPr>
        <p:spPr>
          <a:xfrm>
            <a:off x="6245352" y="3374136"/>
            <a:ext cx="5020056" cy="301752"/>
          </a:xfrm>
          <a:prstGeom prst="rect">
            <a:avLst/>
          </a:prstGeom>
          <a:noFill/>
          <a:ln/>
        </p:spPr>
        <p:txBody>
          <a:bodyPr wrap="square" lIns="762" tIns="762" rIns="762" bIns="762" rtlCol="0" anchor="t">
            <a:normAutofit/>
          </a:bodyPr>
          <a:lstStyle/>
          <a:p>
            <a:pPr marL="0" indent="0" algn="l">
              <a:lnSpc>
                <a:spcPct val="95000"/>
              </a:lnSpc>
              <a:buNone/>
            </a:pPr>
            <a:r>
              <a:rPr lang="en-US" sz="1350" b="1" dirty="0">
                <a:solidFill>
                  <a:srgbClr val="4B2E83"/>
                </a:solidFill>
                <a:ea typeface="Aptos" pitchFamily="34" charset="-122"/>
                <a:cs typeface="Aptos" pitchFamily="34" charset="-120"/>
              </a:rPr>
              <a:t>Question to ask:</a:t>
            </a:r>
            <a:endParaRPr lang="en-US" sz="1350" dirty="0"/>
          </a:p>
        </p:txBody>
      </p:sp>
      <p:sp>
        <p:nvSpPr>
          <p:cNvPr id="19" name="Text 17"/>
          <p:cNvSpPr/>
          <p:nvPr/>
        </p:nvSpPr>
        <p:spPr>
          <a:xfrm>
            <a:off x="6245352" y="3721608"/>
            <a:ext cx="5020056" cy="758952"/>
          </a:xfrm>
          <a:prstGeom prst="rect">
            <a:avLst/>
          </a:prstGeom>
          <a:noFill/>
          <a:ln/>
        </p:spPr>
        <p:txBody>
          <a:bodyPr wrap="square" lIns="762" tIns="762" rIns="762" bIns="762" rtlCol="0" anchor="t">
            <a:normAutofit fontScale="77500" lnSpcReduction="20000"/>
          </a:bodyPr>
          <a:lstStyle/>
          <a:p>
            <a:pPr>
              <a:lnSpc>
                <a:spcPct val="92000"/>
              </a:lnSpc>
            </a:pPr>
            <a:r>
              <a:rPr lang="en-US" sz="1140" dirty="0">
                <a:solidFill>
                  <a:srgbClr val="1E1E24"/>
                </a:solidFill>
                <a:ea typeface="Aptos" pitchFamily="34" charset="-122"/>
                <a:cs typeface="Aptos" pitchFamily="34" charset="-120"/>
              </a:rPr>
              <a:t>What did the you author?
</a:t>
            </a:r>
            <a:endParaRPr lang="en-US" sz="1140" dirty="0"/>
          </a:p>
          <a:p>
            <a:pPr>
              <a:lnSpc>
                <a:spcPct val="92000"/>
              </a:lnSpc>
            </a:pPr>
            <a:r>
              <a:rPr lang="en-US" sz="1140" dirty="0">
                <a:solidFill>
                  <a:srgbClr val="1E1E24"/>
                </a:solidFill>
                <a:ea typeface="Aptos" pitchFamily="34" charset="-122"/>
                <a:cs typeface="Aptos" pitchFamily="34" charset="-120"/>
              </a:rPr>
              <a:t>What did the system generate?
</a:t>
            </a:r>
            <a:endParaRPr lang="en-US" sz="1140" dirty="0"/>
          </a:p>
          <a:p>
            <a:pPr>
              <a:lnSpc>
                <a:spcPct val="92000"/>
              </a:lnSpc>
            </a:pPr>
            <a:r>
              <a:rPr lang="en-US" sz="1140" dirty="0">
                <a:solidFill>
                  <a:srgbClr val="1E1E24"/>
                </a:solidFill>
                <a:ea typeface="Aptos" pitchFamily="34" charset="-122"/>
                <a:cs typeface="Aptos" pitchFamily="34" charset="-120"/>
              </a:rPr>
              <a:t>What was curated, edited, or rejected?
</a:t>
            </a:r>
            <a:endParaRPr lang="en-US" sz="1140" dirty="0"/>
          </a:p>
          <a:p>
            <a:pPr>
              <a:lnSpc>
                <a:spcPct val="92000"/>
              </a:lnSpc>
            </a:pPr>
            <a:r>
              <a:rPr lang="en-US" sz="1140" dirty="0">
                <a:solidFill>
                  <a:srgbClr val="1E1E24"/>
                </a:solidFill>
                <a:ea typeface="Aptos" pitchFamily="34" charset="-122"/>
                <a:cs typeface="Aptos" pitchFamily="34" charset="-120"/>
              </a:rPr>
              <a:t>Can the process be explained and defended?</a:t>
            </a:r>
            <a:endParaRPr lang="en-US" sz="1140" dirty="0"/>
          </a:p>
        </p:txBody>
      </p:sp>
      <p:sp>
        <p:nvSpPr>
          <p:cNvPr id="20" name="Text 18">
            <a:hlinkClick r:id="rId3"/>
          </p:cNvPr>
          <p:cNvSpPr/>
          <p:nvPr/>
        </p:nvSpPr>
        <p:spPr>
          <a:xfrm>
            <a:off x="502920" y="6236208"/>
            <a:ext cx="10789920" cy="201168"/>
          </a:xfrm>
          <a:prstGeom prst="rect">
            <a:avLst/>
          </a:prstGeom>
          <a:noFill/>
          <a:ln/>
        </p:spPr>
        <p:txBody>
          <a:bodyPr wrap="square" lIns="0" tIns="0" rIns="0" bIns="0" rtlCol="0" anchor="ctr"/>
          <a:lstStyle/>
          <a:p>
            <a:pPr marL="0" indent="0">
              <a:buNone/>
            </a:pPr>
            <a:r>
              <a:rPr lang="en-US" sz="1400" u="sng" dirty="0">
                <a:solidFill>
                  <a:srgbClr val="5B5B66"/>
                </a:solidFill>
                <a:ea typeface="Aptos" pitchFamily="34" charset="-122"/>
                <a:cs typeface="Aptos" pitchFamily="34" charset="-120"/>
                <a:hlinkClick r:id="rId3">
                  <a:extLst>
                    <a:ext uri="{A12FA001-AC4F-418D-AE19-62706E023703}">
                      <ahyp:hlinkClr xmlns:ahyp="http://schemas.microsoft.com/office/drawing/2018/hyperlinkcolor" val="tx"/>
                    </a:ext>
                  </a:extLst>
                </a:hlinkClick>
              </a:rPr>
              <a:t>Source: COPE authorship and AI tools; ICMJE AI in publishing</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AI disclosure</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200" dirty="0">
                <a:solidFill>
                  <a:srgbClr val="5B5B66"/>
                </a:solidFill>
                <a:ea typeface="Aptos" pitchFamily="34" charset="-122"/>
                <a:cs typeface="Aptos" pitchFamily="34" charset="-120"/>
              </a:rPr>
              <a:t>Students should disclose where and how AI was used</a:t>
            </a:r>
            <a:endParaRPr lang="en-US" sz="1200" dirty="0"/>
          </a:p>
        </p:txBody>
      </p:sp>
      <p:sp>
        <p:nvSpPr>
          <p:cNvPr id="11" name="Shape 9"/>
          <p:cNvSpPr/>
          <p:nvPr/>
        </p:nvSpPr>
        <p:spPr>
          <a:xfrm>
            <a:off x="685800" y="1234440"/>
            <a:ext cx="5029200" cy="1024128"/>
          </a:xfrm>
          <a:prstGeom prst="roundRect">
            <a:avLst>
              <a:gd name="adj" fmla="val 8036"/>
            </a:avLst>
          </a:prstGeom>
          <a:solidFill>
            <a:schemeClr val="accent4">
              <a:lumMod val="20000"/>
              <a:lumOff val="80000"/>
            </a:schemeClr>
          </a:solidFill>
          <a:ln w="12700">
            <a:solidFill>
              <a:srgbClr val="FFFFFF"/>
            </a:solidFill>
            <a:prstDash val="solid"/>
          </a:ln>
          <a:effectLst>
            <a:outerShdw blurRad="12700" dist="50800" dir="2700000" algn="bl" rotWithShape="0">
              <a:srgbClr val="000000">
                <a:alpha val="12000"/>
              </a:srgbClr>
            </a:outerShdw>
          </a:effectLst>
        </p:spPr>
        <p:txBody>
          <a:bodyPr/>
          <a:lstStyle/>
          <a:p>
            <a:endParaRPr/>
          </a:p>
        </p:txBody>
      </p:sp>
      <p:sp>
        <p:nvSpPr>
          <p:cNvPr id="12" name="Text 10"/>
          <p:cNvSpPr/>
          <p:nvPr/>
        </p:nvSpPr>
        <p:spPr>
          <a:xfrm>
            <a:off x="850392" y="1362456"/>
            <a:ext cx="4700016" cy="301752"/>
          </a:xfrm>
          <a:prstGeom prst="rect">
            <a:avLst/>
          </a:prstGeom>
          <a:noFill/>
          <a:ln/>
        </p:spPr>
        <p:txBody>
          <a:bodyPr wrap="square" lIns="762" tIns="762" rIns="762" bIns="762" rtlCol="0" anchor="t">
            <a:normAutofit/>
          </a:bodyPr>
          <a:lstStyle/>
          <a:p>
            <a:pPr marL="0" indent="0" algn="l">
              <a:lnSpc>
                <a:spcPct val="95000"/>
              </a:lnSpc>
              <a:buNone/>
            </a:pPr>
            <a:r>
              <a:rPr lang="en-US" sz="1450" b="1" dirty="0">
                <a:solidFill>
                  <a:srgbClr val="4B2E83"/>
                </a:solidFill>
                <a:ea typeface="Aptos" pitchFamily="34" charset="-122"/>
                <a:cs typeface="Aptos" pitchFamily="34" charset="-120"/>
              </a:rPr>
              <a:t>AI-assisted work</a:t>
            </a:r>
            <a:endParaRPr lang="en-US" sz="1450" dirty="0"/>
          </a:p>
        </p:txBody>
      </p:sp>
      <p:sp>
        <p:nvSpPr>
          <p:cNvPr id="13" name="Text 11"/>
          <p:cNvSpPr/>
          <p:nvPr/>
        </p:nvSpPr>
        <p:spPr>
          <a:xfrm>
            <a:off x="850392" y="1709928"/>
            <a:ext cx="4700016" cy="457200"/>
          </a:xfrm>
          <a:prstGeom prst="rect">
            <a:avLst/>
          </a:prstGeom>
          <a:noFill/>
          <a:ln/>
        </p:spPr>
        <p:txBody>
          <a:bodyPr wrap="square" lIns="762" tIns="762" rIns="762" bIns="762" rtlCol="0" anchor="t">
            <a:normAutofit/>
          </a:bodyPr>
          <a:lstStyle/>
          <a:p>
            <a:pPr marL="0" indent="0" algn="l">
              <a:lnSpc>
                <a:spcPct val="95000"/>
              </a:lnSpc>
              <a:buNone/>
            </a:pPr>
            <a:r>
              <a:rPr lang="en-US" sz="1160" dirty="0">
                <a:solidFill>
                  <a:srgbClr val="1E1E24"/>
                </a:solidFill>
                <a:ea typeface="Aptos" pitchFamily="34" charset="-122"/>
                <a:cs typeface="Aptos" pitchFamily="34" charset="-120"/>
              </a:rPr>
              <a:t>The student remains the author and uses AI as a tool.</a:t>
            </a:r>
            <a:endParaRPr lang="en-US" sz="1160" dirty="0"/>
          </a:p>
        </p:txBody>
      </p:sp>
      <p:sp>
        <p:nvSpPr>
          <p:cNvPr id="14" name="Shape 12"/>
          <p:cNvSpPr/>
          <p:nvPr/>
        </p:nvSpPr>
        <p:spPr>
          <a:xfrm>
            <a:off x="6217920" y="1234440"/>
            <a:ext cx="5029200" cy="1024128"/>
          </a:xfrm>
          <a:prstGeom prst="roundRect">
            <a:avLst>
              <a:gd name="adj" fmla="val 8036"/>
            </a:avLst>
          </a:prstGeom>
          <a:solidFill>
            <a:srgbClr val="F4EBD0"/>
          </a:solidFill>
          <a:ln w="12700">
            <a:solidFill>
              <a:srgbClr val="F4EBD0"/>
            </a:solidFill>
            <a:prstDash val="solid"/>
          </a:ln>
          <a:effectLst>
            <a:outerShdw blurRad="12700" dist="50800" dir="2700000" algn="bl" rotWithShape="0">
              <a:srgbClr val="000000">
                <a:alpha val="12000"/>
              </a:srgbClr>
            </a:outerShdw>
          </a:effectLst>
        </p:spPr>
        <p:txBody>
          <a:bodyPr/>
          <a:lstStyle/>
          <a:p>
            <a:endParaRPr/>
          </a:p>
        </p:txBody>
      </p:sp>
      <p:sp>
        <p:nvSpPr>
          <p:cNvPr id="15" name="Text 13"/>
          <p:cNvSpPr/>
          <p:nvPr/>
        </p:nvSpPr>
        <p:spPr>
          <a:xfrm>
            <a:off x="6382512" y="1362456"/>
            <a:ext cx="4700016" cy="301752"/>
          </a:xfrm>
          <a:prstGeom prst="rect">
            <a:avLst/>
          </a:prstGeom>
          <a:noFill/>
          <a:ln/>
        </p:spPr>
        <p:txBody>
          <a:bodyPr wrap="square" lIns="762" tIns="762" rIns="762" bIns="762" rtlCol="0" anchor="t">
            <a:normAutofit/>
          </a:bodyPr>
          <a:lstStyle/>
          <a:p>
            <a:pPr marL="0" indent="0" algn="l">
              <a:lnSpc>
                <a:spcPct val="95000"/>
              </a:lnSpc>
              <a:buNone/>
            </a:pPr>
            <a:r>
              <a:rPr lang="en-US" sz="1450" b="1" dirty="0">
                <a:solidFill>
                  <a:srgbClr val="1E1E24"/>
                </a:solidFill>
                <a:ea typeface="Aptos" pitchFamily="34" charset="-122"/>
                <a:cs typeface="Aptos" pitchFamily="34" charset="-120"/>
              </a:rPr>
              <a:t>AI-generated work</a:t>
            </a:r>
            <a:endParaRPr lang="en-US" sz="1450" dirty="0"/>
          </a:p>
        </p:txBody>
      </p:sp>
      <p:sp>
        <p:nvSpPr>
          <p:cNvPr id="16" name="Text 14"/>
          <p:cNvSpPr/>
          <p:nvPr/>
        </p:nvSpPr>
        <p:spPr>
          <a:xfrm>
            <a:off x="6382512" y="1709928"/>
            <a:ext cx="4700016" cy="457200"/>
          </a:xfrm>
          <a:prstGeom prst="rect">
            <a:avLst/>
          </a:prstGeom>
          <a:noFill/>
          <a:ln/>
        </p:spPr>
        <p:txBody>
          <a:bodyPr wrap="square" lIns="762" tIns="762" rIns="762" bIns="762" rtlCol="0" anchor="t">
            <a:normAutofit/>
          </a:bodyPr>
          <a:lstStyle/>
          <a:p>
            <a:pPr marL="0" indent="0" algn="l">
              <a:lnSpc>
                <a:spcPct val="95000"/>
              </a:lnSpc>
              <a:buNone/>
            </a:pPr>
            <a:r>
              <a:rPr lang="en-US" sz="1160" dirty="0">
                <a:solidFill>
                  <a:srgbClr val="1E1E24"/>
                </a:solidFill>
                <a:ea typeface="Aptos" pitchFamily="34" charset="-122"/>
                <a:cs typeface="Aptos" pitchFamily="34" charset="-120"/>
              </a:rPr>
              <a:t>The student curates outputs but may have limited control over content, form, or logic.</a:t>
            </a:r>
            <a:endParaRPr lang="en-US" sz="1160" dirty="0"/>
          </a:p>
        </p:txBody>
      </p:sp>
      <p:sp>
        <p:nvSpPr>
          <p:cNvPr id="17" name="Shape 15"/>
          <p:cNvSpPr/>
          <p:nvPr/>
        </p:nvSpPr>
        <p:spPr>
          <a:xfrm>
            <a:off x="685800" y="2633472"/>
            <a:ext cx="5029200" cy="1024128"/>
          </a:xfrm>
          <a:prstGeom prst="roundRect">
            <a:avLst>
              <a:gd name="adj" fmla="val 8036"/>
            </a:avLst>
          </a:prstGeom>
          <a:solidFill>
            <a:schemeClr val="accent4">
              <a:lumMod val="20000"/>
              <a:lumOff val="80000"/>
            </a:schemeClr>
          </a:solidFill>
          <a:ln w="12700">
            <a:solidFill>
              <a:srgbClr val="FFFFFF"/>
            </a:solidFill>
            <a:prstDash val="solid"/>
          </a:ln>
          <a:effectLst>
            <a:outerShdw blurRad="12700" dist="50800" dir="2700000" algn="bl" rotWithShape="0">
              <a:srgbClr val="000000">
                <a:alpha val="12000"/>
              </a:srgbClr>
            </a:outerShdw>
          </a:effectLst>
        </p:spPr>
        <p:txBody>
          <a:bodyPr/>
          <a:lstStyle/>
          <a:p>
            <a:endParaRPr/>
          </a:p>
        </p:txBody>
      </p:sp>
      <p:sp>
        <p:nvSpPr>
          <p:cNvPr id="18" name="Text 16"/>
          <p:cNvSpPr/>
          <p:nvPr/>
        </p:nvSpPr>
        <p:spPr>
          <a:xfrm>
            <a:off x="850392" y="2761488"/>
            <a:ext cx="4700016" cy="301752"/>
          </a:xfrm>
          <a:prstGeom prst="rect">
            <a:avLst/>
          </a:prstGeom>
          <a:noFill/>
          <a:ln/>
        </p:spPr>
        <p:txBody>
          <a:bodyPr wrap="square" lIns="762" tIns="762" rIns="762" bIns="762" rtlCol="0" anchor="t">
            <a:normAutofit/>
          </a:bodyPr>
          <a:lstStyle/>
          <a:p>
            <a:pPr marL="0" indent="0" algn="l">
              <a:lnSpc>
                <a:spcPct val="95000"/>
              </a:lnSpc>
              <a:buNone/>
            </a:pPr>
            <a:r>
              <a:rPr lang="en-US" sz="1450" b="1" dirty="0">
                <a:solidFill>
                  <a:srgbClr val="4B2E83"/>
                </a:solidFill>
                <a:ea typeface="Aptos" pitchFamily="34" charset="-122"/>
                <a:cs typeface="Aptos" pitchFamily="34" charset="-120"/>
              </a:rPr>
              <a:t>AI-mediated research</a:t>
            </a:r>
            <a:endParaRPr lang="en-US" sz="1450" dirty="0"/>
          </a:p>
        </p:txBody>
      </p:sp>
      <p:sp>
        <p:nvSpPr>
          <p:cNvPr id="19" name="Text 17"/>
          <p:cNvSpPr/>
          <p:nvPr/>
        </p:nvSpPr>
        <p:spPr>
          <a:xfrm>
            <a:off x="850392" y="3108960"/>
            <a:ext cx="4700016" cy="457200"/>
          </a:xfrm>
          <a:prstGeom prst="rect">
            <a:avLst/>
          </a:prstGeom>
          <a:noFill/>
          <a:ln/>
        </p:spPr>
        <p:txBody>
          <a:bodyPr wrap="square" lIns="762" tIns="762" rIns="762" bIns="762" rtlCol="0" anchor="t">
            <a:normAutofit/>
          </a:bodyPr>
          <a:lstStyle/>
          <a:p>
            <a:pPr marL="0" indent="0" algn="l">
              <a:lnSpc>
                <a:spcPct val="95000"/>
              </a:lnSpc>
              <a:buNone/>
            </a:pPr>
            <a:r>
              <a:rPr lang="en-US" sz="1160" dirty="0">
                <a:solidFill>
                  <a:srgbClr val="1E1E24"/>
                </a:solidFill>
                <a:ea typeface="Aptos" pitchFamily="34" charset="-122"/>
                <a:cs typeface="Aptos" pitchFamily="34" charset="-120"/>
              </a:rPr>
              <a:t>AI participates in data analysis, coding, modeling, evaluation, or interpretation.</a:t>
            </a:r>
            <a:endParaRPr lang="en-US" sz="1160" dirty="0"/>
          </a:p>
        </p:txBody>
      </p:sp>
      <p:sp>
        <p:nvSpPr>
          <p:cNvPr id="20" name="Shape 18"/>
          <p:cNvSpPr/>
          <p:nvPr/>
        </p:nvSpPr>
        <p:spPr>
          <a:xfrm>
            <a:off x="6217920" y="2633472"/>
            <a:ext cx="5029200" cy="1024128"/>
          </a:xfrm>
          <a:prstGeom prst="roundRect">
            <a:avLst>
              <a:gd name="adj" fmla="val 8036"/>
            </a:avLst>
          </a:prstGeom>
          <a:solidFill>
            <a:srgbClr val="F4EBD0"/>
          </a:solidFill>
          <a:ln w="12700">
            <a:solidFill>
              <a:srgbClr val="F4EBD0"/>
            </a:solidFill>
            <a:prstDash val="solid"/>
          </a:ln>
          <a:effectLst>
            <a:outerShdw blurRad="12700" dist="50800" dir="2700000" algn="bl" rotWithShape="0">
              <a:srgbClr val="000000">
                <a:alpha val="12000"/>
              </a:srgbClr>
            </a:outerShdw>
          </a:effectLst>
        </p:spPr>
        <p:txBody>
          <a:bodyPr/>
          <a:lstStyle/>
          <a:p>
            <a:endParaRPr/>
          </a:p>
        </p:txBody>
      </p:sp>
      <p:sp>
        <p:nvSpPr>
          <p:cNvPr id="21" name="Text 19"/>
          <p:cNvSpPr/>
          <p:nvPr/>
        </p:nvSpPr>
        <p:spPr>
          <a:xfrm>
            <a:off x="6382512" y="2761488"/>
            <a:ext cx="4700016" cy="301752"/>
          </a:xfrm>
          <a:prstGeom prst="rect">
            <a:avLst/>
          </a:prstGeom>
          <a:noFill/>
          <a:ln/>
        </p:spPr>
        <p:txBody>
          <a:bodyPr wrap="square" lIns="762" tIns="762" rIns="762" bIns="762" rtlCol="0" anchor="t">
            <a:normAutofit/>
          </a:bodyPr>
          <a:lstStyle/>
          <a:p>
            <a:pPr marL="0" indent="0" algn="l">
              <a:lnSpc>
                <a:spcPct val="95000"/>
              </a:lnSpc>
              <a:buNone/>
            </a:pPr>
            <a:r>
              <a:rPr lang="en-US" sz="1450" b="1" dirty="0">
                <a:solidFill>
                  <a:srgbClr val="1E1E24"/>
                </a:solidFill>
                <a:ea typeface="Aptos" pitchFamily="34" charset="-122"/>
                <a:cs typeface="Aptos" pitchFamily="34" charset="-120"/>
              </a:rPr>
              <a:t>AI-dependent workflow</a:t>
            </a:r>
            <a:endParaRPr lang="en-US" sz="1450" dirty="0"/>
          </a:p>
        </p:txBody>
      </p:sp>
      <p:sp>
        <p:nvSpPr>
          <p:cNvPr id="22" name="Text 20"/>
          <p:cNvSpPr/>
          <p:nvPr/>
        </p:nvSpPr>
        <p:spPr>
          <a:xfrm>
            <a:off x="6382512" y="3108960"/>
            <a:ext cx="4700016" cy="457200"/>
          </a:xfrm>
          <a:prstGeom prst="rect">
            <a:avLst/>
          </a:prstGeom>
          <a:noFill/>
          <a:ln/>
        </p:spPr>
        <p:txBody>
          <a:bodyPr wrap="square" lIns="762" tIns="762" rIns="762" bIns="762" rtlCol="0" anchor="t">
            <a:normAutofit/>
          </a:bodyPr>
          <a:lstStyle/>
          <a:p>
            <a:pPr marL="0" indent="0" algn="l">
              <a:lnSpc>
                <a:spcPct val="95000"/>
              </a:lnSpc>
              <a:buNone/>
            </a:pPr>
            <a:r>
              <a:rPr lang="en-US" sz="1160" dirty="0">
                <a:solidFill>
                  <a:srgbClr val="1E1E24"/>
                </a:solidFill>
                <a:ea typeface="Aptos" pitchFamily="34" charset="-122"/>
                <a:cs typeface="Aptos" pitchFamily="34" charset="-120"/>
              </a:rPr>
              <a:t>The project cannot be reproduced or explained without the AI system.</a:t>
            </a:r>
            <a:endParaRPr lang="en-US" sz="1160" dirty="0"/>
          </a:p>
        </p:txBody>
      </p:sp>
      <p:sp>
        <p:nvSpPr>
          <p:cNvPr id="23" name="Shape 21"/>
          <p:cNvSpPr/>
          <p:nvPr/>
        </p:nvSpPr>
        <p:spPr>
          <a:xfrm>
            <a:off x="1005840" y="4599432"/>
            <a:ext cx="10168128" cy="713232"/>
          </a:xfrm>
          <a:prstGeom prst="roundRect">
            <a:avLst>
              <a:gd name="adj" fmla="val 10256"/>
            </a:avLst>
          </a:prstGeom>
          <a:solidFill>
            <a:srgbClr val="E7F2F2"/>
          </a:solidFill>
          <a:ln w="12700">
            <a:solidFill>
              <a:srgbClr val="E7F2F2"/>
            </a:solidFill>
            <a:prstDash val="solid"/>
          </a:ln>
        </p:spPr>
        <p:txBody>
          <a:bodyPr/>
          <a:lstStyle/>
          <a:p>
            <a:endParaRPr/>
          </a:p>
        </p:txBody>
      </p:sp>
      <p:sp>
        <p:nvSpPr>
          <p:cNvPr id="24" name="Text 22"/>
          <p:cNvSpPr/>
          <p:nvPr/>
        </p:nvSpPr>
        <p:spPr>
          <a:xfrm>
            <a:off x="1143000" y="4727448"/>
            <a:ext cx="9893808" cy="530352"/>
          </a:xfrm>
          <a:prstGeom prst="rect">
            <a:avLst/>
          </a:prstGeom>
          <a:noFill/>
          <a:ln/>
        </p:spPr>
        <p:txBody>
          <a:bodyPr wrap="square" lIns="762" tIns="762" rIns="762" bIns="762" rtlCol="0" anchor="ctr">
            <a:normAutofit/>
          </a:bodyPr>
          <a:lstStyle/>
          <a:p>
            <a:pPr marL="0" indent="0" algn="ctr">
              <a:lnSpc>
                <a:spcPct val="95000"/>
              </a:lnSpc>
              <a:buNone/>
            </a:pPr>
            <a:r>
              <a:rPr lang="en-US" sz="1220" b="1" dirty="0">
                <a:ea typeface="Aptos" pitchFamily="34" charset="-122"/>
                <a:cs typeface="Aptos" pitchFamily="34" charset="-120"/>
              </a:rPr>
              <a:t>Rule suggestion: disclose AI use in ideation, coding, analysis, image generation, writing, simulation support, evaluation, and presentation.</a:t>
            </a:r>
            <a:endParaRPr lang="en-US" sz="1220" dirty="0"/>
          </a:p>
        </p:txBody>
      </p:sp>
      <p:sp>
        <p:nvSpPr>
          <p:cNvPr id="25" name="Text 23"/>
          <p:cNvSpPr/>
          <p:nvPr/>
        </p:nvSpPr>
        <p:spPr>
          <a:xfrm>
            <a:off x="1920240" y="5596128"/>
            <a:ext cx="8321040" cy="347472"/>
          </a:xfrm>
          <a:prstGeom prst="rect">
            <a:avLst/>
          </a:prstGeom>
          <a:noFill/>
          <a:ln/>
        </p:spPr>
        <p:txBody>
          <a:bodyPr wrap="square" lIns="762" tIns="762" rIns="762" bIns="762" rtlCol="0" anchor="t">
            <a:normAutofit/>
          </a:bodyPr>
          <a:lstStyle/>
          <a:p>
            <a:pPr marL="0" indent="0" algn="ctr">
              <a:lnSpc>
                <a:spcPct val="95000"/>
              </a:lnSpc>
              <a:buNone/>
            </a:pPr>
            <a:r>
              <a:rPr lang="en-US" sz="1420" b="1" dirty="0">
                <a:solidFill>
                  <a:srgbClr val="4B2E83"/>
                </a:solidFill>
                <a:ea typeface="Aptos" pitchFamily="34" charset="-122"/>
                <a:cs typeface="Aptos" pitchFamily="34" charset="-120"/>
              </a:rPr>
              <a:t>Deliverable: an “AI use statement” in final papers and presentations.</a:t>
            </a:r>
            <a:endParaRPr lang="en-US" sz="142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Copyright, human authorship, and AI-generated outputs</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180" dirty="0">
                <a:solidFill>
                  <a:srgbClr val="5B5B66"/>
                </a:solidFill>
                <a:ea typeface="Aptos" pitchFamily="34" charset="-122"/>
                <a:cs typeface="Aptos" pitchFamily="34" charset="-120"/>
              </a:rPr>
              <a:t>Legal frameworks are still evolving, but human contribution remains central</a:t>
            </a:r>
            <a:endParaRPr lang="en-US" sz="1180" dirty="0"/>
          </a:p>
        </p:txBody>
      </p:sp>
      <p:sp>
        <p:nvSpPr>
          <p:cNvPr id="11" name="Shape 9"/>
          <p:cNvSpPr/>
          <p:nvPr/>
        </p:nvSpPr>
        <p:spPr>
          <a:xfrm>
            <a:off x="685800" y="1234440"/>
            <a:ext cx="5257800" cy="1325880"/>
          </a:xfrm>
          <a:prstGeom prst="roundRect">
            <a:avLst>
              <a:gd name="adj" fmla="val 6207"/>
            </a:avLst>
          </a:prstGeom>
          <a:solidFill>
            <a:srgbClr val="F4EBD0"/>
          </a:solidFill>
          <a:ln w="12700">
            <a:solidFill>
              <a:srgbClr val="F4EBD0"/>
            </a:solidFill>
            <a:prstDash val="solid"/>
          </a:ln>
          <a:effectLst>
            <a:outerShdw blurRad="12700" dist="50800" dir="2700000" algn="bl" rotWithShape="0">
              <a:srgbClr val="000000">
                <a:alpha val="12000"/>
              </a:srgbClr>
            </a:outerShdw>
          </a:effectLst>
        </p:spPr>
        <p:txBody>
          <a:bodyPr/>
          <a:lstStyle/>
          <a:p>
            <a:endParaRPr/>
          </a:p>
        </p:txBody>
      </p:sp>
      <p:sp>
        <p:nvSpPr>
          <p:cNvPr id="12" name="Text 10"/>
          <p:cNvSpPr/>
          <p:nvPr/>
        </p:nvSpPr>
        <p:spPr>
          <a:xfrm>
            <a:off x="850392" y="1362456"/>
            <a:ext cx="4928616" cy="301752"/>
          </a:xfrm>
          <a:prstGeom prst="rect">
            <a:avLst/>
          </a:prstGeom>
          <a:noFill/>
          <a:ln/>
        </p:spPr>
        <p:txBody>
          <a:bodyPr wrap="square" lIns="762" tIns="762" rIns="762" bIns="762" rtlCol="0" anchor="t">
            <a:normAutofit/>
          </a:bodyPr>
          <a:lstStyle/>
          <a:p>
            <a:pPr marL="0" indent="0" algn="l">
              <a:lnSpc>
                <a:spcPct val="95000"/>
              </a:lnSpc>
              <a:buNone/>
            </a:pPr>
            <a:r>
              <a:rPr lang="en-US" sz="1350" b="1" dirty="0">
                <a:solidFill>
                  <a:srgbClr val="1E1E24"/>
                </a:solidFill>
                <a:ea typeface="Aptos" pitchFamily="34" charset="-122"/>
                <a:cs typeface="Aptos" pitchFamily="34" charset="-120"/>
              </a:rPr>
              <a:t>U.S. Copyright Office anchor</a:t>
            </a:r>
            <a:endParaRPr lang="en-US" sz="1350" dirty="0"/>
          </a:p>
        </p:txBody>
      </p:sp>
      <p:sp>
        <p:nvSpPr>
          <p:cNvPr id="13" name="Text 11"/>
          <p:cNvSpPr/>
          <p:nvPr/>
        </p:nvSpPr>
        <p:spPr>
          <a:xfrm>
            <a:off x="850392" y="1709928"/>
            <a:ext cx="4928616" cy="758952"/>
          </a:xfrm>
          <a:prstGeom prst="rect">
            <a:avLst/>
          </a:prstGeom>
          <a:noFill/>
          <a:ln/>
        </p:spPr>
        <p:txBody>
          <a:bodyPr wrap="square" lIns="762" tIns="762" rIns="762" bIns="762" rtlCol="0" anchor="t">
            <a:normAutofit/>
          </a:bodyPr>
          <a:lstStyle/>
          <a:p>
            <a:pPr marL="0" indent="0" algn="l">
              <a:lnSpc>
                <a:spcPct val="95000"/>
              </a:lnSpc>
              <a:buNone/>
            </a:pPr>
            <a:r>
              <a:rPr lang="en-US" sz="1240" dirty="0">
                <a:solidFill>
                  <a:srgbClr val="1E1E24"/>
                </a:solidFill>
                <a:ea typeface="Aptos" pitchFamily="34" charset="-122"/>
                <a:cs typeface="Aptos" pitchFamily="34" charset="-120"/>
              </a:rPr>
              <a:t>The U.S. Copyright Office has issued a multi-part report on copyright and AI. Part 2 addresses copyrightability of outputs created using generative AI.</a:t>
            </a:r>
            <a:endParaRPr lang="en-US" sz="1240" dirty="0"/>
          </a:p>
        </p:txBody>
      </p:sp>
      <p:sp>
        <p:nvSpPr>
          <p:cNvPr id="14" name="Shape 12"/>
          <p:cNvSpPr/>
          <p:nvPr/>
        </p:nvSpPr>
        <p:spPr>
          <a:xfrm>
            <a:off x="6309360" y="1234440"/>
            <a:ext cx="5166360" cy="2514600"/>
          </a:xfrm>
          <a:prstGeom prst="roundRect">
            <a:avLst>
              <a:gd name="adj" fmla="val 3273"/>
            </a:avLst>
          </a:prstGeom>
          <a:solidFill>
            <a:srgbClr val="FFFFFF"/>
          </a:solidFill>
          <a:ln w="12700">
            <a:solidFill>
              <a:srgbClr val="FFFFFF"/>
            </a:solidFill>
            <a:prstDash val="solid"/>
          </a:ln>
        </p:spPr>
        <p:txBody>
          <a:bodyPr/>
          <a:lstStyle/>
          <a:p>
            <a:endParaRPr/>
          </a:p>
        </p:txBody>
      </p:sp>
      <p:sp>
        <p:nvSpPr>
          <p:cNvPr id="15" name="Text 13"/>
          <p:cNvSpPr/>
          <p:nvPr/>
        </p:nvSpPr>
        <p:spPr>
          <a:xfrm>
            <a:off x="6473952" y="1362456"/>
            <a:ext cx="4837176" cy="301752"/>
          </a:xfrm>
          <a:prstGeom prst="rect">
            <a:avLst/>
          </a:prstGeom>
          <a:noFill/>
          <a:ln/>
        </p:spPr>
        <p:txBody>
          <a:bodyPr wrap="square" lIns="762" tIns="762" rIns="762" bIns="762" rtlCol="0" anchor="t">
            <a:normAutofit/>
          </a:bodyPr>
          <a:lstStyle/>
          <a:p>
            <a:pPr marL="0" indent="0" algn="l">
              <a:lnSpc>
                <a:spcPct val="95000"/>
              </a:lnSpc>
              <a:buNone/>
            </a:pPr>
            <a:r>
              <a:rPr lang="en-US" sz="1350" b="1" dirty="0">
                <a:solidFill>
                  <a:srgbClr val="4B2E83"/>
                </a:solidFill>
                <a:ea typeface="Aptos" pitchFamily="34" charset="-122"/>
                <a:cs typeface="Aptos" pitchFamily="34" charset="-120"/>
              </a:rPr>
              <a:t>Architecture implication</a:t>
            </a:r>
            <a:endParaRPr lang="en-US" sz="1350" dirty="0"/>
          </a:p>
        </p:txBody>
      </p:sp>
      <p:sp>
        <p:nvSpPr>
          <p:cNvPr id="16" name="Text 14"/>
          <p:cNvSpPr/>
          <p:nvPr/>
        </p:nvSpPr>
        <p:spPr>
          <a:xfrm>
            <a:off x="6473952" y="1709928"/>
            <a:ext cx="4837176" cy="1947672"/>
          </a:xfrm>
          <a:prstGeom prst="rect">
            <a:avLst/>
          </a:prstGeom>
          <a:noFill/>
          <a:ln/>
        </p:spPr>
        <p:txBody>
          <a:bodyPr wrap="square" lIns="762" tIns="762" rIns="762" bIns="762" rtlCol="0" anchor="t">
            <a:normAutofit/>
          </a:bodyPr>
          <a:lstStyle/>
          <a:p>
            <a:pPr>
              <a:lnSpc>
                <a:spcPct val="92000"/>
              </a:lnSpc>
            </a:pPr>
            <a:r>
              <a:rPr lang="en-US" sz="1130" dirty="0">
                <a:solidFill>
                  <a:srgbClr val="1E1E24"/>
                </a:solidFill>
                <a:ea typeface="Aptos" pitchFamily="34" charset="-122"/>
                <a:cs typeface="Aptos" pitchFamily="34" charset="-120"/>
              </a:rPr>
              <a:t>Do not assume AI-generated images are automatically protectable as your original work.
</a:t>
            </a:r>
            <a:endParaRPr lang="en-US" sz="1130" dirty="0"/>
          </a:p>
          <a:p>
            <a:pPr>
              <a:lnSpc>
                <a:spcPct val="92000"/>
              </a:lnSpc>
            </a:pPr>
            <a:r>
              <a:rPr lang="en-US" sz="1130" dirty="0">
                <a:solidFill>
                  <a:srgbClr val="1E1E24"/>
                </a:solidFill>
                <a:ea typeface="Aptos" pitchFamily="34" charset="-122"/>
                <a:cs typeface="Aptos" pitchFamily="34" charset="-120"/>
              </a:rPr>
              <a:t>Clarify what human authorship contributed.
</a:t>
            </a:r>
            <a:endParaRPr lang="en-US" sz="1130" dirty="0"/>
          </a:p>
          <a:p>
            <a:pPr>
              <a:lnSpc>
                <a:spcPct val="92000"/>
              </a:lnSpc>
            </a:pPr>
            <a:r>
              <a:rPr lang="en-US" sz="1130" dirty="0">
                <a:solidFill>
                  <a:srgbClr val="1E1E24"/>
                </a:solidFill>
                <a:ea typeface="Aptos" pitchFamily="34" charset="-122"/>
                <a:cs typeface="Aptos" pitchFamily="34" charset="-120"/>
              </a:rPr>
              <a:t>Document prompts, selection, editing, composition, and transformation.
</a:t>
            </a:r>
            <a:endParaRPr lang="en-US" sz="1130" dirty="0"/>
          </a:p>
          <a:p>
            <a:pPr>
              <a:lnSpc>
                <a:spcPct val="92000"/>
              </a:lnSpc>
            </a:pPr>
            <a:r>
              <a:rPr lang="en-US" sz="1130" dirty="0">
                <a:solidFill>
                  <a:srgbClr val="1E1E24"/>
                </a:solidFill>
                <a:ea typeface="Aptos" pitchFamily="34" charset="-122"/>
                <a:cs typeface="Aptos" pitchFamily="34" charset="-120"/>
              </a:rPr>
              <a:t>Be careful with competitions, portfolios, publications, and client deliverables.</a:t>
            </a:r>
            <a:endParaRPr lang="en-US" sz="1130" dirty="0"/>
          </a:p>
        </p:txBody>
      </p:sp>
      <p:sp>
        <p:nvSpPr>
          <p:cNvPr id="17" name="Shape 15"/>
          <p:cNvSpPr/>
          <p:nvPr/>
        </p:nvSpPr>
        <p:spPr>
          <a:xfrm>
            <a:off x="1417320" y="4572000"/>
            <a:ext cx="9372600" cy="658368"/>
          </a:xfrm>
          <a:prstGeom prst="roundRect">
            <a:avLst>
              <a:gd name="adj" fmla="val 11111"/>
            </a:avLst>
          </a:prstGeom>
          <a:solidFill>
            <a:srgbClr val="EEE9F7"/>
          </a:solidFill>
          <a:ln w="12700">
            <a:solidFill>
              <a:srgbClr val="EEE9F7"/>
            </a:solidFill>
            <a:prstDash val="solid"/>
          </a:ln>
        </p:spPr>
        <p:txBody>
          <a:bodyPr/>
          <a:lstStyle/>
          <a:p>
            <a:endParaRPr/>
          </a:p>
        </p:txBody>
      </p:sp>
      <p:sp>
        <p:nvSpPr>
          <p:cNvPr id="18" name="Text 16"/>
          <p:cNvSpPr/>
          <p:nvPr/>
        </p:nvSpPr>
        <p:spPr>
          <a:xfrm>
            <a:off x="1554480" y="4700016"/>
            <a:ext cx="9098280" cy="475488"/>
          </a:xfrm>
          <a:prstGeom prst="rect">
            <a:avLst/>
          </a:prstGeom>
          <a:noFill/>
          <a:ln/>
        </p:spPr>
        <p:txBody>
          <a:bodyPr wrap="square" lIns="762" tIns="762" rIns="762" bIns="762" rtlCol="0" anchor="ctr">
            <a:normAutofit/>
          </a:bodyPr>
          <a:lstStyle/>
          <a:p>
            <a:pPr marL="0" indent="0" algn="ctr">
              <a:lnSpc>
                <a:spcPct val="95000"/>
              </a:lnSpc>
              <a:buNone/>
            </a:pPr>
            <a:r>
              <a:rPr lang="en-US" sz="1220" b="1" dirty="0">
                <a:solidFill>
                  <a:srgbClr val="4B2E83"/>
                </a:solidFill>
                <a:ea typeface="Aptos" pitchFamily="34" charset="-122"/>
                <a:cs typeface="Aptos" pitchFamily="34" charset="-120"/>
              </a:rPr>
              <a:t>What did the human designer/researcher contribute that is original, intentional, and explainable?</a:t>
            </a:r>
            <a:endParaRPr lang="en-US" sz="1220" dirty="0"/>
          </a:p>
        </p:txBody>
      </p:sp>
      <p:sp>
        <p:nvSpPr>
          <p:cNvPr id="19" name="Text 17">
            <a:hlinkClick r:id="rId3"/>
          </p:cNvPr>
          <p:cNvSpPr/>
          <p:nvPr/>
        </p:nvSpPr>
        <p:spPr>
          <a:xfrm>
            <a:off x="502920" y="6236208"/>
            <a:ext cx="10789920" cy="201168"/>
          </a:xfrm>
          <a:prstGeom prst="rect">
            <a:avLst/>
          </a:prstGeom>
          <a:noFill/>
          <a:ln/>
        </p:spPr>
        <p:txBody>
          <a:bodyPr wrap="square" lIns="0" tIns="0" rIns="0" bIns="0" rtlCol="0" anchor="ctr"/>
          <a:lstStyle/>
          <a:p>
            <a:pPr marL="0" indent="0">
              <a:buNone/>
            </a:pPr>
            <a:r>
              <a:rPr lang="en-US" sz="1400" u="sng" dirty="0">
                <a:solidFill>
                  <a:srgbClr val="5B5B66"/>
                </a:solidFill>
                <a:ea typeface="Aptos" pitchFamily="34" charset="-122"/>
                <a:cs typeface="Aptos" pitchFamily="34" charset="-120"/>
                <a:hlinkClick r:id="rId3">
                  <a:extLst>
                    <a:ext uri="{A12FA001-AC4F-418D-AE19-62706E023703}">
                      <ahyp:hlinkClr xmlns:ahyp="http://schemas.microsoft.com/office/drawing/2018/hyperlinkcolor" val="tx"/>
                    </a:ext>
                  </a:extLst>
                </a:hlinkClick>
              </a:rPr>
              <a:t>Source: U.S. Copyright Office: Copyright and Artificial Intelligence</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Accountability and professional judgment</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180" dirty="0">
                <a:solidFill>
                  <a:srgbClr val="5B5B66"/>
                </a:solidFill>
                <a:ea typeface="Aptos" pitchFamily="34" charset="-122"/>
                <a:cs typeface="Aptos" pitchFamily="34" charset="-120"/>
              </a:rPr>
              <a:t>AI can support design reasoning, but it cannot replace professional responsibility</a:t>
            </a:r>
            <a:endParaRPr lang="en-US" sz="1180" dirty="0"/>
          </a:p>
        </p:txBody>
      </p:sp>
      <p:sp>
        <p:nvSpPr>
          <p:cNvPr id="11" name="Shape 9"/>
          <p:cNvSpPr/>
          <p:nvPr/>
        </p:nvSpPr>
        <p:spPr>
          <a:xfrm>
            <a:off x="685800" y="1234440"/>
            <a:ext cx="4389120" cy="2926080"/>
          </a:xfrm>
          <a:prstGeom prst="roundRect">
            <a:avLst>
              <a:gd name="adj" fmla="val 2813"/>
            </a:avLst>
          </a:prstGeom>
          <a:solidFill>
            <a:srgbClr val="F5E8E8"/>
          </a:solidFill>
          <a:ln w="12700">
            <a:solidFill>
              <a:srgbClr val="F5E8E8"/>
            </a:solidFill>
            <a:prstDash val="solid"/>
          </a:ln>
        </p:spPr>
        <p:txBody>
          <a:bodyPr/>
          <a:lstStyle/>
          <a:p>
            <a:endParaRPr/>
          </a:p>
        </p:txBody>
      </p:sp>
      <p:sp>
        <p:nvSpPr>
          <p:cNvPr id="12" name="Text 10"/>
          <p:cNvSpPr/>
          <p:nvPr/>
        </p:nvSpPr>
        <p:spPr>
          <a:xfrm>
            <a:off x="850392" y="1362456"/>
            <a:ext cx="4059936" cy="301752"/>
          </a:xfrm>
          <a:prstGeom prst="rect">
            <a:avLst/>
          </a:prstGeom>
          <a:noFill/>
          <a:ln/>
        </p:spPr>
        <p:txBody>
          <a:bodyPr wrap="square" lIns="762" tIns="762" rIns="762" bIns="762" rtlCol="0" anchor="t">
            <a:normAutofit/>
          </a:bodyPr>
          <a:lstStyle/>
          <a:p>
            <a:pPr marL="0" indent="0" algn="l">
              <a:lnSpc>
                <a:spcPct val="95000"/>
              </a:lnSpc>
              <a:buNone/>
            </a:pPr>
            <a:r>
              <a:rPr lang="en-US" sz="1350" b="1" dirty="0">
                <a:solidFill>
                  <a:srgbClr val="9A3B3B"/>
                </a:solidFill>
                <a:ea typeface="Aptos" pitchFamily="34" charset="-122"/>
                <a:cs typeface="Aptos" pitchFamily="34" charset="-120"/>
              </a:rPr>
              <a:t>AI cannot...</a:t>
            </a:r>
            <a:endParaRPr lang="en-US" sz="1350" dirty="0"/>
          </a:p>
        </p:txBody>
      </p:sp>
      <p:sp>
        <p:nvSpPr>
          <p:cNvPr id="13" name="Text 11"/>
          <p:cNvSpPr/>
          <p:nvPr/>
        </p:nvSpPr>
        <p:spPr>
          <a:xfrm>
            <a:off x="850392" y="1709928"/>
            <a:ext cx="4059936" cy="2359152"/>
          </a:xfrm>
          <a:prstGeom prst="rect">
            <a:avLst/>
          </a:prstGeom>
          <a:noFill/>
          <a:ln/>
        </p:spPr>
        <p:txBody>
          <a:bodyPr wrap="square" lIns="762" tIns="762" rIns="762" bIns="762" rtlCol="0" anchor="t">
            <a:normAutofit/>
          </a:bodyPr>
          <a:lstStyle/>
          <a:p>
            <a:pPr>
              <a:lnSpc>
                <a:spcPct val="92000"/>
              </a:lnSpc>
            </a:pPr>
            <a:r>
              <a:rPr lang="en-US" sz="1220" dirty="0">
                <a:solidFill>
                  <a:srgbClr val="1E1E24"/>
                </a:solidFill>
                <a:ea typeface="Aptos" pitchFamily="34" charset="-122"/>
                <a:cs typeface="Aptos" pitchFamily="34" charset="-120"/>
              </a:rPr>
              <a:t>Sign drawings
</a:t>
            </a:r>
            <a:endParaRPr lang="en-US" sz="1220" dirty="0"/>
          </a:p>
          <a:p>
            <a:pPr>
              <a:lnSpc>
                <a:spcPct val="92000"/>
              </a:lnSpc>
            </a:pPr>
            <a:r>
              <a:rPr lang="en-US" sz="1220" dirty="0">
                <a:solidFill>
                  <a:srgbClr val="1E1E24"/>
                </a:solidFill>
                <a:ea typeface="Aptos" pitchFamily="34" charset="-122"/>
                <a:cs typeface="Aptos" pitchFamily="34" charset="-120"/>
              </a:rPr>
              <a:t>Visit a site and understand material conditions
</a:t>
            </a:r>
            <a:endParaRPr lang="en-US" sz="1220" dirty="0"/>
          </a:p>
          <a:p>
            <a:pPr>
              <a:lnSpc>
                <a:spcPct val="92000"/>
              </a:lnSpc>
            </a:pPr>
            <a:r>
              <a:rPr lang="en-US" sz="1220" dirty="0">
                <a:solidFill>
                  <a:srgbClr val="1E1E24"/>
                </a:solidFill>
                <a:ea typeface="Aptos" pitchFamily="34" charset="-122"/>
                <a:cs typeface="Aptos" pitchFamily="34" charset="-120"/>
              </a:rPr>
              <a:t>Take legal responsibility
</a:t>
            </a:r>
            <a:endParaRPr lang="en-US" sz="1220" dirty="0"/>
          </a:p>
          <a:p>
            <a:pPr>
              <a:lnSpc>
                <a:spcPct val="92000"/>
              </a:lnSpc>
            </a:pPr>
            <a:r>
              <a:rPr lang="en-US" sz="1220" dirty="0">
                <a:solidFill>
                  <a:srgbClr val="1E1E24"/>
                </a:solidFill>
                <a:ea typeface="Aptos" pitchFamily="34" charset="-122"/>
                <a:cs typeface="Aptos" pitchFamily="34" charset="-120"/>
              </a:rPr>
              <a:t>Understand community histories
</a:t>
            </a:r>
            <a:endParaRPr lang="en-US" sz="1220" dirty="0"/>
          </a:p>
          <a:p>
            <a:pPr>
              <a:lnSpc>
                <a:spcPct val="92000"/>
              </a:lnSpc>
            </a:pPr>
            <a:r>
              <a:rPr lang="en-US" sz="1220" dirty="0">
                <a:solidFill>
                  <a:srgbClr val="1E1E24"/>
                </a:solidFill>
                <a:ea typeface="Aptos" pitchFamily="34" charset="-122"/>
                <a:cs typeface="Aptos" pitchFamily="34" charset="-120"/>
              </a:rPr>
              <a:t>Balance human values on its own
</a:t>
            </a:r>
            <a:endParaRPr lang="en-US" sz="1220" dirty="0"/>
          </a:p>
          <a:p>
            <a:pPr>
              <a:lnSpc>
                <a:spcPct val="92000"/>
              </a:lnSpc>
            </a:pPr>
            <a:r>
              <a:rPr lang="en-US" sz="1220" dirty="0">
                <a:solidFill>
                  <a:srgbClr val="1E1E24"/>
                </a:solidFill>
                <a:ea typeface="Aptos" pitchFamily="34" charset="-122"/>
                <a:cs typeface="Aptos" pitchFamily="34" charset="-120"/>
              </a:rPr>
              <a:t>Accept liability for harm</a:t>
            </a:r>
            <a:endParaRPr lang="en-US" sz="1220" dirty="0"/>
          </a:p>
        </p:txBody>
      </p:sp>
      <p:sp>
        <p:nvSpPr>
          <p:cNvPr id="14" name="Shape 12"/>
          <p:cNvSpPr/>
          <p:nvPr/>
        </p:nvSpPr>
        <p:spPr>
          <a:xfrm>
            <a:off x="5440680" y="1234440"/>
            <a:ext cx="4389120" cy="2926080"/>
          </a:xfrm>
          <a:prstGeom prst="roundRect">
            <a:avLst>
              <a:gd name="adj" fmla="val 2813"/>
            </a:avLst>
          </a:prstGeom>
          <a:solidFill>
            <a:srgbClr val="E8F1E8"/>
          </a:solidFill>
          <a:ln w="12700">
            <a:solidFill>
              <a:srgbClr val="E8F1E8"/>
            </a:solidFill>
            <a:prstDash val="solid"/>
          </a:ln>
        </p:spPr>
        <p:txBody>
          <a:bodyPr/>
          <a:lstStyle/>
          <a:p>
            <a:endParaRPr/>
          </a:p>
        </p:txBody>
      </p:sp>
      <p:sp>
        <p:nvSpPr>
          <p:cNvPr id="15" name="Text 13"/>
          <p:cNvSpPr/>
          <p:nvPr/>
        </p:nvSpPr>
        <p:spPr>
          <a:xfrm>
            <a:off x="5605272" y="1362456"/>
            <a:ext cx="4059936" cy="301752"/>
          </a:xfrm>
          <a:prstGeom prst="rect">
            <a:avLst/>
          </a:prstGeom>
          <a:noFill/>
          <a:ln/>
        </p:spPr>
        <p:txBody>
          <a:bodyPr wrap="square" lIns="762" tIns="762" rIns="762" bIns="762" rtlCol="0" anchor="t">
            <a:normAutofit/>
          </a:bodyPr>
          <a:lstStyle/>
          <a:p>
            <a:pPr marL="0" indent="0" algn="l">
              <a:lnSpc>
                <a:spcPct val="95000"/>
              </a:lnSpc>
              <a:buNone/>
            </a:pPr>
            <a:r>
              <a:rPr lang="en-US" sz="1350" b="1" dirty="0">
                <a:solidFill>
                  <a:srgbClr val="4A7C59"/>
                </a:solidFill>
                <a:ea typeface="Aptos" pitchFamily="34" charset="-122"/>
                <a:cs typeface="Aptos" pitchFamily="34" charset="-120"/>
              </a:rPr>
              <a:t>Humans must...</a:t>
            </a:r>
            <a:endParaRPr lang="en-US" sz="1350" dirty="0"/>
          </a:p>
        </p:txBody>
      </p:sp>
      <p:sp>
        <p:nvSpPr>
          <p:cNvPr id="16" name="Text 14"/>
          <p:cNvSpPr/>
          <p:nvPr/>
        </p:nvSpPr>
        <p:spPr>
          <a:xfrm>
            <a:off x="5605272" y="1709928"/>
            <a:ext cx="4059936" cy="2359152"/>
          </a:xfrm>
          <a:prstGeom prst="rect">
            <a:avLst/>
          </a:prstGeom>
          <a:noFill/>
          <a:ln/>
        </p:spPr>
        <p:txBody>
          <a:bodyPr wrap="square" lIns="762" tIns="762" rIns="762" bIns="762" rtlCol="0" anchor="t">
            <a:normAutofit/>
          </a:bodyPr>
          <a:lstStyle/>
          <a:p>
            <a:pPr>
              <a:lnSpc>
                <a:spcPct val="92000"/>
              </a:lnSpc>
            </a:pPr>
            <a:r>
              <a:rPr lang="en-US" sz="1220" dirty="0">
                <a:solidFill>
                  <a:srgbClr val="1E1E24"/>
                </a:solidFill>
                <a:ea typeface="Aptos" pitchFamily="34" charset="-122"/>
                <a:cs typeface="Aptos" pitchFamily="34" charset="-120"/>
              </a:rPr>
              <a:t>Define the problem responsibly
</a:t>
            </a:r>
            <a:endParaRPr lang="en-US" sz="1220" dirty="0"/>
          </a:p>
          <a:p>
            <a:pPr>
              <a:lnSpc>
                <a:spcPct val="92000"/>
              </a:lnSpc>
            </a:pPr>
            <a:r>
              <a:rPr lang="en-US" sz="1220" dirty="0">
                <a:solidFill>
                  <a:srgbClr val="1E1E24"/>
                </a:solidFill>
                <a:ea typeface="Aptos" pitchFamily="34" charset="-122"/>
                <a:cs typeface="Aptos" pitchFamily="34" charset="-120"/>
              </a:rPr>
              <a:t>Review and verify outputs
</a:t>
            </a:r>
            <a:endParaRPr lang="en-US" sz="1220" dirty="0"/>
          </a:p>
          <a:p>
            <a:pPr>
              <a:lnSpc>
                <a:spcPct val="92000"/>
              </a:lnSpc>
            </a:pPr>
            <a:r>
              <a:rPr lang="en-US" sz="1220" dirty="0">
                <a:solidFill>
                  <a:srgbClr val="1E1E24"/>
                </a:solidFill>
                <a:ea typeface="Aptos" pitchFamily="34" charset="-122"/>
                <a:cs typeface="Aptos" pitchFamily="34" charset="-120"/>
              </a:rPr>
              <a:t>Communicate uncertainty
</a:t>
            </a:r>
            <a:endParaRPr lang="en-US" sz="1220" dirty="0"/>
          </a:p>
          <a:p>
            <a:pPr>
              <a:lnSpc>
                <a:spcPct val="92000"/>
              </a:lnSpc>
            </a:pPr>
            <a:r>
              <a:rPr lang="en-US" sz="1220" dirty="0">
                <a:solidFill>
                  <a:srgbClr val="1E1E24"/>
                </a:solidFill>
                <a:ea typeface="Aptos" pitchFamily="34" charset="-122"/>
                <a:cs typeface="Aptos" pitchFamily="34" charset="-120"/>
              </a:rPr>
              <a:t>Protect sensitive data
</a:t>
            </a:r>
            <a:endParaRPr lang="en-US" sz="1220" dirty="0"/>
          </a:p>
          <a:p>
            <a:pPr>
              <a:lnSpc>
                <a:spcPct val="92000"/>
              </a:lnSpc>
            </a:pPr>
            <a:r>
              <a:rPr lang="en-US" sz="1220" dirty="0">
                <a:solidFill>
                  <a:srgbClr val="1E1E24"/>
                </a:solidFill>
                <a:ea typeface="Aptos" pitchFamily="34" charset="-122"/>
                <a:cs typeface="Aptos" pitchFamily="34" charset="-120"/>
              </a:rPr>
              <a:t>Credit contributors
</a:t>
            </a:r>
            <a:endParaRPr lang="en-US" sz="1220" dirty="0"/>
          </a:p>
          <a:p>
            <a:pPr>
              <a:lnSpc>
                <a:spcPct val="92000"/>
              </a:lnSpc>
            </a:pPr>
            <a:r>
              <a:rPr lang="en-US" sz="1220" dirty="0">
                <a:solidFill>
                  <a:srgbClr val="1E1E24"/>
                </a:solidFill>
                <a:ea typeface="Aptos" pitchFamily="34" charset="-122"/>
                <a:cs typeface="Aptos" pitchFamily="34" charset="-120"/>
              </a:rPr>
              <a:t>Make final professional judgments</a:t>
            </a:r>
            <a:endParaRPr lang="en-US" sz="1220" dirty="0"/>
          </a:p>
        </p:txBody>
      </p:sp>
      <p:sp>
        <p:nvSpPr>
          <p:cNvPr id="17" name="Shape 15"/>
          <p:cNvSpPr/>
          <p:nvPr/>
        </p:nvSpPr>
        <p:spPr>
          <a:xfrm>
            <a:off x="9966960" y="2194560"/>
            <a:ext cx="1143000" cy="960120"/>
          </a:xfrm>
          <a:prstGeom prst="chevron">
            <a:avLst/>
          </a:prstGeom>
          <a:solidFill>
            <a:srgbClr val="B7A57A"/>
          </a:solidFill>
          <a:ln w="12700">
            <a:solidFill>
              <a:srgbClr val="B7A57A"/>
            </a:solidFill>
            <a:prstDash val="solid"/>
          </a:ln>
        </p:spPr>
        <p:txBody>
          <a:bodyPr/>
          <a:lstStyle/>
          <a:p>
            <a:endParaRPr/>
          </a:p>
        </p:txBody>
      </p:sp>
      <p:sp>
        <p:nvSpPr>
          <p:cNvPr id="18" name="Text 16"/>
          <p:cNvSpPr/>
          <p:nvPr/>
        </p:nvSpPr>
        <p:spPr>
          <a:xfrm>
            <a:off x="868680" y="4892040"/>
            <a:ext cx="10424160" cy="566928"/>
          </a:xfrm>
          <a:prstGeom prst="rect">
            <a:avLst/>
          </a:prstGeom>
          <a:noFill/>
          <a:ln/>
        </p:spPr>
        <p:txBody>
          <a:bodyPr wrap="square" lIns="762" tIns="762" rIns="762" bIns="762" rtlCol="0" anchor="t">
            <a:normAutofit lnSpcReduction="10000"/>
          </a:bodyPr>
          <a:lstStyle/>
          <a:p>
            <a:pPr marL="0" indent="0" algn="ctr">
              <a:lnSpc>
                <a:spcPct val="95000"/>
              </a:lnSpc>
              <a:buNone/>
            </a:pPr>
            <a:r>
              <a:rPr lang="en-US" sz="2000" b="1" dirty="0">
                <a:solidFill>
                  <a:srgbClr val="4B2E83"/>
                </a:solidFill>
                <a:ea typeface="Aptos" pitchFamily="34" charset="-122"/>
                <a:cs typeface="Aptos" pitchFamily="34" charset="-120"/>
              </a:rPr>
              <a:t>Accountability stays</a:t>
            </a:r>
            <a:endParaRPr lang="en-US" sz="2000" dirty="0"/>
          </a:p>
          <a:p>
            <a:pPr marL="0" indent="0" algn="ctr">
              <a:lnSpc>
                <a:spcPct val="95000"/>
              </a:lnSpc>
              <a:buNone/>
            </a:pPr>
            <a:r>
              <a:rPr lang="en-US" sz="2000" b="1" dirty="0">
                <a:solidFill>
                  <a:srgbClr val="4B2E83"/>
                </a:solidFill>
                <a:ea typeface="Aptos" pitchFamily="34" charset="-122"/>
                <a:cs typeface="Aptos" pitchFamily="34" charset="-120"/>
              </a:rPr>
              <a:t>with people and institutions</a:t>
            </a:r>
            <a:endParaRPr lang="en-US" sz="2000" dirty="0"/>
          </a:p>
        </p:txBody>
      </p:sp>
      <p:sp>
        <p:nvSpPr>
          <p:cNvPr id="19" name="Text 17">
            <a:hlinkClick r:id="rId3"/>
          </p:cNvPr>
          <p:cNvSpPr/>
          <p:nvPr/>
        </p:nvSpPr>
        <p:spPr>
          <a:xfrm>
            <a:off x="502920" y="6236208"/>
            <a:ext cx="10789920" cy="201168"/>
          </a:xfrm>
          <a:prstGeom prst="rect">
            <a:avLst/>
          </a:prstGeom>
          <a:noFill/>
          <a:ln/>
        </p:spPr>
        <p:txBody>
          <a:bodyPr wrap="square" lIns="0" tIns="0" rIns="0" bIns="0" rtlCol="0" anchor="ctr"/>
          <a:lstStyle/>
          <a:p>
            <a:pPr marL="0" indent="0">
              <a:buNone/>
            </a:pPr>
            <a:r>
              <a:rPr lang="en-US" sz="1400" u="sng" dirty="0">
                <a:solidFill>
                  <a:srgbClr val="5B5B66"/>
                </a:solidFill>
                <a:ea typeface="Aptos" pitchFamily="34" charset="-122"/>
                <a:cs typeface="Aptos" pitchFamily="34" charset="-120"/>
                <a:hlinkClick r:id="rId3">
                  <a:extLst>
                    <a:ext uri="{A12FA001-AC4F-418D-AE19-62706E023703}">
                      <ahyp:hlinkClr xmlns:ahyp="http://schemas.microsoft.com/office/drawing/2018/hyperlinkcolor" val="tx"/>
                    </a:ext>
                  </a:extLst>
                </a:hlinkClick>
              </a:rPr>
              <a:t>Source: AIA AI Task Force; RIBA AI Report 2025</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Automation bias</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180" dirty="0">
                <a:solidFill>
                  <a:srgbClr val="5B5B66"/>
                </a:solidFill>
                <a:ea typeface="Aptos" pitchFamily="34" charset="-122"/>
                <a:cs typeface="Aptos" pitchFamily="34" charset="-120"/>
              </a:rPr>
              <a:t>People may over-trust AI outputs because they appear computational, objective, or sophisticated</a:t>
            </a:r>
            <a:endParaRPr lang="en-US" sz="1180" dirty="0"/>
          </a:p>
        </p:txBody>
      </p:sp>
      <p:sp>
        <p:nvSpPr>
          <p:cNvPr id="11" name="Shape 9"/>
          <p:cNvSpPr/>
          <p:nvPr/>
        </p:nvSpPr>
        <p:spPr>
          <a:xfrm>
            <a:off x="685800" y="1234440"/>
            <a:ext cx="5577840" cy="3063240"/>
          </a:xfrm>
          <a:prstGeom prst="roundRect">
            <a:avLst>
              <a:gd name="adj" fmla="val 2687"/>
            </a:avLst>
          </a:prstGeom>
          <a:solidFill>
            <a:schemeClr val="accent4">
              <a:lumMod val="20000"/>
              <a:lumOff val="80000"/>
            </a:schemeClr>
          </a:solidFill>
          <a:ln w="12700">
            <a:solidFill>
              <a:srgbClr val="FFFFFF"/>
            </a:solidFill>
            <a:prstDash val="solid"/>
          </a:ln>
        </p:spPr>
        <p:txBody>
          <a:bodyPr/>
          <a:lstStyle/>
          <a:p>
            <a:endParaRPr/>
          </a:p>
        </p:txBody>
      </p:sp>
      <p:sp>
        <p:nvSpPr>
          <p:cNvPr id="12" name="Text 10"/>
          <p:cNvSpPr/>
          <p:nvPr/>
        </p:nvSpPr>
        <p:spPr>
          <a:xfrm>
            <a:off x="850392" y="1362456"/>
            <a:ext cx="5248656" cy="301752"/>
          </a:xfrm>
          <a:prstGeom prst="rect">
            <a:avLst/>
          </a:prstGeom>
          <a:noFill/>
          <a:ln/>
        </p:spPr>
        <p:txBody>
          <a:bodyPr wrap="square" lIns="762" tIns="762" rIns="762" bIns="762" rtlCol="0" anchor="t">
            <a:normAutofit/>
          </a:bodyPr>
          <a:lstStyle/>
          <a:p>
            <a:pPr marL="0" indent="0" algn="l">
              <a:lnSpc>
                <a:spcPct val="95000"/>
              </a:lnSpc>
              <a:buNone/>
            </a:pPr>
            <a:r>
              <a:rPr lang="en-US" sz="1350" b="1" dirty="0">
                <a:solidFill>
                  <a:srgbClr val="4B2E83"/>
                </a:solidFill>
                <a:ea typeface="Aptos" pitchFamily="34" charset="-122"/>
                <a:cs typeface="Aptos" pitchFamily="34" charset="-120"/>
              </a:rPr>
              <a:t>Architecture examples</a:t>
            </a:r>
            <a:endParaRPr lang="en-US" sz="1350" dirty="0"/>
          </a:p>
        </p:txBody>
      </p:sp>
      <p:sp>
        <p:nvSpPr>
          <p:cNvPr id="13" name="Text 11"/>
          <p:cNvSpPr/>
          <p:nvPr/>
        </p:nvSpPr>
        <p:spPr>
          <a:xfrm>
            <a:off x="850392" y="1709928"/>
            <a:ext cx="5248656" cy="2496312"/>
          </a:xfrm>
          <a:prstGeom prst="rect">
            <a:avLst/>
          </a:prstGeom>
          <a:noFill/>
          <a:ln/>
        </p:spPr>
        <p:txBody>
          <a:bodyPr wrap="square" lIns="762" tIns="762" rIns="762" bIns="762" rtlCol="0" anchor="t">
            <a:normAutofit/>
          </a:bodyPr>
          <a:lstStyle/>
          <a:p>
            <a:pPr>
              <a:lnSpc>
                <a:spcPct val="92000"/>
              </a:lnSpc>
            </a:pPr>
            <a:r>
              <a:rPr lang="en-US" sz="1170" dirty="0">
                <a:solidFill>
                  <a:srgbClr val="1E1E24"/>
                </a:solidFill>
                <a:ea typeface="Aptos" pitchFamily="34" charset="-122"/>
                <a:cs typeface="Aptos" pitchFamily="34" charset="-120"/>
              </a:rPr>
              <a:t>Accepting AI-generated precedents without verification
</a:t>
            </a:r>
            <a:endParaRPr lang="en-US" sz="1170" dirty="0"/>
          </a:p>
          <a:p>
            <a:pPr>
              <a:lnSpc>
                <a:spcPct val="92000"/>
              </a:lnSpc>
            </a:pPr>
            <a:r>
              <a:rPr lang="en-US" sz="1170" dirty="0">
                <a:solidFill>
                  <a:srgbClr val="1E1E24"/>
                </a:solidFill>
                <a:ea typeface="Aptos" pitchFamily="34" charset="-122"/>
                <a:cs typeface="Aptos" pitchFamily="34" charset="-120"/>
              </a:rPr>
              <a:t>Trusting energy predictions without checking assumptions
</a:t>
            </a:r>
            <a:endParaRPr lang="en-US" sz="1170" dirty="0"/>
          </a:p>
          <a:p>
            <a:pPr>
              <a:lnSpc>
                <a:spcPct val="92000"/>
              </a:lnSpc>
            </a:pPr>
            <a:r>
              <a:rPr lang="en-US" sz="1170" dirty="0">
                <a:solidFill>
                  <a:srgbClr val="1E1E24"/>
                </a:solidFill>
                <a:ea typeface="Aptos" pitchFamily="34" charset="-122"/>
                <a:cs typeface="Aptos" pitchFamily="34" charset="-120"/>
              </a:rPr>
              <a:t>Treating photorealistic renderings as evidence of feasibility
</a:t>
            </a:r>
            <a:endParaRPr lang="en-US" sz="1170" dirty="0"/>
          </a:p>
          <a:p>
            <a:pPr>
              <a:lnSpc>
                <a:spcPct val="92000"/>
              </a:lnSpc>
            </a:pPr>
            <a:r>
              <a:rPr lang="en-US" sz="1170" dirty="0">
                <a:solidFill>
                  <a:srgbClr val="1E1E24"/>
                </a:solidFill>
                <a:ea typeface="Aptos" pitchFamily="34" charset="-122"/>
                <a:cs typeface="Aptos" pitchFamily="34" charset="-120"/>
              </a:rPr>
              <a:t>Showing communities AI-generated futures without uncertainty
</a:t>
            </a:r>
            <a:endParaRPr lang="en-US" sz="1170" dirty="0"/>
          </a:p>
          <a:p>
            <a:pPr>
              <a:lnSpc>
                <a:spcPct val="92000"/>
              </a:lnSpc>
            </a:pPr>
            <a:r>
              <a:rPr lang="en-US" sz="1170" dirty="0">
                <a:solidFill>
                  <a:srgbClr val="1E1E24"/>
                </a:solidFill>
                <a:ea typeface="Aptos" pitchFamily="34" charset="-122"/>
                <a:cs typeface="Aptos" pitchFamily="34" charset="-120"/>
              </a:rPr>
              <a:t>Reporting model accuracy without limitations</a:t>
            </a:r>
            <a:endParaRPr lang="en-US" sz="1170" dirty="0"/>
          </a:p>
        </p:txBody>
      </p:sp>
      <p:sp>
        <p:nvSpPr>
          <p:cNvPr id="14" name="Shape 12"/>
          <p:cNvSpPr/>
          <p:nvPr/>
        </p:nvSpPr>
        <p:spPr>
          <a:xfrm>
            <a:off x="6675120" y="1234440"/>
            <a:ext cx="4800600" cy="3063240"/>
          </a:xfrm>
          <a:prstGeom prst="roundRect">
            <a:avLst>
              <a:gd name="adj" fmla="val 2687"/>
            </a:avLst>
          </a:prstGeom>
          <a:solidFill>
            <a:srgbClr val="EEE9F7"/>
          </a:solidFill>
          <a:ln w="12700">
            <a:solidFill>
              <a:srgbClr val="EEE9F7"/>
            </a:solidFill>
            <a:prstDash val="solid"/>
          </a:ln>
        </p:spPr>
        <p:txBody>
          <a:bodyPr/>
          <a:lstStyle/>
          <a:p>
            <a:endParaRPr/>
          </a:p>
        </p:txBody>
      </p:sp>
      <p:sp>
        <p:nvSpPr>
          <p:cNvPr id="15" name="Text 13"/>
          <p:cNvSpPr/>
          <p:nvPr/>
        </p:nvSpPr>
        <p:spPr>
          <a:xfrm>
            <a:off x="6839712" y="1362456"/>
            <a:ext cx="4471416" cy="301752"/>
          </a:xfrm>
          <a:prstGeom prst="rect">
            <a:avLst/>
          </a:prstGeom>
          <a:noFill/>
          <a:ln/>
        </p:spPr>
        <p:txBody>
          <a:bodyPr wrap="square" lIns="762" tIns="762" rIns="762" bIns="762" rtlCol="0" anchor="t">
            <a:normAutofit/>
          </a:bodyPr>
          <a:lstStyle/>
          <a:p>
            <a:pPr marL="0" indent="0" algn="l">
              <a:lnSpc>
                <a:spcPct val="95000"/>
              </a:lnSpc>
              <a:buNone/>
            </a:pPr>
            <a:r>
              <a:rPr lang="en-US" sz="1350" b="1" dirty="0">
                <a:solidFill>
                  <a:srgbClr val="4B2E83"/>
                </a:solidFill>
                <a:ea typeface="Aptos" pitchFamily="34" charset="-122"/>
                <a:cs typeface="Aptos" pitchFamily="34" charset="-120"/>
              </a:rPr>
              <a:t>Countermeasures</a:t>
            </a:r>
            <a:endParaRPr lang="en-US" sz="1350" dirty="0"/>
          </a:p>
        </p:txBody>
      </p:sp>
      <p:sp>
        <p:nvSpPr>
          <p:cNvPr id="16" name="Text 14"/>
          <p:cNvSpPr/>
          <p:nvPr/>
        </p:nvSpPr>
        <p:spPr>
          <a:xfrm>
            <a:off x="6839712" y="1709928"/>
            <a:ext cx="4471416" cy="2496312"/>
          </a:xfrm>
          <a:prstGeom prst="rect">
            <a:avLst/>
          </a:prstGeom>
          <a:noFill/>
          <a:ln/>
        </p:spPr>
        <p:txBody>
          <a:bodyPr wrap="square" lIns="762" tIns="762" rIns="762" bIns="762" rtlCol="0" anchor="t">
            <a:normAutofit/>
          </a:bodyPr>
          <a:lstStyle/>
          <a:p>
            <a:pPr>
              <a:lnSpc>
                <a:spcPct val="92000"/>
              </a:lnSpc>
            </a:pPr>
            <a:r>
              <a:rPr lang="en-US" sz="1170" dirty="0">
                <a:solidFill>
                  <a:srgbClr val="1E1E24"/>
                </a:solidFill>
                <a:ea typeface="Aptos" pitchFamily="34" charset="-122"/>
                <a:cs typeface="Aptos" pitchFamily="34" charset="-120"/>
              </a:rPr>
              <a:t>Require source checking
</a:t>
            </a:r>
            <a:endParaRPr lang="en-US" sz="1170" dirty="0"/>
          </a:p>
          <a:p>
            <a:pPr>
              <a:lnSpc>
                <a:spcPct val="92000"/>
              </a:lnSpc>
            </a:pPr>
            <a:r>
              <a:rPr lang="en-US" sz="1170" dirty="0">
                <a:solidFill>
                  <a:srgbClr val="1E1E24"/>
                </a:solidFill>
                <a:ea typeface="Aptos" pitchFamily="34" charset="-122"/>
                <a:cs typeface="Aptos" pitchFamily="34" charset="-120"/>
              </a:rPr>
              <a:t>Show uncertainty ranges
</a:t>
            </a:r>
            <a:endParaRPr lang="en-US" sz="1170" dirty="0"/>
          </a:p>
          <a:p>
            <a:pPr>
              <a:lnSpc>
                <a:spcPct val="92000"/>
              </a:lnSpc>
            </a:pPr>
            <a:r>
              <a:rPr lang="en-US" sz="1170" dirty="0">
                <a:solidFill>
                  <a:srgbClr val="1E1E24"/>
                </a:solidFill>
                <a:ea typeface="Aptos" pitchFamily="34" charset="-122"/>
                <a:cs typeface="Aptos" pitchFamily="34" charset="-120"/>
              </a:rPr>
              <a:t>Compare to baselines
</a:t>
            </a:r>
            <a:endParaRPr lang="en-US" sz="1170" dirty="0"/>
          </a:p>
          <a:p>
            <a:pPr>
              <a:lnSpc>
                <a:spcPct val="92000"/>
              </a:lnSpc>
            </a:pPr>
            <a:r>
              <a:rPr lang="en-US" sz="1170" dirty="0">
                <a:solidFill>
                  <a:srgbClr val="1E1E24"/>
                </a:solidFill>
                <a:ea typeface="Aptos" pitchFamily="34" charset="-122"/>
                <a:cs typeface="Aptos" pitchFamily="34" charset="-120"/>
              </a:rPr>
              <a:t>Use human review gates
</a:t>
            </a:r>
            <a:endParaRPr lang="en-US" sz="1170" dirty="0"/>
          </a:p>
          <a:p>
            <a:pPr>
              <a:lnSpc>
                <a:spcPct val="92000"/>
              </a:lnSpc>
            </a:pPr>
            <a:r>
              <a:rPr lang="en-US" sz="1170" dirty="0">
                <a:solidFill>
                  <a:srgbClr val="1E1E24"/>
                </a:solidFill>
                <a:ea typeface="Aptos" pitchFamily="34" charset="-122"/>
                <a:cs typeface="Aptos" pitchFamily="34" charset="-120"/>
              </a:rPr>
              <a:t>Preserve rejected outputs and decisions
</a:t>
            </a:r>
            <a:endParaRPr lang="en-US" sz="1170" dirty="0"/>
          </a:p>
          <a:p>
            <a:pPr>
              <a:lnSpc>
                <a:spcPct val="92000"/>
              </a:lnSpc>
            </a:pPr>
            <a:r>
              <a:rPr lang="en-US" sz="1170" dirty="0">
                <a:solidFill>
                  <a:srgbClr val="1E1E24"/>
                </a:solidFill>
                <a:ea typeface="Aptos" pitchFamily="34" charset="-122"/>
                <a:cs typeface="Aptos" pitchFamily="34" charset="-120"/>
              </a:rPr>
              <a:t>Ask what evidence would change the recommendation</a:t>
            </a:r>
            <a:endParaRPr lang="en-US" sz="1170" dirty="0"/>
          </a:p>
        </p:txBody>
      </p:sp>
      <p:sp>
        <p:nvSpPr>
          <p:cNvPr id="17" name="Shape 15"/>
          <p:cNvSpPr/>
          <p:nvPr/>
        </p:nvSpPr>
        <p:spPr>
          <a:xfrm>
            <a:off x="1325880" y="4864608"/>
            <a:ext cx="9601200" cy="658368"/>
          </a:xfrm>
          <a:prstGeom prst="roundRect">
            <a:avLst>
              <a:gd name="adj" fmla="val 11111"/>
            </a:avLst>
          </a:prstGeom>
          <a:solidFill>
            <a:srgbClr val="F4EBD0"/>
          </a:solidFill>
          <a:ln w="12700">
            <a:solidFill>
              <a:srgbClr val="F4EBD0"/>
            </a:solidFill>
            <a:prstDash val="solid"/>
          </a:ln>
        </p:spPr>
        <p:txBody>
          <a:bodyPr/>
          <a:lstStyle/>
          <a:p>
            <a:endParaRPr/>
          </a:p>
        </p:txBody>
      </p:sp>
      <p:sp>
        <p:nvSpPr>
          <p:cNvPr id="18" name="Text 16"/>
          <p:cNvSpPr/>
          <p:nvPr/>
        </p:nvSpPr>
        <p:spPr>
          <a:xfrm>
            <a:off x="1463040" y="4992624"/>
            <a:ext cx="9326880" cy="475488"/>
          </a:xfrm>
          <a:prstGeom prst="rect">
            <a:avLst/>
          </a:prstGeom>
          <a:noFill/>
          <a:ln/>
        </p:spPr>
        <p:txBody>
          <a:bodyPr wrap="square" lIns="762" tIns="762" rIns="762" bIns="762" rtlCol="0" anchor="ctr">
            <a:normAutofit/>
          </a:bodyPr>
          <a:lstStyle/>
          <a:p>
            <a:pPr marL="0" indent="0" algn="ctr">
              <a:lnSpc>
                <a:spcPct val="95000"/>
              </a:lnSpc>
              <a:buNone/>
            </a:pPr>
            <a:r>
              <a:rPr lang="en-US" sz="1220" b="1" dirty="0">
                <a:solidFill>
                  <a:srgbClr val="1E1E24"/>
                </a:solidFill>
                <a:ea typeface="Aptos" pitchFamily="34" charset="-122"/>
                <a:cs typeface="Aptos" pitchFamily="34" charset="-120"/>
              </a:rPr>
              <a:t>Goal: build workflows that encourage skepticism, not passive acceptance.</a:t>
            </a:r>
            <a:endParaRPr lang="en-US" sz="122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Explainability, uncertainty, and evidence</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200" dirty="0">
                <a:solidFill>
                  <a:srgbClr val="5B5B66"/>
                </a:solidFill>
                <a:ea typeface="Aptos" pitchFamily="34" charset="-122"/>
                <a:cs typeface="Aptos" pitchFamily="34" charset="-120"/>
              </a:rPr>
              <a:t>Performance-driven design requires outputs that can be interpreted, challenged, and verified</a:t>
            </a:r>
            <a:endParaRPr lang="en-US" sz="1200" dirty="0"/>
          </a:p>
        </p:txBody>
      </p:sp>
      <p:sp>
        <p:nvSpPr>
          <p:cNvPr id="11" name="Shape 9"/>
          <p:cNvSpPr/>
          <p:nvPr/>
        </p:nvSpPr>
        <p:spPr>
          <a:xfrm>
            <a:off x="685800" y="1234440"/>
            <a:ext cx="5166360" cy="2971800"/>
          </a:xfrm>
          <a:prstGeom prst="roundRect">
            <a:avLst>
              <a:gd name="adj" fmla="val 2769"/>
            </a:avLst>
          </a:prstGeom>
          <a:solidFill>
            <a:srgbClr val="FFFFFF"/>
          </a:solidFill>
          <a:ln w="12700">
            <a:solidFill>
              <a:srgbClr val="FFFFFF"/>
            </a:solidFill>
            <a:prstDash val="solid"/>
          </a:ln>
        </p:spPr>
        <p:txBody>
          <a:bodyPr/>
          <a:lstStyle/>
          <a:p>
            <a:endParaRPr sz="1400"/>
          </a:p>
        </p:txBody>
      </p:sp>
      <p:sp>
        <p:nvSpPr>
          <p:cNvPr id="12" name="Text 10"/>
          <p:cNvSpPr/>
          <p:nvPr/>
        </p:nvSpPr>
        <p:spPr>
          <a:xfrm>
            <a:off x="850392" y="1362456"/>
            <a:ext cx="4837176"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4B2E83"/>
                </a:solidFill>
                <a:ea typeface="Aptos" pitchFamily="34" charset="-122"/>
                <a:cs typeface="Aptos" pitchFamily="34" charset="-120"/>
              </a:rPr>
              <a:t>Designers need to know</a:t>
            </a:r>
            <a:endParaRPr lang="en-US" sz="1400" dirty="0"/>
          </a:p>
        </p:txBody>
      </p:sp>
      <p:sp>
        <p:nvSpPr>
          <p:cNvPr id="13" name="Text 11"/>
          <p:cNvSpPr/>
          <p:nvPr/>
        </p:nvSpPr>
        <p:spPr>
          <a:xfrm>
            <a:off x="850392" y="1709928"/>
            <a:ext cx="4837176" cy="2404872"/>
          </a:xfrm>
          <a:prstGeom prst="rect">
            <a:avLst/>
          </a:prstGeom>
          <a:noFill/>
          <a:ln/>
        </p:spPr>
        <p:txBody>
          <a:bodyPr wrap="square" lIns="762" tIns="762" rIns="762" bIns="762" rtlCol="0" anchor="t">
            <a:normAutofit/>
          </a:bodyPr>
          <a:lstStyle/>
          <a:p>
            <a:pPr>
              <a:lnSpc>
                <a:spcPct val="92000"/>
              </a:lnSpc>
            </a:pPr>
            <a:r>
              <a:rPr lang="en-US" sz="1400" dirty="0">
                <a:solidFill>
                  <a:srgbClr val="1E1E24"/>
                </a:solidFill>
                <a:ea typeface="Aptos" pitchFamily="34" charset="-122"/>
                <a:cs typeface="Aptos" pitchFamily="34" charset="-120"/>
              </a:rPr>
              <a:t>Which variables drive predictions
</a:t>
            </a:r>
            <a:endParaRPr lang="en-US" sz="1400" dirty="0"/>
          </a:p>
          <a:p>
            <a:pPr>
              <a:lnSpc>
                <a:spcPct val="92000"/>
              </a:lnSpc>
            </a:pPr>
            <a:r>
              <a:rPr lang="en-US" sz="1400" dirty="0">
                <a:solidFill>
                  <a:srgbClr val="1E1E24"/>
                </a:solidFill>
                <a:ea typeface="Aptos" pitchFamily="34" charset="-122"/>
                <a:cs typeface="Aptos" pitchFamily="34" charset="-120"/>
              </a:rPr>
              <a:t>Where uncertainty is high
</a:t>
            </a:r>
            <a:endParaRPr lang="en-US" sz="1400" dirty="0"/>
          </a:p>
          <a:p>
            <a:pPr>
              <a:lnSpc>
                <a:spcPct val="92000"/>
              </a:lnSpc>
            </a:pPr>
            <a:r>
              <a:rPr lang="en-US" sz="1400" dirty="0">
                <a:solidFill>
                  <a:srgbClr val="1E1E24"/>
                </a:solidFill>
                <a:ea typeface="Aptos" pitchFamily="34" charset="-122"/>
                <a:cs typeface="Aptos" pitchFamily="34" charset="-120"/>
              </a:rPr>
              <a:t>Whether the model is extrapolating
</a:t>
            </a:r>
            <a:endParaRPr lang="en-US" sz="1400" dirty="0"/>
          </a:p>
          <a:p>
            <a:pPr>
              <a:lnSpc>
                <a:spcPct val="92000"/>
              </a:lnSpc>
            </a:pPr>
            <a:r>
              <a:rPr lang="en-US" sz="1400" dirty="0">
                <a:solidFill>
                  <a:srgbClr val="1E1E24"/>
                </a:solidFill>
                <a:ea typeface="Aptos" pitchFamily="34" charset="-122"/>
                <a:cs typeface="Aptos" pitchFamily="34" charset="-120"/>
              </a:rPr>
              <a:t>Whether results are physically plausible
</a:t>
            </a:r>
            <a:endParaRPr lang="en-US" sz="1400" dirty="0"/>
          </a:p>
          <a:p>
            <a:pPr>
              <a:lnSpc>
                <a:spcPct val="92000"/>
              </a:lnSpc>
            </a:pPr>
            <a:r>
              <a:rPr lang="en-US" sz="1400" dirty="0">
                <a:solidFill>
                  <a:srgbClr val="1E1E24"/>
                </a:solidFill>
                <a:ea typeface="Aptos" pitchFamily="34" charset="-122"/>
                <a:cs typeface="Aptos" pitchFamily="34" charset="-120"/>
              </a:rPr>
              <a:t>Whether the model learned meaningful relationships or dataset artifacts</a:t>
            </a:r>
            <a:endParaRPr lang="en-US" sz="1400" dirty="0"/>
          </a:p>
        </p:txBody>
      </p:sp>
      <p:sp>
        <p:nvSpPr>
          <p:cNvPr id="14" name="Shape 12"/>
          <p:cNvSpPr/>
          <p:nvPr/>
        </p:nvSpPr>
        <p:spPr>
          <a:xfrm>
            <a:off x="6263640" y="1234440"/>
            <a:ext cx="5212080" cy="1645920"/>
          </a:xfrm>
          <a:prstGeom prst="roundRect">
            <a:avLst>
              <a:gd name="adj" fmla="val 5000"/>
            </a:avLst>
          </a:prstGeom>
          <a:solidFill>
            <a:srgbClr val="F4EBD0"/>
          </a:solidFill>
          <a:ln w="12700">
            <a:solidFill>
              <a:srgbClr val="F4EBD0"/>
            </a:solidFill>
            <a:prstDash val="solid"/>
          </a:ln>
          <a:effectLst>
            <a:outerShdw blurRad="12700" dist="50800" dir="2700000" algn="bl" rotWithShape="0">
              <a:srgbClr val="000000">
                <a:alpha val="12000"/>
              </a:srgbClr>
            </a:outerShdw>
          </a:effectLst>
        </p:spPr>
        <p:txBody>
          <a:bodyPr/>
          <a:lstStyle/>
          <a:p>
            <a:endParaRPr sz="1400"/>
          </a:p>
        </p:txBody>
      </p:sp>
      <p:sp>
        <p:nvSpPr>
          <p:cNvPr id="15" name="Text 13"/>
          <p:cNvSpPr/>
          <p:nvPr/>
        </p:nvSpPr>
        <p:spPr>
          <a:xfrm>
            <a:off x="6428232" y="1362456"/>
            <a:ext cx="4882896"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1E1E24"/>
                </a:solidFill>
                <a:ea typeface="Aptos" pitchFamily="34" charset="-122"/>
                <a:cs typeface="Aptos" pitchFamily="34" charset="-120"/>
              </a:rPr>
              <a:t>Example: surrogate EUI model</a:t>
            </a:r>
            <a:endParaRPr lang="en-US" sz="1400" dirty="0"/>
          </a:p>
        </p:txBody>
      </p:sp>
      <p:sp>
        <p:nvSpPr>
          <p:cNvPr id="16" name="Text 14"/>
          <p:cNvSpPr/>
          <p:nvPr/>
        </p:nvSpPr>
        <p:spPr>
          <a:xfrm>
            <a:off x="6428232" y="1709928"/>
            <a:ext cx="4882896" cy="1078992"/>
          </a:xfrm>
          <a:prstGeom prst="rect">
            <a:avLst/>
          </a:prstGeom>
          <a:noFill/>
          <a:ln/>
        </p:spPr>
        <p:txBody>
          <a:bodyPr wrap="square" lIns="762" tIns="762" rIns="762" bIns="762" rtlCol="0" anchor="t">
            <a:normAutofit/>
          </a:bodyPr>
          <a:lstStyle/>
          <a:p>
            <a:pPr marL="0" indent="0" algn="l">
              <a:lnSpc>
                <a:spcPct val="95000"/>
              </a:lnSpc>
              <a:buNone/>
            </a:pPr>
            <a:r>
              <a:rPr lang="en-US" sz="1400" dirty="0">
                <a:solidFill>
                  <a:srgbClr val="1E1E24"/>
                </a:solidFill>
                <a:ea typeface="Aptos" pitchFamily="34" charset="-122"/>
                <a:cs typeface="Aptos" pitchFamily="34" charset="-120"/>
              </a:rPr>
              <a:t>A surrogate model may predict energy use quickly, but the designer must know whether the result is driven by WWR, orientation, envelope assumptions, HVAC type, occupancy, weather, or hidden correlations.</a:t>
            </a:r>
            <a:endParaRPr lang="en-US" sz="1400" dirty="0"/>
          </a:p>
        </p:txBody>
      </p:sp>
      <p:sp>
        <p:nvSpPr>
          <p:cNvPr id="17" name="Shape 15"/>
          <p:cNvSpPr/>
          <p:nvPr/>
        </p:nvSpPr>
        <p:spPr>
          <a:xfrm>
            <a:off x="6263640" y="3310128"/>
            <a:ext cx="5212080" cy="1645920"/>
          </a:xfrm>
          <a:prstGeom prst="roundRect">
            <a:avLst>
              <a:gd name="adj" fmla="val 5769"/>
            </a:avLst>
          </a:prstGeom>
          <a:solidFill>
            <a:srgbClr val="E7F2F2"/>
          </a:solidFill>
          <a:ln w="12700">
            <a:solidFill>
              <a:srgbClr val="E7F2F2"/>
            </a:solidFill>
            <a:prstDash val="solid"/>
          </a:ln>
        </p:spPr>
        <p:txBody>
          <a:bodyPr/>
          <a:lstStyle/>
          <a:p>
            <a:endParaRPr sz="1400"/>
          </a:p>
        </p:txBody>
      </p:sp>
      <p:sp>
        <p:nvSpPr>
          <p:cNvPr id="18" name="Text 16"/>
          <p:cNvSpPr/>
          <p:nvPr/>
        </p:nvSpPr>
        <p:spPr>
          <a:xfrm>
            <a:off x="6428232" y="3438144"/>
            <a:ext cx="4882896"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2D7A7B"/>
                </a:solidFill>
                <a:ea typeface="Aptos" pitchFamily="34" charset="-122"/>
                <a:cs typeface="Aptos" pitchFamily="34" charset="-120"/>
              </a:rPr>
              <a:t>Minimum evidence standard</a:t>
            </a:r>
            <a:endParaRPr lang="en-US" sz="1400" dirty="0"/>
          </a:p>
        </p:txBody>
      </p:sp>
      <p:sp>
        <p:nvSpPr>
          <p:cNvPr id="19" name="Text 17"/>
          <p:cNvSpPr/>
          <p:nvPr/>
        </p:nvSpPr>
        <p:spPr>
          <a:xfrm>
            <a:off x="6428232" y="3785616"/>
            <a:ext cx="4882896" cy="859536"/>
          </a:xfrm>
          <a:prstGeom prst="rect">
            <a:avLst/>
          </a:prstGeom>
          <a:noFill/>
          <a:ln/>
        </p:spPr>
        <p:txBody>
          <a:bodyPr wrap="square" lIns="762" tIns="762" rIns="762" bIns="762" rtlCol="0" anchor="t">
            <a:noAutofit/>
          </a:bodyPr>
          <a:lstStyle/>
          <a:p>
            <a:pPr>
              <a:lnSpc>
                <a:spcPct val="92000"/>
              </a:lnSpc>
            </a:pPr>
            <a:r>
              <a:rPr lang="en-US" sz="1400" dirty="0">
                <a:solidFill>
                  <a:srgbClr val="1E1E24"/>
                </a:solidFill>
                <a:ea typeface="Aptos" pitchFamily="34" charset="-122"/>
                <a:cs typeface="Aptos" pitchFamily="34" charset="-120"/>
              </a:rPr>
              <a:t>Report baseline comparison</a:t>
            </a:r>
            <a:endParaRPr lang="en-US" sz="1400" dirty="0"/>
          </a:p>
          <a:p>
            <a:pPr>
              <a:lnSpc>
                <a:spcPct val="92000"/>
              </a:lnSpc>
            </a:pPr>
            <a:r>
              <a:rPr lang="en-US" sz="1400" dirty="0">
                <a:solidFill>
                  <a:srgbClr val="1E1E24"/>
                </a:solidFill>
                <a:ea typeface="Aptos" pitchFamily="34" charset="-122"/>
                <a:cs typeface="Aptos" pitchFamily="34" charset="-120"/>
              </a:rPr>
              <a:t>Report validation metrics</a:t>
            </a:r>
            <a:endParaRPr lang="en-US" sz="1400" dirty="0"/>
          </a:p>
          <a:p>
            <a:pPr>
              <a:lnSpc>
                <a:spcPct val="92000"/>
              </a:lnSpc>
            </a:pPr>
            <a:r>
              <a:rPr lang="en-US" sz="1400" dirty="0">
                <a:solidFill>
                  <a:srgbClr val="1E1E24"/>
                </a:solidFill>
                <a:ea typeface="Aptos" pitchFamily="34" charset="-122"/>
                <a:cs typeface="Aptos" pitchFamily="34" charset="-120"/>
              </a:rPr>
              <a:t>Report assumptions</a:t>
            </a:r>
            <a:endParaRPr lang="en-US" sz="1400" dirty="0"/>
          </a:p>
          <a:p>
            <a:pPr>
              <a:lnSpc>
                <a:spcPct val="92000"/>
              </a:lnSpc>
            </a:pPr>
            <a:r>
              <a:rPr lang="en-US" sz="1400" dirty="0">
                <a:solidFill>
                  <a:srgbClr val="1E1E24"/>
                </a:solidFill>
                <a:ea typeface="Aptos" pitchFamily="34" charset="-122"/>
                <a:cs typeface="Aptos" pitchFamily="34" charset="-120"/>
              </a:rPr>
              <a:t>Report uncertainty/limits</a:t>
            </a:r>
            <a:endParaRPr lang="en-US" sz="1400" dirty="0"/>
          </a:p>
          <a:p>
            <a:pPr>
              <a:lnSpc>
                <a:spcPct val="92000"/>
              </a:lnSpc>
            </a:pPr>
            <a:r>
              <a:rPr lang="en-US" sz="1400" dirty="0">
                <a:solidFill>
                  <a:srgbClr val="1E1E24"/>
                </a:solidFill>
                <a:ea typeface="Aptos" pitchFamily="34" charset="-122"/>
                <a:cs typeface="Aptos" pitchFamily="34" charset="-120"/>
              </a:rPr>
              <a:t>Report domain of applicability</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Environmental impacts of AI</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200" dirty="0">
                <a:solidFill>
                  <a:srgbClr val="5B5B66"/>
                </a:solidFill>
                <a:ea typeface="Aptos" pitchFamily="34" charset="-122"/>
                <a:cs typeface="Aptos" pitchFamily="34" charset="-120"/>
              </a:rPr>
              <a:t>AI is not immaterial: it depends on energy, water, land, cooling, chips, and data centers</a:t>
            </a:r>
            <a:endParaRPr lang="en-US" sz="1200" dirty="0"/>
          </a:p>
        </p:txBody>
      </p:sp>
      <p:sp>
        <p:nvSpPr>
          <p:cNvPr id="11" name="Shape 9"/>
          <p:cNvSpPr/>
          <p:nvPr/>
        </p:nvSpPr>
        <p:spPr>
          <a:xfrm>
            <a:off x="685800" y="1234440"/>
            <a:ext cx="5303520" cy="1554480"/>
          </a:xfrm>
          <a:prstGeom prst="roundRect">
            <a:avLst>
              <a:gd name="adj" fmla="val 5294"/>
            </a:avLst>
          </a:prstGeom>
          <a:solidFill>
            <a:srgbClr val="F4EBD0"/>
          </a:solidFill>
          <a:ln w="12700">
            <a:solidFill>
              <a:srgbClr val="F4EBD0"/>
            </a:solidFill>
            <a:prstDash val="solid"/>
          </a:ln>
          <a:effectLst>
            <a:outerShdw blurRad="12700" dist="50800" dir="2700000" algn="bl" rotWithShape="0">
              <a:srgbClr val="000000">
                <a:alpha val="12000"/>
              </a:srgbClr>
            </a:outerShdw>
          </a:effectLst>
        </p:spPr>
        <p:txBody>
          <a:bodyPr/>
          <a:lstStyle/>
          <a:p>
            <a:endParaRPr/>
          </a:p>
        </p:txBody>
      </p:sp>
      <p:sp>
        <p:nvSpPr>
          <p:cNvPr id="12" name="Text 10"/>
          <p:cNvSpPr/>
          <p:nvPr/>
        </p:nvSpPr>
        <p:spPr>
          <a:xfrm>
            <a:off x="850392" y="1362456"/>
            <a:ext cx="4974336" cy="301752"/>
          </a:xfrm>
          <a:prstGeom prst="rect">
            <a:avLst/>
          </a:prstGeom>
          <a:noFill/>
          <a:ln/>
        </p:spPr>
        <p:txBody>
          <a:bodyPr wrap="square" lIns="762" tIns="762" rIns="762" bIns="762" rtlCol="0" anchor="t">
            <a:normAutofit/>
          </a:bodyPr>
          <a:lstStyle/>
          <a:p>
            <a:pPr marL="0" indent="0" algn="l">
              <a:lnSpc>
                <a:spcPct val="95000"/>
              </a:lnSpc>
              <a:buNone/>
            </a:pPr>
            <a:r>
              <a:rPr lang="en-US" sz="1550" b="1" dirty="0">
                <a:solidFill>
                  <a:srgbClr val="1E1E24"/>
                </a:solidFill>
                <a:ea typeface="Aptos" pitchFamily="34" charset="-122"/>
                <a:cs typeface="Aptos" pitchFamily="34" charset="-120"/>
              </a:rPr>
              <a:t>Energy demand</a:t>
            </a:r>
            <a:endParaRPr lang="en-US" sz="1550" dirty="0"/>
          </a:p>
        </p:txBody>
      </p:sp>
      <p:sp>
        <p:nvSpPr>
          <p:cNvPr id="13" name="Text 11"/>
          <p:cNvSpPr/>
          <p:nvPr/>
        </p:nvSpPr>
        <p:spPr>
          <a:xfrm>
            <a:off x="850392" y="1709928"/>
            <a:ext cx="4974336" cy="987552"/>
          </a:xfrm>
          <a:prstGeom prst="rect">
            <a:avLst/>
          </a:prstGeom>
          <a:noFill/>
          <a:ln/>
        </p:spPr>
        <p:txBody>
          <a:bodyPr wrap="square" lIns="762" tIns="762" rIns="762" bIns="762" rtlCol="0" anchor="t">
            <a:normAutofit/>
          </a:bodyPr>
          <a:lstStyle/>
          <a:p>
            <a:pPr marL="0" indent="0" algn="l">
              <a:lnSpc>
                <a:spcPct val="95000"/>
              </a:lnSpc>
              <a:buNone/>
            </a:pPr>
            <a:r>
              <a:rPr lang="en-US" sz="1280" dirty="0">
                <a:solidFill>
                  <a:srgbClr val="1E1E24"/>
                </a:solidFill>
                <a:ea typeface="Aptos" pitchFamily="34" charset="-122"/>
                <a:cs typeface="Aptos" pitchFamily="34" charset="-120"/>
              </a:rPr>
              <a:t>The IEA projects global data-center electricity consumption could reach around 945 TWh by 2030 in its Base Case, with AI as a major driver of growth.</a:t>
            </a:r>
            <a:endParaRPr lang="en-US" sz="1280" dirty="0"/>
          </a:p>
        </p:txBody>
      </p:sp>
      <p:sp>
        <p:nvSpPr>
          <p:cNvPr id="14" name="Shape 12"/>
          <p:cNvSpPr/>
          <p:nvPr/>
        </p:nvSpPr>
        <p:spPr>
          <a:xfrm>
            <a:off x="6382512" y="1234440"/>
            <a:ext cx="5074920" cy="2395728"/>
          </a:xfrm>
          <a:prstGeom prst="roundRect">
            <a:avLst>
              <a:gd name="adj" fmla="val 3435"/>
            </a:avLst>
          </a:prstGeom>
          <a:solidFill>
            <a:schemeClr val="accent4">
              <a:lumMod val="20000"/>
              <a:lumOff val="80000"/>
            </a:schemeClr>
          </a:solidFill>
          <a:ln w="12700">
            <a:solidFill>
              <a:srgbClr val="FFFFFF"/>
            </a:solidFill>
            <a:prstDash val="solid"/>
          </a:ln>
        </p:spPr>
        <p:txBody>
          <a:bodyPr/>
          <a:lstStyle/>
          <a:p>
            <a:endParaRPr/>
          </a:p>
        </p:txBody>
      </p:sp>
      <p:sp>
        <p:nvSpPr>
          <p:cNvPr id="15" name="Text 13"/>
          <p:cNvSpPr/>
          <p:nvPr/>
        </p:nvSpPr>
        <p:spPr>
          <a:xfrm>
            <a:off x="6547104" y="1362456"/>
            <a:ext cx="4745736" cy="301752"/>
          </a:xfrm>
          <a:prstGeom prst="rect">
            <a:avLst/>
          </a:prstGeom>
          <a:noFill/>
          <a:ln/>
        </p:spPr>
        <p:txBody>
          <a:bodyPr wrap="square" lIns="762" tIns="762" rIns="762" bIns="762" rtlCol="0" anchor="t">
            <a:normAutofit/>
          </a:bodyPr>
          <a:lstStyle/>
          <a:p>
            <a:pPr marL="0" indent="0" algn="l">
              <a:lnSpc>
                <a:spcPct val="95000"/>
              </a:lnSpc>
              <a:buNone/>
            </a:pPr>
            <a:r>
              <a:rPr lang="en-US" sz="1350" b="1" dirty="0">
                <a:solidFill>
                  <a:srgbClr val="4B2E83"/>
                </a:solidFill>
                <a:ea typeface="Aptos" pitchFamily="34" charset="-122"/>
                <a:cs typeface="Aptos" pitchFamily="34" charset="-120"/>
              </a:rPr>
              <a:t>Resource impacts</a:t>
            </a:r>
            <a:endParaRPr lang="en-US" sz="1350" dirty="0"/>
          </a:p>
        </p:txBody>
      </p:sp>
      <p:sp>
        <p:nvSpPr>
          <p:cNvPr id="16" name="Text 14"/>
          <p:cNvSpPr/>
          <p:nvPr/>
        </p:nvSpPr>
        <p:spPr>
          <a:xfrm>
            <a:off x="6547104" y="1709928"/>
            <a:ext cx="4745736" cy="1828800"/>
          </a:xfrm>
          <a:prstGeom prst="rect">
            <a:avLst/>
          </a:prstGeom>
          <a:noFill/>
          <a:ln/>
        </p:spPr>
        <p:txBody>
          <a:bodyPr wrap="square" lIns="762" tIns="762" rIns="762" bIns="762" rtlCol="0" anchor="t">
            <a:normAutofit/>
          </a:bodyPr>
          <a:lstStyle/>
          <a:p>
            <a:pPr>
              <a:lnSpc>
                <a:spcPct val="92000"/>
              </a:lnSpc>
            </a:pPr>
            <a:r>
              <a:rPr lang="en-US" sz="1180" dirty="0">
                <a:solidFill>
                  <a:srgbClr val="1E1E24"/>
                </a:solidFill>
                <a:ea typeface="Aptos" pitchFamily="34" charset="-122"/>
                <a:cs typeface="Aptos" pitchFamily="34" charset="-120"/>
              </a:rPr>
              <a:t>Electricity demand
</a:t>
            </a:r>
            <a:endParaRPr lang="en-US" sz="1180" dirty="0"/>
          </a:p>
          <a:p>
            <a:pPr>
              <a:lnSpc>
                <a:spcPct val="92000"/>
              </a:lnSpc>
            </a:pPr>
            <a:r>
              <a:rPr lang="en-US" sz="1180" dirty="0">
                <a:solidFill>
                  <a:srgbClr val="1E1E24"/>
                </a:solidFill>
                <a:ea typeface="Aptos" pitchFamily="34" charset="-122"/>
                <a:cs typeface="Aptos" pitchFamily="34" charset="-120"/>
              </a:rPr>
              <a:t>Water for cooling and energy production
</a:t>
            </a:r>
            <a:endParaRPr lang="en-US" sz="1180" dirty="0"/>
          </a:p>
          <a:p>
            <a:pPr>
              <a:lnSpc>
                <a:spcPct val="92000"/>
              </a:lnSpc>
            </a:pPr>
            <a:r>
              <a:rPr lang="en-US" sz="1180" dirty="0">
                <a:solidFill>
                  <a:srgbClr val="1E1E24"/>
                </a:solidFill>
                <a:ea typeface="Aptos" pitchFamily="34" charset="-122"/>
                <a:cs typeface="Aptos" pitchFamily="34" charset="-120"/>
              </a:rPr>
              <a:t>Embodied impacts of chips and servers
</a:t>
            </a:r>
            <a:endParaRPr lang="en-US" sz="1180" dirty="0"/>
          </a:p>
          <a:p>
            <a:pPr>
              <a:lnSpc>
                <a:spcPct val="92000"/>
              </a:lnSpc>
            </a:pPr>
            <a:r>
              <a:rPr lang="en-US" sz="1180" dirty="0">
                <a:solidFill>
                  <a:srgbClr val="1E1E24"/>
                </a:solidFill>
                <a:ea typeface="Aptos" pitchFamily="34" charset="-122"/>
                <a:cs typeface="Aptos" pitchFamily="34" charset="-120"/>
              </a:rPr>
              <a:t>Grid capacity and backup power
</a:t>
            </a:r>
            <a:endParaRPr lang="en-US" sz="1180" dirty="0"/>
          </a:p>
          <a:p>
            <a:pPr>
              <a:lnSpc>
                <a:spcPct val="92000"/>
              </a:lnSpc>
            </a:pPr>
            <a:r>
              <a:rPr lang="en-US" sz="1180" dirty="0">
                <a:solidFill>
                  <a:srgbClr val="1E1E24"/>
                </a:solidFill>
                <a:ea typeface="Aptos" pitchFamily="34" charset="-122"/>
                <a:cs typeface="Aptos" pitchFamily="34" charset="-120"/>
              </a:rPr>
              <a:t>Siting, land use, and environmental justice</a:t>
            </a:r>
            <a:endParaRPr lang="en-US" sz="1180" dirty="0"/>
          </a:p>
        </p:txBody>
      </p:sp>
      <p:sp>
        <p:nvSpPr>
          <p:cNvPr id="17" name="Shape 15"/>
          <p:cNvSpPr/>
          <p:nvPr/>
        </p:nvSpPr>
        <p:spPr>
          <a:xfrm>
            <a:off x="1188720" y="4315968"/>
            <a:ext cx="9829800" cy="713232"/>
          </a:xfrm>
          <a:prstGeom prst="roundRect">
            <a:avLst>
              <a:gd name="adj" fmla="val 10256"/>
            </a:avLst>
          </a:prstGeom>
          <a:solidFill>
            <a:srgbClr val="EEE9F7"/>
          </a:solidFill>
          <a:ln w="12700">
            <a:solidFill>
              <a:srgbClr val="EEE9F7"/>
            </a:solidFill>
            <a:prstDash val="solid"/>
          </a:ln>
        </p:spPr>
        <p:txBody>
          <a:bodyPr/>
          <a:lstStyle/>
          <a:p>
            <a:endParaRPr/>
          </a:p>
        </p:txBody>
      </p:sp>
      <p:sp>
        <p:nvSpPr>
          <p:cNvPr id="18" name="Text 16"/>
          <p:cNvSpPr/>
          <p:nvPr/>
        </p:nvSpPr>
        <p:spPr>
          <a:xfrm>
            <a:off x="1325880" y="4443984"/>
            <a:ext cx="9555480" cy="530352"/>
          </a:xfrm>
          <a:prstGeom prst="rect">
            <a:avLst/>
          </a:prstGeom>
          <a:noFill/>
          <a:ln/>
        </p:spPr>
        <p:txBody>
          <a:bodyPr wrap="square" lIns="762" tIns="762" rIns="762" bIns="762" rtlCol="0" anchor="ctr">
            <a:normAutofit/>
          </a:bodyPr>
          <a:lstStyle/>
          <a:p>
            <a:pPr marL="0" indent="0" algn="ctr">
              <a:lnSpc>
                <a:spcPct val="95000"/>
              </a:lnSpc>
              <a:buNone/>
            </a:pPr>
            <a:r>
              <a:rPr lang="en-US" sz="1220" b="1" dirty="0">
                <a:ea typeface="Aptos" pitchFamily="34" charset="-122"/>
                <a:cs typeface="Aptos" pitchFamily="34" charset="-120"/>
              </a:rPr>
              <a:t>Architects cannot discuss sustainable AI only as software.  AI has a built-environment footprint.</a:t>
            </a:r>
            <a:endParaRPr lang="en-US" sz="1220" dirty="0"/>
          </a:p>
        </p:txBody>
      </p:sp>
      <p:sp>
        <p:nvSpPr>
          <p:cNvPr id="19" name="Text 17">
            <a:hlinkClick r:id="rId3"/>
          </p:cNvPr>
          <p:cNvSpPr/>
          <p:nvPr/>
        </p:nvSpPr>
        <p:spPr>
          <a:xfrm>
            <a:off x="502920" y="6236208"/>
            <a:ext cx="10789920" cy="201168"/>
          </a:xfrm>
          <a:prstGeom prst="rect">
            <a:avLst/>
          </a:prstGeom>
          <a:noFill/>
          <a:ln/>
        </p:spPr>
        <p:txBody>
          <a:bodyPr wrap="square" lIns="0" tIns="0" rIns="0" bIns="0" rtlCol="0" anchor="ctr"/>
          <a:lstStyle/>
          <a:p>
            <a:pPr marL="0" indent="0">
              <a:buNone/>
            </a:pPr>
            <a:r>
              <a:rPr lang="en-US" sz="1400" u="sng" dirty="0">
                <a:solidFill>
                  <a:srgbClr val="5B5B66"/>
                </a:solidFill>
                <a:ea typeface="Aptos" pitchFamily="34" charset="-122"/>
                <a:cs typeface="Aptos" pitchFamily="34" charset="-120"/>
                <a:hlinkClick r:id="rId3">
                  <a:extLst>
                    <a:ext uri="{A12FA001-AC4F-418D-AE19-62706E023703}">
                      <ahyp:hlinkClr xmlns:ahyp="http://schemas.microsoft.com/office/drawing/2018/hyperlinkcolor" val="tx"/>
                    </a:ext>
                  </a:extLst>
                </a:hlinkClick>
              </a:rPr>
              <a:t>Source: IEA Energy and AI; MIT News on generative AI environmental impact</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AI infrastructure is a design problem</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180" dirty="0">
                <a:solidFill>
                  <a:srgbClr val="5B5B66"/>
                </a:solidFill>
                <a:ea typeface="Aptos" pitchFamily="34" charset="-122"/>
                <a:cs typeface="Aptos" pitchFamily="34" charset="-120"/>
              </a:rPr>
              <a:t>If architects design the physical infrastructure of AI, what responsibilities do they have?</a:t>
            </a:r>
            <a:endParaRPr lang="en-US" sz="1180" dirty="0"/>
          </a:p>
        </p:txBody>
      </p:sp>
      <p:sp>
        <p:nvSpPr>
          <p:cNvPr id="11" name="Shape 9"/>
          <p:cNvSpPr/>
          <p:nvPr/>
        </p:nvSpPr>
        <p:spPr>
          <a:xfrm>
            <a:off x="537706" y="1848093"/>
            <a:ext cx="3429000" cy="1078992"/>
          </a:xfrm>
          <a:prstGeom prst="roundRect">
            <a:avLst>
              <a:gd name="adj" fmla="val 7627"/>
            </a:avLst>
          </a:prstGeom>
          <a:solidFill>
            <a:schemeClr val="accent4">
              <a:lumMod val="20000"/>
              <a:lumOff val="80000"/>
            </a:schemeClr>
          </a:solidFill>
          <a:ln w="12700">
            <a:solidFill>
              <a:srgbClr val="FFFFFF"/>
            </a:solidFill>
            <a:prstDash val="solid"/>
          </a:ln>
          <a:effectLst>
            <a:outerShdw blurRad="12700" dist="50800" dir="2700000" algn="bl" rotWithShape="0">
              <a:srgbClr val="000000">
                <a:alpha val="12000"/>
              </a:srgbClr>
            </a:outerShdw>
          </a:effectLst>
        </p:spPr>
        <p:txBody>
          <a:bodyPr/>
          <a:lstStyle/>
          <a:p>
            <a:endParaRPr sz="1400"/>
          </a:p>
        </p:txBody>
      </p:sp>
      <p:sp>
        <p:nvSpPr>
          <p:cNvPr id="12" name="Text 10"/>
          <p:cNvSpPr/>
          <p:nvPr/>
        </p:nvSpPr>
        <p:spPr>
          <a:xfrm>
            <a:off x="702298" y="1976109"/>
            <a:ext cx="3099816"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4B2E83"/>
                </a:solidFill>
                <a:ea typeface="Aptos" pitchFamily="34" charset="-122"/>
                <a:cs typeface="Aptos" pitchFamily="34" charset="-120"/>
              </a:rPr>
              <a:t>Operational energy</a:t>
            </a:r>
            <a:endParaRPr lang="en-US" sz="1400" dirty="0"/>
          </a:p>
        </p:txBody>
      </p:sp>
      <p:sp>
        <p:nvSpPr>
          <p:cNvPr id="13" name="Text 11"/>
          <p:cNvSpPr/>
          <p:nvPr/>
        </p:nvSpPr>
        <p:spPr>
          <a:xfrm>
            <a:off x="702298" y="2323581"/>
            <a:ext cx="3099816" cy="512064"/>
          </a:xfrm>
          <a:prstGeom prst="rect">
            <a:avLst/>
          </a:prstGeom>
          <a:noFill/>
          <a:ln/>
        </p:spPr>
        <p:txBody>
          <a:bodyPr wrap="square" lIns="762" tIns="762" rIns="762" bIns="762" rtlCol="0" anchor="t">
            <a:normAutofit/>
          </a:bodyPr>
          <a:lstStyle/>
          <a:p>
            <a:pPr marL="0" indent="0" algn="l">
              <a:lnSpc>
                <a:spcPct val="95000"/>
              </a:lnSpc>
              <a:buNone/>
            </a:pPr>
            <a:r>
              <a:rPr lang="en-US" sz="1400" dirty="0">
                <a:solidFill>
                  <a:srgbClr val="1E1E24"/>
                </a:solidFill>
                <a:ea typeface="Aptos" pitchFamily="34" charset="-122"/>
                <a:cs typeface="Aptos" pitchFamily="34" charset="-120"/>
              </a:rPr>
              <a:t>How is electricity supplied, measured, and disclosed?</a:t>
            </a:r>
            <a:endParaRPr lang="en-US" sz="1400" dirty="0"/>
          </a:p>
        </p:txBody>
      </p:sp>
      <p:sp>
        <p:nvSpPr>
          <p:cNvPr id="14" name="Shape 12"/>
          <p:cNvSpPr/>
          <p:nvPr/>
        </p:nvSpPr>
        <p:spPr>
          <a:xfrm>
            <a:off x="4378186" y="1848093"/>
            <a:ext cx="3429000" cy="1078992"/>
          </a:xfrm>
          <a:prstGeom prst="roundRect">
            <a:avLst>
              <a:gd name="adj" fmla="val 7627"/>
            </a:avLst>
          </a:prstGeom>
          <a:solidFill>
            <a:srgbClr val="E7F2F2"/>
          </a:solidFill>
          <a:ln w="12700">
            <a:solidFill>
              <a:srgbClr val="E7F2F2"/>
            </a:solidFill>
            <a:prstDash val="solid"/>
          </a:ln>
          <a:effectLst>
            <a:outerShdw blurRad="12700" dist="50800" dir="2700000" algn="bl" rotWithShape="0">
              <a:srgbClr val="000000">
                <a:alpha val="12000"/>
              </a:srgbClr>
            </a:outerShdw>
          </a:effectLst>
        </p:spPr>
        <p:txBody>
          <a:bodyPr/>
          <a:lstStyle/>
          <a:p>
            <a:endParaRPr sz="1400"/>
          </a:p>
        </p:txBody>
      </p:sp>
      <p:sp>
        <p:nvSpPr>
          <p:cNvPr id="15" name="Text 13"/>
          <p:cNvSpPr/>
          <p:nvPr/>
        </p:nvSpPr>
        <p:spPr>
          <a:xfrm>
            <a:off x="4542778" y="1976109"/>
            <a:ext cx="3099816"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2D7A7B"/>
                </a:solidFill>
                <a:ea typeface="Aptos" pitchFamily="34" charset="-122"/>
                <a:cs typeface="Aptos" pitchFamily="34" charset="-120"/>
              </a:rPr>
              <a:t>Water and cooling</a:t>
            </a:r>
            <a:endParaRPr lang="en-US" sz="1400" dirty="0"/>
          </a:p>
        </p:txBody>
      </p:sp>
      <p:sp>
        <p:nvSpPr>
          <p:cNvPr id="16" name="Text 14"/>
          <p:cNvSpPr/>
          <p:nvPr/>
        </p:nvSpPr>
        <p:spPr>
          <a:xfrm>
            <a:off x="4542778" y="2323581"/>
            <a:ext cx="3099816" cy="512064"/>
          </a:xfrm>
          <a:prstGeom prst="rect">
            <a:avLst/>
          </a:prstGeom>
          <a:noFill/>
          <a:ln/>
        </p:spPr>
        <p:txBody>
          <a:bodyPr wrap="square" lIns="762" tIns="762" rIns="762" bIns="762" rtlCol="0" anchor="t">
            <a:normAutofit/>
          </a:bodyPr>
          <a:lstStyle/>
          <a:p>
            <a:pPr marL="0" indent="0" algn="l">
              <a:lnSpc>
                <a:spcPct val="95000"/>
              </a:lnSpc>
              <a:buNone/>
            </a:pPr>
            <a:r>
              <a:rPr lang="en-US" sz="1400" dirty="0">
                <a:solidFill>
                  <a:srgbClr val="1E1E24"/>
                </a:solidFill>
                <a:ea typeface="Aptos" pitchFamily="34" charset="-122"/>
                <a:cs typeface="Aptos" pitchFamily="34" charset="-120"/>
              </a:rPr>
              <a:t>What are the local water and thermal impacts?</a:t>
            </a:r>
            <a:endParaRPr lang="en-US" sz="1400" dirty="0"/>
          </a:p>
        </p:txBody>
      </p:sp>
      <p:sp>
        <p:nvSpPr>
          <p:cNvPr id="17" name="Shape 15"/>
          <p:cNvSpPr/>
          <p:nvPr/>
        </p:nvSpPr>
        <p:spPr>
          <a:xfrm>
            <a:off x="8218666" y="1848093"/>
            <a:ext cx="3429000" cy="1078992"/>
          </a:xfrm>
          <a:prstGeom prst="roundRect">
            <a:avLst>
              <a:gd name="adj" fmla="val 7627"/>
            </a:avLst>
          </a:prstGeom>
          <a:solidFill>
            <a:schemeClr val="accent4">
              <a:lumMod val="20000"/>
              <a:lumOff val="80000"/>
            </a:schemeClr>
          </a:solidFill>
          <a:ln w="12700">
            <a:solidFill>
              <a:srgbClr val="FFFFFF"/>
            </a:solidFill>
            <a:prstDash val="solid"/>
          </a:ln>
          <a:effectLst>
            <a:outerShdw blurRad="12700" dist="50800" dir="2700000" algn="bl" rotWithShape="0">
              <a:srgbClr val="000000">
                <a:alpha val="12000"/>
              </a:srgbClr>
            </a:outerShdw>
          </a:effectLst>
        </p:spPr>
        <p:txBody>
          <a:bodyPr/>
          <a:lstStyle/>
          <a:p>
            <a:endParaRPr sz="1400"/>
          </a:p>
        </p:txBody>
      </p:sp>
      <p:sp>
        <p:nvSpPr>
          <p:cNvPr id="18" name="Text 16"/>
          <p:cNvSpPr/>
          <p:nvPr/>
        </p:nvSpPr>
        <p:spPr>
          <a:xfrm>
            <a:off x="8383258" y="1976109"/>
            <a:ext cx="3099816"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4B2E83"/>
                </a:solidFill>
                <a:ea typeface="Aptos" pitchFamily="34" charset="-122"/>
                <a:cs typeface="Aptos" pitchFamily="34" charset="-120"/>
              </a:rPr>
              <a:t>Embodied carbon</a:t>
            </a:r>
            <a:endParaRPr lang="en-US" sz="1400" dirty="0"/>
          </a:p>
        </p:txBody>
      </p:sp>
      <p:sp>
        <p:nvSpPr>
          <p:cNvPr id="19" name="Text 17"/>
          <p:cNvSpPr/>
          <p:nvPr/>
        </p:nvSpPr>
        <p:spPr>
          <a:xfrm>
            <a:off x="8383258" y="2323581"/>
            <a:ext cx="3099816" cy="512064"/>
          </a:xfrm>
          <a:prstGeom prst="rect">
            <a:avLst/>
          </a:prstGeom>
          <a:noFill/>
          <a:ln/>
        </p:spPr>
        <p:txBody>
          <a:bodyPr wrap="square" lIns="762" tIns="762" rIns="762" bIns="762" rtlCol="0" anchor="t">
            <a:normAutofit/>
          </a:bodyPr>
          <a:lstStyle/>
          <a:p>
            <a:pPr marL="0" indent="0" algn="l">
              <a:lnSpc>
                <a:spcPct val="95000"/>
              </a:lnSpc>
              <a:buNone/>
            </a:pPr>
            <a:r>
              <a:rPr lang="en-US" sz="1400" dirty="0">
                <a:solidFill>
                  <a:srgbClr val="1E1E24"/>
                </a:solidFill>
                <a:ea typeface="Aptos" pitchFamily="34" charset="-122"/>
                <a:cs typeface="Aptos" pitchFamily="34" charset="-120"/>
              </a:rPr>
              <a:t>What are the material impacts of construction and equipment cycles?</a:t>
            </a:r>
            <a:endParaRPr lang="en-US" sz="1400" dirty="0"/>
          </a:p>
        </p:txBody>
      </p:sp>
      <p:sp>
        <p:nvSpPr>
          <p:cNvPr id="20" name="Shape 18"/>
          <p:cNvSpPr/>
          <p:nvPr/>
        </p:nvSpPr>
        <p:spPr>
          <a:xfrm>
            <a:off x="537706" y="3329421"/>
            <a:ext cx="3429000" cy="1078992"/>
          </a:xfrm>
          <a:prstGeom prst="roundRect">
            <a:avLst>
              <a:gd name="adj" fmla="val 7627"/>
            </a:avLst>
          </a:prstGeom>
          <a:solidFill>
            <a:srgbClr val="E7F2F2"/>
          </a:solidFill>
          <a:ln w="12700">
            <a:solidFill>
              <a:srgbClr val="E7F2F2"/>
            </a:solidFill>
            <a:prstDash val="solid"/>
          </a:ln>
          <a:effectLst>
            <a:outerShdw blurRad="12700" dist="50800" dir="2700000" algn="bl" rotWithShape="0">
              <a:srgbClr val="000000">
                <a:alpha val="12000"/>
              </a:srgbClr>
            </a:outerShdw>
          </a:effectLst>
        </p:spPr>
        <p:txBody>
          <a:bodyPr/>
          <a:lstStyle/>
          <a:p>
            <a:endParaRPr sz="1400"/>
          </a:p>
        </p:txBody>
      </p:sp>
      <p:sp>
        <p:nvSpPr>
          <p:cNvPr id="21" name="Text 19"/>
          <p:cNvSpPr/>
          <p:nvPr/>
        </p:nvSpPr>
        <p:spPr>
          <a:xfrm>
            <a:off x="702298" y="3457437"/>
            <a:ext cx="3099816"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2D7A7B"/>
                </a:solidFill>
                <a:ea typeface="Aptos" pitchFamily="34" charset="-122"/>
                <a:cs typeface="Aptos" pitchFamily="34" charset="-120"/>
              </a:rPr>
              <a:t>Grid burden</a:t>
            </a:r>
            <a:endParaRPr lang="en-US" sz="1400" dirty="0"/>
          </a:p>
        </p:txBody>
      </p:sp>
      <p:sp>
        <p:nvSpPr>
          <p:cNvPr id="22" name="Text 20"/>
          <p:cNvSpPr/>
          <p:nvPr/>
        </p:nvSpPr>
        <p:spPr>
          <a:xfrm>
            <a:off x="702298" y="3804909"/>
            <a:ext cx="3099816" cy="512064"/>
          </a:xfrm>
          <a:prstGeom prst="rect">
            <a:avLst/>
          </a:prstGeom>
          <a:noFill/>
          <a:ln/>
        </p:spPr>
        <p:txBody>
          <a:bodyPr wrap="square" lIns="762" tIns="762" rIns="762" bIns="762" rtlCol="0" anchor="t">
            <a:normAutofit/>
          </a:bodyPr>
          <a:lstStyle/>
          <a:p>
            <a:pPr marL="0" indent="0" algn="l">
              <a:lnSpc>
                <a:spcPct val="95000"/>
              </a:lnSpc>
              <a:buNone/>
            </a:pPr>
            <a:r>
              <a:rPr lang="en-US" sz="1400" dirty="0">
                <a:solidFill>
                  <a:srgbClr val="1E1E24"/>
                </a:solidFill>
                <a:ea typeface="Aptos" pitchFamily="34" charset="-122"/>
                <a:cs typeface="Aptos" pitchFamily="34" charset="-120"/>
              </a:rPr>
              <a:t>Does the project strain local electricity capacity?</a:t>
            </a:r>
            <a:endParaRPr lang="en-US" sz="1400" dirty="0"/>
          </a:p>
        </p:txBody>
      </p:sp>
      <p:sp>
        <p:nvSpPr>
          <p:cNvPr id="23" name="Shape 21"/>
          <p:cNvSpPr/>
          <p:nvPr/>
        </p:nvSpPr>
        <p:spPr>
          <a:xfrm>
            <a:off x="4378186" y="3329421"/>
            <a:ext cx="3429000" cy="1078992"/>
          </a:xfrm>
          <a:prstGeom prst="roundRect">
            <a:avLst>
              <a:gd name="adj" fmla="val 7627"/>
            </a:avLst>
          </a:prstGeom>
          <a:solidFill>
            <a:schemeClr val="accent4">
              <a:lumMod val="20000"/>
              <a:lumOff val="80000"/>
            </a:schemeClr>
          </a:solidFill>
          <a:ln w="12700">
            <a:solidFill>
              <a:srgbClr val="FFFFFF"/>
            </a:solidFill>
            <a:prstDash val="solid"/>
          </a:ln>
          <a:effectLst>
            <a:outerShdw blurRad="12700" dist="50800" dir="2700000" algn="bl" rotWithShape="0">
              <a:srgbClr val="000000">
                <a:alpha val="12000"/>
              </a:srgbClr>
            </a:outerShdw>
          </a:effectLst>
        </p:spPr>
        <p:txBody>
          <a:bodyPr/>
          <a:lstStyle/>
          <a:p>
            <a:endParaRPr sz="1400"/>
          </a:p>
        </p:txBody>
      </p:sp>
      <p:sp>
        <p:nvSpPr>
          <p:cNvPr id="24" name="Text 22"/>
          <p:cNvSpPr/>
          <p:nvPr/>
        </p:nvSpPr>
        <p:spPr>
          <a:xfrm>
            <a:off x="4542778" y="3457437"/>
            <a:ext cx="3099816"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4B2E83"/>
                </a:solidFill>
                <a:ea typeface="Aptos" pitchFamily="34" charset="-122"/>
                <a:cs typeface="Aptos" pitchFamily="34" charset="-120"/>
              </a:rPr>
              <a:t>Environmental justice</a:t>
            </a:r>
            <a:endParaRPr lang="en-US" sz="1400" dirty="0"/>
          </a:p>
        </p:txBody>
      </p:sp>
      <p:sp>
        <p:nvSpPr>
          <p:cNvPr id="25" name="Text 23"/>
          <p:cNvSpPr/>
          <p:nvPr/>
        </p:nvSpPr>
        <p:spPr>
          <a:xfrm>
            <a:off x="4542778" y="3804909"/>
            <a:ext cx="3099816" cy="512064"/>
          </a:xfrm>
          <a:prstGeom prst="rect">
            <a:avLst/>
          </a:prstGeom>
          <a:noFill/>
          <a:ln/>
        </p:spPr>
        <p:txBody>
          <a:bodyPr wrap="square" lIns="762" tIns="762" rIns="762" bIns="762" rtlCol="0" anchor="t">
            <a:normAutofit/>
          </a:bodyPr>
          <a:lstStyle/>
          <a:p>
            <a:pPr marL="0" indent="0" algn="l">
              <a:lnSpc>
                <a:spcPct val="95000"/>
              </a:lnSpc>
              <a:buNone/>
            </a:pPr>
            <a:r>
              <a:rPr lang="en-US" sz="1400" dirty="0">
                <a:solidFill>
                  <a:srgbClr val="1E1E24"/>
                </a:solidFill>
                <a:ea typeface="Aptos" pitchFamily="34" charset="-122"/>
                <a:cs typeface="Aptos" pitchFamily="34" charset="-120"/>
              </a:rPr>
              <a:t>Who lives near the infrastructure and who benefits from it?</a:t>
            </a:r>
            <a:endParaRPr lang="en-US" sz="1400" dirty="0"/>
          </a:p>
        </p:txBody>
      </p:sp>
      <p:sp>
        <p:nvSpPr>
          <p:cNvPr id="26" name="Shape 24"/>
          <p:cNvSpPr/>
          <p:nvPr/>
        </p:nvSpPr>
        <p:spPr>
          <a:xfrm>
            <a:off x="8218666" y="3329421"/>
            <a:ext cx="3429000" cy="1078992"/>
          </a:xfrm>
          <a:prstGeom prst="roundRect">
            <a:avLst>
              <a:gd name="adj" fmla="val 7627"/>
            </a:avLst>
          </a:prstGeom>
          <a:solidFill>
            <a:srgbClr val="E7F2F2"/>
          </a:solidFill>
          <a:ln w="12700">
            <a:solidFill>
              <a:srgbClr val="E7F2F2"/>
            </a:solidFill>
            <a:prstDash val="solid"/>
          </a:ln>
          <a:effectLst>
            <a:outerShdw blurRad="12700" dist="50800" dir="2700000" algn="bl" rotWithShape="0">
              <a:srgbClr val="000000">
                <a:alpha val="12000"/>
              </a:srgbClr>
            </a:outerShdw>
          </a:effectLst>
        </p:spPr>
        <p:txBody>
          <a:bodyPr/>
          <a:lstStyle/>
          <a:p>
            <a:endParaRPr sz="1400"/>
          </a:p>
        </p:txBody>
      </p:sp>
      <p:sp>
        <p:nvSpPr>
          <p:cNvPr id="27" name="Text 25"/>
          <p:cNvSpPr/>
          <p:nvPr/>
        </p:nvSpPr>
        <p:spPr>
          <a:xfrm>
            <a:off x="8383258" y="3457437"/>
            <a:ext cx="3099816"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2D7A7B"/>
                </a:solidFill>
                <a:ea typeface="Aptos" pitchFamily="34" charset="-122"/>
                <a:cs typeface="Aptos" pitchFamily="34" charset="-120"/>
              </a:rPr>
              <a:t>Waste heat and resilience</a:t>
            </a:r>
            <a:endParaRPr lang="en-US" sz="1400" dirty="0"/>
          </a:p>
        </p:txBody>
      </p:sp>
      <p:sp>
        <p:nvSpPr>
          <p:cNvPr id="28" name="Text 26"/>
          <p:cNvSpPr/>
          <p:nvPr/>
        </p:nvSpPr>
        <p:spPr>
          <a:xfrm>
            <a:off x="8383258" y="3804909"/>
            <a:ext cx="3099816" cy="512064"/>
          </a:xfrm>
          <a:prstGeom prst="rect">
            <a:avLst/>
          </a:prstGeom>
          <a:noFill/>
          <a:ln/>
        </p:spPr>
        <p:txBody>
          <a:bodyPr wrap="square" lIns="762" tIns="762" rIns="762" bIns="762" rtlCol="0" anchor="t">
            <a:normAutofit/>
          </a:bodyPr>
          <a:lstStyle/>
          <a:p>
            <a:pPr marL="0" indent="0" algn="l">
              <a:lnSpc>
                <a:spcPct val="95000"/>
              </a:lnSpc>
              <a:buNone/>
            </a:pPr>
            <a:r>
              <a:rPr lang="en-US" sz="1400" dirty="0">
                <a:solidFill>
                  <a:srgbClr val="1E1E24"/>
                </a:solidFill>
                <a:ea typeface="Aptos" pitchFamily="34" charset="-122"/>
                <a:cs typeface="Aptos" pitchFamily="34" charset="-120"/>
              </a:rPr>
              <a:t>Can heat be reused? How does the facility operate during grid stress?</a:t>
            </a:r>
            <a:endParaRPr lang="en-US" sz="1400" dirty="0"/>
          </a:p>
        </p:txBody>
      </p:sp>
      <p:sp>
        <p:nvSpPr>
          <p:cNvPr id="29" name="Shape 27"/>
          <p:cNvSpPr/>
          <p:nvPr/>
        </p:nvSpPr>
        <p:spPr>
          <a:xfrm>
            <a:off x="1097280" y="5010912"/>
            <a:ext cx="10012680" cy="658368"/>
          </a:xfrm>
          <a:prstGeom prst="roundRect">
            <a:avLst>
              <a:gd name="adj" fmla="val 11111"/>
            </a:avLst>
          </a:prstGeom>
          <a:solidFill>
            <a:srgbClr val="F4EBD0"/>
          </a:solidFill>
          <a:ln w="12700">
            <a:solidFill>
              <a:srgbClr val="F4EBD0"/>
            </a:solidFill>
            <a:prstDash val="solid"/>
          </a:ln>
        </p:spPr>
        <p:txBody>
          <a:bodyPr/>
          <a:lstStyle/>
          <a:p>
            <a:endParaRPr/>
          </a:p>
        </p:txBody>
      </p:sp>
      <p:sp>
        <p:nvSpPr>
          <p:cNvPr id="30" name="Text 28"/>
          <p:cNvSpPr/>
          <p:nvPr/>
        </p:nvSpPr>
        <p:spPr>
          <a:xfrm>
            <a:off x="1234440" y="5138928"/>
            <a:ext cx="9738360" cy="475488"/>
          </a:xfrm>
          <a:prstGeom prst="rect">
            <a:avLst/>
          </a:prstGeom>
          <a:noFill/>
          <a:ln/>
        </p:spPr>
        <p:txBody>
          <a:bodyPr wrap="square" lIns="762" tIns="762" rIns="762" bIns="762" rtlCol="0" anchor="ctr">
            <a:normAutofit/>
          </a:bodyPr>
          <a:lstStyle/>
          <a:p>
            <a:pPr marL="0" indent="0" algn="ctr">
              <a:lnSpc>
                <a:spcPct val="95000"/>
              </a:lnSpc>
              <a:buNone/>
            </a:pPr>
            <a:r>
              <a:rPr lang="en-US" sz="1400" b="1" dirty="0">
                <a:solidFill>
                  <a:srgbClr val="1E1E24"/>
                </a:solidFill>
                <a:ea typeface="Aptos" pitchFamily="34" charset="-122"/>
                <a:cs typeface="Aptos" pitchFamily="34" charset="-120"/>
              </a:rPr>
              <a:t>Should AI computation costs be included in sustainable design education and project reporting?</a:t>
            </a:r>
            <a:endParaRPr lang="en-US" sz="1400" dirty="0"/>
          </a:p>
        </p:txBody>
      </p:sp>
      <p:sp>
        <p:nvSpPr>
          <p:cNvPr id="31" name="Text 29">
            <a:hlinkClick r:id="rId3"/>
          </p:cNvPr>
          <p:cNvSpPr/>
          <p:nvPr/>
        </p:nvSpPr>
        <p:spPr>
          <a:xfrm>
            <a:off x="502920" y="6236208"/>
            <a:ext cx="10789920" cy="201168"/>
          </a:xfrm>
          <a:prstGeom prst="rect">
            <a:avLst/>
          </a:prstGeom>
          <a:noFill/>
          <a:ln/>
        </p:spPr>
        <p:txBody>
          <a:bodyPr wrap="square" lIns="0" tIns="0" rIns="0" bIns="0" rtlCol="0" anchor="ctr"/>
          <a:lstStyle/>
          <a:p>
            <a:pPr marL="0" indent="0">
              <a:buNone/>
            </a:pPr>
            <a:r>
              <a:rPr lang="en-US" sz="1400" u="sng" dirty="0">
                <a:solidFill>
                  <a:srgbClr val="5B5B66"/>
                </a:solidFill>
                <a:ea typeface="Aptos" pitchFamily="34" charset="-122"/>
                <a:cs typeface="Aptos" pitchFamily="34" charset="-120"/>
                <a:hlinkClick r:id="rId3">
                  <a:extLst>
                    <a:ext uri="{A12FA001-AC4F-418D-AE19-62706E023703}">
                      <ahyp:hlinkClr xmlns:ahyp="http://schemas.microsoft.com/office/drawing/2018/hyperlinkcolor" val="tx"/>
                    </a:ext>
                  </a:extLst>
                </a:hlinkClick>
              </a:rPr>
              <a:t>Source: IEA Energy and AI; MIT News</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Governance frameworks: three levels</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180" dirty="0">
                <a:solidFill>
                  <a:srgbClr val="5B5B66"/>
                </a:solidFill>
                <a:ea typeface="Aptos" pitchFamily="34" charset="-122"/>
                <a:cs typeface="Aptos" pitchFamily="34" charset="-120"/>
              </a:rPr>
              <a:t>Governance turns values into procedures, documentation, roles, and review points</a:t>
            </a:r>
            <a:endParaRPr lang="en-US" sz="1180" dirty="0"/>
          </a:p>
        </p:txBody>
      </p:sp>
      <p:sp>
        <p:nvSpPr>
          <p:cNvPr id="11" name="Shape 9"/>
          <p:cNvSpPr/>
          <p:nvPr/>
        </p:nvSpPr>
        <p:spPr>
          <a:xfrm>
            <a:off x="737778" y="1628800"/>
            <a:ext cx="3401568" cy="2743200"/>
          </a:xfrm>
          <a:prstGeom prst="roundRect">
            <a:avLst>
              <a:gd name="adj" fmla="val 3000"/>
            </a:avLst>
          </a:prstGeom>
          <a:solidFill>
            <a:schemeClr val="accent4">
              <a:lumMod val="20000"/>
              <a:lumOff val="80000"/>
            </a:schemeClr>
          </a:solidFill>
          <a:ln w="12700">
            <a:solidFill>
              <a:srgbClr val="FFFFFF"/>
            </a:solidFill>
            <a:prstDash val="solid"/>
          </a:ln>
        </p:spPr>
        <p:txBody>
          <a:bodyPr/>
          <a:lstStyle/>
          <a:p>
            <a:endParaRPr sz="1400"/>
          </a:p>
        </p:txBody>
      </p:sp>
      <p:sp>
        <p:nvSpPr>
          <p:cNvPr id="12" name="Text 10"/>
          <p:cNvSpPr/>
          <p:nvPr/>
        </p:nvSpPr>
        <p:spPr>
          <a:xfrm>
            <a:off x="902370" y="1756816"/>
            <a:ext cx="3072384"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4B2E83"/>
                </a:solidFill>
                <a:ea typeface="Aptos" pitchFamily="34" charset="-122"/>
                <a:cs typeface="Aptos" pitchFamily="34" charset="-120"/>
              </a:rPr>
              <a:t>1. System-level governance</a:t>
            </a:r>
            <a:endParaRPr lang="en-US" sz="1400" dirty="0"/>
          </a:p>
        </p:txBody>
      </p:sp>
      <p:sp>
        <p:nvSpPr>
          <p:cNvPr id="13" name="Text 11"/>
          <p:cNvSpPr/>
          <p:nvPr/>
        </p:nvSpPr>
        <p:spPr>
          <a:xfrm>
            <a:off x="902370" y="2104288"/>
            <a:ext cx="3072384" cy="2176272"/>
          </a:xfrm>
          <a:prstGeom prst="rect">
            <a:avLst/>
          </a:prstGeom>
          <a:noFill/>
          <a:ln/>
        </p:spPr>
        <p:txBody>
          <a:bodyPr wrap="square" lIns="762" tIns="762" rIns="762" bIns="762" rtlCol="0" anchor="t">
            <a:normAutofit/>
          </a:bodyPr>
          <a:lstStyle/>
          <a:p>
            <a:pPr>
              <a:lnSpc>
                <a:spcPct val="92000"/>
              </a:lnSpc>
            </a:pPr>
            <a:r>
              <a:rPr lang="en-US" sz="1400" dirty="0">
                <a:solidFill>
                  <a:srgbClr val="1E1E24"/>
                </a:solidFill>
                <a:ea typeface="Aptos" pitchFamily="34" charset="-122"/>
                <a:cs typeface="Aptos" pitchFamily="34" charset="-120"/>
              </a:rPr>
              <a:t>Model documentation
</a:t>
            </a:r>
            <a:endParaRPr lang="en-US" sz="1400" dirty="0"/>
          </a:p>
          <a:p>
            <a:pPr>
              <a:lnSpc>
                <a:spcPct val="92000"/>
              </a:lnSpc>
            </a:pPr>
            <a:r>
              <a:rPr lang="en-US" sz="1400" dirty="0">
                <a:solidFill>
                  <a:srgbClr val="1E1E24"/>
                </a:solidFill>
                <a:ea typeface="Aptos" pitchFamily="34" charset="-122"/>
                <a:cs typeface="Aptos" pitchFamily="34" charset="-120"/>
              </a:rPr>
              <a:t>Testing and validation
</a:t>
            </a:r>
            <a:endParaRPr lang="en-US" sz="1400" dirty="0"/>
          </a:p>
          <a:p>
            <a:pPr>
              <a:lnSpc>
                <a:spcPct val="92000"/>
              </a:lnSpc>
            </a:pPr>
            <a:r>
              <a:rPr lang="en-US" sz="1400" dirty="0">
                <a:solidFill>
                  <a:srgbClr val="1E1E24"/>
                </a:solidFill>
                <a:ea typeface="Aptos" pitchFamily="34" charset="-122"/>
                <a:cs typeface="Aptos" pitchFamily="34" charset="-120"/>
              </a:rPr>
              <a:t>Security and resilience
</a:t>
            </a:r>
            <a:endParaRPr lang="en-US" sz="1400" dirty="0"/>
          </a:p>
          <a:p>
            <a:pPr>
              <a:lnSpc>
                <a:spcPct val="92000"/>
              </a:lnSpc>
            </a:pPr>
            <a:r>
              <a:rPr lang="en-US" sz="1400" dirty="0">
                <a:solidFill>
                  <a:srgbClr val="1E1E24"/>
                </a:solidFill>
                <a:ea typeface="Aptos" pitchFamily="34" charset="-122"/>
                <a:cs typeface="Aptos" pitchFamily="34" charset="-120"/>
              </a:rPr>
              <a:t>Monitoring and update procedures</a:t>
            </a:r>
            <a:endParaRPr lang="en-US" sz="1400" dirty="0"/>
          </a:p>
        </p:txBody>
      </p:sp>
      <p:sp>
        <p:nvSpPr>
          <p:cNvPr id="14" name="Shape 12"/>
          <p:cNvSpPr/>
          <p:nvPr/>
        </p:nvSpPr>
        <p:spPr>
          <a:xfrm>
            <a:off x="4431954" y="1628800"/>
            <a:ext cx="3401568" cy="2743200"/>
          </a:xfrm>
          <a:prstGeom prst="roundRect">
            <a:avLst>
              <a:gd name="adj" fmla="val 3000"/>
            </a:avLst>
          </a:prstGeom>
          <a:solidFill>
            <a:srgbClr val="EEE9F7"/>
          </a:solidFill>
          <a:ln w="12700">
            <a:solidFill>
              <a:srgbClr val="EEE9F7"/>
            </a:solidFill>
            <a:prstDash val="solid"/>
          </a:ln>
        </p:spPr>
        <p:txBody>
          <a:bodyPr/>
          <a:lstStyle/>
          <a:p>
            <a:endParaRPr sz="1400"/>
          </a:p>
        </p:txBody>
      </p:sp>
      <p:sp>
        <p:nvSpPr>
          <p:cNvPr id="15" name="Text 13"/>
          <p:cNvSpPr/>
          <p:nvPr/>
        </p:nvSpPr>
        <p:spPr>
          <a:xfrm>
            <a:off x="4596546" y="1756816"/>
            <a:ext cx="3072384"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4B2E83"/>
                </a:solidFill>
                <a:ea typeface="Aptos" pitchFamily="34" charset="-122"/>
                <a:cs typeface="Aptos" pitchFamily="34" charset="-120"/>
              </a:rPr>
              <a:t>2. Institutional governance</a:t>
            </a:r>
            <a:endParaRPr lang="en-US" sz="1400" dirty="0"/>
          </a:p>
        </p:txBody>
      </p:sp>
      <p:sp>
        <p:nvSpPr>
          <p:cNvPr id="16" name="Text 14"/>
          <p:cNvSpPr/>
          <p:nvPr/>
        </p:nvSpPr>
        <p:spPr>
          <a:xfrm>
            <a:off x="4596546" y="2104288"/>
            <a:ext cx="3072384" cy="2176272"/>
          </a:xfrm>
          <a:prstGeom prst="rect">
            <a:avLst/>
          </a:prstGeom>
          <a:noFill/>
          <a:ln/>
        </p:spPr>
        <p:txBody>
          <a:bodyPr wrap="square" lIns="762" tIns="762" rIns="762" bIns="762" rtlCol="0" anchor="t">
            <a:normAutofit/>
          </a:bodyPr>
          <a:lstStyle/>
          <a:p>
            <a:pPr>
              <a:lnSpc>
                <a:spcPct val="92000"/>
              </a:lnSpc>
            </a:pPr>
            <a:r>
              <a:rPr lang="en-US" sz="1400" dirty="0">
                <a:solidFill>
                  <a:srgbClr val="1E1E24"/>
                </a:solidFill>
                <a:ea typeface="Aptos" pitchFamily="34" charset="-122"/>
                <a:cs typeface="Aptos" pitchFamily="34" charset="-120"/>
              </a:rPr>
              <a:t>University or firm AI policy
</a:t>
            </a:r>
            <a:endParaRPr lang="en-US" sz="1400" dirty="0"/>
          </a:p>
          <a:p>
            <a:pPr>
              <a:lnSpc>
                <a:spcPct val="92000"/>
              </a:lnSpc>
            </a:pPr>
            <a:r>
              <a:rPr lang="en-US" sz="1400" dirty="0">
                <a:solidFill>
                  <a:srgbClr val="1E1E24"/>
                </a:solidFill>
                <a:ea typeface="Aptos" pitchFamily="34" charset="-122"/>
                <a:cs typeface="Aptos" pitchFamily="34" charset="-120"/>
              </a:rPr>
              <a:t>Publication and authorship rules
</a:t>
            </a:r>
            <a:endParaRPr lang="en-US" sz="1400" dirty="0"/>
          </a:p>
          <a:p>
            <a:pPr>
              <a:lnSpc>
                <a:spcPct val="92000"/>
              </a:lnSpc>
            </a:pPr>
            <a:r>
              <a:rPr lang="en-US" sz="1400" dirty="0">
                <a:solidFill>
                  <a:srgbClr val="1E1E24"/>
                </a:solidFill>
                <a:ea typeface="Aptos" pitchFamily="34" charset="-122"/>
                <a:cs typeface="Aptos" pitchFamily="34" charset="-120"/>
              </a:rPr>
              <a:t>Data management and IRB review
</a:t>
            </a:r>
            <a:endParaRPr lang="en-US" sz="1400" dirty="0"/>
          </a:p>
          <a:p>
            <a:pPr>
              <a:lnSpc>
                <a:spcPct val="92000"/>
              </a:lnSpc>
            </a:pPr>
            <a:r>
              <a:rPr lang="en-US" sz="1400" dirty="0">
                <a:solidFill>
                  <a:srgbClr val="1E1E24"/>
                </a:solidFill>
                <a:ea typeface="Aptos" pitchFamily="34" charset="-122"/>
                <a:cs typeface="Aptos" pitchFamily="34" charset="-120"/>
              </a:rPr>
              <a:t>Procurement and tool approval</a:t>
            </a:r>
            <a:endParaRPr lang="en-US" sz="1400" dirty="0"/>
          </a:p>
        </p:txBody>
      </p:sp>
      <p:sp>
        <p:nvSpPr>
          <p:cNvPr id="17" name="Shape 15"/>
          <p:cNvSpPr/>
          <p:nvPr/>
        </p:nvSpPr>
        <p:spPr>
          <a:xfrm>
            <a:off x="8144418" y="1628800"/>
            <a:ext cx="3401568" cy="2743200"/>
          </a:xfrm>
          <a:prstGeom prst="roundRect">
            <a:avLst>
              <a:gd name="adj" fmla="val 3000"/>
            </a:avLst>
          </a:prstGeom>
          <a:solidFill>
            <a:srgbClr val="F4EBD0"/>
          </a:solidFill>
          <a:ln w="12700">
            <a:solidFill>
              <a:srgbClr val="F4EBD0"/>
            </a:solidFill>
            <a:prstDash val="solid"/>
          </a:ln>
        </p:spPr>
        <p:txBody>
          <a:bodyPr/>
          <a:lstStyle/>
          <a:p>
            <a:endParaRPr sz="1400"/>
          </a:p>
        </p:txBody>
      </p:sp>
      <p:sp>
        <p:nvSpPr>
          <p:cNvPr id="18" name="Text 16"/>
          <p:cNvSpPr/>
          <p:nvPr/>
        </p:nvSpPr>
        <p:spPr>
          <a:xfrm>
            <a:off x="8309010" y="1756816"/>
            <a:ext cx="3072384"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1E1E24"/>
                </a:solidFill>
                <a:ea typeface="Aptos" pitchFamily="34" charset="-122"/>
                <a:cs typeface="Aptos" pitchFamily="34" charset="-120"/>
              </a:rPr>
              <a:t>3. Project-level governance</a:t>
            </a:r>
            <a:endParaRPr lang="en-US" sz="1400" dirty="0"/>
          </a:p>
        </p:txBody>
      </p:sp>
      <p:sp>
        <p:nvSpPr>
          <p:cNvPr id="19" name="Text 17"/>
          <p:cNvSpPr/>
          <p:nvPr/>
        </p:nvSpPr>
        <p:spPr>
          <a:xfrm>
            <a:off x="8309010" y="2104288"/>
            <a:ext cx="3072384" cy="2176272"/>
          </a:xfrm>
          <a:prstGeom prst="rect">
            <a:avLst/>
          </a:prstGeom>
          <a:noFill/>
          <a:ln/>
        </p:spPr>
        <p:txBody>
          <a:bodyPr wrap="square" lIns="762" tIns="762" rIns="762" bIns="762" rtlCol="0" anchor="t">
            <a:normAutofit/>
          </a:bodyPr>
          <a:lstStyle/>
          <a:p>
            <a:pPr>
              <a:lnSpc>
                <a:spcPct val="92000"/>
              </a:lnSpc>
            </a:pPr>
            <a:r>
              <a:rPr lang="en-US" sz="1400" dirty="0">
                <a:solidFill>
                  <a:srgbClr val="1E1E24"/>
                </a:solidFill>
                <a:ea typeface="Aptos" pitchFamily="34" charset="-122"/>
                <a:cs typeface="Aptos" pitchFamily="34" charset="-120"/>
              </a:rPr>
              <a:t>Consent and data provenance
</a:t>
            </a:r>
            <a:endParaRPr lang="en-US" sz="1400" dirty="0"/>
          </a:p>
          <a:p>
            <a:pPr>
              <a:lnSpc>
                <a:spcPct val="92000"/>
              </a:lnSpc>
            </a:pPr>
            <a:r>
              <a:rPr lang="en-US" sz="1400" dirty="0">
                <a:solidFill>
                  <a:srgbClr val="1E1E24"/>
                </a:solidFill>
                <a:ea typeface="Aptos" pitchFamily="34" charset="-122"/>
                <a:cs typeface="Aptos" pitchFamily="34" charset="-120"/>
              </a:rPr>
              <a:t>Bias audit
</a:t>
            </a:r>
            <a:endParaRPr lang="en-US" sz="1400" dirty="0"/>
          </a:p>
          <a:p>
            <a:pPr>
              <a:lnSpc>
                <a:spcPct val="92000"/>
              </a:lnSpc>
            </a:pPr>
            <a:r>
              <a:rPr lang="en-US" sz="1400" dirty="0">
                <a:solidFill>
                  <a:srgbClr val="1E1E24"/>
                </a:solidFill>
                <a:ea typeface="Aptos" pitchFamily="34" charset="-122"/>
                <a:cs typeface="Aptos" pitchFamily="34" charset="-120"/>
              </a:rPr>
              <a:t>Human review gates
</a:t>
            </a:r>
            <a:endParaRPr lang="en-US" sz="1400" dirty="0"/>
          </a:p>
          <a:p>
            <a:pPr>
              <a:lnSpc>
                <a:spcPct val="92000"/>
              </a:lnSpc>
            </a:pPr>
            <a:r>
              <a:rPr lang="en-US" sz="1400" dirty="0">
                <a:solidFill>
                  <a:srgbClr val="1E1E24"/>
                </a:solidFill>
                <a:ea typeface="Aptos" pitchFamily="34" charset="-122"/>
                <a:cs typeface="Aptos" pitchFamily="34" charset="-120"/>
              </a:rPr>
              <a:t>Disclosure and limitation statements
</a:t>
            </a:r>
            <a:endParaRPr lang="en-US" sz="1400" dirty="0"/>
          </a:p>
          <a:p>
            <a:pPr>
              <a:lnSpc>
                <a:spcPct val="92000"/>
              </a:lnSpc>
            </a:pPr>
            <a:r>
              <a:rPr lang="en-US" sz="1400" dirty="0">
                <a:solidFill>
                  <a:srgbClr val="1E1E24"/>
                </a:solidFill>
                <a:ea typeface="Aptos" pitchFamily="34" charset="-122"/>
                <a:cs typeface="Aptos" pitchFamily="34" charset="-120"/>
              </a:rPr>
              <a:t>Stakeholder review</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NIST AI Risk Management Framework</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180" dirty="0">
                <a:solidFill>
                  <a:srgbClr val="5B5B66"/>
                </a:solidFill>
                <a:ea typeface="Aptos" pitchFamily="34" charset="-122"/>
                <a:cs typeface="Aptos" pitchFamily="34" charset="-120"/>
              </a:rPr>
              <a:t>A practical vocabulary for trustworthy and responsible AI</a:t>
            </a:r>
            <a:endParaRPr lang="en-US" sz="1180" dirty="0"/>
          </a:p>
        </p:txBody>
      </p:sp>
      <p:sp>
        <p:nvSpPr>
          <p:cNvPr id="11" name="Shape 9"/>
          <p:cNvSpPr/>
          <p:nvPr/>
        </p:nvSpPr>
        <p:spPr>
          <a:xfrm>
            <a:off x="685800" y="1234440"/>
            <a:ext cx="4892040" cy="3383280"/>
          </a:xfrm>
          <a:prstGeom prst="roundRect">
            <a:avLst>
              <a:gd name="adj" fmla="val 2432"/>
            </a:avLst>
          </a:prstGeom>
          <a:solidFill>
            <a:schemeClr val="accent4">
              <a:lumMod val="20000"/>
              <a:lumOff val="80000"/>
            </a:schemeClr>
          </a:solidFill>
          <a:ln w="12700">
            <a:solidFill>
              <a:srgbClr val="FFFFFF"/>
            </a:solidFill>
            <a:prstDash val="solid"/>
          </a:ln>
        </p:spPr>
        <p:txBody>
          <a:bodyPr/>
          <a:lstStyle/>
          <a:p>
            <a:endParaRPr/>
          </a:p>
        </p:txBody>
      </p:sp>
      <p:sp>
        <p:nvSpPr>
          <p:cNvPr id="12" name="Text 10"/>
          <p:cNvSpPr/>
          <p:nvPr/>
        </p:nvSpPr>
        <p:spPr>
          <a:xfrm>
            <a:off x="850392" y="1362456"/>
            <a:ext cx="4562856"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4B2E83"/>
                </a:solidFill>
                <a:ea typeface="Aptos" pitchFamily="34" charset="-122"/>
                <a:cs typeface="Aptos" pitchFamily="34" charset="-120"/>
              </a:rPr>
              <a:t>Trustworthy AI characteristics</a:t>
            </a:r>
            <a:endParaRPr lang="en-US" sz="1400" dirty="0"/>
          </a:p>
        </p:txBody>
      </p:sp>
      <p:sp>
        <p:nvSpPr>
          <p:cNvPr id="13" name="Text 11"/>
          <p:cNvSpPr/>
          <p:nvPr/>
        </p:nvSpPr>
        <p:spPr>
          <a:xfrm>
            <a:off x="850392" y="1709928"/>
            <a:ext cx="4562856" cy="2816352"/>
          </a:xfrm>
          <a:prstGeom prst="rect">
            <a:avLst/>
          </a:prstGeom>
          <a:noFill/>
          <a:ln/>
        </p:spPr>
        <p:txBody>
          <a:bodyPr wrap="square" lIns="762" tIns="762" rIns="762" bIns="762" rtlCol="0" anchor="t">
            <a:normAutofit/>
          </a:bodyPr>
          <a:lstStyle/>
          <a:p>
            <a:pPr>
              <a:lnSpc>
                <a:spcPct val="92000"/>
              </a:lnSpc>
            </a:pPr>
            <a:r>
              <a:rPr lang="en-US" sz="1400" dirty="0">
                <a:solidFill>
                  <a:srgbClr val="1E1E24"/>
                </a:solidFill>
                <a:ea typeface="Aptos" pitchFamily="34" charset="-122"/>
                <a:cs typeface="Aptos" pitchFamily="34" charset="-120"/>
              </a:rPr>
              <a:t>Valid and reliable
</a:t>
            </a:r>
            <a:endParaRPr lang="en-US" sz="1400" dirty="0"/>
          </a:p>
          <a:p>
            <a:pPr>
              <a:lnSpc>
                <a:spcPct val="92000"/>
              </a:lnSpc>
            </a:pPr>
            <a:r>
              <a:rPr lang="en-US" sz="1400" dirty="0">
                <a:solidFill>
                  <a:srgbClr val="1E1E24"/>
                </a:solidFill>
                <a:ea typeface="Aptos" pitchFamily="34" charset="-122"/>
                <a:cs typeface="Aptos" pitchFamily="34" charset="-120"/>
              </a:rPr>
              <a:t>Safe
</a:t>
            </a:r>
            <a:endParaRPr lang="en-US" sz="1400" dirty="0"/>
          </a:p>
          <a:p>
            <a:pPr>
              <a:lnSpc>
                <a:spcPct val="92000"/>
              </a:lnSpc>
            </a:pPr>
            <a:r>
              <a:rPr lang="en-US" sz="1400" dirty="0">
                <a:solidFill>
                  <a:srgbClr val="1E1E24"/>
                </a:solidFill>
                <a:ea typeface="Aptos" pitchFamily="34" charset="-122"/>
                <a:cs typeface="Aptos" pitchFamily="34" charset="-120"/>
              </a:rPr>
              <a:t>Secure and resilient
</a:t>
            </a:r>
            <a:endParaRPr lang="en-US" sz="1400" dirty="0"/>
          </a:p>
          <a:p>
            <a:pPr>
              <a:lnSpc>
                <a:spcPct val="92000"/>
              </a:lnSpc>
            </a:pPr>
            <a:r>
              <a:rPr lang="en-US" sz="1400" dirty="0">
                <a:solidFill>
                  <a:srgbClr val="1E1E24"/>
                </a:solidFill>
                <a:ea typeface="Aptos" pitchFamily="34" charset="-122"/>
                <a:cs typeface="Aptos" pitchFamily="34" charset="-120"/>
              </a:rPr>
              <a:t>Accountable and transparent
</a:t>
            </a:r>
            <a:endParaRPr lang="en-US" sz="1400" dirty="0"/>
          </a:p>
          <a:p>
            <a:pPr>
              <a:lnSpc>
                <a:spcPct val="92000"/>
              </a:lnSpc>
            </a:pPr>
            <a:r>
              <a:rPr lang="en-US" sz="1400" dirty="0">
                <a:solidFill>
                  <a:srgbClr val="1E1E24"/>
                </a:solidFill>
                <a:ea typeface="Aptos" pitchFamily="34" charset="-122"/>
                <a:cs typeface="Aptos" pitchFamily="34" charset="-120"/>
              </a:rPr>
              <a:t>Explainable and interpretable
</a:t>
            </a:r>
            <a:endParaRPr lang="en-US" sz="1400" dirty="0"/>
          </a:p>
          <a:p>
            <a:pPr>
              <a:lnSpc>
                <a:spcPct val="92000"/>
              </a:lnSpc>
            </a:pPr>
            <a:r>
              <a:rPr lang="en-US" sz="1400" dirty="0">
                <a:solidFill>
                  <a:srgbClr val="1E1E24"/>
                </a:solidFill>
                <a:ea typeface="Aptos" pitchFamily="34" charset="-122"/>
                <a:cs typeface="Aptos" pitchFamily="34" charset="-120"/>
              </a:rPr>
              <a:t>Privacy-enhanced
</a:t>
            </a:r>
            <a:endParaRPr lang="en-US" sz="1400" dirty="0"/>
          </a:p>
          <a:p>
            <a:pPr>
              <a:lnSpc>
                <a:spcPct val="92000"/>
              </a:lnSpc>
            </a:pPr>
            <a:r>
              <a:rPr lang="en-US" sz="1400" dirty="0">
                <a:solidFill>
                  <a:srgbClr val="1E1E24"/>
                </a:solidFill>
                <a:ea typeface="Aptos" pitchFamily="34" charset="-122"/>
                <a:cs typeface="Aptos" pitchFamily="34" charset="-120"/>
              </a:rPr>
              <a:t>Fair, with harmful bias managed</a:t>
            </a:r>
            <a:endParaRPr lang="en-US" sz="1400" dirty="0"/>
          </a:p>
        </p:txBody>
      </p:sp>
      <p:sp>
        <p:nvSpPr>
          <p:cNvPr id="14" name="Shape 12"/>
          <p:cNvSpPr/>
          <p:nvPr/>
        </p:nvSpPr>
        <p:spPr>
          <a:xfrm>
            <a:off x="5989320" y="1234440"/>
            <a:ext cx="5440680" cy="1645920"/>
          </a:xfrm>
          <a:prstGeom prst="roundRect">
            <a:avLst>
              <a:gd name="adj" fmla="val 5000"/>
            </a:avLst>
          </a:prstGeom>
          <a:solidFill>
            <a:srgbClr val="F4EBD0"/>
          </a:solidFill>
          <a:ln w="12700">
            <a:solidFill>
              <a:srgbClr val="F4EBD0"/>
            </a:solidFill>
            <a:prstDash val="solid"/>
          </a:ln>
          <a:effectLst>
            <a:outerShdw blurRad="12700" dist="50800" dir="2700000" algn="bl" rotWithShape="0">
              <a:srgbClr val="000000">
                <a:alpha val="12000"/>
              </a:srgbClr>
            </a:outerShdw>
          </a:effectLst>
        </p:spPr>
        <p:txBody>
          <a:bodyPr/>
          <a:lstStyle/>
          <a:p>
            <a:endParaRPr/>
          </a:p>
        </p:txBody>
      </p:sp>
      <p:sp>
        <p:nvSpPr>
          <p:cNvPr id="15" name="Text 13"/>
          <p:cNvSpPr/>
          <p:nvPr/>
        </p:nvSpPr>
        <p:spPr>
          <a:xfrm>
            <a:off x="6153912" y="1362456"/>
            <a:ext cx="5111496" cy="301752"/>
          </a:xfrm>
          <a:prstGeom prst="rect">
            <a:avLst/>
          </a:prstGeom>
          <a:noFill/>
          <a:ln/>
        </p:spPr>
        <p:txBody>
          <a:bodyPr wrap="square" lIns="762" tIns="762" rIns="762" bIns="762" rtlCol="0" anchor="t">
            <a:normAutofit/>
          </a:bodyPr>
          <a:lstStyle/>
          <a:p>
            <a:pPr marL="0" indent="0" algn="l">
              <a:lnSpc>
                <a:spcPct val="95000"/>
              </a:lnSpc>
              <a:buNone/>
            </a:pPr>
            <a:r>
              <a:rPr lang="en-US" sz="1400" b="1" dirty="0">
                <a:solidFill>
                  <a:srgbClr val="1E1E24"/>
                </a:solidFill>
                <a:ea typeface="Aptos" pitchFamily="34" charset="-122"/>
                <a:cs typeface="Aptos" pitchFamily="34" charset="-120"/>
              </a:rPr>
              <a:t>RMF functions</a:t>
            </a:r>
            <a:endParaRPr lang="en-US" sz="1400" dirty="0"/>
          </a:p>
        </p:txBody>
      </p:sp>
      <p:sp>
        <p:nvSpPr>
          <p:cNvPr id="16" name="Text 14"/>
          <p:cNvSpPr/>
          <p:nvPr/>
        </p:nvSpPr>
        <p:spPr>
          <a:xfrm>
            <a:off x="6153912" y="1709928"/>
            <a:ext cx="5111496" cy="1078992"/>
          </a:xfrm>
          <a:prstGeom prst="rect">
            <a:avLst/>
          </a:prstGeom>
          <a:noFill/>
          <a:ln/>
        </p:spPr>
        <p:txBody>
          <a:bodyPr wrap="square" lIns="762" tIns="762" rIns="762" bIns="762" rtlCol="0" anchor="t">
            <a:normAutofit/>
          </a:bodyPr>
          <a:lstStyle/>
          <a:p>
            <a:pPr marL="0" indent="0" algn="l">
              <a:lnSpc>
                <a:spcPct val="95000"/>
              </a:lnSpc>
              <a:buNone/>
            </a:pPr>
            <a:r>
              <a:rPr lang="en-US" sz="1400" dirty="0">
                <a:solidFill>
                  <a:srgbClr val="1E1E24"/>
                </a:solidFill>
                <a:ea typeface="Aptos" pitchFamily="34" charset="-122"/>
                <a:cs typeface="Aptos" pitchFamily="34" charset="-120"/>
              </a:rPr>
              <a:t>NIST organizes AI risk management around four core functions: Govern, Map, Measure, and Manage. This is useful because it translates ethics into an iterative workflow.</a:t>
            </a:r>
            <a:endParaRPr lang="en-US" sz="1400" dirty="0"/>
          </a:p>
        </p:txBody>
      </p:sp>
      <p:sp>
        <p:nvSpPr>
          <p:cNvPr id="17" name="Shape 15"/>
          <p:cNvSpPr/>
          <p:nvPr/>
        </p:nvSpPr>
        <p:spPr>
          <a:xfrm>
            <a:off x="6172200" y="3730752"/>
            <a:ext cx="1051560" cy="502920"/>
          </a:xfrm>
          <a:prstGeom prst="roundRect">
            <a:avLst>
              <a:gd name="adj" fmla="val 14545"/>
            </a:avLst>
          </a:prstGeom>
          <a:solidFill>
            <a:srgbClr val="4B2E83"/>
          </a:solidFill>
          <a:ln w="12700">
            <a:solidFill>
              <a:srgbClr val="4B2E83"/>
            </a:solidFill>
            <a:prstDash val="solid"/>
          </a:ln>
        </p:spPr>
        <p:txBody>
          <a:bodyPr/>
          <a:lstStyle/>
          <a:p>
            <a:endParaRPr sz="1400"/>
          </a:p>
        </p:txBody>
      </p:sp>
      <p:sp>
        <p:nvSpPr>
          <p:cNvPr id="18" name="Text 16"/>
          <p:cNvSpPr/>
          <p:nvPr/>
        </p:nvSpPr>
        <p:spPr>
          <a:xfrm>
            <a:off x="6217920" y="3895344"/>
            <a:ext cx="960120" cy="128016"/>
          </a:xfrm>
          <a:prstGeom prst="rect">
            <a:avLst/>
          </a:prstGeom>
          <a:noFill/>
          <a:ln/>
        </p:spPr>
        <p:txBody>
          <a:bodyPr wrap="square" lIns="762" tIns="762" rIns="762" bIns="762" rtlCol="0" anchor="t">
            <a:noAutofit/>
          </a:bodyPr>
          <a:lstStyle/>
          <a:p>
            <a:pPr marL="0" indent="0" algn="ctr">
              <a:lnSpc>
                <a:spcPct val="95000"/>
              </a:lnSpc>
              <a:buNone/>
            </a:pPr>
            <a:r>
              <a:rPr lang="en-US" sz="1400" b="1" dirty="0">
                <a:solidFill>
                  <a:srgbClr val="FFFFFF"/>
                </a:solidFill>
                <a:ea typeface="Aptos" pitchFamily="34" charset="-122"/>
                <a:cs typeface="Aptos" pitchFamily="34" charset="-120"/>
              </a:rPr>
              <a:t>Govern</a:t>
            </a:r>
            <a:endParaRPr lang="en-US" sz="1400" dirty="0"/>
          </a:p>
        </p:txBody>
      </p:sp>
      <p:sp>
        <p:nvSpPr>
          <p:cNvPr id="19" name="Shape 17"/>
          <p:cNvSpPr/>
          <p:nvPr/>
        </p:nvSpPr>
        <p:spPr>
          <a:xfrm>
            <a:off x="7251192" y="3986784"/>
            <a:ext cx="164592" cy="0"/>
          </a:xfrm>
          <a:prstGeom prst="line">
            <a:avLst/>
          </a:prstGeom>
          <a:noFill/>
          <a:ln w="13970">
            <a:solidFill>
              <a:srgbClr val="B7A57A"/>
            </a:solidFill>
            <a:prstDash val="solid"/>
            <a:headEnd type="none"/>
            <a:tailEnd type="triangle"/>
          </a:ln>
        </p:spPr>
        <p:txBody>
          <a:bodyPr/>
          <a:lstStyle/>
          <a:p>
            <a:endParaRPr sz="1400"/>
          </a:p>
        </p:txBody>
      </p:sp>
      <p:sp>
        <p:nvSpPr>
          <p:cNvPr id="20" name="Shape 18"/>
          <p:cNvSpPr/>
          <p:nvPr/>
        </p:nvSpPr>
        <p:spPr>
          <a:xfrm>
            <a:off x="7470648" y="3730752"/>
            <a:ext cx="1051560" cy="502920"/>
          </a:xfrm>
          <a:prstGeom prst="roundRect">
            <a:avLst>
              <a:gd name="adj" fmla="val 14545"/>
            </a:avLst>
          </a:prstGeom>
          <a:solidFill>
            <a:srgbClr val="2D7A7B"/>
          </a:solidFill>
          <a:ln w="12700">
            <a:solidFill>
              <a:srgbClr val="2D7A7B"/>
            </a:solidFill>
            <a:prstDash val="solid"/>
          </a:ln>
        </p:spPr>
        <p:txBody>
          <a:bodyPr/>
          <a:lstStyle/>
          <a:p>
            <a:endParaRPr sz="1400"/>
          </a:p>
        </p:txBody>
      </p:sp>
      <p:sp>
        <p:nvSpPr>
          <p:cNvPr id="21" name="Text 19"/>
          <p:cNvSpPr/>
          <p:nvPr/>
        </p:nvSpPr>
        <p:spPr>
          <a:xfrm>
            <a:off x="7516368" y="3895344"/>
            <a:ext cx="960120" cy="128016"/>
          </a:xfrm>
          <a:prstGeom prst="rect">
            <a:avLst/>
          </a:prstGeom>
          <a:noFill/>
          <a:ln/>
        </p:spPr>
        <p:txBody>
          <a:bodyPr wrap="square" lIns="762" tIns="762" rIns="762" bIns="762" rtlCol="0" anchor="t">
            <a:noAutofit/>
          </a:bodyPr>
          <a:lstStyle/>
          <a:p>
            <a:pPr marL="0" indent="0" algn="ctr">
              <a:lnSpc>
                <a:spcPct val="95000"/>
              </a:lnSpc>
              <a:buNone/>
            </a:pPr>
            <a:r>
              <a:rPr lang="en-US" sz="1400" b="1" dirty="0">
                <a:solidFill>
                  <a:srgbClr val="FFFFFF"/>
                </a:solidFill>
                <a:ea typeface="Aptos" pitchFamily="34" charset="-122"/>
                <a:cs typeface="Aptos" pitchFamily="34" charset="-120"/>
              </a:rPr>
              <a:t>Map</a:t>
            </a:r>
            <a:endParaRPr lang="en-US" sz="1400" dirty="0"/>
          </a:p>
        </p:txBody>
      </p:sp>
      <p:sp>
        <p:nvSpPr>
          <p:cNvPr id="22" name="Shape 20"/>
          <p:cNvSpPr/>
          <p:nvPr/>
        </p:nvSpPr>
        <p:spPr>
          <a:xfrm>
            <a:off x="8549640" y="3986784"/>
            <a:ext cx="164592" cy="0"/>
          </a:xfrm>
          <a:prstGeom prst="line">
            <a:avLst/>
          </a:prstGeom>
          <a:noFill/>
          <a:ln w="13970">
            <a:solidFill>
              <a:srgbClr val="B7A57A"/>
            </a:solidFill>
            <a:prstDash val="solid"/>
            <a:headEnd type="none"/>
            <a:tailEnd type="triangle"/>
          </a:ln>
        </p:spPr>
        <p:txBody>
          <a:bodyPr/>
          <a:lstStyle/>
          <a:p>
            <a:endParaRPr sz="1400"/>
          </a:p>
        </p:txBody>
      </p:sp>
      <p:sp>
        <p:nvSpPr>
          <p:cNvPr id="23" name="Shape 21"/>
          <p:cNvSpPr/>
          <p:nvPr/>
        </p:nvSpPr>
        <p:spPr>
          <a:xfrm>
            <a:off x="8769096" y="3730752"/>
            <a:ext cx="1051560" cy="502920"/>
          </a:xfrm>
          <a:prstGeom prst="roundRect">
            <a:avLst>
              <a:gd name="adj" fmla="val 14545"/>
            </a:avLst>
          </a:prstGeom>
          <a:solidFill>
            <a:srgbClr val="C77D2C"/>
          </a:solidFill>
          <a:ln w="12700">
            <a:solidFill>
              <a:srgbClr val="C77D2C"/>
            </a:solidFill>
            <a:prstDash val="solid"/>
          </a:ln>
        </p:spPr>
        <p:txBody>
          <a:bodyPr/>
          <a:lstStyle/>
          <a:p>
            <a:endParaRPr sz="1400"/>
          </a:p>
        </p:txBody>
      </p:sp>
      <p:sp>
        <p:nvSpPr>
          <p:cNvPr id="24" name="Text 22"/>
          <p:cNvSpPr/>
          <p:nvPr/>
        </p:nvSpPr>
        <p:spPr>
          <a:xfrm>
            <a:off x="8814816" y="3895344"/>
            <a:ext cx="960120" cy="128016"/>
          </a:xfrm>
          <a:prstGeom prst="rect">
            <a:avLst/>
          </a:prstGeom>
          <a:noFill/>
          <a:ln/>
        </p:spPr>
        <p:txBody>
          <a:bodyPr wrap="square" lIns="762" tIns="762" rIns="762" bIns="762" rtlCol="0" anchor="t">
            <a:noAutofit/>
          </a:bodyPr>
          <a:lstStyle/>
          <a:p>
            <a:pPr marL="0" indent="0" algn="ctr">
              <a:lnSpc>
                <a:spcPct val="95000"/>
              </a:lnSpc>
              <a:buNone/>
            </a:pPr>
            <a:r>
              <a:rPr lang="en-US" sz="1400" b="1" dirty="0">
                <a:solidFill>
                  <a:srgbClr val="FFFFFF"/>
                </a:solidFill>
                <a:ea typeface="Aptos" pitchFamily="34" charset="-122"/>
                <a:cs typeface="Aptos" pitchFamily="34" charset="-120"/>
              </a:rPr>
              <a:t>Measure</a:t>
            </a:r>
            <a:endParaRPr lang="en-US" sz="1400" dirty="0"/>
          </a:p>
        </p:txBody>
      </p:sp>
      <p:sp>
        <p:nvSpPr>
          <p:cNvPr id="25" name="Shape 23"/>
          <p:cNvSpPr/>
          <p:nvPr/>
        </p:nvSpPr>
        <p:spPr>
          <a:xfrm>
            <a:off x="9848088" y="3986784"/>
            <a:ext cx="164592" cy="0"/>
          </a:xfrm>
          <a:prstGeom prst="line">
            <a:avLst/>
          </a:prstGeom>
          <a:noFill/>
          <a:ln w="13970">
            <a:solidFill>
              <a:srgbClr val="B7A57A"/>
            </a:solidFill>
            <a:prstDash val="solid"/>
            <a:headEnd type="none"/>
            <a:tailEnd type="triangle"/>
          </a:ln>
        </p:spPr>
        <p:txBody>
          <a:bodyPr/>
          <a:lstStyle/>
          <a:p>
            <a:endParaRPr sz="1400"/>
          </a:p>
        </p:txBody>
      </p:sp>
      <p:sp>
        <p:nvSpPr>
          <p:cNvPr id="26" name="Shape 24"/>
          <p:cNvSpPr/>
          <p:nvPr/>
        </p:nvSpPr>
        <p:spPr>
          <a:xfrm>
            <a:off x="10067544" y="3730752"/>
            <a:ext cx="1051560" cy="502920"/>
          </a:xfrm>
          <a:prstGeom prst="roundRect">
            <a:avLst>
              <a:gd name="adj" fmla="val 14545"/>
            </a:avLst>
          </a:prstGeom>
          <a:solidFill>
            <a:srgbClr val="4A7C59"/>
          </a:solidFill>
          <a:ln w="12700">
            <a:solidFill>
              <a:srgbClr val="4A7C59"/>
            </a:solidFill>
            <a:prstDash val="solid"/>
          </a:ln>
        </p:spPr>
        <p:txBody>
          <a:bodyPr/>
          <a:lstStyle/>
          <a:p>
            <a:endParaRPr sz="1400"/>
          </a:p>
        </p:txBody>
      </p:sp>
      <p:sp>
        <p:nvSpPr>
          <p:cNvPr id="27" name="Text 25"/>
          <p:cNvSpPr/>
          <p:nvPr/>
        </p:nvSpPr>
        <p:spPr>
          <a:xfrm>
            <a:off x="10113264" y="3895344"/>
            <a:ext cx="960120" cy="128016"/>
          </a:xfrm>
          <a:prstGeom prst="rect">
            <a:avLst/>
          </a:prstGeom>
          <a:noFill/>
          <a:ln/>
        </p:spPr>
        <p:txBody>
          <a:bodyPr wrap="square" lIns="762" tIns="762" rIns="762" bIns="762" rtlCol="0" anchor="t">
            <a:noAutofit/>
          </a:bodyPr>
          <a:lstStyle/>
          <a:p>
            <a:pPr marL="0" indent="0" algn="ctr">
              <a:lnSpc>
                <a:spcPct val="95000"/>
              </a:lnSpc>
              <a:buNone/>
            </a:pPr>
            <a:r>
              <a:rPr lang="en-US" sz="1400" b="1" dirty="0">
                <a:solidFill>
                  <a:srgbClr val="FFFFFF"/>
                </a:solidFill>
                <a:ea typeface="Aptos" pitchFamily="34" charset="-122"/>
                <a:cs typeface="Aptos" pitchFamily="34" charset="-120"/>
              </a:rPr>
              <a:t>Manage</a:t>
            </a:r>
            <a:endParaRPr lang="en-US" sz="1400" dirty="0"/>
          </a:p>
        </p:txBody>
      </p:sp>
      <p:sp>
        <p:nvSpPr>
          <p:cNvPr id="28" name="Text 26">
            <a:hlinkClick r:id="rId3"/>
          </p:cNvPr>
          <p:cNvSpPr/>
          <p:nvPr/>
        </p:nvSpPr>
        <p:spPr>
          <a:xfrm>
            <a:off x="502920" y="6236208"/>
            <a:ext cx="10789920" cy="201168"/>
          </a:xfrm>
          <a:prstGeom prst="rect">
            <a:avLst/>
          </a:prstGeom>
          <a:noFill/>
          <a:ln/>
        </p:spPr>
        <p:txBody>
          <a:bodyPr wrap="square" lIns="0" tIns="0" rIns="0" bIns="0" rtlCol="0" anchor="ctr"/>
          <a:lstStyle/>
          <a:p>
            <a:pPr marL="0" indent="0">
              <a:buNone/>
            </a:pPr>
            <a:r>
              <a:rPr lang="en-US" sz="1400" u="sng" dirty="0">
                <a:solidFill>
                  <a:srgbClr val="5B5B66"/>
                </a:solidFill>
                <a:ea typeface="Aptos" pitchFamily="34" charset="-122"/>
                <a:cs typeface="Aptos" pitchFamily="34" charset="-120"/>
                <a:hlinkClick r:id="rId3">
                  <a:extLst>
                    <a:ext uri="{A12FA001-AC4F-418D-AE19-62706E023703}">
                      <ahyp:hlinkClr xmlns:ahyp="http://schemas.microsoft.com/office/drawing/2018/hyperlinkcolor" val="tx"/>
                    </a:ext>
                  </a:extLst>
                </a:hlinkClick>
              </a:rPr>
              <a:t>Source: NIST AI Risk Management Framework; NIST AI Risk &amp; Trustworthiness</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UNESCO and OECD principles</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180" dirty="0">
                <a:solidFill>
                  <a:srgbClr val="5B5B66"/>
                </a:solidFill>
                <a:ea typeface="Aptos" pitchFamily="34" charset="-122"/>
                <a:cs typeface="Aptos" pitchFamily="34" charset="-120"/>
              </a:rPr>
              <a:t>Human-centered, rights-based, accountable AI</a:t>
            </a:r>
            <a:endParaRPr lang="en-US" sz="1180" dirty="0"/>
          </a:p>
        </p:txBody>
      </p:sp>
      <p:sp>
        <p:nvSpPr>
          <p:cNvPr id="11" name="Shape 9"/>
          <p:cNvSpPr/>
          <p:nvPr/>
        </p:nvSpPr>
        <p:spPr>
          <a:xfrm>
            <a:off x="685800" y="1234440"/>
            <a:ext cx="5257800" cy="1371600"/>
          </a:xfrm>
          <a:prstGeom prst="roundRect">
            <a:avLst>
              <a:gd name="adj" fmla="val 6000"/>
            </a:avLst>
          </a:prstGeom>
          <a:solidFill>
            <a:srgbClr val="F4EBD0"/>
          </a:solidFill>
          <a:ln w="12700">
            <a:solidFill>
              <a:srgbClr val="F4EBD0"/>
            </a:solidFill>
            <a:prstDash val="solid"/>
          </a:ln>
          <a:effectLst>
            <a:outerShdw blurRad="12700" dist="50800" dir="2700000" algn="bl" rotWithShape="0">
              <a:srgbClr val="000000">
                <a:alpha val="12000"/>
              </a:srgbClr>
            </a:outerShdw>
          </a:effectLst>
        </p:spPr>
        <p:txBody>
          <a:bodyPr/>
          <a:lstStyle/>
          <a:p>
            <a:endParaRPr/>
          </a:p>
        </p:txBody>
      </p:sp>
      <p:sp>
        <p:nvSpPr>
          <p:cNvPr id="12" name="Text 10"/>
          <p:cNvSpPr/>
          <p:nvPr/>
        </p:nvSpPr>
        <p:spPr>
          <a:xfrm>
            <a:off x="850392" y="1362456"/>
            <a:ext cx="4928616" cy="301752"/>
          </a:xfrm>
          <a:prstGeom prst="rect">
            <a:avLst/>
          </a:prstGeom>
          <a:noFill/>
          <a:ln/>
        </p:spPr>
        <p:txBody>
          <a:bodyPr wrap="square" lIns="762" tIns="762" rIns="762" bIns="762" rtlCol="0" anchor="t">
            <a:normAutofit/>
          </a:bodyPr>
          <a:lstStyle/>
          <a:p>
            <a:pPr marL="0" indent="0" algn="l">
              <a:lnSpc>
                <a:spcPct val="95000"/>
              </a:lnSpc>
              <a:buNone/>
            </a:pPr>
            <a:r>
              <a:rPr lang="en-US" sz="1500" b="1" dirty="0">
                <a:solidFill>
                  <a:srgbClr val="1E1E24"/>
                </a:solidFill>
                <a:ea typeface="Aptos" pitchFamily="34" charset="-122"/>
                <a:cs typeface="Aptos" pitchFamily="34" charset="-120"/>
              </a:rPr>
              <a:t>UNESCO ethics of AI</a:t>
            </a:r>
            <a:endParaRPr lang="en-US" sz="1500" dirty="0"/>
          </a:p>
        </p:txBody>
      </p:sp>
      <p:sp>
        <p:nvSpPr>
          <p:cNvPr id="13" name="Text 11"/>
          <p:cNvSpPr/>
          <p:nvPr/>
        </p:nvSpPr>
        <p:spPr>
          <a:xfrm>
            <a:off x="850392" y="1709928"/>
            <a:ext cx="4928616" cy="804672"/>
          </a:xfrm>
          <a:prstGeom prst="rect">
            <a:avLst/>
          </a:prstGeom>
          <a:noFill/>
          <a:ln/>
        </p:spPr>
        <p:txBody>
          <a:bodyPr wrap="square" lIns="762" tIns="762" rIns="762" bIns="762" rtlCol="0" anchor="t">
            <a:normAutofit/>
          </a:bodyPr>
          <a:lstStyle/>
          <a:p>
            <a:pPr marL="0" indent="0" algn="l">
              <a:lnSpc>
                <a:spcPct val="95000"/>
              </a:lnSpc>
              <a:buNone/>
            </a:pPr>
            <a:r>
              <a:rPr lang="en-US" sz="1260" dirty="0">
                <a:solidFill>
                  <a:srgbClr val="1E1E24"/>
                </a:solidFill>
                <a:ea typeface="Aptos" pitchFamily="34" charset="-122"/>
                <a:cs typeface="Aptos" pitchFamily="34" charset="-120"/>
              </a:rPr>
              <a:t>UNESCO emphasizes human rights and dignity, transparency, fairness, and human oversight as core foundations for ethical AI.</a:t>
            </a:r>
            <a:endParaRPr lang="en-US" sz="1260" dirty="0"/>
          </a:p>
        </p:txBody>
      </p:sp>
      <p:sp>
        <p:nvSpPr>
          <p:cNvPr id="14" name="Shape 12"/>
          <p:cNvSpPr/>
          <p:nvPr/>
        </p:nvSpPr>
        <p:spPr>
          <a:xfrm>
            <a:off x="6336792" y="1234440"/>
            <a:ext cx="5074920" cy="1371600"/>
          </a:xfrm>
          <a:prstGeom prst="roundRect">
            <a:avLst>
              <a:gd name="adj" fmla="val 6000"/>
            </a:avLst>
          </a:prstGeom>
          <a:solidFill>
            <a:srgbClr val="E7F2F2"/>
          </a:solidFill>
          <a:ln w="12700">
            <a:solidFill>
              <a:srgbClr val="E7F2F2"/>
            </a:solidFill>
            <a:prstDash val="solid"/>
          </a:ln>
          <a:effectLst>
            <a:outerShdw blurRad="12700" dist="50800" dir="2700000" algn="bl" rotWithShape="0">
              <a:srgbClr val="000000">
                <a:alpha val="12000"/>
              </a:srgbClr>
            </a:outerShdw>
          </a:effectLst>
        </p:spPr>
        <p:txBody>
          <a:bodyPr/>
          <a:lstStyle/>
          <a:p>
            <a:endParaRPr/>
          </a:p>
        </p:txBody>
      </p:sp>
      <p:sp>
        <p:nvSpPr>
          <p:cNvPr id="15" name="Text 13"/>
          <p:cNvSpPr/>
          <p:nvPr/>
        </p:nvSpPr>
        <p:spPr>
          <a:xfrm>
            <a:off x="6501384" y="1362456"/>
            <a:ext cx="4745736" cy="301752"/>
          </a:xfrm>
          <a:prstGeom prst="rect">
            <a:avLst/>
          </a:prstGeom>
          <a:noFill/>
          <a:ln/>
        </p:spPr>
        <p:txBody>
          <a:bodyPr wrap="square" lIns="762" tIns="762" rIns="762" bIns="762" rtlCol="0" anchor="t">
            <a:normAutofit/>
          </a:bodyPr>
          <a:lstStyle/>
          <a:p>
            <a:pPr marL="0" indent="0" algn="l">
              <a:lnSpc>
                <a:spcPct val="95000"/>
              </a:lnSpc>
              <a:buNone/>
            </a:pPr>
            <a:r>
              <a:rPr lang="en-US" sz="1500" b="1" dirty="0">
                <a:solidFill>
                  <a:srgbClr val="2D7A7B"/>
                </a:solidFill>
                <a:ea typeface="Aptos" pitchFamily="34" charset="-122"/>
                <a:cs typeface="Aptos" pitchFamily="34" charset="-120"/>
              </a:rPr>
              <a:t>OECD AI principles</a:t>
            </a:r>
            <a:endParaRPr lang="en-US" sz="1500" dirty="0"/>
          </a:p>
        </p:txBody>
      </p:sp>
      <p:sp>
        <p:nvSpPr>
          <p:cNvPr id="16" name="Text 14"/>
          <p:cNvSpPr/>
          <p:nvPr/>
        </p:nvSpPr>
        <p:spPr>
          <a:xfrm>
            <a:off x="6501384" y="1709928"/>
            <a:ext cx="4745736" cy="804672"/>
          </a:xfrm>
          <a:prstGeom prst="rect">
            <a:avLst/>
          </a:prstGeom>
          <a:noFill/>
          <a:ln/>
        </p:spPr>
        <p:txBody>
          <a:bodyPr wrap="square" lIns="762" tIns="762" rIns="762" bIns="762" rtlCol="0" anchor="t">
            <a:normAutofit/>
          </a:bodyPr>
          <a:lstStyle/>
          <a:p>
            <a:pPr marL="0" indent="0" algn="l">
              <a:lnSpc>
                <a:spcPct val="95000"/>
              </a:lnSpc>
              <a:buNone/>
            </a:pPr>
            <a:r>
              <a:rPr lang="en-US" sz="1260" dirty="0">
                <a:solidFill>
                  <a:srgbClr val="1E1E24"/>
                </a:solidFill>
                <a:ea typeface="Aptos" pitchFamily="34" charset="-122"/>
                <a:cs typeface="Aptos" pitchFamily="34" charset="-120"/>
              </a:rPr>
              <a:t>OECD principles emphasize inclusive growth, human-centered values, transparency and explainability, robustness and safety, and accountability.</a:t>
            </a:r>
            <a:endParaRPr lang="en-US" sz="1260" dirty="0"/>
          </a:p>
        </p:txBody>
      </p:sp>
      <p:sp>
        <p:nvSpPr>
          <p:cNvPr id="17" name="Shape 15"/>
          <p:cNvSpPr/>
          <p:nvPr/>
        </p:nvSpPr>
        <p:spPr>
          <a:xfrm>
            <a:off x="1170432" y="3246120"/>
            <a:ext cx="9829800" cy="1691640"/>
          </a:xfrm>
          <a:prstGeom prst="roundRect">
            <a:avLst>
              <a:gd name="adj" fmla="val 4865"/>
            </a:avLst>
          </a:prstGeom>
          <a:solidFill>
            <a:schemeClr val="accent4">
              <a:lumMod val="20000"/>
              <a:lumOff val="80000"/>
            </a:schemeClr>
          </a:solidFill>
          <a:ln w="12700">
            <a:solidFill>
              <a:srgbClr val="FFFFFF"/>
            </a:solidFill>
            <a:prstDash val="solid"/>
          </a:ln>
        </p:spPr>
        <p:txBody>
          <a:bodyPr/>
          <a:lstStyle/>
          <a:p>
            <a:endParaRPr/>
          </a:p>
        </p:txBody>
      </p:sp>
      <p:sp>
        <p:nvSpPr>
          <p:cNvPr id="18" name="Text 16"/>
          <p:cNvSpPr/>
          <p:nvPr/>
        </p:nvSpPr>
        <p:spPr>
          <a:xfrm>
            <a:off x="1335024" y="3374136"/>
            <a:ext cx="9500616" cy="301752"/>
          </a:xfrm>
          <a:prstGeom prst="rect">
            <a:avLst/>
          </a:prstGeom>
          <a:noFill/>
          <a:ln/>
        </p:spPr>
        <p:txBody>
          <a:bodyPr wrap="square" lIns="762" tIns="762" rIns="762" bIns="762" rtlCol="0" anchor="t">
            <a:normAutofit/>
          </a:bodyPr>
          <a:lstStyle/>
          <a:p>
            <a:pPr marL="0" indent="0" algn="l">
              <a:lnSpc>
                <a:spcPct val="95000"/>
              </a:lnSpc>
              <a:buNone/>
            </a:pPr>
            <a:r>
              <a:rPr lang="en-US" sz="1350" b="1" dirty="0">
                <a:solidFill>
                  <a:srgbClr val="4B2E83"/>
                </a:solidFill>
                <a:ea typeface="Aptos" pitchFamily="34" charset="-122"/>
                <a:cs typeface="Aptos" pitchFamily="34" charset="-120"/>
              </a:rPr>
              <a:t>Architecture translation</a:t>
            </a:r>
            <a:endParaRPr lang="en-US" sz="1350" dirty="0"/>
          </a:p>
        </p:txBody>
      </p:sp>
      <p:sp>
        <p:nvSpPr>
          <p:cNvPr id="19" name="Text 17"/>
          <p:cNvSpPr/>
          <p:nvPr/>
        </p:nvSpPr>
        <p:spPr>
          <a:xfrm>
            <a:off x="1335024" y="3721608"/>
            <a:ext cx="9500616" cy="1124712"/>
          </a:xfrm>
          <a:prstGeom prst="rect">
            <a:avLst/>
          </a:prstGeom>
          <a:noFill/>
          <a:ln/>
        </p:spPr>
        <p:txBody>
          <a:bodyPr wrap="square" lIns="762" tIns="762" rIns="762" bIns="762" rtlCol="0" anchor="t">
            <a:normAutofit lnSpcReduction="10000"/>
          </a:bodyPr>
          <a:lstStyle/>
          <a:p>
            <a:pPr>
              <a:lnSpc>
                <a:spcPct val="92000"/>
              </a:lnSpc>
            </a:pPr>
            <a:r>
              <a:rPr lang="en-US" sz="1160" dirty="0">
                <a:solidFill>
                  <a:srgbClr val="1E1E24"/>
                </a:solidFill>
                <a:ea typeface="Aptos" pitchFamily="34" charset="-122"/>
                <a:cs typeface="Aptos" pitchFamily="34" charset="-120"/>
              </a:rPr>
              <a:t>Human oversight: AI should support, not erase, designer and community agency.
</a:t>
            </a:r>
            <a:endParaRPr lang="en-US" sz="1160" dirty="0"/>
          </a:p>
          <a:p>
            <a:pPr>
              <a:lnSpc>
                <a:spcPct val="92000"/>
              </a:lnSpc>
            </a:pPr>
            <a:r>
              <a:rPr lang="en-US" sz="1160" dirty="0">
                <a:solidFill>
                  <a:srgbClr val="1E1E24"/>
                </a:solidFill>
                <a:ea typeface="Aptos" pitchFamily="34" charset="-122"/>
                <a:cs typeface="Aptos" pitchFamily="34" charset="-120"/>
              </a:rPr>
              <a:t>Transparency: disclose AI use, data sources, and limitations.
</a:t>
            </a:r>
            <a:endParaRPr lang="en-US" sz="1160" dirty="0"/>
          </a:p>
          <a:p>
            <a:pPr>
              <a:lnSpc>
                <a:spcPct val="92000"/>
              </a:lnSpc>
            </a:pPr>
            <a:r>
              <a:rPr lang="en-US" sz="1160" dirty="0">
                <a:solidFill>
                  <a:srgbClr val="1E1E24"/>
                </a:solidFill>
                <a:ea typeface="Aptos" pitchFamily="34" charset="-122"/>
                <a:cs typeface="Aptos" pitchFamily="34" charset="-120"/>
              </a:rPr>
              <a:t>Fairness: identify who is missing or disadvantaged.
</a:t>
            </a:r>
            <a:endParaRPr lang="en-US" sz="1160" dirty="0"/>
          </a:p>
          <a:p>
            <a:pPr>
              <a:lnSpc>
                <a:spcPct val="92000"/>
              </a:lnSpc>
            </a:pPr>
            <a:r>
              <a:rPr lang="en-US" sz="1160" dirty="0">
                <a:solidFill>
                  <a:srgbClr val="1E1E24"/>
                </a:solidFill>
                <a:ea typeface="Aptos" pitchFamily="34" charset="-122"/>
                <a:cs typeface="Aptos" pitchFamily="34" charset="-120"/>
              </a:rPr>
              <a:t>Accountability: assign responsibility for claims and decisions.</a:t>
            </a:r>
            <a:endParaRPr lang="en-US" sz="1160" dirty="0"/>
          </a:p>
        </p:txBody>
      </p:sp>
      <p:sp>
        <p:nvSpPr>
          <p:cNvPr id="20" name="Text 18">
            <a:hlinkClick r:id="rId3"/>
          </p:cNvPr>
          <p:cNvSpPr/>
          <p:nvPr/>
        </p:nvSpPr>
        <p:spPr>
          <a:xfrm>
            <a:off x="502920" y="6236208"/>
            <a:ext cx="10789920" cy="201168"/>
          </a:xfrm>
          <a:prstGeom prst="rect">
            <a:avLst/>
          </a:prstGeom>
          <a:noFill/>
          <a:ln/>
        </p:spPr>
        <p:txBody>
          <a:bodyPr wrap="square" lIns="0" tIns="0" rIns="0" bIns="0" rtlCol="0" anchor="ctr"/>
          <a:lstStyle/>
          <a:p>
            <a:pPr marL="0" indent="0">
              <a:buNone/>
            </a:pPr>
            <a:r>
              <a:rPr lang="en-US" sz="1400" u="sng" dirty="0">
                <a:solidFill>
                  <a:srgbClr val="5B5B66"/>
                </a:solidFill>
                <a:ea typeface="Aptos" pitchFamily="34" charset="-122"/>
                <a:cs typeface="Aptos" pitchFamily="34" charset="-120"/>
                <a:hlinkClick r:id="rId3">
                  <a:extLst>
                    <a:ext uri="{A12FA001-AC4F-418D-AE19-62706E023703}">
                      <ahyp:hlinkClr xmlns:ahyp="http://schemas.microsoft.com/office/drawing/2018/hyperlinkcolor" val="tx"/>
                    </a:ext>
                  </a:extLst>
                </a:hlinkClick>
              </a:rPr>
              <a:t>Source: UNESCO Recommendation on AI Ethics; OECD AI Principles</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Professional governance in architecture</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180" dirty="0">
                <a:solidFill>
                  <a:srgbClr val="5B5B66"/>
                </a:solidFill>
                <a:ea typeface="Aptos" pitchFamily="34" charset="-122"/>
                <a:cs typeface="Aptos" pitchFamily="34" charset="-120"/>
              </a:rPr>
              <a:t>The profession is beginning to formalize AI responsibility</a:t>
            </a:r>
            <a:endParaRPr lang="en-US" sz="1180" dirty="0"/>
          </a:p>
        </p:txBody>
      </p:sp>
      <p:sp>
        <p:nvSpPr>
          <p:cNvPr id="11" name="Shape 9"/>
          <p:cNvSpPr/>
          <p:nvPr/>
        </p:nvSpPr>
        <p:spPr>
          <a:xfrm>
            <a:off x="777240" y="1234440"/>
            <a:ext cx="4937760" cy="1417320"/>
          </a:xfrm>
          <a:prstGeom prst="roundRect">
            <a:avLst>
              <a:gd name="adj" fmla="val 5806"/>
            </a:avLst>
          </a:prstGeom>
          <a:solidFill>
            <a:schemeClr val="accent4">
              <a:lumMod val="20000"/>
              <a:lumOff val="80000"/>
            </a:schemeClr>
          </a:solidFill>
          <a:ln w="12700">
            <a:solidFill>
              <a:srgbClr val="FFFFFF"/>
            </a:solidFill>
            <a:prstDash val="solid"/>
          </a:ln>
          <a:effectLst>
            <a:outerShdw blurRad="12700" dist="50800" dir="2700000" algn="bl" rotWithShape="0">
              <a:srgbClr val="000000">
                <a:alpha val="12000"/>
              </a:srgbClr>
            </a:outerShdw>
          </a:effectLst>
        </p:spPr>
        <p:txBody>
          <a:bodyPr/>
          <a:lstStyle/>
          <a:p>
            <a:endParaRPr/>
          </a:p>
        </p:txBody>
      </p:sp>
      <p:sp>
        <p:nvSpPr>
          <p:cNvPr id="12" name="Text 10"/>
          <p:cNvSpPr/>
          <p:nvPr/>
        </p:nvSpPr>
        <p:spPr>
          <a:xfrm>
            <a:off x="941832" y="1362456"/>
            <a:ext cx="4608576" cy="301752"/>
          </a:xfrm>
          <a:prstGeom prst="rect">
            <a:avLst/>
          </a:prstGeom>
          <a:noFill/>
          <a:ln/>
        </p:spPr>
        <p:txBody>
          <a:bodyPr wrap="square" lIns="762" tIns="762" rIns="762" bIns="762" rtlCol="0" anchor="t">
            <a:normAutofit/>
          </a:bodyPr>
          <a:lstStyle/>
          <a:p>
            <a:pPr marL="0" indent="0" algn="l">
              <a:lnSpc>
                <a:spcPct val="95000"/>
              </a:lnSpc>
              <a:buNone/>
            </a:pPr>
            <a:r>
              <a:rPr lang="en-US" sz="1600" b="1" dirty="0">
                <a:solidFill>
                  <a:srgbClr val="4B2E83"/>
                </a:solidFill>
                <a:ea typeface="Aptos" pitchFamily="34" charset="-122"/>
                <a:cs typeface="Aptos" pitchFamily="34" charset="-120"/>
              </a:rPr>
              <a:t>AIA</a:t>
            </a:r>
            <a:endParaRPr lang="en-US" sz="1600" dirty="0"/>
          </a:p>
        </p:txBody>
      </p:sp>
      <p:sp>
        <p:nvSpPr>
          <p:cNvPr id="13" name="Text 11"/>
          <p:cNvSpPr/>
          <p:nvPr/>
        </p:nvSpPr>
        <p:spPr>
          <a:xfrm>
            <a:off x="941832" y="1709928"/>
            <a:ext cx="4608576" cy="850392"/>
          </a:xfrm>
          <a:prstGeom prst="rect">
            <a:avLst/>
          </a:prstGeom>
          <a:noFill/>
          <a:ln/>
        </p:spPr>
        <p:txBody>
          <a:bodyPr wrap="square" lIns="762" tIns="762" rIns="762" bIns="762" rtlCol="0" anchor="t">
            <a:normAutofit/>
          </a:bodyPr>
          <a:lstStyle/>
          <a:p>
            <a:pPr marL="0" indent="0" algn="l">
              <a:lnSpc>
                <a:spcPct val="95000"/>
              </a:lnSpc>
              <a:buNone/>
            </a:pPr>
            <a:r>
              <a:rPr lang="en-US" sz="1220" dirty="0">
                <a:solidFill>
                  <a:srgbClr val="1E1E24"/>
                </a:solidFill>
                <a:ea typeface="Aptos" pitchFamily="34" charset="-122"/>
                <a:cs typeface="Aptos" pitchFamily="34" charset="-120"/>
              </a:rPr>
              <a:t>The AIA AI Task Force is developing resources, guidance, and educational programming to support responsible, ethical, and innovative AI adoption in architecture.</a:t>
            </a:r>
            <a:endParaRPr lang="en-US" sz="1220" dirty="0"/>
          </a:p>
        </p:txBody>
      </p:sp>
      <p:sp>
        <p:nvSpPr>
          <p:cNvPr id="14" name="Shape 12"/>
          <p:cNvSpPr/>
          <p:nvPr/>
        </p:nvSpPr>
        <p:spPr>
          <a:xfrm>
            <a:off x="6492240" y="1234440"/>
            <a:ext cx="4937760" cy="1417320"/>
          </a:xfrm>
          <a:prstGeom prst="roundRect">
            <a:avLst>
              <a:gd name="adj" fmla="val 5806"/>
            </a:avLst>
          </a:prstGeom>
          <a:solidFill>
            <a:srgbClr val="F4EBD0"/>
          </a:solidFill>
          <a:ln w="12700">
            <a:solidFill>
              <a:srgbClr val="F4EBD0"/>
            </a:solidFill>
            <a:prstDash val="solid"/>
          </a:ln>
          <a:effectLst>
            <a:outerShdw blurRad="12700" dist="50800" dir="2700000" algn="bl" rotWithShape="0">
              <a:srgbClr val="000000">
                <a:alpha val="12000"/>
              </a:srgbClr>
            </a:outerShdw>
          </a:effectLst>
        </p:spPr>
        <p:txBody>
          <a:bodyPr/>
          <a:lstStyle/>
          <a:p>
            <a:endParaRPr/>
          </a:p>
        </p:txBody>
      </p:sp>
      <p:sp>
        <p:nvSpPr>
          <p:cNvPr id="15" name="Text 13"/>
          <p:cNvSpPr/>
          <p:nvPr/>
        </p:nvSpPr>
        <p:spPr>
          <a:xfrm>
            <a:off x="6656832" y="1362456"/>
            <a:ext cx="4608576" cy="301752"/>
          </a:xfrm>
          <a:prstGeom prst="rect">
            <a:avLst/>
          </a:prstGeom>
          <a:noFill/>
          <a:ln/>
        </p:spPr>
        <p:txBody>
          <a:bodyPr wrap="square" lIns="762" tIns="762" rIns="762" bIns="762" rtlCol="0" anchor="t">
            <a:normAutofit/>
          </a:bodyPr>
          <a:lstStyle/>
          <a:p>
            <a:pPr marL="0" indent="0" algn="l">
              <a:lnSpc>
                <a:spcPct val="95000"/>
              </a:lnSpc>
              <a:buNone/>
            </a:pPr>
            <a:r>
              <a:rPr lang="en-US" sz="1600" b="1" dirty="0">
                <a:solidFill>
                  <a:srgbClr val="1E1E24"/>
                </a:solidFill>
                <a:ea typeface="Aptos" pitchFamily="34" charset="-122"/>
                <a:cs typeface="Aptos" pitchFamily="34" charset="-120"/>
              </a:rPr>
              <a:t>RIBA</a:t>
            </a:r>
            <a:endParaRPr lang="en-US" sz="1600" dirty="0"/>
          </a:p>
        </p:txBody>
      </p:sp>
      <p:sp>
        <p:nvSpPr>
          <p:cNvPr id="16" name="Text 14"/>
          <p:cNvSpPr/>
          <p:nvPr/>
        </p:nvSpPr>
        <p:spPr>
          <a:xfrm>
            <a:off x="6656832" y="1709928"/>
            <a:ext cx="4608576" cy="850392"/>
          </a:xfrm>
          <a:prstGeom prst="rect">
            <a:avLst/>
          </a:prstGeom>
          <a:noFill/>
          <a:ln/>
        </p:spPr>
        <p:txBody>
          <a:bodyPr wrap="square" lIns="762" tIns="762" rIns="762" bIns="762" rtlCol="0" anchor="t">
            <a:normAutofit/>
          </a:bodyPr>
          <a:lstStyle/>
          <a:p>
            <a:pPr marL="0" indent="0" algn="l">
              <a:lnSpc>
                <a:spcPct val="95000"/>
              </a:lnSpc>
              <a:buNone/>
            </a:pPr>
            <a:r>
              <a:rPr lang="en-US" sz="1220" dirty="0">
                <a:solidFill>
                  <a:srgbClr val="1E1E24"/>
                </a:solidFill>
                <a:ea typeface="Aptos" pitchFamily="34" charset="-122"/>
                <a:cs typeface="Aptos" pitchFamily="34" charset="-120"/>
              </a:rPr>
              <a:t>The RIBA AI Report 2025 discusses AI adoption in design and practice management and identifies ethical and practical challenges for architects.</a:t>
            </a:r>
            <a:endParaRPr lang="en-US" sz="1220" dirty="0"/>
          </a:p>
        </p:txBody>
      </p:sp>
      <p:sp>
        <p:nvSpPr>
          <p:cNvPr id="17" name="Shape 15"/>
          <p:cNvSpPr/>
          <p:nvPr/>
        </p:nvSpPr>
        <p:spPr>
          <a:xfrm>
            <a:off x="1051560" y="3291840"/>
            <a:ext cx="10104120" cy="1600200"/>
          </a:xfrm>
          <a:prstGeom prst="roundRect">
            <a:avLst>
              <a:gd name="adj" fmla="val 5143"/>
            </a:avLst>
          </a:prstGeom>
          <a:solidFill>
            <a:srgbClr val="EEE9F7"/>
          </a:solidFill>
          <a:ln w="12700">
            <a:solidFill>
              <a:srgbClr val="EEE9F7"/>
            </a:solidFill>
            <a:prstDash val="solid"/>
          </a:ln>
        </p:spPr>
        <p:txBody>
          <a:bodyPr/>
          <a:lstStyle/>
          <a:p>
            <a:endParaRPr/>
          </a:p>
        </p:txBody>
      </p:sp>
      <p:sp>
        <p:nvSpPr>
          <p:cNvPr id="18" name="Text 16"/>
          <p:cNvSpPr/>
          <p:nvPr/>
        </p:nvSpPr>
        <p:spPr>
          <a:xfrm>
            <a:off x="1216152" y="3419856"/>
            <a:ext cx="9774936" cy="301752"/>
          </a:xfrm>
          <a:prstGeom prst="rect">
            <a:avLst/>
          </a:prstGeom>
          <a:noFill/>
          <a:ln/>
        </p:spPr>
        <p:txBody>
          <a:bodyPr wrap="square" lIns="762" tIns="762" rIns="762" bIns="762" rtlCol="0" anchor="t">
            <a:normAutofit/>
          </a:bodyPr>
          <a:lstStyle/>
          <a:p>
            <a:pPr marL="0" indent="0" algn="l">
              <a:lnSpc>
                <a:spcPct val="95000"/>
              </a:lnSpc>
              <a:buNone/>
            </a:pPr>
            <a:r>
              <a:rPr lang="en-US" sz="1350" b="1" dirty="0">
                <a:solidFill>
                  <a:srgbClr val="4B2E83"/>
                </a:solidFill>
                <a:ea typeface="Aptos" pitchFamily="34" charset="-122"/>
                <a:cs typeface="Aptos" pitchFamily="34" charset="-120"/>
              </a:rPr>
              <a:t>Practice questions</a:t>
            </a:r>
            <a:endParaRPr lang="en-US" sz="1350" dirty="0"/>
          </a:p>
        </p:txBody>
      </p:sp>
      <p:sp>
        <p:nvSpPr>
          <p:cNvPr id="19" name="Text 17"/>
          <p:cNvSpPr/>
          <p:nvPr/>
        </p:nvSpPr>
        <p:spPr>
          <a:xfrm>
            <a:off x="1216152" y="3767328"/>
            <a:ext cx="9774936" cy="1033272"/>
          </a:xfrm>
          <a:prstGeom prst="rect">
            <a:avLst/>
          </a:prstGeom>
          <a:noFill/>
          <a:ln/>
        </p:spPr>
        <p:txBody>
          <a:bodyPr wrap="square" lIns="762" tIns="762" rIns="762" bIns="762" rtlCol="0" anchor="t">
            <a:noAutofit/>
          </a:bodyPr>
          <a:lstStyle/>
          <a:p>
            <a:pPr>
              <a:lnSpc>
                <a:spcPct val="92000"/>
              </a:lnSpc>
            </a:pPr>
            <a:r>
              <a:rPr lang="en-US" sz="1400" dirty="0">
                <a:solidFill>
                  <a:srgbClr val="1E1E24"/>
                </a:solidFill>
                <a:ea typeface="Aptos" pitchFamily="34" charset="-122"/>
                <a:cs typeface="Aptos" pitchFamily="34" charset="-120"/>
              </a:rPr>
              <a:t>What data can a firm safely upload to AI tools?</a:t>
            </a:r>
            <a:endParaRPr lang="en-US" sz="1400" dirty="0"/>
          </a:p>
          <a:p>
            <a:pPr>
              <a:lnSpc>
                <a:spcPct val="92000"/>
              </a:lnSpc>
            </a:pPr>
            <a:r>
              <a:rPr lang="en-US" sz="1400" dirty="0">
                <a:solidFill>
                  <a:srgbClr val="1E1E24"/>
                </a:solidFill>
                <a:ea typeface="Aptos" pitchFamily="34" charset="-122"/>
                <a:cs typeface="Aptos" pitchFamily="34" charset="-120"/>
              </a:rPr>
              <a:t>How should AI-generated images be disclosed to clients?</a:t>
            </a:r>
            <a:endParaRPr lang="en-US" sz="1400" dirty="0"/>
          </a:p>
          <a:p>
            <a:pPr>
              <a:lnSpc>
                <a:spcPct val="92000"/>
              </a:lnSpc>
            </a:pPr>
            <a:r>
              <a:rPr lang="en-US" sz="1400" dirty="0">
                <a:solidFill>
                  <a:srgbClr val="1E1E24"/>
                </a:solidFill>
                <a:ea typeface="Aptos" pitchFamily="34" charset="-122"/>
                <a:cs typeface="Aptos" pitchFamily="34" charset="-120"/>
              </a:rPr>
              <a:t>Who validates AI-generated code, specs, or analysis?</a:t>
            </a:r>
            <a:endParaRPr lang="en-US" sz="1400" dirty="0"/>
          </a:p>
          <a:p>
            <a:pPr>
              <a:lnSpc>
                <a:spcPct val="92000"/>
              </a:lnSpc>
            </a:pPr>
            <a:r>
              <a:rPr lang="en-US" sz="1400" dirty="0">
                <a:solidFill>
                  <a:srgbClr val="1E1E24"/>
                </a:solidFill>
                <a:ea typeface="Aptos" pitchFamily="34" charset="-122"/>
                <a:cs typeface="Aptos" pitchFamily="34" charset="-120"/>
              </a:rPr>
              <a:t>How are staff trained to avoid overreliance?</a:t>
            </a:r>
            <a:endParaRPr lang="en-US" sz="1400" dirty="0"/>
          </a:p>
          <a:p>
            <a:pPr>
              <a:lnSpc>
                <a:spcPct val="92000"/>
              </a:lnSpc>
            </a:pPr>
            <a:r>
              <a:rPr lang="en-US" sz="1400" dirty="0">
                <a:solidFill>
                  <a:srgbClr val="1E1E24"/>
                </a:solidFill>
                <a:ea typeface="Aptos" pitchFamily="34" charset="-122"/>
                <a:cs typeface="Aptos" pitchFamily="34" charset="-120"/>
              </a:rPr>
              <a:t>How are authorship, liability, and confidentiality managed?</a:t>
            </a:r>
            <a:endParaRPr lang="en-US" sz="1400" dirty="0"/>
          </a:p>
        </p:txBody>
      </p:sp>
      <p:sp>
        <p:nvSpPr>
          <p:cNvPr id="20" name="Text 18">
            <a:hlinkClick r:id="rId3"/>
          </p:cNvPr>
          <p:cNvSpPr/>
          <p:nvPr/>
        </p:nvSpPr>
        <p:spPr>
          <a:xfrm>
            <a:off x="502920" y="6236208"/>
            <a:ext cx="10789920" cy="201168"/>
          </a:xfrm>
          <a:prstGeom prst="rect">
            <a:avLst/>
          </a:prstGeom>
          <a:noFill/>
          <a:ln/>
        </p:spPr>
        <p:txBody>
          <a:bodyPr wrap="square" lIns="0" tIns="0" rIns="0" bIns="0" rtlCol="0" anchor="ctr"/>
          <a:lstStyle/>
          <a:p>
            <a:pPr marL="0" indent="0">
              <a:buNone/>
            </a:pPr>
            <a:r>
              <a:rPr lang="en-US" sz="1400" u="sng" dirty="0">
                <a:solidFill>
                  <a:srgbClr val="5B5B66"/>
                </a:solidFill>
                <a:ea typeface="Aptos" pitchFamily="34" charset="-122"/>
                <a:cs typeface="Aptos" pitchFamily="34" charset="-120"/>
                <a:hlinkClick r:id="rId3">
                  <a:extLst>
                    <a:ext uri="{A12FA001-AC4F-418D-AE19-62706E023703}">
                      <ahyp:hlinkClr xmlns:ahyp="http://schemas.microsoft.com/office/drawing/2018/hyperlinkcolor" val="tx"/>
                    </a:ext>
                  </a:extLst>
                </a:hlinkClick>
              </a:rPr>
              <a:t>Source: AIA AI Task Force; RIBA AI Report 2025</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ea typeface="Aptos Display" pitchFamily="34" charset="-122"/>
                <a:cs typeface="Aptos Display" pitchFamily="34" charset="-120"/>
              </a:rPr>
              <a:t>Responsible AI checklist for architectural research</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200" dirty="0">
                <a:solidFill>
                  <a:srgbClr val="5B5B66"/>
                </a:solidFill>
                <a:ea typeface="Aptos" pitchFamily="34" charset="-122"/>
                <a:cs typeface="Aptos" pitchFamily="34" charset="-120"/>
              </a:rPr>
              <a:t>A practical checklist for final projects, papers, and presentations</a:t>
            </a:r>
            <a:endParaRPr lang="en-US" sz="1200" dirty="0"/>
          </a:p>
        </p:txBody>
      </p:sp>
      <p:graphicFrame>
        <p:nvGraphicFramePr>
          <p:cNvPr id="32" name="Table 0"/>
          <p:cNvGraphicFramePr>
            <a:graphicFrameLocks noGrp="1"/>
          </p:cNvGraphicFramePr>
          <p:nvPr>
            <p:extLst>
              <p:ext uri="{D42A27DB-BD31-4B8C-83A1-F6EECF244321}">
                <p14:modId xmlns:p14="http://schemas.microsoft.com/office/powerpoint/2010/main" val="1243432753"/>
              </p:ext>
            </p:extLst>
          </p:nvPr>
        </p:nvGraphicFramePr>
        <p:xfrm>
          <a:off x="822960" y="1060704"/>
          <a:ext cx="10561320" cy="5230368"/>
        </p:xfrm>
        <a:graphic>
          <a:graphicData uri="http://schemas.openxmlformats.org/drawingml/2006/table">
            <a:tbl>
              <a:tblPr/>
              <a:tblGrid>
                <a:gridCol w="640080">
                  <a:extLst>
                    <a:ext uri="{9D8B030D-6E8A-4147-A177-3AD203B41FA5}">
                      <a16:colId xmlns:a16="http://schemas.microsoft.com/office/drawing/2014/main" val="20000"/>
                    </a:ext>
                  </a:extLst>
                </a:gridCol>
                <a:gridCol w="9921240">
                  <a:extLst>
                    <a:ext uri="{9D8B030D-6E8A-4147-A177-3AD203B41FA5}">
                      <a16:colId xmlns:a16="http://schemas.microsoft.com/office/drawing/2014/main" val="20001"/>
                    </a:ext>
                  </a:extLst>
                </a:gridCol>
              </a:tblGrid>
              <a:tr h="475488">
                <a:tc>
                  <a:txBody>
                    <a:bodyPr/>
                    <a:lstStyle/>
                    <a:p>
                      <a:pPr marL="0" indent="0">
                        <a:buNone/>
                      </a:pPr>
                      <a:r>
                        <a:rPr lang="en-US" sz="1400" b="1" dirty="0">
                          <a:solidFill>
                            <a:srgbClr val="FFFFFF"/>
                          </a:solidFill>
                          <a:latin typeface="+mn-lt"/>
                          <a:ea typeface="Aptos" pitchFamily="34" charset="-122"/>
                          <a:cs typeface="Aptos" pitchFamily="34" charset="-120"/>
                        </a:rPr>
                        <a:t>#</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4B2E83"/>
                    </a:solidFill>
                  </a:tcPr>
                </a:tc>
                <a:tc>
                  <a:txBody>
                    <a:bodyPr/>
                    <a:lstStyle/>
                    <a:p>
                      <a:pPr marL="0" indent="0">
                        <a:buNone/>
                      </a:pPr>
                      <a:r>
                        <a:rPr lang="en-US" sz="1400" b="1" dirty="0">
                          <a:solidFill>
                            <a:srgbClr val="FFFFFF"/>
                          </a:solidFill>
                          <a:latin typeface="+mn-lt"/>
                          <a:ea typeface="Aptos" pitchFamily="34" charset="-122"/>
                          <a:cs typeface="Aptos" pitchFamily="34" charset="-120"/>
                        </a:rPr>
                        <a:t>Question</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4B2E83"/>
                    </a:solidFill>
                  </a:tcPr>
                </a:tc>
                <a:extLst>
                  <a:ext uri="{0D108BD9-81ED-4DB2-BD59-A6C34878D82A}">
                    <a16:rowId xmlns:a16="http://schemas.microsoft.com/office/drawing/2014/main" val="10000"/>
                  </a:ext>
                </a:extLst>
              </a:tr>
              <a:tr h="475488">
                <a:tc>
                  <a:txBody>
                    <a:bodyPr/>
                    <a:lstStyle/>
                    <a:p>
                      <a:pPr marL="0" indent="0">
                        <a:buNone/>
                      </a:pPr>
                      <a:r>
                        <a:rPr lang="en-US" sz="1400" dirty="0">
                          <a:solidFill>
                            <a:srgbClr val="1E1E24"/>
                          </a:solidFill>
                          <a:latin typeface="+mn-lt"/>
                          <a:ea typeface="Aptos" pitchFamily="34" charset="-122"/>
                          <a:cs typeface="Aptos" pitchFamily="34" charset="-120"/>
                        </a:rPr>
                        <a:t>1</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r>
                        <a:rPr lang="en-US" sz="1400" dirty="0">
                          <a:solidFill>
                            <a:srgbClr val="1E1E24"/>
                          </a:solidFill>
                          <a:latin typeface="+mn-lt"/>
                          <a:ea typeface="Aptos" pitchFamily="34" charset="-122"/>
                          <a:cs typeface="Aptos" pitchFamily="34" charset="-120"/>
                        </a:rPr>
                        <a:t>What is the purpose of the AI system?</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400" dirty="0">
                          <a:solidFill>
                            <a:srgbClr val="1E1E24"/>
                          </a:solidFill>
                          <a:latin typeface="+mn-lt"/>
                          <a:ea typeface="Aptos" pitchFamily="34" charset="-122"/>
                          <a:cs typeface="Aptos" pitchFamily="34" charset="-120"/>
                        </a:rPr>
                        <a:t>2</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pPr marL="0" indent="0">
                        <a:buNone/>
                      </a:pPr>
                      <a:r>
                        <a:rPr lang="en-US" sz="1400" dirty="0">
                          <a:solidFill>
                            <a:srgbClr val="1E1E24"/>
                          </a:solidFill>
                          <a:latin typeface="+mn-lt"/>
                          <a:ea typeface="Aptos" pitchFamily="34" charset="-122"/>
                          <a:cs typeface="Aptos" pitchFamily="34" charset="-120"/>
                        </a:rPr>
                        <a:t>Who are the affected stakeholders?</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extLst>
                  <a:ext uri="{0D108BD9-81ED-4DB2-BD59-A6C34878D82A}">
                    <a16:rowId xmlns:a16="http://schemas.microsoft.com/office/drawing/2014/main" val="10002"/>
                  </a:ext>
                </a:extLst>
              </a:tr>
              <a:tr h="475488">
                <a:tc>
                  <a:txBody>
                    <a:bodyPr/>
                    <a:lstStyle/>
                    <a:p>
                      <a:pPr marL="0" indent="0">
                        <a:buNone/>
                      </a:pPr>
                      <a:r>
                        <a:rPr lang="en-US" sz="1400" dirty="0">
                          <a:solidFill>
                            <a:srgbClr val="1E1E24"/>
                          </a:solidFill>
                          <a:latin typeface="+mn-lt"/>
                          <a:ea typeface="Aptos" pitchFamily="34" charset="-122"/>
                          <a:cs typeface="Aptos" pitchFamily="34" charset="-120"/>
                        </a:rPr>
                        <a:t>3</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r>
                        <a:rPr lang="en-US" sz="1400" dirty="0">
                          <a:solidFill>
                            <a:srgbClr val="1E1E24"/>
                          </a:solidFill>
                          <a:latin typeface="+mn-lt"/>
                          <a:ea typeface="Aptos" pitchFamily="34" charset="-122"/>
                          <a:cs typeface="Aptos" pitchFamily="34" charset="-120"/>
                        </a:rPr>
                        <a:t>What data is used, and where did it come from?</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400" dirty="0">
                          <a:solidFill>
                            <a:srgbClr val="1E1E24"/>
                          </a:solidFill>
                          <a:latin typeface="+mn-lt"/>
                          <a:ea typeface="Aptos" pitchFamily="34" charset="-122"/>
                          <a:cs typeface="Aptos" pitchFamily="34" charset="-120"/>
                        </a:rPr>
                        <a:t>4</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pPr marL="0" indent="0">
                        <a:buNone/>
                      </a:pPr>
                      <a:r>
                        <a:rPr lang="en-US" sz="1400" dirty="0">
                          <a:solidFill>
                            <a:srgbClr val="1E1E24"/>
                          </a:solidFill>
                          <a:latin typeface="+mn-lt"/>
                          <a:ea typeface="Aptos" pitchFamily="34" charset="-122"/>
                          <a:cs typeface="Aptos" pitchFamily="34" charset="-120"/>
                        </a:rPr>
                        <a:t>What is missing from the data?</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extLst>
                  <a:ext uri="{0D108BD9-81ED-4DB2-BD59-A6C34878D82A}">
                    <a16:rowId xmlns:a16="http://schemas.microsoft.com/office/drawing/2014/main" val="10004"/>
                  </a:ext>
                </a:extLst>
              </a:tr>
              <a:tr h="475488">
                <a:tc>
                  <a:txBody>
                    <a:bodyPr/>
                    <a:lstStyle/>
                    <a:p>
                      <a:pPr marL="0" indent="0">
                        <a:buNone/>
                      </a:pPr>
                      <a:r>
                        <a:rPr lang="en-US" sz="1400" dirty="0">
                          <a:solidFill>
                            <a:srgbClr val="1E1E24"/>
                          </a:solidFill>
                          <a:latin typeface="+mn-lt"/>
                          <a:ea typeface="Aptos" pitchFamily="34" charset="-122"/>
                          <a:cs typeface="Aptos" pitchFamily="34" charset="-120"/>
                        </a:rPr>
                        <a:t>5</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r>
                        <a:rPr lang="en-US" sz="1400" dirty="0">
                          <a:solidFill>
                            <a:srgbClr val="1E1E24"/>
                          </a:solidFill>
                          <a:latin typeface="+mn-lt"/>
                          <a:ea typeface="Aptos" pitchFamily="34" charset="-122"/>
                          <a:cs typeface="Aptos" pitchFamily="34" charset="-120"/>
                        </a:rPr>
                        <a:t>What assumptions are embedded in the model or simulation?</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400" dirty="0">
                          <a:solidFill>
                            <a:srgbClr val="1E1E24"/>
                          </a:solidFill>
                          <a:latin typeface="+mn-lt"/>
                          <a:ea typeface="Aptos" pitchFamily="34" charset="-122"/>
                          <a:cs typeface="Aptos" pitchFamily="34" charset="-120"/>
                        </a:rPr>
                        <a:t>6</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pPr marL="0" indent="0">
                        <a:buNone/>
                      </a:pPr>
                      <a:r>
                        <a:rPr lang="en-US" sz="1400" dirty="0">
                          <a:solidFill>
                            <a:srgbClr val="1E1E24"/>
                          </a:solidFill>
                          <a:latin typeface="+mn-lt"/>
                          <a:ea typeface="Aptos" pitchFamily="34" charset="-122"/>
                          <a:cs typeface="Aptos" pitchFamily="34" charset="-120"/>
                        </a:rPr>
                        <a:t>What forms of bias could occur?</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extLst>
                  <a:ext uri="{0D108BD9-81ED-4DB2-BD59-A6C34878D82A}">
                    <a16:rowId xmlns:a16="http://schemas.microsoft.com/office/drawing/2014/main" val="10006"/>
                  </a:ext>
                </a:extLst>
              </a:tr>
              <a:tr h="475488">
                <a:tc>
                  <a:txBody>
                    <a:bodyPr/>
                    <a:lstStyle/>
                    <a:p>
                      <a:pPr marL="0" indent="0">
                        <a:buNone/>
                      </a:pPr>
                      <a:r>
                        <a:rPr lang="en-US" sz="1400" dirty="0">
                          <a:solidFill>
                            <a:srgbClr val="1E1E24"/>
                          </a:solidFill>
                          <a:latin typeface="+mn-lt"/>
                          <a:ea typeface="Aptos" pitchFamily="34" charset="-122"/>
                          <a:cs typeface="Aptos" pitchFamily="34" charset="-120"/>
                        </a:rPr>
                        <a:t>7</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r>
                        <a:rPr lang="en-US" sz="1400" dirty="0">
                          <a:solidFill>
                            <a:srgbClr val="1E1E24"/>
                          </a:solidFill>
                          <a:latin typeface="+mn-lt"/>
                          <a:ea typeface="Aptos" pitchFamily="34" charset="-122"/>
                          <a:cs typeface="Aptos" pitchFamily="34" charset="-120"/>
                        </a:rPr>
                        <a:t>What are the performance metrics?</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5488">
                <a:tc>
                  <a:txBody>
                    <a:bodyPr/>
                    <a:lstStyle/>
                    <a:p>
                      <a:pPr marL="0" indent="0">
                        <a:buNone/>
                      </a:pPr>
                      <a:r>
                        <a:rPr lang="en-US" sz="1400" dirty="0">
                          <a:solidFill>
                            <a:srgbClr val="1E1E24"/>
                          </a:solidFill>
                          <a:latin typeface="+mn-lt"/>
                          <a:ea typeface="Aptos" pitchFamily="34" charset="-122"/>
                          <a:cs typeface="Aptos" pitchFamily="34" charset="-120"/>
                        </a:rPr>
                        <a:t>8</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pPr marL="0" indent="0">
                        <a:buNone/>
                      </a:pPr>
                      <a:r>
                        <a:rPr lang="en-US" sz="1400" dirty="0">
                          <a:solidFill>
                            <a:srgbClr val="1E1E24"/>
                          </a:solidFill>
                          <a:latin typeface="+mn-lt"/>
                          <a:ea typeface="Aptos" pitchFamily="34" charset="-122"/>
                          <a:cs typeface="Aptos" pitchFamily="34" charset="-120"/>
                        </a:rPr>
                        <a:t>What uncertainties remain?</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extLst>
                  <a:ext uri="{0D108BD9-81ED-4DB2-BD59-A6C34878D82A}">
                    <a16:rowId xmlns:a16="http://schemas.microsoft.com/office/drawing/2014/main" val="10008"/>
                  </a:ext>
                </a:extLst>
              </a:tr>
              <a:tr h="475488">
                <a:tc>
                  <a:txBody>
                    <a:bodyPr/>
                    <a:lstStyle/>
                    <a:p>
                      <a:pPr marL="0" indent="0">
                        <a:buNone/>
                      </a:pPr>
                      <a:r>
                        <a:rPr lang="en-US" sz="1400" dirty="0">
                          <a:solidFill>
                            <a:srgbClr val="1E1E24"/>
                          </a:solidFill>
                          <a:latin typeface="+mn-lt"/>
                          <a:ea typeface="Aptos" pitchFamily="34" charset="-122"/>
                          <a:cs typeface="Aptos" pitchFamily="34" charset="-120"/>
                        </a:rPr>
                        <a:t>9</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r>
                        <a:rPr lang="en-US" sz="1400" dirty="0">
                          <a:solidFill>
                            <a:srgbClr val="1E1E24"/>
                          </a:solidFill>
                          <a:latin typeface="+mn-lt"/>
                          <a:ea typeface="Aptos" pitchFamily="34" charset="-122"/>
                          <a:cs typeface="Aptos" pitchFamily="34" charset="-120"/>
                        </a:rPr>
                        <a:t>How is AI use disclosed?</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75488">
                <a:tc>
                  <a:txBody>
                    <a:bodyPr/>
                    <a:lstStyle/>
                    <a:p>
                      <a:pPr marL="0" indent="0">
                        <a:buNone/>
                      </a:pPr>
                      <a:r>
                        <a:rPr lang="en-US" sz="1400" dirty="0">
                          <a:solidFill>
                            <a:srgbClr val="1E1E24"/>
                          </a:solidFill>
                          <a:latin typeface="+mn-lt"/>
                          <a:ea typeface="Aptos" pitchFamily="34" charset="-122"/>
                          <a:cs typeface="Aptos" pitchFamily="34" charset="-120"/>
                        </a:rPr>
                        <a:t>10</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pPr marL="0" indent="0">
                        <a:buNone/>
                      </a:pPr>
                      <a:r>
                        <a:rPr lang="en-US" sz="1400" dirty="0">
                          <a:solidFill>
                            <a:srgbClr val="1E1E24"/>
                          </a:solidFill>
                          <a:latin typeface="+mn-lt"/>
                          <a:ea typeface="Aptos" pitchFamily="34" charset="-122"/>
                          <a:cs typeface="Aptos" pitchFamily="34" charset="-120"/>
                        </a:rPr>
                        <a:t>Who is accountable for interpretation and final decisions?</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r>
              <a:rPr sz="2500" b="1">
                <a:solidFill>
                  <a:srgbClr val="1E1E24"/>
                </a:solidFill>
              </a:rPr>
              <a:t>Applying this to performance-driven research projects</a:t>
            </a:r>
          </a:p>
        </p:txBody>
      </p:sp>
      <p:sp>
        <p:nvSpPr>
          <p:cNvPr id="6" name="Text 4"/>
          <p:cNvSpPr/>
          <p:nvPr/>
        </p:nvSpPr>
        <p:spPr>
          <a:xfrm>
            <a:off x="521208" y="795528"/>
            <a:ext cx="10241280" cy="237744"/>
          </a:xfrm>
          <a:prstGeom prst="rect">
            <a:avLst/>
          </a:prstGeom>
          <a:noFill/>
          <a:ln/>
        </p:spPr>
        <p:txBody>
          <a:bodyPr wrap="square" lIns="0" tIns="0" rIns="0" bIns="0" rtlCol="0" anchor="ctr"/>
          <a:lstStyle/>
          <a:p>
            <a:r>
              <a:rPr sz="1180" b="0">
                <a:solidFill>
                  <a:srgbClr val="5B5B66"/>
                </a:solidFill>
              </a:rPr>
              <a:t>Connect the AI workflow to the research question, performance metrics, evidence, and responsible design interpretation</a:t>
            </a:r>
          </a:p>
        </p:txBody>
      </p:sp>
      <p:graphicFrame>
        <p:nvGraphicFramePr>
          <p:cNvPr id="33" name="Table 0"/>
          <p:cNvGraphicFramePr>
            <a:graphicFrameLocks noGrp="1"/>
          </p:cNvGraphicFramePr>
          <p:nvPr>
            <p:extLst>
              <p:ext uri="{D42A27DB-BD31-4B8C-83A1-F6EECF244321}">
                <p14:modId xmlns:p14="http://schemas.microsoft.com/office/powerpoint/2010/main" val="3213015082"/>
              </p:ext>
            </p:extLst>
          </p:nvPr>
        </p:nvGraphicFramePr>
        <p:xfrm>
          <a:off x="960120" y="1371600"/>
          <a:ext cx="10287000" cy="2926080"/>
        </p:xfrm>
        <a:graphic>
          <a:graphicData uri="http://schemas.openxmlformats.org/drawingml/2006/table">
            <a:tbl>
              <a:tblPr/>
              <a:tblGrid>
                <a:gridCol w="20574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585216">
                <a:tc>
                  <a:txBody>
                    <a:bodyPr/>
                    <a:lstStyle/>
                    <a:p>
                      <a:pPr marL="0" indent="0">
                        <a:buNone/>
                      </a:pPr>
                      <a:r>
                        <a:rPr lang="en-US" sz="1400" b="1" dirty="0">
                          <a:solidFill>
                            <a:srgbClr val="FFFFFF"/>
                          </a:solidFill>
                          <a:latin typeface="+mn-lt"/>
                          <a:ea typeface="Aptos" pitchFamily="34" charset="-122"/>
                          <a:cs typeface="Aptos" pitchFamily="34" charset="-120"/>
                        </a:rPr>
                        <a:t>Category</a:t>
                      </a:r>
                      <a:endParaRPr lang="en-US" sz="1400" b="1"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4B2E83"/>
                    </a:solidFill>
                  </a:tcPr>
                </a:tc>
                <a:tc>
                  <a:txBody>
                    <a:bodyPr/>
                    <a:lstStyle/>
                    <a:p>
                      <a:pPr marL="0" indent="0">
                        <a:buNone/>
                      </a:pPr>
                      <a:r>
                        <a:rPr lang="en-US" sz="1400" b="1" dirty="0">
                          <a:solidFill>
                            <a:srgbClr val="FFFFFF"/>
                          </a:solidFill>
                          <a:latin typeface="+mn-lt"/>
                          <a:ea typeface="Aptos" pitchFamily="34" charset="-122"/>
                          <a:cs typeface="Aptos" pitchFamily="34" charset="-120"/>
                        </a:rPr>
                        <a:t>Questions students should answer</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4B2E83"/>
                    </a:solidFill>
                  </a:tcPr>
                </a:tc>
                <a:extLst>
                  <a:ext uri="{0D108BD9-81ED-4DB2-BD59-A6C34878D82A}">
                    <a16:rowId xmlns:a16="http://schemas.microsoft.com/office/drawing/2014/main" val="10000"/>
                  </a:ext>
                </a:extLst>
              </a:tr>
              <a:tr h="585216">
                <a:tc>
                  <a:txBody>
                    <a:bodyPr/>
                    <a:lstStyle/>
                    <a:p>
                      <a:pPr marL="0" indent="0">
                        <a:buNone/>
                      </a:pPr>
                      <a:r>
                        <a:rPr lang="en-US" sz="1400" b="1" dirty="0">
                          <a:solidFill>
                            <a:srgbClr val="1E1E24"/>
                          </a:solidFill>
                          <a:latin typeface="+mn-lt"/>
                          <a:ea typeface="Aptos" pitchFamily="34" charset="-122"/>
                          <a:cs typeface="Aptos" pitchFamily="34" charset="-120"/>
                        </a:rPr>
                        <a:t>Data</a:t>
                      </a:r>
                      <a:endParaRPr lang="en-US" sz="1400" b="1"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r>
                        <a:rPr lang="en-US" sz="1400" dirty="0">
                          <a:solidFill>
                            <a:srgbClr val="1E1E24"/>
                          </a:solidFill>
                          <a:latin typeface="+mn-lt"/>
                          <a:ea typeface="Aptos" pitchFamily="34" charset="-122"/>
                          <a:cs typeface="Aptos" pitchFamily="34" charset="-120"/>
                        </a:rPr>
                        <a:t>What data did you use? Was consent needed? What is missing?</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5216">
                <a:tc>
                  <a:txBody>
                    <a:bodyPr/>
                    <a:lstStyle/>
                    <a:p>
                      <a:pPr marL="0" indent="0">
                        <a:buNone/>
                      </a:pPr>
                      <a:r>
                        <a:rPr lang="en-US" sz="1400" b="1" dirty="0">
                          <a:solidFill>
                            <a:srgbClr val="1E1E24"/>
                          </a:solidFill>
                          <a:latin typeface="+mn-lt"/>
                          <a:ea typeface="Aptos" pitchFamily="34" charset="-122"/>
                          <a:cs typeface="Aptos" pitchFamily="34" charset="-120"/>
                        </a:rPr>
                        <a:t>Model</a:t>
                      </a:r>
                      <a:endParaRPr lang="en-US" sz="1400" b="1"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pPr marL="0" indent="0">
                        <a:buNone/>
                      </a:pPr>
                      <a:r>
                        <a:rPr lang="en-US" sz="1400" dirty="0">
                          <a:solidFill>
                            <a:srgbClr val="1E1E24"/>
                          </a:solidFill>
                          <a:latin typeface="+mn-lt"/>
                          <a:ea typeface="Aptos" pitchFamily="34" charset="-122"/>
                          <a:cs typeface="Aptos" pitchFamily="34" charset="-120"/>
                        </a:rPr>
                        <a:t>What does the model learn? What could it misread?</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extLst>
                  <a:ext uri="{0D108BD9-81ED-4DB2-BD59-A6C34878D82A}">
                    <a16:rowId xmlns:a16="http://schemas.microsoft.com/office/drawing/2014/main" val="10002"/>
                  </a:ext>
                </a:extLst>
              </a:tr>
              <a:tr h="585216">
                <a:tc>
                  <a:txBody>
                    <a:bodyPr/>
                    <a:lstStyle/>
                    <a:p>
                      <a:pPr marL="0" indent="0">
                        <a:buNone/>
                      </a:pPr>
                      <a:r>
                        <a:rPr lang="en-US" sz="1400" b="1" dirty="0">
                          <a:solidFill>
                            <a:srgbClr val="1E1E24"/>
                          </a:solidFill>
                          <a:latin typeface="+mn-lt"/>
                          <a:ea typeface="Aptos" pitchFamily="34" charset="-122"/>
                          <a:cs typeface="Aptos" pitchFamily="34" charset="-120"/>
                        </a:rPr>
                        <a:t>Output</a:t>
                      </a:r>
                      <a:endParaRPr lang="en-US" sz="1400" b="1"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tc>
                  <a:txBody>
                    <a:bodyPr/>
                    <a:lstStyle/>
                    <a:p>
                      <a:pPr marL="0" indent="0">
                        <a:buNone/>
                      </a:pPr>
                      <a:r>
                        <a:rPr lang="en-US" sz="1400" dirty="0">
                          <a:solidFill>
                            <a:srgbClr val="1E1E24"/>
                          </a:solidFill>
                          <a:latin typeface="+mn-lt"/>
                          <a:ea typeface="Aptos" pitchFamily="34" charset="-122"/>
                          <a:cs typeface="Aptos" pitchFamily="34" charset="-120"/>
                        </a:rPr>
                        <a:t>How should outputs be interpreted? What uncertainty exists?</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85216">
                <a:tc>
                  <a:txBody>
                    <a:bodyPr/>
                    <a:lstStyle/>
                    <a:p>
                      <a:pPr marL="0" indent="0">
                        <a:buNone/>
                      </a:pPr>
                      <a:r>
                        <a:rPr lang="en-US" sz="1400" b="1" dirty="0">
                          <a:solidFill>
                            <a:srgbClr val="1E1E24"/>
                          </a:solidFill>
                          <a:latin typeface="+mn-lt"/>
                          <a:ea typeface="Aptos" pitchFamily="34" charset="-122"/>
                          <a:cs typeface="Aptos" pitchFamily="34" charset="-120"/>
                        </a:rPr>
                        <a:t>Governance</a:t>
                      </a:r>
                      <a:endParaRPr lang="en-US" sz="1400" b="1"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tc>
                  <a:txBody>
                    <a:bodyPr/>
                    <a:lstStyle/>
                    <a:p>
                      <a:pPr marL="0" indent="0">
                        <a:buNone/>
                      </a:pPr>
                      <a:r>
                        <a:rPr lang="en-US" sz="1400" dirty="0">
                          <a:solidFill>
                            <a:srgbClr val="1E1E24"/>
                          </a:solidFill>
                          <a:latin typeface="+mn-lt"/>
                          <a:ea typeface="Aptos" pitchFamily="34" charset="-122"/>
                          <a:cs typeface="Aptos" pitchFamily="34" charset="-120"/>
                        </a:rPr>
                        <a:t>How will you disclose, validate, and responsibly apply the work?</a:t>
                      </a:r>
                      <a:endParaRPr lang="en-US" sz="1400" dirty="0">
                        <a:latin typeface="+mn-lt"/>
                        <a:ea typeface="Aptos" charset="0"/>
                        <a:cs typeface="Aptos" charset="0"/>
                      </a:endParaRPr>
                    </a:p>
                  </a:txBody>
                  <a:tcPr marL="54864" marR="54864" marT="54864" marB="54864">
                    <a:lnL w="6350" cap="flat" cmpd="sng" algn="ctr">
                      <a:solidFill>
                        <a:srgbClr val="E9E6DF"/>
                      </a:solidFill>
                      <a:prstDash val="solid"/>
                      <a:round/>
                      <a:headEnd type="none" w="med" len="med"/>
                      <a:tailEnd type="none" w="med" len="med"/>
                    </a:lnL>
                    <a:lnR w="6350" cap="flat" cmpd="sng" algn="ctr">
                      <a:solidFill>
                        <a:srgbClr val="E9E6DF"/>
                      </a:solidFill>
                      <a:prstDash val="solid"/>
                      <a:round/>
                      <a:headEnd type="none" w="med" len="med"/>
                      <a:tailEnd type="none" w="med" len="med"/>
                    </a:lnR>
                    <a:lnT w="6350" cap="flat" cmpd="sng" algn="ctr">
                      <a:solidFill>
                        <a:srgbClr val="E9E6DF"/>
                      </a:solidFill>
                      <a:prstDash val="solid"/>
                      <a:round/>
                      <a:headEnd type="none" w="med" len="med"/>
                      <a:tailEnd type="none" w="med" len="med"/>
                    </a:lnT>
                    <a:lnB w="6350" cap="flat" cmpd="sng" algn="ctr">
                      <a:solidFill>
                        <a:srgbClr val="E9E6DF"/>
                      </a:solidFill>
                      <a:prstDash val="solid"/>
                      <a:round/>
                      <a:headEnd type="none" w="med" len="med"/>
                      <a:tailEnd type="none" w="med" len="med"/>
                    </a:lnB>
                    <a:solidFill>
                      <a:srgbClr val="FBFAF7"/>
                    </a:solidFill>
                  </a:tcPr>
                </a:tc>
                <a:extLst>
                  <a:ext uri="{0D108BD9-81ED-4DB2-BD59-A6C34878D82A}">
                    <a16:rowId xmlns:a16="http://schemas.microsoft.com/office/drawing/2014/main" val="10004"/>
                  </a:ext>
                </a:extLst>
              </a:tr>
            </a:tbl>
          </a:graphicData>
        </a:graphic>
      </p:graphicFrame>
      <p:sp>
        <p:nvSpPr>
          <p:cNvPr id="12" name="Shape 9"/>
          <p:cNvSpPr/>
          <p:nvPr/>
        </p:nvSpPr>
        <p:spPr>
          <a:xfrm>
            <a:off x="1097280" y="4919472"/>
            <a:ext cx="10012680" cy="658368"/>
          </a:xfrm>
          <a:prstGeom prst="roundRect">
            <a:avLst>
              <a:gd name="adj" fmla="val 11111"/>
            </a:avLst>
          </a:prstGeom>
          <a:solidFill>
            <a:srgbClr val="F4EBD0"/>
          </a:solidFill>
          <a:ln w="12700">
            <a:solidFill>
              <a:srgbClr val="F4EBD0"/>
            </a:solidFill>
            <a:prstDash val="solid"/>
          </a:ln>
        </p:spPr>
        <p:txBody>
          <a:bodyPr/>
          <a:lstStyle/>
          <a:p>
            <a:endParaRPr/>
          </a:p>
        </p:txBody>
      </p:sp>
      <p:sp>
        <p:nvSpPr>
          <p:cNvPr id="13" name="Text 10"/>
          <p:cNvSpPr/>
          <p:nvPr/>
        </p:nvSpPr>
        <p:spPr>
          <a:xfrm>
            <a:off x="1234440" y="5047488"/>
            <a:ext cx="9738360" cy="475488"/>
          </a:xfrm>
          <a:prstGeom prst="rect">
            <a:avLst/>
          </a:prstGeom>
          <a:noFill/>
          <a:ln/>
        </p:spPr>
        <p:txBody>
          <a:bodyPr wrap="square" lIns="762" tIns="762" rIns="762" bIns="762" rtlCol="0" anchor="ctr">
            <a:normAutofit/>
          </a:bodyPr>
          <a:lstStyle/>
          <a:p>
            <a:pPr marL="0" indent="0" algn="ctr">
              <a:lnSpc>
                <a:spcPct val="95000"/>
              </a:lnSpc>
              <a:buNone/>
            </a:pPr>
            <a:r>
              <a:rPr lang="en-US" sz="1400" b="1" dirty="0">
                <a:solidFill>
                  <a:srgbClr val="1E1E24"/>
                </a:solidFill>
                <a:ea typeface="Aptos" pitchFamily="34" charset="-122"/>
                <a:cs typeface="Aptos" pitchFamily="34" charset="-120"/>
              </a:rPr>
              <a:t>Deliverable: one slide in each final presentation titled “Responsible AI, Data, and Limitations.”</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r>
              <a:rPr sz="2500" b="1" dirty="0">
                <a:solidFill>
                  <a:srgbClr val="1E1E24"/>
                </a:solidFill>
              </a:rPr>
              <a:t>Activity 2: AI impact assessment</a:t>
            </a:r>
          </a:p>
        </p:txBody>
      </p:sp>
      <p:sp>
        <p:nvSpPr>
          <p:cNvPr id="6" name="Text 4"/>
          <p:cNvSpPr/>
          <p:nvPr/>
        </p:nvSpPr>
        <p:spPr>
          <a:xfrm>
            <a:off x="521208" y="795528"/>
            <a:ext cx="10241280" cy="237744"/>
          </a:xfrm>
          <a:prstGeom prst="rect">
            <a:avLst/>
          </a:prstGeom>
          <a:noFill/>
          <a:ln/>
        </p:spPr>
        <p:txBody>
          <a:bodyPr wrap="square" lIns="0" tIns="0" rIns="0" bIns="0" rtlCol="0" anchor="ctr"/>
          <a:lstStyle/>
          <a:p>
            <a:r>
              <a:rPr sz="1180" b="0">
                <a:solidFill>
                  <a:srgbClr val="5B5B66"/>
                </a:solidFill>
              </a:rPr>
              <a:t>20 minutes | use your own performance-driven design research project</a:t>
            </a:r>
          </a:p>
        </p:txBody>
      </p:sp>
      <p:sp>
        <p:nvSpPr>
          <p:cNvPr id="11" name="TextBox 10"/>
          <p:cNvSpPr txBox="1"/>
          <p:nvPr/>
        </p:nvSpPr>
        <p:spPr>
          <a:xfrm>
            <a:off x="822960" y="1298448"/>
            <a:ext cx="4663440" cy="307777"/>
          </a:xfrm>
          <a:prstGeom prst="rect">
            <a:avLst/>
          </a:prstGeom>
          <a:noFill/>
        </p:spPr>
        <p:txBody>
          <a:bodyPr wrap="square">
            <a:spAutoFit/>
          </a:bodyPr>
          <a:lstStyle/>
          <a:p>
            <a:r>
              <a:rPr sz="1400" b="1">
                <a:solidFill>
                  <a:srgbClr val="4B2E83"/>
                </a:solidFill>
              </a:rPr>
              <a:t>Individual work: 10 minutes</a:t>
            </a:r>
          </a:p>
        </p:txBody>
      </p:sp>
      <p:sp>
        <p:nvSpPr>
          <p:cNvPr id="12" name="TextBox 11"/>
          <p:cNvSpPr txBox="1"/>
          <p:nvPr/>
        </p:nvSpPr>
        <p:spPr>
          <a:xfrm>
            <a:off x="868680" y="1664208"/>
            <a:ext cx="4572000" cy="1513235"/>
          </a:xfrm>
          <a:prstGeom prst="rect">
            <a:avLst/>
          </a:prstGeom>
          <a:solidFill>
            <a:schemeClr val="accent4">
              <a:lumMod val="20000"/>
              <a:lumOff val="80000"/>
            </a:schemeClr>
          </a:solidFill>
        </p:spPr>
        <p:txBody>
          <a:bodyPr wrap="square">
            <a:spAutoFit/>
          </a:bodyPr>
          <a:lstStyle/>
          <a:p>
            <a:pPr>
              <a:spcAft>
                <a:spcPts val="200"/>
              </a:spcAft>
            </a:pPr>
            <a:r>
              <a:rPr sz="1400" b="0">
                <a:solidFill>
                  <a:srgbClr val="1E1E24"/>
                </a:solidFill>
              </a:rPr>
              <a:t>• Name your performance-driven design challenge.</a:t>
            </a:r>
          </a:p>
          <a:p>
            <a:pPr>
              <a:spcAft>
                <a:spcPts val="200"/>
              </a:spcAft>
            </a:pPr>
            <a:r>
              <a:rPr sz="1400" b="0">
                <a:solidFill>
                  <a:srgbClr val="1E1E24"/>
                </a:solidFill>
              </a:rPr>
              <a:t>• State your AI method and evidence base.</a:t>
            </a:r>
          </a:p>
          <a:p>
            <a:pPr>
              <a:spcAft>
                <a:spcPts val="200"/>
              </a:spcAft>
            </a:pPr>
            <a:r>
              <a:rPr sz="1400" b="0">
                <a:solidFill>
                  <a:srgbClr val="1E1E24"/>
                </a:solidFill>
              </a:rPr>
              <a:t>• Identify the main performance metric and value trade-off.</a:t>
            </a:r>
          </a:p>
          <a:p>
            <a:pPr>
              <a:spcAft>
                <a:spcPts val="200"/>
              </a:spcAft>
            </a:pPr>
            <a:r>
              <a:rPr sz="1400" b="0">
                <a:solidFill>
                  <a:srgbClr val="1E1E24"/>
                </a:solidFill>
              </a:rPr>
              <a:t>• Identify one data/proxy/bias risk.</a:t>
            </a:r>
          </a:p>
          <a:p>
            <a:pPr>
              <a:spcAft>
                <a:spcPts val="200"/>
              </a:spcAft>
            </a:pPr>
            <a:r>
              <a:rPr sz="1400" b="0">
                <a:solidFill>
                  <a:srgbClr val="1E1E24"/>
                </a:solidFill>
              </a:rPr>
              <a:t>• Identify one validation or uncertainty issue.</a:t>
            </a:r>
          </a:p>
          <a:p>
            <a:pPr>
              <a:spcAft>
                <a:spcPts val="200"/>
              </a:spcAft>
            </a:pPr>
            <a:r>
              <a:rPr sz="1400" b="0">
                <a:solidFill>
                  <a:srgbClr val="1E1E24"/>
                </a:solidFill>
              </a:rPr>
              <a:t>• Write one sentence on responsible application.</a:t>
            </a:r>
          </a:p>
        </p:txBody>
      </p:sp>
      <p:sp>
        <p:nvSpPr>
          <p:cNvPr id="13" name="TextBox 12"/>
          <p:cNvSpPr txBox="1"/>
          <p:nvPr/>
        </p:nvSpPr>
        <p:spPr>
          <a:xfrm>
            <a:off x="6080760" y="1298448"/>
            <a:ext cx="4480560" cy="307777"/>
          </a:xfrm>
          <a:prstGeom prst="rect">
            <a:avLst/>
          </a:prstGeom>
          <a:noFill/>
        </p:spPr>
        <p:txBody>
          <a:bodyPr wrap="square">
            <a:spAutoFit/>
          </a:bodyPr>
          <a:lstStyle/>
          <a:p>
            <a:r>
              <a:rPr sz="1400" b="1">
                <a:solidFill>
                  <a:srgbClr val="4B2E83"/>
                </a:solidFill>
              </a:rPr>
              <a:t>Pair discussion: 7 minutes</a:t>
            </a:r>
          </a:p>
        </p:txBody>
      </p:sp>
      <p:sp>
        <p:nvSpPr>
          <p:cNvPr id="14" name="TextBox 13"/>
          <p:cNvSpPr txBox="1"/>
          <p:nvPr/>
        </p:nvSpPr>
        <p:spPr>
          <a:xfrm>
            <a:off x="6126480" y="1664208"/>
            <a:ext cx="4434840" cy="1284967"/>
          </a:xfrm>
          <a:prstGeom prst="rect">
            <a:avLst/>
          </a:prstGeom>
          <a:solidFill>
            <a:schemeClr val="accent4">
              <a:lumMod val="20000"/>
              <a:lumOff val="80000"/>
            </a:schemeClr>
          </a:solidFill>
        </p:spPr>
        <p:txBody>
          <a:bodyPr wrap="square">
            <a:spAutoFit/>
          </a:bodyPr>
          <a:lstStyle/>
          <a:p>
            <a:pPr>
              <a:spcAft>
                <a:spcPts val="300"/>
              </a:spcAft>
            </a:pPr>
            <a:r>
              <a:rPr sz="1400" b="0">
                <a:solidFill>
                  <a:srgbClr val="1E1E24"/>
                </a:solidFill>
              </a:rPr>
              <a:t>• Explain your project in one minute.</a:t>
            </a:r>
          </a:p>
          <a:p>
            <a:pPr>
              <a:spcAft>
                <a:spcPts val="300"/>
              </a:spcAft>
            </a:pPr>
            <a:r>
              <a:rPr sz="1400" b="0">
                <a:solidFill>
                  <a:srgbClr val="1E1E24"/>
                </a:solidFill>
              </a:rPr>
              <a:t>• Ask your partner: what ethical issue am I underplaying?</a:t>
            </a:r>
          </a:p>
          <a:p>
            <a:pPr>
              <a:spcAft>
                <a:spcPts val="300"/>
              </a:spcAft>
            </a:pPr>
            <a:r>
              <a:rPr sz="1400" b="0">
                <a:solidFill>
                  <a:srgbClr val="1E1E24"/>
                </a:solidFill>
              </a:rPr>
              <a:t>• Revise the responsible-application sentence.</a:t>
            </a:r>
          </a:p>
          <a:p>
            <a:pPr>
              <a:spcAft>
                <a:spcPts val="300"/>
              </a:spcAft>
            </a:pPr>
            <a:r>
              <a:rPr sz="1400" b="0">
                <a:solidFill>
                  <a:srgbClr val="1E1E24"/>
                </a:solidFill>
              </a:rPr>
              <a:t>• Decide where this belongs: method, limitations, or final slide.</a:t>
            </a:r>
          </a:p>
        </p:txBody>
      </p:sp>
      <p:sp>
        <p:nvSpPr>
          <p:cNvPr id="15" name="TextBox 14"/>
          <p:cNvSpPr txBox="1"/>
          <p:nvPr/>
        </p:nvSpPr>
        <p:spPr>
          <a:xfrm>
            <a:off x="6080760" y="3794760"/>
            <a:ext cx="4480560" cy="307777"/>
          </a:xfrm>
          <a:prstGeom prst="rect">
            <a:avLst/>
          </a:prstGeom>
          <a:noFill/>
        </p:spPr>
        <p:txBody>
          <a:bodyPr wrap="square">
            <a:spAutoFit/>
          </a:bodyPr>
          <a:lstStyle/>
          <a:p>
            <a:r>
              <a:rPr sz="1400" b="1">
                <a:solidFill>
                  <a:srgbClr val="4B2E83"/>
                </a:solidFill>
              </a:rPr>
              <a:t>Report back: 3 minutes</a:t>
            </a:r>
          </a:p>
        </p:txBody>
      </p:sp>
      <p:sp>
        <p:nvSpPr>
          <p:cNvPr id="16" name="TextBox 15"/>
          <p:cNvSpPr txBox="1"/>
          <p:nvPr/>
        </p:nvSpPr>
        <p:spPr>
          <a:xfrm>
            <a:off x="6126480" y="4160520"/>
            <a:ext cx="4480560" cy="523220"/>
          </a:xfrm>
          <a:prstGeom prst="rect">
            <a:avLst/>
          </a:prstGeom>
          <a:solidFill>
            <a:schemeClr val="accent4">
              <a:lumMod val="20000"/>
              <a:lumOff val="80000"/>
            </a:schemeClr>
          </a:solidFill>
        </p:spPr>
        <p:txBody>
          <a:bodyPr wrap="square">
            <a:spAutoFit/>
          </a:bodyPr>
          <a:lstStyle/>
          <a:p>
            <a:r>
              <a:rPr lang="en-US" sz="1400" dirty="0">
                <a:solidFill>
                  <a:srgbClr val="1E1E24"/>
                </a:solidFill>
              </a:rPr>
              <a:t>S</a:t>
            </a:r>
            <a:r>
              <a:rPr sz="1400" b="0" dirty="0">
                <a:solidFill>
                  <a:srgbClr val="1E1E24"/>
                </a:solidFill>
              </a:rPr>
              <a:t>hare one change they will make to the final research paper or presentation.</a:t>
            </a:r>
          </a:p>
        </p:txBody>
      </p:sp>
      <p:sp>
        <p:nvSpPr>
          <p:cNvPr id="17" name="Text 3">
            <a:extLst>
              <a:ext uri="{FF2B5EF4-FFF2-40B4-BE49-F238E27FC236}">
                <a16:creationId xmlns:a16="http://schemas.microsoft.com/office/drawing/2014/main" id="{66849214-1DCC-46FC-B886-127DE684771A}"/>
              </a:ext>
            </a:extLst>
          </p:cNvPr>
          <p:cNvSpPr/>
          <p:nvPr/>
        </p:nvSpPr>
        <p:spPr>
          <a:xfrm>
            <a:off x="983432" y="4023028"/>
            <a:ext cx="10698480" cy="457200"/>
          </a:xfrm>
          <a:prstGeom prst="rect">
            <a:avLst/>
          </a:prstGeom>
          <a:noFill/>
          <a:ln/>
        </p:spPr>
        <p:txBody>
          <a:bodyPr wrap="square" lIns="0" tIns="0" rIns="0" bIns="0" rtlCol="0" anchor="ctr">
            <a:normAutofit/>
          </a:bodyPr>
          <a:lstStyle/>
          <a:p>
            <a:r>
              <a:rPr lang="en-US" sz="2500" b="1" dirty="0">
                <a:solidFill>
                  <a:srgbClr val="1E1E24"/>
                </a:solidFill>
              </a:rPr>
              <a:t>SEE THE NOTES ON CANVAS</a:t>
            </a:r>
            <a:endParaRPr sz="2500" b="1" dirty="0">
              <a:solidFill>
                <a:srgbClr val="1E1E24"/>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502920" y="320040"/>
            <a:ext cx="10698480" cy="457200"/>
          </a:xfrm>
          <a:prstGeom prst="rect">
            <a:avLst/>
          </a:prstGeom>
          <a:noFill/>
          <a:ln/>
        </p:spPr>
        <p:txBody>
          <a:bodyPr wrap="square" lIns="0" tIns="0" rIns="0" bIns="0" rtlCol="0" anchor="ctr">
            <a:normAutofit/>
          </a:bodyPr>
          <a:lstStyle/>
          <a:p>
            <a:pPr marL="0" indent="0">
              <a:buNone/>
            </a:pPr>
            <a:r>
              <a:rPr lang="en-US" sz="2500" b="1" dirty="0">
                <a:solidFill>
                  <a:srgbClr val="1E1E24"/>
                </a:solidFill>
                <a:latin typeface="Aptos Display" pitchFamily="34" charset="0"/>
                <a:ea typeface="Aptos Display" pitchFamily="34" charset="-122"/>
                <a:cs typeface="Aptos Display" pitchFamily="34" charset="-120"/>
              </a:rPr>
              <a:t>Conclusion</a:t>
            </a:r>
            <a:endParaRPr lang="en-US" sz="2500" dirty="0"/>
          </a:p>
        </p:txBody>
      </p:sp>
      <p:sp>
        <p:nvSpPr>
          <p:cNvPr id="6" name="Text 4"/>
          <p:cNvSpPr/>
          <p:nvPr/>
        </p:nvSpPr>
        <p:spPr>
          <a:xfrm>
            <a:off x="521208" y="795528"/>
            <a:ext cx="10241280" cy="237744"/>
          </a:xfrm>
          <a:prstGeom prst="rect">
            <a:avLst/>
          </a:prstGeom>
          <a:noFill/>
          <a:ln/>
        </p:spPr>
        <p:txBody>
          <a:bodyPr wrap="square" lIns="0" tIns="0" rIns="0" bIns="0" rtlCol="0" anchor="ctr"/>
          <a:lstStyle/>
          <a:p>
            <a:pPr marL="0" indent="0">
              <a:buNone/>
            </a:pPr>
            <a:r>
              <a:rPr lang="en-US" sz="1180" dirty="0">
                <a:solidFill>
                  <a:srgbClr val="5B5B66"/>
                </a:solidFill>
                <a:latin typeface="Aptos" pitchFamily="34" charset="0"/>
                <a:ea typeface="Aptos" pitchFamily="34" charset="-122"/>
                <a:cs typeface="Aptos" pitchFamily="34" charset="-120"/>
              </a:rPr>
              <a:t>Responsible AI is not anti-innovation; it is what makes innovation credible</a:t>
            </a:r>
            <a:endParaRPr lang="en-US" sz="1180" dirty="0"/>
          </a:p>
        </p:txBody>
      </p:sp>
      <p:sp>
        <p:nvSpPr>
          <p:cNvPr id="11" name="Shape 9"/>
          <p:cNvSpPr/>
          <p:nvPr/>
        </p:nvSpPr>
        <p:spPr>
          <a:xfrm>
            <a:off x="777240" y="1234440"/>
            <a:ext cx="10652760" cy="1417320"/>
          </a:xfrm>
          <a:prstGeom prst="roundRect">
            <a:avLst>
              <a:gd name="adj" fmla="val 5806"/>
            </a:avLst>
          </a:prstGeom>
          <a:solidFill>
            <a:srgbClr val="EEE9F7"/>
          </a:solidFill>
          <a:ln w="12700">
            <a:solidFill>
              <a:srgbClr val="EEE9F7"/>
            </a:solidFill>
            <a:prstDash val="solid"/>
          </a:ln>
          <a:effectLst>
            <a:outerShdw blurRad="12700" dist="50800" dir="2700000" algn="bl" rotWithShape="0">
              <a:srgbClr val="000000">
                <a:alpha val="12000"/>
              </a:srgbClr>
            </a:outerShdw>
          </a:effectLst>
        </p:spPr>
        <p:txBody>
          <a:bodyPr/>
          <a:lstStyle/>
          <a:p>
            <a:endParaRPr/>
          </a:p>
        </p:txBody>
      </p:sp>
      <p:sp>
        <p:nvSpPr>
          <p:cNvPr id="12" name="Text 10"/>
          <p:cNvSpPr/>
          <p:nvPr/>
        </p:nvSpPr>
        <p:spPr>
          <a:xfrm>
            <a:off x="941832" y="1362456"/>
            <a:ext cx="10323576" cy="301752"/>
          </a:xfrm>
          <a:prstGeom prst="rect">
            <a:avLst/>
          </a:prstGeom>
          <a:noFill/>
          <a:ln/>
        </p:spPr>
        <p:txBody>
          <a:bodyPr wrap="square" lIns="762" tIns="762" rIns="762" bIns="762" rtlCol="0" anchor="t">
            <a:normAutofit/>
          </a:bodyPr>
          <a:lstStyle/>
          <a:p>
            <a:pPr marL="0" indent="0" algn="l">
              <a:lnSpc>
                <a:spcPct val="95000"/>
              </a:lnSpc>
              <a:buNone/>
            </a:pPr>
            <a:r>
              <a:rPr lang="en-US" sz="1520" b="1" dirty="0">
                <a:solidFill>
                  <a:srgbClr val="4B2E83"/>
                </a:solidFill>
                <a:latin typeface="Aptos" pitchFamily="34" charset="0"/>
                <a:ea typeface="Aptos" pitchFamily="34" charset="-122"/>
                <a:cs typeface="Aptos" pitchFamily="34" charset="-120"/>
              </a:rPr>
              <a:t>A strong AI project is not simply one that works technically.</a:t>
            </a:r>
            <a:endParaRPr lang="en-US" sz="1520" dirty="0"/>
          </a:p>
        </p:txBody>
      </p:sp>
      <p:sp>
        <p:nvSpPr>
          <p:cNvPr id="13" name="Text 11"/>
          <p:cNvSpPr/>
          <p:nvPr/>
        </p:nvSpPr>
        <p:spPr>
          <a:xfrm>
            <a:off x="941832" y="1709928"/>
            <a:ext cx="10323576" cy="850392"/>
          </a:xfrm>
          <a:prstGeom prst="rect">
            <a:avLst/>
          </a:prstGeom>
          <a:noFill/>
          <a:ln/>
        </p:spPr>
        <p:txBody>
          <a:bodyPr wrap="square" lIns="762" tIns="762" rIns="762" bIns="762" rtlCol="0" anchor="t">
            <a:normAutofit/>
          </a:bodyPr>
          <a:lstStyle/>
          <a:p>
            <a:pPr marL="0" indent="0" algn="l">
              <a:lnSpc>
                <a:spcPct val="95000"/>
              </a:lnSpc>
              <a:buNone/>
            </a:pPr>
            <a:r>
              <a:rPr lang="en-US" sz="1500" dirty="0">
                <a:solidFill>
                  <a:srgbClr val="1E1E24"/>
                </a:solidFill>
                <a:latin typeface="Aptos" pitchFamily="34" charset="0"/>
                <a:ea typeface="Aptos" pitchFamily="34" charset="-122"/>
                <a:cs typeface="Aptos" pitchFamily="34" charset="-120"/>
              </a:rPr>
              <a:t>It is one that can explain its data, justify its assumptions, disclose its AI use, acknowledge uncertainty, respect authorship, and remain accountable to human and societal consequences.</a:t>
            </a:r>
            <a:endParaRPr lang="en-US" sz="1500" dirty="0"/>
          </a:p>
        </p:txBody>
      </p:sp>
      <p:sp>
        <p:nvSpPr>
          <p:cNvPr id="14" name="Shape 12"/>
          <p:cNvSpPr/>
          <p:nvPr/>
        </p:nvSpPr>
        <p:spPr>
          <a:xfrm>
            <a:off x="1051560" y="3154680"/>
            <a:ext cx="10058400" cy="1645920"/>
          </a:xfrm>
          <a:prstGeom prst="roundRect">
            <a:avLst>
              <a:gd name="adj" fmla="val 5000"/>
            </a:avLst>
          </a:prstGeom>
          <a:solidFill>
            <a:srgbClr val="FFFFFF"/>
          </a:solidFill>
          <a:ln w="12700">
            <a:solidFill>
              <a:srgbClr val="FFFFFF"/>
            </a:solidFill>
            <a:prstDash val="solid"/>
          </a:ln>
        </p:spPr>
        <p:txBody>
          <a:bodyPr/>
          <a:lstStyle/>
          <a:p>
            <a:endParaRPr/>
          </a:p>
        </p:txBody>
      </p:sp>
      <p:sp>
        <p:nvSpPr>
          <p:cNvPr id="15" name="Text 13"/>
          <p:cNvSpPr/>
          <p:nvPr/>
        </p:nvSpPr>
        <p:spPr>
          <a:xfrm>
            <a:off x="1216152" y="3282696"/>
            <a:ext cx="9729216" cy="301752"/>
          </a:xfrm>
          <a:prstGeom prst="rect">
            <a:avLst/>
          </a:prstGeom>
          <a:noFill/>
          <a:ln/>
        </p:spPr>
        <p:txBody>
          <a:bodyPr wrap="square" lIns="762" tIns="762" rIns="762" bIns="762" rtlCol="0" anchor="t">
            <a:normAutofit/>
          </a:bodyPr>
          <a:lstStyle/>
          <a:p>
            <a:pPr marL="0" indent="0" algn="l">
              <a:lnSpc>
                <a:spcPct val="95000"/>
              </a:lnSpc>
              <a:buNone/>
            </a:pPr>
            <a:r>
              <a:rPr lang="en-US" sz="1350" b="1" dirty="0">
                <a:solidFill>
                  <a:srgbClr val="4B2E83"/>
                </a:solidFill>
                <a:latin typeface="Aptos" pitchFamily="34" charset="0"/>
                <a:ea typeface="Aptos" pitchFamily="34" charset="-122"/>
                <a:cs typeface="Aptos" pitchFamily="34" charset="-120"/>
              </a:rPr>
              <a:t>Responsible AI workflow qualities</a:t>
            </a:r>
            <a:endParaRPr lang="en-US" sz="1350" dirty="0"/>
          </a:p>
        </p:txBody>
      </p:sp>
      <p:sp>
        <p:nvSpPr>
          <p:cNvPr id="16" name="Text 14"/>
          <p:cNvSpPr/>
          <p:nvPr/>
        </p:nvSpPr>
        <p:spPr>
          <a:xfrm>
            <a:off x="1216152" y="3630168"/>
            <a:ext cx="9729216" cy="1078992"/>
          </a:xfrm>
          <a:prstGeom prst="rect">
            <a:avLst/>
          </a:prstGeom>
          <a:noFill/>
          <a:ln/>
        </p:spPr>
        <p:txBody>
          <a:bodyPr wrap="square" lIns="762" tIns="762" rIns="762" bIns="762" rtlCol="0" anchor="t">
            <a:noAutofit/>
          </a:bodyPr>
          <a:lstStyle/>
          <a:p>
            <a:pPr>
              <a:lnSpc>
                <a:spcPct val="92000"/>
              </a:lnSpc>
            </a:pPr>
            <a:r>
              <a:rPr lang="en-US" sz="1200" dirty="0">
                <a:solidFill>
                  <a:srgbClr val="1E1E24"/>
                </a:solidFill>
                <a:latin typeface="Aptos" pitchFamily="34" charset="0"/>
                <a:ea typeface="Aptos" pitchFamily="34" charset="-122"/>
                <a:cs typeface="Aptos" pitchFamily="34" charset="-120"/>
              </a:rPr>
              <a:t>Technically valid</a:t>
            </a:r>
            <a:endParaRPr lang="en-US" sz="1200" dirty="0"/>
          </a:p>
          <a:p>
            <a:pPr>
              <a:lnSpc>
                <a:spcPct val="92000"/>
              </a:lnSpc>
            </a:pPr>
            <a:r>
              <a:rPr lang="en-US" sz="1200" dirty="0">
                <a:solidFill>
                  <a:srgbClr val="1E1E24"/>
                </a:solidFill>
                <a:latin typeface="Aptos" pitchFamily="34" charset="0"/>
                <a:ea typeface="Aptos" pitchFamily="34" charset="-122"/>
                <a:cs typeface="Aptos" pitchFamily="34" charset="-120"/>
              </a:rPr>
              <a:t>Contextually aware</a:t>
            </a:r>
            <a:endParaRPr lang="en-US" sz="1200" dirty="0"/>
          </a:p>
          <a:p>
            <a:pPr>
              <a:lnSpc>
                <a:spcPct val="92000"/>
              </a:lnSpc>
            </a:pPr>
            <a:r>
              <a:rPr lang="en-US" sz="1200" dirty="0">
                <a:solidFill>
                  <a:srgbClr val="1E1E24"/>
                </a:solidFill>
                <a:latin typeface="Aptos" pitchFamily="34" charset="0"/>
                <a:ea typeface="Aptos" pitchFamily="34" charset="-122"/>
                <a:cs typeface="Aptos" pitchFamily="34" charset="-120"/>
              </a:rPr>
              <a:t>Transparent about uncertainty</a:t>
            </a:r>
            <a:endParaRPr lang="en-US" sz="1200" dirty="0"/>
          </a:p>
          <a:p>
            <a:pPr>
              <a:lnSpc>
                <a:spcPct val="92000"/>
              </a:lnSpc>
            </a:pPr>
            <a:r>
              <a:rPr lang="en-US" sz="1200" dirty="0">
                <a:solidFill>
                  <a:srgbClr val="1E1E24"/>
                </a:solidFill>
                <a:latin typeface="Aptos" pitchFamily="34" charset="0"/>
                <a:ea typeface="Aptos" pitchFamily="34" charset="-122"/>
                <a:cs typeface="Aptos" pitchFamily="34" charset="-120"/>
              </a:rPr>
              <a:t>Clear about authorship</a:t>
            </a:r>
            <a:endParaRPr lang="en-US" sz="1200" dirty="0"/>
          </a:p>
          <a:p>
            <a:pPr>
              <a:lnSpc>
                <a:spcPct val="92000"/>
              </a:lnSpc>
            </a:pPr>
            <a:r>
              <a:rPr lang="en-US" sz="1200" dirty="0">
                <a:solidFill>
                  <a:srgbClr val="1E1E24"/>
                </a:solidFill>
                <a:latin typeface="Aptos" pitchFamily="34" charset="0"/>
                <a:ea typeface="Aptos" pitchFamily="34" charset="-122"/>
                <a:cs typeface="Aptos" pitchFamily="34" charset="-120"/>
              </a:rPr>
              <a:t>Careful with data</a:t>
            </a:r>
            <a:endParaRPr lang="en-US" sz="1200" dirty="0"/>
          </a:p>
          <a:p>
            <a:pPr>
              <a:lnSpc>
                <a:spcPct val="92000"/>
              </a:lnSpc>
            </a:pPr>
            <a:r>
              <a:rPr lang="en-US" sz="1200" dirty="0">
                <a:solidFill>
                  <a:srgbClr val="1E1E24"/>
                </a:solidFill>
                <a:latin typeface="Aptos" pitchFamily="34" charset="0"/>
                <a:ea typeface="Aptos" pitchFamily="34" charset="-122"/>
                <a:cs typeface="Aptos" pitchFamily="34" charset="-120"/>
              </a:rPr>
              <a:t>Sensitive to equity</a:t>
            </a:r>
            <a:endParaRPr lang="en-US" sz="1200" dirty="0"/>
          </a:p>
          <a:p>
            <a:pPr>
              <a:lnSpc>
                <a:spcPct val="92000"/>
              </a:lnSpc>
            </a:pPr>
            <a:r>
              <a:rPr lang="en-US" sz="1200" dirty="0">
                <a:solidFill>
                  <a:srgbClr val="1E1E24"/>
                </a:solidFill>
                <a:latin typeface="Aptos" pitchFamily="34" charset="0"/>
                <a:ea typeface="Aptos" pitchFamily="34" charset="-122"/>
                <a:cs typeface="Aptos" pitchFamily="34" charset="-120"/>
              </a:rPr>
              <a:t>Accountable to human judgment</a:t>
            </a:r>
            <a:endParaRPr lang="en-US" sz="1200" dirty="0"/>
          </a:p>
          <a:p>
            <a:pPr>
              <a:lnSpc>
                <a:spcPct val="92000"/>
              </a:lnSpc>
            </a:pPr>
            <a:r>
              <a:rPr lang="en-US" sz="1200" dirty="0">
                <a:solidFill>
                  <a:srgbClr val="1E1E24"/>
                </a:solidFill>
                <a:latin typeface="Aptos" pitchFamily="34" charset="0"/>
                <a:ea typeface="Aptos" pitchFamily="34" charset="-122"/>
                <a:cs typeface="Aptos" pitchFamily="34" charset="-120"/>
              </a:rPr>
              <a:t>Governed before, during, and after deployment</a:t>
            </a:r>
            <a:endParaRPr lang="en-US" sz="1200" dirty="0"/>
          </a:p>
        </p:txBody>
      </p:sp>
      <p:sp>
        <p:nvSpPr>
          <p:cNvPr id="17" name="Text 15"/>
          <p:cNvSpPr/>
          <p:nvPr/>
        </p:nvSpPr>
        <p:spPr>
          <a:xfrm>
            <a:off x="1234440" y="5532120"/>
            <a:ext cx="9784080" cy="347472"/>
          </a:xfrm>
          <a:prstGeom prst="rect">
            <a:avLst/>
          </a:prstGeom>
          <a:noFill/>
          <a:ln/>
        </p:spPr>
        <p:txBody>
          <a:bodyPr wrap="square" lIns="762" tIns="762" rIns="762" bIns="762" rtlCol="0" anchor="t">
            <a:normAutofit fontScale="92500"/>
          </a:bodyPr>
          <a:lstStyle/>
          <a:p>
            <a:pPr marL="0" indent="0" algn="ctr">
              <a:lnSpc>
                <a:spcPct val="95000"/>
              </a:lnSpc>
              <a:buNone/>
            </a:pPr>
            <a:r>
              <a:rPr lang="en-US" sz="1520" b="1" dirty="0">
                <a:solidFill>
                  <a:srgbClr val="1E1E24"/>
                </a:solidFill>
                <a:latin typeface="Aptos" pitchFamily="34" charset="0"/>
                <a:ea typeface="Aptos" pitchFamily="34" charset="-122"/>
                <a:cs typeface="Aptos" pitchFamily="34" charset="-120"/>
              </a:rPr>
              <a:t>Final question for students: What should AI do, under what conditions, for whom, and with what forms of responsibility?</a:t>
            </a:r>
            <a:endParaRPr lang="en-US" sz="152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06652-2001-018C-839E-DB0B5808692F}"/>
              </a:ext>
            </a:extLst>
          </p:cNvPr>
          <p:cNvSpPr>
            <a:spLocks noGrp="1"/>
          </p:cNvSpPr>
          <p:nvPr>
            <p:ph type="title"/>
          </p:nvPr>
        </p:nvSpPr>
        <p:spPr/>
        <p:txBody>
          <a:bodyPr/>
          <a:lstStyle/>
          <a:p>
            <a:r>
              <a:rPr lang="en-GB" noProof="0" dirty="0"/>
              <a:t>References and Frameworks</a:t>
            </a:r>
          </a:p>
        </p:txBody>
      </p:sp>
      <p:sp>
        <p:nvSpPr>
          <p:cNvPr id="3" name="Content Placeholder 2">
            <a:extLst>
              <a:ext uri="{FF2B5EF4-FFF2-40B4-BE49-F238E27FC236}">
                <a16:creationId xmlns:a16="http://schemas.microsoft.com/office/drawing/2014/main" id="{7166463F-C0AA-1660-E3D6-0262018C4CF5}"/>
              </a:ext>
            </a:extLst>
          </p:cNvPr>
          <p:cNvSpPr>
            <a:spLocks noGrp="1"/>
          </p:cNvSpPr>
          <p:nvPr>
            <p:ph idx="1"/>
          </p:nvPr>
        </p:nvSpPr>
        <p:spPr/>
        <p:txBody>
          <a:bodyPr/>
          <a:lstStyle/>
          <a:p>
            <a:pPr lvl="0"/>
            <a:r>
              <a:rPr lang="en-US" dirty="0"/>
              <a:t>Shehu, A. (2026). The Harder Charge: Teaching Technical AI Literacy Across Majors: Refusing the Breadth-Depth Tradeoff in AI Literacy. ACM AI Letters. </a:t>
            </a:r>
            <a:r>
              <a:rPr lang="en-US" dirty="0">
                <a:hlinkClick r:id="rId2"/>
              </a:rPr>
              <a:t>https://doi.org/10.1145/3816259</a:t>
            </a:r>
            <a:endParaRPr lang="en-US" sz="2000" dirty="0"/>
          </a:p>
          <a:p>
            <a:pPr lvl="0"/>
            <a:r>
              <a:rPr lang="en-US" dirty="0"/>
              <a:t>National Institute of Standards and Technology. AI Risk Management Framework. </a:t>
            </a:r>
            <a:r>
              <a:rPr lang="en-US" dirty="0">
                <a:hlinkClick r:id="rId3"/>
              </a:rPr>
              <a:t>https://www.nist.gov/itl/ai-risk-management-framework</a:t>
            </a:r>
            <a:endParaRPr lang="en-US" sz="2000" dirty="0"/>
          </a:p>
          <a:p>
            <a:pPr lvl="0"/>
            <a:r>
              <a:rPr lang="en-US" dirty="0"/>
              <a:t>UNESCO. Recommendation on the Ethics of Artificial Intelligence. </a:t>
            </a:r>
            <a:r>
              <a:rPr lang="en-US" dirty="0">
                <a:hlinkClick r:id="rId4"/>
              </a:rPr>
              <a:t>https://www.unesco.org/en/ethics-ai/recommendation</a:t>
            </a:r>
            <a:endParaRPr lang="en-US" sz="2000" dirty="0"/>
          </a:p>
          <a:p>
            <a:pPr lvl="0"/>
            <a:r>
              <a:rPr lang="en-US" dirty="0"/>
              <a:t>Committee on Publication Ethics. Authorship and AI tools. </a:t>
            </a:r>
            <a:r>
              <a:rPr lang="en-US" dirty="0">
                <a:hlinkClick r:id="rId5"/>
              </a:rPr>
              <a:t>https://publicationethics.org/guidance/cope-position/authorship-and-ai-tools</a:t>
            </a:r>
            <a:endParaRPr lang="en-US" sz="2000" dirty="0"/>
          </a:p>
          <a:p>
            <a:pPr marL="0" indent="0">
              <a:buNone/>
            </a:pPr>
            <a:endParaRPr lang="en-GB" dirty="0"/>
          </a:p>
          <a:p>
            <a:pPr marL="0" indent="0">
              <a:buNone/>
            </a:pPr>
            <a:endParaRPr lang="en-GB" b="1" noProof="0" dirty="0">
              <a:solidFill>
                <a:srgbClr val="A54EF3"/>
              </a:solidFill>
            </a:endParaRPr>
          </a:p>
          <a:p>
            <a:endParaRPr lang="en-GB" noProof="0" dirty="0"/>
          </a:p>
          <a:p>
            <a:endParaRPr lang="en-GB" noProof="0" dirty="0"/>
          </a:p>
          <a:p>
            <a:endParaRPr lang="en-GB" noProof="0" dirty="0"/>
          </a:p>
        </p:txBody>
      </p:sp>
      <p:sp>
        <p:nvSpPr>
          <p:cNvPr id="4" name="Slide Number Placeholder 3">
            <a:extLst>
              <a:ext uri="{FF2B5EF4-FFF2-40B4-BE49-F238E27FC236}">
                <a16:creationId xmlns:a16="http://schemas.microsoft.com/office/drawing/2014/main" id="{D79BE04A-E4DC-B8B4-D243-F236FCC8D28F}"/>
              </a:ext>
            </a:extLst>
          </p:cNvPr>
          <p:cNvSpPr>
            <a:spLocks noGrp="1"/>
          </p:cNvSpPr>
          <p:nvPr>
            <p:ph type="sldNum" sz="quarter" idx="12"/>
          </p:nvPr>
        </p:nvSpPr>
        <p:spPr/>
        <p:txBody>
          <a:bodyPr/>
          <a:lstStyle/>
          <a:p>
            <a:fld id="{A4DA0FD2-D456-4FC5-A587-87644C4EB2D1}" type="slidenum">
              <a:rPr lang="en-GB" noProof="0" smtClean="0"/>
              <a:pPr/>
              <a:t>48</a:t>
            </a:fld>
            <a:endParaRPr lang="en-GB" noProof="0" dirty="0"/>
          </a:p>
        </p:txBody>
      </p:sp>
    </p:spTree>
    <p:extLst>
      <p:ext uri="{BB962C8B-B14F-4D97-AF65-F5344CB8AC3E}">
        <p14:creationId xmlns:p14="http://schemas.microsoft.com/office/powerpoint/2010/main" val="1252726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446938E-2735-E543-9840-0DCE71799732}"/>
              </a:ext>
            </a:extLst>
          </p:cNvPr>
          <p:cNvSpPr>
            <a:spLocks noGrp="1"/>
          </p:cNvSpPr>
          <p:nvPr>
            <p:ph type="sldNum" sz="quarter" idx="12"/>
          </p:nvPr>
        </p:nvSpPr>
        <p:spPr/>
        <p:txBody>
          <a:bodyPr/>
          <a:lstStyle/>
          <a:p>
            <a:fld id="{4F76C18F-78ED-364E-868B-B1136D5278E5}" type="slidenum">
              <a:rPr lang="en-US" smtClean="0"/>
              <a:t>49</a:t>
            </a:fld>
            <a:endParaRPr lang="en-US"/>
          </a:p>
        </p:txBody>
      </p:sp>
      <p:sp>
        <p:nvSpPr>
          <p:cNvPr id="2" name="Title 1">
            <a:extLst>
              <a:ext uri="{FF2B5EF4-FFF2-40B4-BE49-F238E27FC236}">
                <a16:creationId xmlns:a16="http://schemas.microsoft.com/office/drawing/2014/main" id="{C744430A-41E7-1F1D-9809-AEC51915F29B}"/>
              </a:ext>
            </a:extLst>
          </p:cNvPr>
          <p:cNvSpPr>
            <a:spLocks noGrp="1"/>
          </p:cNvSpPr>
          <p:nvPr>
            <p:ph type="title"/>
          </p:nvPr>
        </p:nvSpPr>
        <p:spPr>
          <a:xfrm>
            <a:off x="4583832" y="2780928"/>
            <a:ext cx="2656782" cy="941325"/>
          </a:xfrm>
        </p:spPr>
        <p:txBody>
          <a:bodyPr/>
          <a:lstStyle/>
          <a:p>
            <a:r>
              <a:rPr lang="en-US" dirty="0"/>
              <a:t>QUESTIONS?</a:t>
            </a:r>
          </a:p>
        </p:txBody>
      </p:sp>
    </p:spTree>
    <p:extLst>
      <p:ext uri="{BB962C8B-B14F-4D97-AF65-F5344CB8AC3E}">
        <p14:creationId xmlns:p14="http://schemas.microsoft.com/office/powerpoint/2010/main" val="248126148"/>
      </p:ext>
    </p:extLst>
  </p:cSld>
  <p:clrMapOvr>
    <a:masterClrMapping/>
  </p:clrMapOvr>
  <mc:AlternateContent xmlns:mc="http://schemas.openxmlformats.org/markup-compatibility/2006" xmlns:p14="http://schemas.microsoft.com/office/powerpoint/2010/main">
    <mc:Choice Requires="p14">
      <p:transition spd="slow" p14:dur="2000" advTm="5592"/>
    </mc:Choice>
    <mc:Fallback xmlns="">
      <p:transition spd="slow" advTm="5592"/>
    </mc:Fallback>
  </mc:AlternateContent>
</p:sld>
</file>

<file path=ppt/theme/theme1.xml><?xml version="1.0" encoding="utf-8"?>
<a:theme xmlns:a="http://schemas.openxmlformats.org/drawingml/2006/main" name="UW Lecture Notes ">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2026_AI_Lecture09_ML-Classification" id="{08272AB1-6F88-AB4E-9C44-CC59BCA810E3}" vid="{F570A49F-2F56-134A-A0DA-063E5565C5F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33913</TotalTime>
  <Words>5139</Words>
  <Application>Microsoft Macintosh PowerPoint</Application>
  <PresentationFormat>Widescreen</PresentationFormat>
  <Paragraphs>770</Paragraphs>
  <Slides>49</Slides>
  <Notes>40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49</vt:i4>
      </vt:variant>
    </vt:vector>
  </HeadingPairs>
  <TitlesOfParts>
    <vt:vector size="57" baseType="lpstr">
      <vt:lpstr>Aptos</vt:lpstr>
      <vt:lpstr>Aptos Display</vt:lpstr>
      <vt:lpstr>Arial</vt:lpstr>
      <vt:lpstr>Gill Sans MT</vt:lpstr>
      <vt:lpstr>Helvetica</vt:lpstr>
      <vt:lpstr>Times New Roman</vt:lpstr>
      <vt:lpstr>Wingdings 2</vt:lpstr>
      <vt:lpstr>UW Lecture Notes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and Frameworks</vt:lpstr>
      <vt:lpstr>QUESTIONS?</vt:lpstr>
    </vt:vector>
  </TitlesOfParts>
  <Company>BOGAZICI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Machine Learning</dc:title>
  <dc:creator>ethem</dc:creator>
  <cp:lastModifiedBy>narjes abbasabadi</cp:lastModifiedBy>
  <cp:revision>407</cp:revision>
  <dcterms:created xsi:type="dcterms:W3CDTF">2005-01-24T14:46:28Z</dcterms:created>
  <dcterms:modified xsi:type="dcterms:W3CDTF">2026-05-27T15:23:22Z</dcterms:modified>
</cp:coreProperties>
</file>