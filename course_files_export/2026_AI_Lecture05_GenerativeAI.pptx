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79" r:id="rId1"/>
  </p:sldMasterIdLst>
  <p:notesMasterIdLst>
    <p:notesMasterId r:id="rId33"/>
  </p:notesMasterIdLst>
  <p:handoutMasterIdLst>
    <p:handoutMasterId r:id="rId34"/>
  </p:handoutMasterIdLst>
  <p:sldIdLst>
    <p:sldId id="2732" r:id="rId2"/>
    <p:sldId id="2537" r:id="rId3"/>
    <p:sldId id="2760" r:id="rId4"/>
    <p:sldId id="2762" r:id="rId5"/>
    <p:sldId id="2763" r:id="rId6"/>
    <p:sldId id="2764" r:id="rId7"/>
    <p:sldId id="2765" r:id="rId8"/>
    <p:sldId id="2766" r:id="rId9"/>
    <p:sldId id="2767" r:id="rId10"/>
    <p:sldId id="2768" r:id="rId11"/>
    <p:sldId id="2769" r:id="rId12"/>
    <p:sldId id="2771" r:id="rId13"/>
    <p:sldId id="2770" r:id="rId14"/>
    <p:sldId id="2772" r:id="rId15"/>
    <p:sldId id="2773" r:id="rId16"/>
    <p:sldId id="2774" r:id="rId17"/>
    <p:sldId id="2775" r:id="rId18"/>
    <p:sldId id="2776" r:id="rId19"/>
    <p:sldId id="2778" r:id="rId20"/>
    <p:sldId id="2779" r:id="rId21"/>
    <p:sldId id="2780" r:id="rId22"/>
    <p:sldId id="2781" r:id="rId23"/>
    <p:sldId id="2782" r:id="rId24"/>
    <p:sldId id="2783" r:id="rId25"/>
    <p:sldId id="2785" r:id="rId26"/>
    <p:sldId id="2787" r:id="rId27"/>
    <p:sldId id="2788" r:id="rId28"/>
    <p:sldId id="2761" r:id="rId29"/>
    <p:sldId id="2642" r:id="rId30"/>
    <p:sldId id="2220" r:id="rId31"/>
    <p:sldId id="1180" r:id="rId32"/>
  </p:sldIdLst>
  <p:sldSz cx="12192000" cy="6858000"/>
  <p:notesSz cx="10234613" cy="70993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6">
          <p15:clr>
            <a:srgbClr val="A4A3A4"/>
          </p15:clr>
        </p15:guide>
        <p15:guide id="2" pos="322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2D83"/>
    <a:srgbClr val="A54EF3"/>
    <a:srgbClr val="876DAC"/>
    <a:srgbClr val="A756B2"/>
    <a:srgbClr val="9344D1"/>
    <a:srgbClr val="7030A0"/>
    <a:srgbClr val="000000"/>
    <a:srgbClr val="FF0000"/>
    <a:srgbClr val="B0304A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81" autoAdjust="0"/>
    <p:restoredTop sz="94490" autoAdjust="0"/>
  </p:normalViewPr>
  <p:slideViewPr>
    <p:cSldViewPr>
      <p:cViewPr varScale="1">
        <p:scale>
          <a:sx n="121" d="100"/>
          <a:sy n="121" d="100"/>
        </p:scale>
        <p:origin x="848" y="1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0" d="100"/>
          <a:sy n="80" d="100"/>
        </p:scale>
        <p:origin x="-1254" y="-84"/>
      </p:cViewPr>
      <p:guideLst>
        <p:guide orient="horz" pos="2236"/>
        <p:guide pos="322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charset="0"/>
              </a:defRPr>
            </a:lvl1pPr>
          </a:lstStyle>
          <a:p>
            <a:endParaRPr lang="tr-TR"/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797550" y="0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charset="0"/>
              </a:defRPr>
            </a:lvl1pPr>
          </a:lstStyle>
          <a:p>
            <a:endParaRPr lang="tr-TR"/>
          </a:p>
        </p:txBody>
      </p:sp>
      <p:sp>
        <p:nvSpPr>
          <p:cNvPr id="129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742113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charset="0"/>
              </a:defRPr>
            </a:lvl1pPr>
          </a:lstStyle>
          <a:p>
            <a:endParaRPr lang="tr-TR"/>
          </a:p>
        </p:txBody>
      </p:sp>
      <p:sp>
        <p:nvSpPr>
          <p:cNvPr id="129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797550" y="6742113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charset="0"/>
              </a:defRPr>
            </a:lvl1pPr>
          </a:lstStyle>
          <a:p>
            <a:fld id="{5FF5AA11-6FE7-4D92-860D-F09A5A1025BA}" type="slidenum">
              <a:rPr lang="tr-TR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charset="0"/>
              </a:defRPr>
            </a:lvl1pPr>
          </a:lstStyle>
          <a:p>
            <a:endParaRPr lang="tr-TR"/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797550" y="0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charset="0"/>
              </a:defRPr>
            </a:lvl1pPr>
          </a:lstStyle>
          <a:p>
            <a:endParaRPr lang="tr-TR"/>
          </a:p>
        </p:txBody>
      </p:sp>
      <p:sp>
        <p:nvSpPr>
          <p:cNvPr id="798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751138" y="531813"/>
            <a:ext cx="4730750" cy="26622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98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23938" y="3371850"/>
            <a:ext cx="8186737" cy="319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</a:p>
        </p:txBody>
      </p:sp>
      <p:sp>
        <p:nvSpPr>
          <p:cNvPr id="798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742113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charset="0"/>
              </a:defRPr>
            </a:lvl1pPr>
          </a:lstStyle>
          <a:p>
            <a:endParaRPr lang="tr-TR"/>
          </a:p>
        </p:txBody>
      </p:sp>
      <p:sp>
        <p:nvSpPr>
          <p:cNvPr id="798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797550" y="6742113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charset="0"/>
              </a:defRPr>
            </a:lvl1pPr>
          </a:lstStyle>
          <a:p>
            <a:fld id="{8B153843-1CF4-4938-B773-3DA6477B563D}" type="slidenum">
              <a:rPr lang="tr-TR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2EB6C-62C6-C042-57A9-F3E9D381B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39125C-3529-B401-8E02-917FEBF68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0750" cy="266223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1C0024-06D1-0C14-BB05-E822F5CDB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BE75EA-E43C-E019-0C51-95A31DD536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53843-1CF4-4938-B773-3DA6477B563D}" type="slidenum">
              <a:rPr lang="tr-TR" smtClean="0"/>
              <a:pPr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019127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53843-1CF4-4938-B773-3DA6477B563D}" type="slidenum">
              <a:rPr lang="tr-TR" smtClean="0"/>
              <a:pPr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034723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E81F-9340-44B8-B140-86966CCF85B6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637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1" name="Google Shape;38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536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4922" y="990600"/>
            <a:ext cx="10653003" cy="1504844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rgbClr val="4B2D8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4922" y="2495445"/>
            <a:ext cx="10653003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rgbClr val="4B2D8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4B2D83"/>
                </a:solidFill>
              </a:defRPr>
            </a:lvl1pPr>
          </a:lstStyle>
          <a:p>
            <a:r>
              <a:rPr lang="tr-TR"/>
              <a:t>7/7/2014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B2D83"/>
                </a:solidFill>
              </a:defRPr>
            </a:lvl1pPr>
          </a:lstStyle>
          <a:p>
            <a:r>
              <a:rPr kumimoji="0" lang="en-US">
                <a:solidFill>
                  <a:schemeClr val="accent1">
                    <a:tint val="20000"/>
                  </a:schemeClr>
                </a:solidFill>
              </a:rPr>
              <a:t>Lecture Notes for E Alpaydın 2014 Introduction to Machine Learning 3e © The MIT Press (V1.0)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B2D83"/>
                </a:solidFill>
              </a:defRPr>
            </a:lvl1pPr>
          </a:lstStyle>
          <a:p>
            <a:fld id="{D5BBC35B-A44B-4119-B8DA-DE9E3DFADA20}" type="slidenum">
              <a:rPr kumimoji="0" lang="en-US" smtClean="0"/>
              <a:pPr/>
              <a:t>‹#›</a:t>
            </a:fld>
            <a:endParaRPr kumimoji="0"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977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922" y="2228004"/>
            <a:ext cx="10653003" cy="36307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4B2D83"/>
                </a:solidFill>
              </a:defRPr>
            </a:lvl1pPr>
          </a:lstStyle>
          <a:p>
            <a:r>
              <a:rPr lang="tr-TR"/>
              <a:t>7/7/2014</a:t>
            </a:r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Notes for E Alpaydın 2014 Introduction to Machine Learning 3e © The MIT Press (V1.0)</a:t>
            </a:r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A0FD2-D456-4FC5-A587-87644C4EB2D1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43961449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925" y="3036573"/>
            <a:ext cx="10653001" cy="1504844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4925" y="4541417"/>
            <a:ext cx="1065300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rgbClr val="4B2D83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4B2D83"/>
                </a:solidFill>
              </a:defRPr>
            </a:lvl1pPr>
          </a:lstStyle>
          <a:p>
            <a:r>
              <a:rPr lang="tr-TR"/>
              <a:t>7/7/2014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B2D83"/>
                </a:solidFill>
              </a:defRPr>
            </a:lvl1pPr>
          </a:lstStyle>
          <a:p>
            <a:r>
              <a:rPr lang="en-US"/>
              <a:t>Lecture Notes for E Alpaydın 2014 Introduction to Machine Learning 3e © The MIT Press (V1.0)</a:t>
            </a:r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B2D83"/>
                </a:solidFill>
              </a:defRPr>
            </a:lvl1pPr>
          </a:lstStyle>
          <a:p>
            <a:fld id="{0BF0E594-9508-4F75-8FB2-7E9FCE92EA31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0140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4924" y="2228003"/>
            <a:ext cx="51993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709" y="2228004"/>
            <a:ext cx="5210216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/>
              <a:t>7/7/2014</a:t>
            </a:r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Notes for E Alpaydın 2014 Introduction to Machine Learning 3e © The MIT Press (V1.0)</a:t>
            </a:r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A0FD2-D456-4FC5-A587-87644C4EB2D1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8841852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2959" y="2228003"/>
            <a:ext cx="4791333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rgbClr val="4B2D8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4924" y="2926052"/>
            <a:ext cx="5199369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25745" y="2228003"/>
            <a:ext cx="4802180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rgbClr val="4B2D8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21021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/>
              <a:t>7/7/2014</a:t>
            </a:r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Notes for E Alpaydın 2014 Introduction to Machine Learning 3e © The MIT Press (V1.0)</a:t>
            </a:r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A0FD2-D456-4FC5-A587-87644C4EB2D1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2257689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/>
              <a:t>7/7/2014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Notes for E Alpaydın 2014 Introduction to Machine Learning 3e © The MIT Press (V1.0)</a:t>
            </a:r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51A6-28A7-47F6-AE2C-F4B123EFE551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05678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/>
              <a:t>7/7/2014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Notes for E Alpaydın 2014 Introduction to Machine Learning 3e © The MIT Press (V1.0)</a:t>
            </a:r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5849B-5B8D-4701-B904-178A9E77F54C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54099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5137" y="5262296"/>
            <a:ext cx="4715500" cy="689514"/>
          </a:xfrm>
        </p:spPr>
        <p:txBody>
          <a:bodyPr anchor="ctr"/>
          <a:lstStyle>
            <a:lvl1pPr algn="l">
              <a:defRPr sz="2000" b="0">
                <a:solidFill>
                  <a:srgbClr val="4B2D8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199" y="601200"/>
            <a:ext cx="1098720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687103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tr-TR"/>
              <a:t>7/7/2014</a:t>
            </a:r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B2D83"/>
                </a:solidFill>
              </a:defRPr>
            </a:lvl1pPr>
          </a:lstStyle>
          <a:p>
            <a:r>
              <a:rPr lang="en-US"/>
              <a:t>Lecture Notes for E Alpaydın 2014 Introduction to Machine Learning 3e © The MIT Press (V1.0)</a:t>
            </a:r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B2D83"/>
                </a:solidFill>
              </a:defRPr>
            </a:lvl1pPr>
          </a:lstStyle>
          <a:p>
            <a:fld id="{A4DA0FD2-D456-4FC5-A587-87644C4EB2D1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8690241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922" y="4693389"/>
            <a:ext cx="10653003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458" y="599725"/>
            <a:ext cx="10984941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4922" y="5260127"/>
            <a:ext cx="10653003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/>
              <a:t>7/7/2014</a:t>
            </a:r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Notes for E Alpaydın 2014 Introduction to Machine Learning 3e © The MIT Press (V1.0)</a:t>
            </a:r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A0FD2-D456-4FC5-A587-87644C4EB2D1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1547421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981200"/>
            <a:ext cx="53848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3848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4000500"/>
            <a:ext cx="53848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4000500"/>
            <a:ext cx="53848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1" y="6642100"/>
            <a:ext cx="8064500" cy="2159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Lecture Notes for E Alpaydın 2014 Introduction to Machine Learning 3e © The MIT Press (V1.0)</a:t>
            </a:r>
            <a:endParaRPr lang="tr-TR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784167" y="6237288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A4DA0FD2-D456-4FC5-A587-87644C4EB2D1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7325354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3848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000500"/>
            <a:ext cx="53848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1" y="6642100"/>
            <a:ext cx="8064500" cy="2159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Lecture Notes for E Alpaydın 2014 Introduction to Machine Learning 3e © The MIT Press (V1.0)</a:t>
            </a:r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784167" y="6237288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A4DA0FD2-D456-4FC5-A587-87644C4EB2D1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6991609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3848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000500"/>
            <a:ext cx="53848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1" y="6642100"/>
            <a:ext cx="8064500" cy="2159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Lecture Notes for E Alpaydın 2014 Introduction to Machine Learning 3e © The MIT Press (V1.0)</a:t>
            </a:r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784167" y="6237288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A4DA0FD2-D456-4FC5-A587-87644C4EB2D1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2340916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22" y="687475"/>
            <a:ext cx="10653003" cy="1083329"/>
          </a:xfrm>
          <a:prstGeom prst="rect">
            <a:avLst/>
          </a:prstGeom>
        </p:spPr>
        <p:txBody>
          <a:bodyPr vert="horz" wrap="square" lIns="91440" tIns="0" rIns="91440" bIns="4572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4922" y="2228003"/>
            <a:ext cx="10653003" cy="363079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12436" y="595613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4B2D83"/>
                </a:solidFill>
              </a:defRPr>
            </a:lvl1pPr>
          </a:lstStyle>
          <a:p>
            <a:r>
              <a:rPr lang="tr-TR"/>
              <a:t>7/7/2014</a:t>
            </a:r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4924" y="5951811"/>
            <a:ext cx="6494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rgbClr val="4B2D83"/>
                </a:solidFill>
              </a:defRPr>
            </a:lvl1pPr>
          </a:lstStyle>
          <a:p>
            <a:r>
              <a:rPr lang="en-US"/>
              <a:t>Lecture Notes for E Alpaydın 2014 Introduction to Machine Learning 3e © The MIT Press (V1.0)</a:t>
            </a:r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00635" y="5956137"/>
            <a:ext cx="10272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4B2D83"/>
                </a:solidFill>
              </a:defRPr>
            </a:lvl1pPr>
          </a:lstStyle>
          <a:p>
            <a:fld id="{A4DA0FD2-D456-4FC5-A587-87644C4EB2D1}" type="slidenum">
              <a:rPr lang="tr-TR" smtClean="0"/>
              <a:pPr/>
              <a:t>‹#›</a:t>
            </a:fld>
            <a:endParaRPr lang="tr-T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603E0D-434A-9E56-322C-606DED7ABAC5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6570695"/>
            <a:ext cx="12192000" cy="2991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F40BAB-8633-230B-3244-4D0830C8CA7A}"/>
              </a:ext>
            </a:extLst>
          </p:cNvPr>
          <p:cNvSpPr txBox="1"/>
          <p:nvPr userDrawn="1"/>
        </p:nvSpPr>
        <p:spPr>
          <a:xfrm>
            <a:off x="774921" y="6607038"/>
            <a:ext cx="1141542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0" dirty="0">
                <a:solidFill>
                  <a:schemeClr val="bg1"/>
                </a:solidFill>
                <a:latin typeface="Helvetica" pitchFamily="2" charset="0"/>
              </a:rPr>
              <a:t>ARCH 594/508: AI Research Seminar/Studio – AI in Architecture</a:t>
            </a:r>
            <a:endParaRPr lang="en-US" sz="900" b="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08E26F-5A5C-B0FC-3179-A359FC3EC7D5}"/>
              </a:ext>
            </a:extLst>
          </p:cNvPr>
          <p:cNvSpPr txBox="1"/>
          <p:nvPr userDrawn="1"/>
        </p:nvSpPr>
        <p:spPr>
          <a:xfrm>
            <a:off x="7871432" y="6597352"/>
            <a:ext cx="3429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NARJES ABBASABADI, PH.D.</a:t>
            </a:r>
          </a:p>
        </p:txBody>
      </p:sp>
      <p:pic>
        <p:nvPicPr>
          <p:cNvPr id="12" name="Picture 11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1309FBF8-E6ED-B105-7FBE-EE22582EBC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9337"/>
          <a:stretch>
            <a:fillRect/>
          </a:stretch>
        </p:blipFill>
        <p:spPr>
          <a:xfrm>
            <a:off x="9552384" y="6563763"/>
            <a:ext cx="2419613" cy="274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080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0" r:id="rId1"/>
    <p:sldLayoutId id="2147484081" r:id="rId2"/>
    <p:sldLayoutId id="2147484082" r:id="rId3"/>
    <p:sldLayoutId id="2147484083" r:id="rId4"/>
    <p:sldLayoutId id="2147484084" r:id="rId5"/>
    <p:sldLayoutId id="2147484085" r:id="rId6"/>
    <p:sldLayoutId id="2147484086" r:id="rId7"/>
    <p:sldLayoutId id="2147484087" r:id="rId8"/>
    <p:sldLayoutId id="2147484088" r:id="rId9"/>
    <p:sldLayoutId id="2147484089" r:id="rId10"/>
    <p:sldLayoutId id="2147484090" r:id="rId11"/>
    <p:sldLayoutId id="2147484091" r:id="rId12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rgbClr val="4B2D83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rgbClr val="4B2D83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rgbClr val="4B2D83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rgbClr val="4B2D83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rgbClr val="4B2D83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rgbClr val="4B2D83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abbasab@uw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44223-025-00092-5" TargetMode="External"/><Relationship Id="rId2" Type="http://schemas.openxmlformats.org/officeDocument/2006/relationships/hyperlink" Target="https://www.sciencedirect.com/science/article/pii/S0926580525002146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colab.research.google.com/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5B33C-6C3C-BDB0-C68B-33BFCE7E7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21E20-ACF1-51A5-4DFC-5E7AEEA1F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A0FD2-D456-4FC5-A587-87644C4EB2D1}" type="slidenum">
              <a:rPr lang="tr-TR" smtClean="0"/>
              <a:pPr/>
              <a:t>1</a:t>
            </a:fld>
            <a:endParaRPr lang="tr-T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8725B2-6571-62CB-7F5A-AD118C3796AA}"/>
              </a:ext>
            </a:extLst>
          </p:cNvPr>
          <p:cNvSpPr txBox="1"/>
          <p:nvPr/>
        </p:nvSpPr>
        <p:spPr>
          <a:xfrm>
            <a:off x="616998" y="5004488"/>
            <a:ext cx="4320480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000" dirty="0">
              <a:latin typeface="Helvetica" pitchFamily="2" charset="0"/>
              <a:ea typeface="Times New Roman" panose="02020603050405020304" pitchFamily="18" charset="0"/>
            </a:endParaRPr>
          </a:p>
          <a:p>
            <a:r>
              <a:rPr lang="en-US" sz="1000" dirty="0">
                <a:latin typeface="Helvetica" pitchFamily="2" charset="0"/>
                <a:cs typeface="Arial" panose="020B0604020202020204" pitchFamily="34" charset="0"/>
              </a:rPr>
              <a:t>Narjes Abbasabadi, Ph.D. Assistant Professor </a:t>
            </a:r>
          </a:p>
          <a:p>
            <a:r>
              <a:rPr lang="en-US" sz="1000" dirty="0">
                <a:latin typeface="Helvetica" pitchFamily="2" charset="0"/>
              </a:rPr>
              <a:t>Email: </a:t>
            </a:r>
            <a:r>
              <a:rPr lang="en-US" sz="1000" dirty="0">
                <a:latin typeface="Helvetica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nabbasab@uw.edu</a:t>
            </a:r>
            <a:endParaRPr lang="en-US" sz="1000" dirty="0">
              <a:latin typeface="Helvetica" pitchFamily="2" charset="0"/>
            </a:endParaRPr>
          </a:p>
          <a:p>
            <a:pPr>
              <a:lnSpc>
                <a:spcPct val="80000"/>
              </a:lnSpc>
              <a:spcBef>
                <a:spcPts val="152"/>
              </a:spcBef>
              <a:buClr>
                <a:schemeClr val="dk1"/>
              </a:buClr>
              <a:buSzPts val="1800"/>
            </a:pPr>
            <a:r>
              <a:rPr lang="en-US" sz="1000" dirty="0">
                <a:latin typeface="Helvetica" pitchFamily="2" charset="0"/>
                <a:sym typeface="Arial"/>
              </a:rPr>
              <a:t>Department of Architecture</a:t>
            </a:r>
          </a:p>
          <a:p>
            <a:pPr>
              <a:lnSpc>
                <a:spcPct val="80000"/>
              </a:lnSpc>
              <a:spcBef>
                <a:spcPts val="152"/>
              </a:spcBef>
              <a:buClr>
                <a:schemeClr val="dk1"/>
              </a:buClr>
              <a:buSzPts val="1800"/>
            </a:pPr>
            <a:r>
              <a:rPr lang="en-US" sz="1000" dirty="0">
                <a:latin typeface="Helvetica" pitchFamily="2" charset="0"/>
                <a:sym typeface="Arial"/>
              </a:rPr>
              <a:t>College of Built Environments</a:t>
            </a:r>
          </a:p>
          <a:p>
            <a:r>
              <a:rPr lang="en-US" sz="1000" dirty="0">
                <a:latin typeface="Helvetica" pitchFamily="2" charset="0"/>
              </a:rPr>
              <a:t>University of Washington</a:t>
            </a:r>
          </a:p>
          <a:p>
            <a:pPr>
              <a:lnSpc>
                <a:spcPct val="80000"/>
              </a:lnSpc>
              <a:spcBef>
                <a:spcPts val="152"/>
              </a:spcBef>
              <a:buClr>
                <a:schemeClr val="dk1"/>
              </a:buClr>
              <a:buSzPts val="1800"/>
            </a:pPr>
            <a:r>
              <a:rPr lang="en-US" sz="1000" dirty="0">
                <a:latin typeface="Helvetica" pitchFamily="2" charset="0"/>
              </a:rPr>
              <a:t>Website: https://</a:t>
            </a:r>
            <a:r>
              <a:rPr lang="en-US" sz="1000" dirty="0" err="1">
                <a:latin typeface="Helvetica" pitchFamily="2" charset="0"/>
              </a:rPr>
              <a:t>silab.be.uw.edu</a:t>
            </a:r>
            <a:endParaRPr lang="en-US" sz="1000" dirty="0">
              <a:latin typeface="Helvetica" pitchFamily="2" charset="0"/>
            </a:endParaRPr>
          </a:p>
          <a:p>
            <a:endParaRPr lang="en-US" sz="1000" dirty="0">
              <a:latin typeface="Helvetica" pitchFamily="2" charset="0"/>
              <a:ea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5F9DE8-D66A-CE34-B589-7521C0FE46C6}"/>
              </a:ext>
            </a:extLst>
          </p:cNvPr>
          <p:cNvSpPr txBox="1"/>
          <p:nvPr/>
        </p:nvSpPr>
        <p:spPr>
          <a:xfrm>
            <a:off x="802180" y="2492896"/>
            <a:ext cx="959623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4B2D83"/>
                </a:solidFill>
                <a:latin typeface="Helvetica" pitchFamily="2" charset="0"/>
              </a:rPr>
              <a:t>Generative AI</a:t>
            </a:r>
          </a:p>
          <a:p>
            <a:endParaRPr lang="en-US" sz="3200" b="1" dirty="0">
              <a:solidFill>
                <a:srgbClr val="4B2D83"/>
              </a:solidFill>
              <a:latin typeface="Helvetica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F3271D-366C-BF29-AD91-513D509DC3F7}"/>
              </a:ext>
            </a:extLst>
          </p:cNvPr>
          <p:cNvSpPr txBox="1"/>
          <p:nvPr/>
        </p:nvSpPr>
        <p:spPr>
          <a:xfrm>
            <a:off x="802180" y="1007793"/>
            <a:ext cx="85689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Helvetica" pitchFamily="2" charset="0"/>
                <a:ea typeface="Times New Roman" panose="02020603050405020304" pitchFamily="18" charset="0"/>
              </a:rPr>
              <a:t>ARCH 594/508: AI Research Seminar/Studio—AI in Architecture</a:t>
            </a:r>
          </a:p>
          <a:p>
            <a:r>
              <a:rPr lang="en-US" sz="1600" dirty="0">
                <a:latin typeface="Helvetica" pitchFamily="2" charset="0"/>
                <a:ea typeface="Times New Roman" panose="02020603050405020304" pitchFamily="18" charset="0"/>
              </a:rPr>
              <a:t>Spring 2026</a:t>
            </a:r>
          </a:p>
        </p:txBody>
      </p:sp>
    </p:spTree>
    <p:extLst>
      <p:ext uri="{BB962C8B-B14F-4D97-AF65-F5344CB8AC3E}">
        <p14:creationId xmlns:p14="http://schemas.microsoft.com/office/powerpoint/2010/main" val="3322306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0E53F-8E2D-5CF4-BD2E-B6A3D1172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Today's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9B1BB-3843-0294-23B9-1452574BA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i="0" u="none" strike="noStrike" dirty="0">
                <a:effectLst/>
              </a:rPr>
              <a:t>1. Generative AI</a:t>
            </a:r>
          </a:p>
          <a:p>
            <a:pPr marL="0" indent="0">
              <a:buNone/>
            </a:pPr>
            <a:r>
              <a:rPr lang="en-US" dirty="0"/>
              <a:t>2. Lab Activity: (Generative AI)</a:t>
            </a:r>
            <a:endParaRPr lang="en-US" i="0" u="none" strike="noStrike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02BC2C-8F9A-73A3-7551-50FB3DD43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A0FD2-D456-4FC5-A587-87644C4EB2D1}" type="slidenum">
              <a:rPr lang="tr-TR" smtClean="0"/>
              <a:pPr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17637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9889D-B410-0912-0506-407456DEC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Generative AI?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8023B-B55C-BC70-84B7-46410373E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Generative AI refers to models that </a:t>
            </a:r>
            <a:r>
              <a:rPr lang="en-US" b="1" dirty="0">
                <a:solidFill>
                  <a:srgbClr val="7030A0"/>
                </a:solidFill>
              </a:rPr>
              <a:t>learn patterns from data and produce new outputs that resemble that data</a:t>
            </a:r>
            <a:r>
              <a:rPr lang="en-US" dirty="0"/>
              <a:t>.</a:t>
            </a:r>
          </a:p>
          <a:p>
            <a:r>
              <a:rPr lang="en-US" dirty="0"/>
              <a:t>Unlike predictive models, which estimate a value, generative models create new artifacts, such as:</a:t>
            </a:r>
          </a:p>
          <a:p>
            <a:pPr lvl="1"/>
            <a:r>
              <a:rPr lang="en-US" dirty="0"/>
              <a:t>images</a:t>
            </a:r>
          </a:p>
          <a:p>
            <a:pPr lvl="1"/>
            <a:r>
              <a:rPr lang="en-US" dirty="0"/>
              <a:t>text</a:t>
            </a:r>
          </a:p>
          <a:p>
            <a:pPr lvl="1"/>
            <a:r>
              <a:rPr lang="en-US" dirty="0"/>
              <a:t>geometry</a:t>
            </a:r>
          </a:p>
          <a:p>
            <a:pPr lvl="1"/>
            <a:r>
              <a:rPr lang="en-US" dirty="0"/>
              <a:t>spatial layouts</a:t>
            </a:r>
          </a:p>
          <a:p>
            <a:r>
              <a:rPr lang="en-US" dirty="0"/>
              <a:t>The key idea is:</a:t>
            </a:r>
          </a:p>
          <a:p>
            <a:pPr marL="324000" lvl="1" indent="0">
              <a:buNone/>
            </a:pPr>
            <a:r>
              <a:rPr lang="en-US" dirty="0"/>
              <a:t>The model learns a </a:t>
            </a:r>
            <a:r>
              <a:rPr lang="en-US" b="1" dirty="0">
                <a:solidFill>
                  <a:srgbClr val="7030A0"/>
                </a:solidFill>
              </a:rPr>
              <a:t>distribution of possible designs,</a:t>
            </a:r>
            <a:r>
              <a:rPr lang="en-US" dirty="0"/>
              <a:t> and then samples from that distribution.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891E0-33F9-4E8B-4F6F-6304CF2FB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A0FD2-D456-4FC5-A587-87644C4EB2D1}" type="slidenum">
              <a:rPr lang="tr-TR" smtClean="0"/>
              <a:pPr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18886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3E13-0957-D022-A80E-FDA9038C3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Generative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A7293-F2F4-7D17-6389-386E5AD0A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There are several major families of generative models:</a:t>
            </a:r>
          </a:p>
          <a:p>
            <a:r>
              <a:rPr lang="en-US" b="1" dirty="0"/>
              <a:t>GANs (Generative Adversarial Networks):</a:t>
            </a:r>
          </a:p>
          <a:p>
            <a:pPr marL="324000" lvl="1" indent="0">
              <a:buNone/>
            </a:pPr>
            <a:r>
              <a:rPr lang="en-US" dirty="0"/>
              <a:t>Two networks compete—one generates, one evaluates.</a:t>
            </a:r>
          </a:p>
          <a:p>
            <a:r>
              <a:rPr lang="en-US" b="1" dirty="0"/>
              <a:t>VAEs (Variational Autoencoders):</a:t>
            </a:r>
          </a:p>
          <a:p>
            <a:pPr marL="324000" lvl="1" indent="0">
              <a:buNone/>
            </a:pPr>
            <a:r>
              <a:rPr lang="en-US" dirty="0"/>
              <a:t>Learn a compressed latent space and generate variations.</a:t>
            </a:r>
          </a:p>
          <a:p>
            <a:r>
              <a:rPr lang="en-US" b="1" dirty="0"/>
              <a:t>Diffusion Models:</a:t>
            </a:r>
          </a:p>
          <a:p>
            <a:pPr marL="324000" lvl="1" indent="0">
              <a:buNone/>
            </a:pPr>
            <a:r>
              <a:rPr lang="en-US" dirty="0"/>
              <a:t>Current state-of-the-art; generate data by gradually removing noise.</a:t>
            </a:r>
          </a:p>
          <a:p>
            <a:r>
              <a:rPr lang="en-US" b="1" dirty="0"/>
              <a:t>LLMs and Multimodal Models:</a:t>
            </a:r>
          </a:p>
          <a:p>
            <a:pPr marL="324000" lvl="1" indent="0">
              <a:buNone/>
            </a:pPr>
            <a:r>
              <a:rPr lang="en-US" dirty="0"/>
              <a:t>Generate across text, image, and increasingly geometry.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855A13-564D-11C5-8417-884EF63F2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A0FD2-D456-4FC5-A587-87644C4EB2D1}" type="slidenum">
              <a:rPr lang="tr-TR" smtClean="0"/>
              <a:pPr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79560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35B56-9BE0-3D6C-E83A-C04DC01AF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82C2D-19E3-C4C6-E680-0165D9F41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Generative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44250-5FB8-66C2-A67D-29244E6F8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architecture, these models can generate:</a:t>
            </a:r>
          </a:p>
          <a:p>
            <a:pPr lvl="1"/>
            <a:r>
              <a:rPr lang="en-US" dirty="0"/>
              <a:t>floor plans</a:t>
            </a:r>
          </a:p>
          <a:p>
            <a:pPr lvl="1"/>
            <a:r>
              <a:rPr lang="en-US" dirty="0"/>
              <a:t>façades</a:t>
            </a:r>
          </a:p>
          <a:p>
            <a:pPr lvl="1"/>
            <a:r>
              <a:rPr lang="en-US" dirty="0"/>
              <a:t>massing</a:t>
            </a:r>
          </a:p>
          <a:p>
            <a:pPr lvl="1"/>
            <a:r>
              <a:rPr lang="en-US" dirty="0"/>
              <a:t>spatial configurations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7F232-A58C-6469-6B01-C25A3198D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A0FD2-D456-4FC5-A587-87644C4EB2D1}" type="slidenum">
              <a:rPr lang="tr-TR" smtClean="0"/>
              <a:pPr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36728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90D3E-691D-153A-3AC2-37364623D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Diffusion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28B40-742B-BF11-27DF-86E6A1976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Diffusion models work by:</a:t>
            </a:r>
          </a:p>
          <a:p>
            <a:pPr marL="666900" lvl="1" indent="-342900">
              <a:buFont typeface="+mj-lt"/>
              <a:buAutoNum type="arabicPeriod"/>
            </a:pPr>
            <a:r>
              <a:rPr lang="en-US" dirty="0"/>
              <a:t>Starting with random noise</a:t>
            </a:r>
          </a:p>
          <a:p>
            <a:pPr marL="666900" lvl="1" indent="-342900">
              <a:buFont typeface="+mj-lt"/>
              <a:buAutoNum type="arabicPeriod"/>
            </a:pPr>
            <a:r>
              <a:rPr lang="en-US" dirty="0"/>
              <a:t>Iteratively removing noise</a:t>
            </a:r>
          </a:p>
          <a:p>
            <a:pPr marL="666900" lvl="1" indent="-342900">
              <a:buFont typeface="+mj-lt"/>
              <a:buAutoNum type="arabicPeriod"/>
            </a:pPr>
            <a:r>
              <a:rPr lang="en-US" dirty="0"/>
              <a:t>Converging to a structured output</a:t>
            </a:r>
          </a:p>
          <a:p>
            <a:r>
              <a:rPr lang="en-US" dirty="0"/>
              <a:t>They learn how data “looks” at different levels of noise and reconstruct it step by step.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17F0D0-49DD-C910-9B9A-61F8665A2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A0FD2-D456-4FC5-A587-87644C4EB2D1}" type="slidenum">
              <a:rPr lang="tr-TR" smtClean="0"/>
              <a:pPr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00919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DB68D-582C-3189-49E5-AE6782353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2BBD3-1A17-555B-A1BC-58CD5AC08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Diffusion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D65FF-16DF-B1B0-6E51-D18DAE512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Their strength is:</a:t>
            </a:r>
          </a:p>
          <a:p>
            <a:pPr marL="324000" lvl="1" indent="0">
              <a:buNone/>
            </a:pPr>
            <a:r>
              <a:rPr lang="en-US" dirty="0"/>
              <a:t>high visual quality</a:t>
            </a:r>
          </a:p>
          <a:p>
            <a:pPr marL="324000" lvl="1" indent="0">
              <a:buNone/>
            </a:pPr>
            <a:r>
              <a:rPr lang="en-US" dirty="0"/>
              <a:t>stability</a:t>
            </a:r>
          </a:p>
          <a:p>
            <a:pPr marL="324000" lvl="1" indent="0">
              <a:buNone/>
            </a:pPr>
            <a:r>
              <a:rPr lang="en-US" dirty="0"/>
              <a:t>controllability through prompts or conditions</a:t>
            </a:r>
          </a:p>
          <a:p>
            <a:pPr marL="0" indent="0">
              <a:buNone/>
            </a:pPr>
            <a:r>
              <a:rPr lang="en-US" dirty="0"/>
              <a:t>This is why most current image-based AI tools rely on diffusion.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1EF5B-180E-2CF0-55C4-1D4214F8D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A0FD2-D456-4FC5-A587-87644C4EB2D1}" type="slidenum">
              <a:rPr lang="tr-TR" smtClean="0"/>
              <a:pPr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71708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0C9C5-4CB2-DD99-AFD2-031A47799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Text-to-Image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A3DDC-A5C8-A594-6A66-A58237DB3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Text-to-image models allow us to generate images from textual descriptions.</a:t>
            </a:r>
          </a:p>
          <a:p>
            <a:pPr marL="324000" lvl="1" indent="0">
              <a:buNone/>
            </a:pPr>
            <a:r>
              <a:rPr lang="en-US" dirty="0"/>
              <a:t>For example:</a:t>
            </a:r>
          </a:p>
          <a:p>
            <a:pPr marL="324000" lvl="1" indent="0">
              <a:buNone/>
            </a:pPr>
            <a:r>
              <a:rPr lang="en-US" dirty="0"/>
              <a:t>“Mid-rise housing with green terraces and strong daylight access”</a:t>
            </a:r>
          </a:p>
          <a:p>
            <a:r>
              <a:rPr lang="en-US" dirty="0"/>
              <a:t>The model </a:t>
            </a:r>
            <a:r>
              <a:rPr lang="en-US" b="1" dirty="0">
                <a:solidFill>
                  <a:srgbClr val="7030A0"/>
                </a:solidFill>
              </a:rPr>
              <a:t>translates semantic intent to visual form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098D9-96BA-2CDF-FBA5-D23AEAFBB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A0FD2-D456-4FC5-A587-87644C4EB2D1}" type="slidenum">
              <a:rPr lang="tr-TR" smtClean="0"/>
              <a:pPr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01725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9BCB3-1624-6834-E0B7-1EE8F3083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Text-to-Image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E6ADA-8123-BF17-CEE4-7C78F78E7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architecture:</a:t>
            </a:r>
          </a:p>
          <a:p>
            <a:pPr lvl="1"/>
            <a:r>
              <a:rPr lang="en-US" dirty="0"/>
              <a:t>early ideation</a:t>
            </a:r>
          </a:p>
          <a:p>
            <a:pPr lvl="1"/>
            <a:r>
              <a:rPr lang="en-US" dirty="0"/>
              <a:t>atmosphere and concept exploration</a:t>
            </a:r>
          </a:p>
          <a:p>
            <a:pPr lvl="1"/>
            <a:r>
              <a:rPr lang="en-US" dirty="0"/>
              <a:t>visual narratives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B6DEA-5936-5BBE-B44D-1A797CDE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A0FD2-D456-4FC5-A587-87644C4EB2D1}" type="slidenum">
              <a:rPr lang="tr-TR" smtClean="0"/>
              <a:pPr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84381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B2C1E-1FCD-752A-1E1B-0DCA3E751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Prompting as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6CD7A-C784-5793-29B9-4E40F4E30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Prompting becomes a form of </a:t>
            </a:r>
            <a:r>
              <a:rPr lang="en-US" b="1" dirty="0">
                <a:solidFill>
                  <a:srgbClr val="7030A0"/>
                </a:solidFill>
              </a:rPr>
              <a:t>design specification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A prompt encodes:</a:t>
            </a:r>
          </a:p>
          <a:p>
            <a:pPr lvl="1"/>
            <a:r>
              <a:rPr lang="en-US" dirty="0"/>
              <a:t>intent</a:t>
            </a:r>
          </a:p>
          <a:p>
            <a:pPr lvl="1"/>
            <a:r>
              <a:rPr lang="en-US" dirty="0"/>
              <a:t>constraints</a:t>
            </a:r>
          </a:p>
          <a:p>
            <a:pPr lvl="1"/>
            <a:r>
              <a:rPr lang="en-US" dirty="0"/>
              <a:t>style</a:t>
            </a:r>
          </a:p>
          <a:p>
            <a:pPr lvl="1"/>
            <a:r>
              <a:rPr lang="en-US" dirty="0"/>
              <a:t>performance hints</a:t>
            </a:r>
          </a:p>
          <a:p>
            <a:pPr marL="0" indent="0">
              <a:buNone/>
            </a:pPr>
            <a:r>
              <a:rPr lang="en-US" dirty="0"/>
              <a:t>For example, adding:</a:t>
            </a:r>
          </a:p>
          <a:p>
            <a:pPr lvl="1"/>
            <a:r>
              <a:rPr lang="en-US" dirty="0"/>
              <a:t>“passive cooling”</a:t>
            </a:r>
          </a:p>
          <a:p>
            <a:pPr lvl="1"/>
            <a:r>
              <a:rPr lang="en-US" dirty="0"/>
              <a:t>“south-facing shading”</a:t>
            </a:r>
          </a:p>
          <a:p>
            <a:pPr marL="0" indent="0">
              <a:buNone/>
            </a:pPr>
            <a:r>
              <a:rPr lang="en-US" dirty="0"/>
              <a:t>begins to embed </a:t>
            </a:r>
            <a:r>
              <a:rPr lang="en-US" b="1" dirty="0">
                <a:solidFill>
                  <a:srgbClr val="7030A0"/>
                </a:solidFill>
              </a:rPr>
              <a:t>design logic into language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B8E1E-FEF0-1000-6D01-6E05FB4A6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A0FD2-D456-4FC5-A587-87644C4EB2D1}" type="slidenum">
              <a:rPr lang="tr-TR" smtClean="0"/>
              <a:pPr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25625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BC129-D5E7-44DD-9795-A291B103E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Prompting as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CC2D9-DB2A-EABD-6E94-59B55A3C3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iterative</a:t>
            </a:r>
          </a:p>
          <a:p>
            <a:r>
              <a:rPr lang="en-US" dirty="0"/>
              <a:t>sensitive to wording</a:t>
            </a:r>
          </a:p>
          <a:p>
            <a:r>
              <a:rPr lang="en-US" dirty="0"/>
              <a:t>not fully controllable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8B25D5-88F4-07A9-DED0-42336B06F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A0FD2-D456-4FC5-A587-87644C4EB2D1}" type="slidenum">
              <a:rPr lang="tr-TR" smtClean="0"/>
              <a:pPr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82724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8A825-A1AC-420C-075E-A7B9A7DF8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C2659-FCC6-811F-0D16-17C347548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Prompting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5C5B9-B0CA-32CD-C965-C7D925960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Pure prompting has key limitations:</a:t>
            </a:r>
          </a:p>
          <a:p>
            <a:pPr lvl="1"/>
            <a:r>
              <a:rPr lang="en-US" dirty="0"/>
              <a:t>limited geometric control</a:t>
            </a:r>
          </a:p>
          <a:p>
            <a:pPr lvl="1"/>
            <a:r>
              <a:rPr lang="en-US" dirty="0"/>
              <a:t>no direct performance evaluation</a:t>
            </a:r>
          </a:p>
          <a:p>
            <a:pPr lvl="1"/>
            <a:r>
              <a:rPr lang="en-US" dirty="0"/>
              <a:t>biases from training data</a:t>
            </a:r>
          </a:p>
          <a:p>
            <a:pPr lvl="1"/>
            <a:r>
              <a:rPr lang="en-US" dirty="0"/>
              <a:t>often produces non-buildable outputs</a:t>
            </a:r>
          </a:p>
          <a:p>
            <a:pPr marL="0" indent="0">
              <a:buNone/>
            </a:pPr>
            <a:r>
              <a:rPr lang="en-US" dirty="0"/>
              <a:t>So while it is powerful for exploration, it is </a:t>
            </a:r>
            <a:r>
              <a:rPr lang="en-US" b="1" dirty="0">
                <a:solidFill>
                  <a:srgbClr val="7030A0"/>
                </a:solidFill>
              </a:rPr>
              <a:t>insufficient</a:t>
            </a:r>
            <a:r>
              <a:rPr lang="en-US" dirty="0"/>
              <a:t> for </a:t>
            </a:r>
            <a:r>
              <a:rPr lang="en-US" b="1" dirty="0">
                <a:solidFill>
                  <a:srgbClr val="7030A0"/>
                </a:solidFill>
              </a:rPr>
              <a:t>architectural decision-making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A44C4-B72D-0574-D26F-E2092CE9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A0FD2-D456-4FC5-A587-87644C4EB2D1}" type="slidenum">
              <a:rPr lang="tr-TR" smtClean="0"/>
              <a:pPr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27745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2E620-AAE8-9665-4E78-0B40AABB4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Prompting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CAB21-505B-5DA5-1215-9108C0154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Pure prompting has key limitations:</a:t>
            </a:r>
          </a:p>
          <a:p>
            <a:pPr lvl="1"/>
            <a:r>
              <a:rPr lang="en-US" dirty="0"/>
              <a:t>limited geometric control</a:t>
            </a:r>
          </a:p>
          <a:p>
            <a:pPr lvl="1"/>
            <a:r>
              <a:rPr lang="en-US" dirty="0"/>
              <a:t>no direct performance evaluation</a:t>
            </a:r>
          </a:p>
          <a:p>
            <a:pPr lvl="1"/>
            <a:r>
              <a:rPr lang="en-US" dirty="0"/>
              <a:t>biases from training data</a:t>
            </a:r>
          </a:p>
          <a:p>
            <a:pPr lvl="1"/>
            <a:r>
              <a:rPr lang="en-US" dirty="0"/>
              <a:t>often produces non-buildable outputs</a:t>
            </a:r>
          </a:p>
          <a:p>
            <a:pPr marL="0" indent="0">
              <a:buNone/>
            </a:pPr>
            <a:r>
              <a:rPr lang="en-US" dirty="0"/>
              <a:t>So while it is powerful for exploration, it is </a:t>
            </a:r>
            <a:r>
              <a:rPr lang="en-US" b="1" dirty="0">
                <a:solidFill>
                  <a:srgbClr val="7030A0"/>
                </a:solidFill>
              </a:rPr>
              <a:t>insufficient</a:t>
            </a:r>
            <a:r>
              <a:rPr lang="en-US" dirty="0"/>
              <a:t> for </a:t>
            </a:r>
            <a:r>
              <a:rPr lang="en-US" b="1" dirty="0">
                <a:solidFill>
                  <a:srgbClr val="7030A0"/>
                </a:solidFill>
              </a:rPr>
              <a:t>architectural decision-making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This is why we need integration with:</a:t>
            </a:r>
          </a:p>
          <a:p>
            <a:pPr lvl="1"/>
            <a:r>
              <a:rPr lang="en-US" dirty="0"/>
              <a:t>parametric systems</a:t>
            </a:r>
          </a:p>
          <a:p>
            <a:pPr lvl="1"/>
            <a:r>
              <a:rPr lang="en-US" dirty="0"/>
              <a:t>simulation tools</a:t>
            </a:r>
          </a:p>
          <a:p>
            <a:pPr lvl="1"/>
            <a:r>
              <a:rPr lang="en-US" dirty="0"/>
              <a:t>structured representations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A81F0-89FB-457D-E9CC-6B32C3DFF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A0FD2-D456-4FC5-A587-87644C4EB2D1}" type="slidenum">
              <a:rPr lang="tr-TR" smtClean="0"/>
              <a:pPr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67162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1A011-1473-D949-612F-6CFBED23F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Images to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87740-5C31-1DE7-4F37-1D0AB64B7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One of the biggest challenges is:</a:t>
            </a:r>
          </a:p>
          <a:p>
            <a:pPr lvl="1"/>
            <a:r>
              <a:rPr lang="en-US" dirty="0"/>
              <a:t>AI generates </a:t>
            </a:r>
            <a:r>
              <a:rPr lang="en-US" b="1" dirty="0">
                <a:solidFill>
                  <a:srgbClr val="7030A0"/>
                </a:solidFill>
              </a:rPr>
              <a:t>images</a:t>
            </a:r>
            <a:r>
              <a:rPr lang="en-US" dirty="0"/>
              <a:t>, but Architects need </a:t>
            </a:r>
            <a:r>
              <a:rPr lang="en-US" b="1" dirty="0">
                <a:solidFill>
                  <a:srgbClr val="7030A0"/>
                </a:solidFill>
              </a:rPr>
              <a:t>geometry + systems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Bridging strategies include:</a:t>
            </a:r>
          </a:p>
          <a:p>
            <a:pPr lvl="1"/>
            <a:r>
              <a:rPr lang="en-US" dirty="0"/>
              <a:t>converting images into geometry (segmentation, tracing)</a:t>
            </a:r>
          </a:p>
          <a:p>
            <a:pPr lvl="1"/>
            <a:r>
              <a:rPr lang="en-US" dirty="0"/>
              <a:t>mapping latent representations into parametric systems</a:t>
            </a:r>
          </a:p>
          <a:p>
            <a:pPr lvl="1"/>
            <a:r>
              <a:rPr lang="en-US" dirty="0"/>
              <a:t>using graph-based spatial representations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translation step is critical.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E5135-CD51-710C-12CF-6A473BDBB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A0FD2-D456-4FC5-A587-87644C4EB2D1}" type="slidenum">
              <a:rPr lang="tr-TR" smtClean="0"/>
              <a:pPr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26740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7B142-BB0F-287C-5E8D-B4E10E245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from the Notebook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9C743-42D0-00F9-6701-DFBF2A57F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Your notebook demonstrates a typical generative workflow:</a:t>
            </a:r>
          </a:p>
          <a:p>
            <a:pPr marL="666900" lvl="1" indent="-342900">
              <a:buFont typeface="+mj-lt"/>
              <a:buAutoNum type="arabicPeriod"/>
            </a:pPr>
            <a:r>
              <a:rPr lang="en-US" dirty="0"/>
              <a:t>Define a prompt or condition</a:t>
            </a:r>
          </a:p>
          <a:p>
            <a:pPr marL="666900" lvl="1" indent="-342900">
              <a:buFont typeface="+mj-lt"/>
              <a:buAutoNum type="arabicPeriod"/>
            </a:pPr>
            <a:r>
              <a:rPr lang="en-US" dirty="0"/>
              <a:t>Generate outputs</a:t>
            </a:r>
          </a:p>
          <a:p>
            <a:pPr marL="666900" lvl="1" indent="-342900">
              <a:buFont typeface="+mj-lt"/>
              <a:buAutoNum type="arabicPeriod"/>
            </a:pPr>
            <a:r>
              <a:rPr lang="en-US" dirty="0"/>
              <a:t>Process outputs</a:t>
            </a:r>
          </a:p>
          <a:p>
            <a:pPr marL="666900" lvl="1" indent="-342900">
              <a:buFont typeface="+mj-lt"/>
              <a:buAutoNum type="arabicPeriod"/>
            </a:pPr>
            <a:r>
              <a:rPr lang="en-US" dirty="0"/>
              <a:t>Extract usable information</a:t>
            </a:r>
          </a:p>
          <a:p>
            <a:pPr marL="666900" lvl="1" indent="-342900">
              <a:buFont typeface="+mj-lt"/>
              <a:buAutoNum type="arabicPeriod"/>
            </a:pPr>
            <a:r>
              <a:rPr lang="en-US" dirty="0"/>
              <a:t>Integrate into a design system</a:t>
            </a:r>
          </a:p>
          <a:p>
            <a:pPr marL="666900" lvl="1" indent="-342900">
              <a:buFont typeface="+mj-lt"/>
              <a:buAutoNum type="arabicPeriod"/>
            </a:pPr>
            <a:endParaRPr lang="en-US" dirty="0"/>
          </a:p>
          <a:p>
            <a:pPr marL="666900" lvl="1" indent="-34290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Design is not a single act here….it is a </a:t>
            </a:r>
            <a:r>
              <a:rPr lang="en-US" b="1" dirty="0">
                <a:solidFill>
                  <a:srgbClr val="7030A0"/>
                </a:solidFill>
              </a:rPr>
              <a:t>pipeline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101C26-FBC9-A88A-1C6B-6FCB607D5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A0FD2-D456-4FC5-A587-87644C4EB2D1}" type="slidenum">
              <a:rPr lang="tr-TR" smtClean="0"/>
              <a:pPr/>
              <a:t>15</a:t>
            </a:fld>
            <a:endParaRPr lang="tr-TR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DD1A0F-6B4C-B985-D6D4-C0140B9AE3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72064" y="2061026"/>
            <a:ext cx="4947314" cy="389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6711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20A2D-6906-5FFC-DF12-CA816FEE9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as Design Medium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59E9F-C372-F3AF-6EDF-209A3C18C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this workflow, code becomes central.</a:t>
            </a:r>
          </a:p>
          <a:p>
            <a:pPr marL="0" indent="0">
              <a:buNone/>
            </a:pPr>
            <a:r>
              <a:rPr lang="en-US" dirty="0"/>
              <a:t>Instead of manually crafting each design, we:</a:t>
            </a:r>
          </a:p>
          <a:p>
            <a:pPr lvl="1"/>
            <a:r>
              <a:rPr lang="en-US" dirty="0"/>
              <a:t>define rules</a:t>
            </a:r>
          </a:p>
          <a:p>
            <a:pPr lvl="1"/>
            <a:r>
              <a:rPr lang="en-US" dirty="0"/>
              <a:t>generate multiple outputs</a:t>
            </a:r>
          </a:p>
          <a:p>
            <a:pPr lvl="1"/>
            <a:r>
              <a:rPr lang="en-US" dirty="0"/>
              <a:t>evaluate systematically</a:t>
            </a:r>
          </a:p>
          <a:p>
            <a:pPr marL="0" indent="0">
              <a:buNone/>
            </a:pPr>
            <a:r>
              <a:rPr lang="en-US" dirty="0"/>
              <a:t>This means design becomes:</a:t>
            </a:r>
          </a:p>
          <a:p>
            <a:pPr lvl="1"/>
            <a:r>
              <a:rPr lang="en-US" dirty="0"/>
              <a:t>programmable</a:t>
            </a:r>
          </a:p>
          <a:p>
            <a:pPr lvl="1"/>
            <a:r>
              <a:rPr lang="en-US" dirty="0"/>
              <a:t>reproducible</a:t>
            </a:r>
          </a:p>
          <a:p>
            <a:pPr lvl="1"/>
            <a:r>
              <a:rPr lang="en-US" dirty="0"/>
              <a:t>scalable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5AD18C-B623-8101-E68D-BC6FB3435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A0FD2-D456-4FC5-A587-87644C4EB2D1}" type="slidenum">
              <a:rPr lang="tr-TR" smtClean="0"/>
              <a:pPr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70373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86346-5416-41AB-A746-75F1D7D0A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Generative AI in Architectural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09B63-C7C0-8C56-B988-177CD8570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Jang, Roh, and Lee's 2025 review of 161 studies on how generative AI is reshaping design workflows, data pipelines, and evaluation practice.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484E1-324E-10BB-BDCC-C5161D0C6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A0FD2-D456-4FC5-A587-87644C4EB2D1}" type="slidenum">
              <a:rPr lang="tr-TR" smtClean="0"/>
              <a:pPr/>
              <a:t>17</a:t>
            </a:fld>
            <a:endParaRPr lang="tr-T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045AB8A-8D66-92CE-9796-6CFD00D266BB}"/>
              </a:ext>
            </a:extLst>
          </p:cNvPr>
          <p:cNvSpPr/>
          <p:nvPr/>
        </p:nvSpPr>
        <p:spPr>
          <a:xfrm>
            <a:off x="1127448" y="2901097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latin typeface="Aptos" pitchFamily="34" charset="0"/>
                <a:ea typeface="Aptos" pitchFamily="34" charset="-122"/>
                <a:cs typeface="Aptos" pitchFamily="34" charset="-120"/>
              </a:rPr>
              <a:t>Automation in Construction 174 (2025) 106174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4A244F8-E107-DEF6-FF5B-C8C52E0085E6}"/>
              </a:ext>
            </a:extLst>
          </p:cNvPr>
          <p:cNvSpPr/>
          <p:nvPr/>
        </p:nvSpPr>
        <p:spPr>
          <a:xfrm>
            <a:off x="2668168" y="4508436"/>
            <a:ext cx="1463040" cy="932688"/>
          </a:xfrm>
          <a:prstGeom prst="roundRect">
            <a:avLst>
              <a:gd name="adj" fmla="val 7843"/>
            </a:avLst>
          </a:prstGeom>
          <a:solidFill>
            <a:srgbClr val="121B31"/>
          </a:solidFill>
          <a:ln w="13970">
            <a:solidFill>
              <a:srgbClr val="23314F"/>
            </a:solidFill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9B6FF"/>
                </a:solidFill>
              </a:rPr>
              <a:t>161</a:t>
            </a:r>
            <a:endParaRPr lang="en-US" sz="2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F7FA"/>
                </a:solidFill>
              </a:rPr>
              <a:t>papers reviewed</a:t>
            </a:r>
            <a:endParaRPr lang="en-US" sz="2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FC05656-1E7C-2F07-6DE5-36356C4A04CB}"/>
              </a:ext>
            </a:extLst>
          </p:cNvPr>
          <p:cNvSpPr/>
          <p:nvPr/>
        </p:nvSpPr>
        <p:spPr>
          <a:xfrm>
            <a:off x="4295800" y="4508436"/>
            <a:ext cx="1600200" cy="932688"/>
          </a:xfrm>
          <a:prstGeom prst="roundRect">
            <a:avLst>
              <a:gd name="adj" fmla="val 7843"/>
            </a:avLst>
          </a:prstGeom>
          <a:solidFill>
            <a:srgbClr val="121B31"/>
          </a:solidFill>
          <a:ln w="13970">
            <a:solidFill>
              <a:srgbClr val="23314F"/>
            </a:solidFill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DD19C"/>
                </a:solidFill>
              </a:rPr>
              <a:t>96%</a:t>
            </a:r>
            <a:endParaRPr lang="en-US" sz="2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F7FA"/>
                </a:solidFill>
              </a:rPr>
              <a:t>gap reduction</a:t>
            </a:r>
            <a:endParaRPr lang="en-US" sz="2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24A41D3-8B29-3193-2CF0-AB6052399C19}"/>
              </a:ext>
            </a:extLst>
          </p:cNvPr>
          <p:cNvSpPr/>
          <p:nvPr/>
        </p:nvSpPr>
        <p:spPr>
          <a:xfrm>
            <a:off x="6069736" y="4508436"/>
            <a:ext cx="1572768" cy="932688"/>
          </a:xfrm>
          <a:prstGeom prst="roundRect">
            <a:avLst>
              <a:gd name="adj" fmla="val 7843"/>
            </a:avLst>
          </a:prstGeom>
          <a:solidFill>
            <a:srgbClr val="121B31"/>
          </a:solidFill>
          <a:ln w="13970">
            <a:solidFill>
              <a:srgbClr val="23314F"/>
            </a:solidFill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B14A"/>
                </a:solidFill>
              </a:rPr>
              <a:t>68.9%</a:t>
            </a:r>
            <a:endParaRPr lang="en-US" sz="2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F7FA"/>
                </a:solidFill>
              </a:rPr>
              <a:t>in schematic design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82836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DBB49-8C09-29D2-6096-8A26B9BF3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review was conducted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FF83A-35C1-30E5-E936-16918DE1D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923" y="2228004"/>
            <a:ext cx="10609104" cy="3630795"/>
          </a:xfrm>
        </p:spPr>
        <p:txBody>
          <a:bodyPr/>
          <a:lstStyle/>
          <a:p>
            <a:r>
              <a:rPr lang="en-US" dirty="0"/>
              <a:t> How fast are AI model architectures being adopted in architectural design?</a:t>
            </a:r>
          </a:p>
          <a:p>
            <a:r>
              <a:rPr lang="en-US" dirty="0"/>
              <a:t>Which design phases, tasks, and objectives are receiving AI support?</a:t>
            </a:r>
          </a:p>
          <a:p>
            <a:r>
              <a:rPr lang="en-US" dirty="0"/>
              <a:t>What input/output data types dominate current workflows?</a:t>
            </a:r>
          </a:p>
          <a:p>
            <a:r>
              <a:rPr lang="en-US" dirty="0"/>
              <a:t>How are researchers evaluating systems when design quality is subjective?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FBA3E-25BE-76F6-ABFF-2127C2F9B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A0FD2-D456-4FC5-A587-87644C4EB2D1}" type="slidenum">
              <a:rPr lang="tr-TR" smtClean="0"/>
              <a:pPr/>
              <a:t>18</a:t>
            </a:fld>
            <a:endParaRPr lang="tr-TR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93D97C5-2DB3-462A-EA1C-6C0AC4A807C2}"/>
              </a:ext>
            </a:extLst>
          </p:cNvPr>
          <p:cNvSpPr/>
          <p:nvPr/>
        </p:nvSpPr>
        <p:spPr>
          <a:xfrm>
            <a:off x="1055441" y="4043400"/>
            <a:ext cx="3888432" cy="1041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/>
              <a:t>PRISMA-guided search across WoS and Scopus, plus snowball reference/citation search. Final corpus: 161 eligible studies spanning 2014-2024.</a:t>
            </a:r>
          </a:p>
        </p:txBody>
      </p:sp>
    </p:spTree>
    <p:extLst>
      <p:ext uri="{BB962C8B-B14F-4D97-AF65-F5344CB8AC3E}">
        <p14:creationId xmlns:p14="http://schemas.microsoft.com/office/powerpoint/2010/main" val="41459965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2FAAF-1D75-6F98-5B80-9A47BF747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Adoption in Architecture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5230E-0D4C-F1C4-7AE7-A18EE88F1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922" y="2228004"/>
            <a:ext cx="10361637" cy="3630795"/>
          </a:xfrm>
        </p:spPr>
        <p:txBody>
          <a:bodyPr>
            <a:normAutofit/>
          </a:bodyPr>
          <a:lstStyle/>
          <a:p>
            <a:r>
              <a:rPr lang="en-US" dirty="0"/>
              <a:t>Adoption is accelerating - and no longer slowly</a:t>
            </a:r>
          </a:p>
          <a:p>
            <a:r>
              <a:rPr lang="en-US" dirty="0"/>
              <a:t>The review shows a dramatic collapse in the delay between an AI model's invention and its use in architecture.</a:t>
            </a:r>
          </a:p>
          <a:p>
            <a:r>
              <a:rPr lang="en-US" dirty="0"/>
              <a:t>GANs lead the literature with 81 papers (50.31%), while diffusion models (23 papers) and transformers (9 papers) rise quickly after 2022.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A8518-0F38-3DA8-9A2C-FCFE50CDE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A0FD2-D456-4FC5-A587-87644C4EB2D1}" type="slidenum">
              <a:rPr lang="tr-TR" smtClean="0"/>
              <a:pPr/>
              <a:t>19</a:t>
            </a:fld>
            <a:endParaRPr lang="tr-TR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FB2C5F2-A922-AF93-EA1F-96A464D1D767}"/>
              </a:ext>
            </a:extLst>
          </p:cNvPr>
          <p:cNvSpPr/>
          <p:nvPr/>
        </p:nvSpPr>
        <p:spPr>
          <a:xfrm>
            <a:off x="854224" y="5038344"/>
            <a:ext cx="1828800" cy="1024128"/>
          </a:xfrm>
          <a:prstGeom prst="roundRect">
            <a:avLst>
              <a:gd name="adj" fmla="val 7143"/>
            </a:avLst>
          </a:prstGeom>
          <a:solidFill>
            <a:srgbClr val="121B31"/>
          </a:solidFill>
          <a:ln w="13970">
            <a:solidFill>
              <a:srgbClr val="23314F"/>
            </a:solidFill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DD19C"/>
                </a:solidFill>
              </a:rPr>
              <a:t>96.09%</a:t>
            </a:r>
            <a:endParaRPr lang="en-US" sz="2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F7FA"/>
                </a:solidFill>
              </a:rPr>
              <a:t>reduction in theory-application gap</a:t>
            </a:r>
            <a:endParaRPr lang="en-US" sz="24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22780EB-0EEE-7166-1224-10C2F63D18B2}"/>
              </a:ext>
            </a:extLst>
          </p:cNvPr>
          <p:cNvSpPr/>
          <p:nvPr/>
        </p:nvSpPr>
        <p:spPr>
          <a:xfrm>
            <a:off x="2893336" y="5038344"/>
            <a:ext cx="1417320" cy="1024128"/>
          </a:xfrm>
          <a:prstGeom prst="roundRect">
            <a:avLst>
              <a:gd name="adj" fmla="val 7143"/>
            </a:avLst>
          </a:prstGeom>
          <a:solidFill>
            <a:srgbClr val="121B31"/>
          </a:solidFill>
          <a:ln w="13970">
            <a:solidFill>
              <a:srgbClr val="23314F"/>
            </a:solidFill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B14A"/>
                </a:solidFill>
              </a:rPr>
              <a:t>62y</a:t>
            </a:r>
            <a:endParaRPr lang="en-US" sz="2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F7FA"/>
                </a:solidFill>
              </a:rPr>
              <a:t>earliest gap</a:t>
            </a:r>
            <a:endParaRPr lang="en-US" sz="2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DACB19C-E0BE-508F-E1C7-9E09A730AECE}"/>
              </a:ext>
            </a:extLst>
          </p:cNvPr>
          <p:cNvSpPr/>
          <p:nvPr/>
        </p:nvSpPr>
        <p:spPr>
          <a:xfrm>
            <a:off x="4511824" y="5038344"/>
            <a:ext cx="1417320" cy="1024128"/>
          </a:xfrm>
          <a:prstGeom prst="roundRect">
            <a:avLst>
              <a:gd name="adj" fmla="val 7143"/>
            </a:avLst>
          </a:prstGeom>
          <a:solidFill>
            <a:srgbClr val="121B31"/>
          </a:solidFill>
          <a:ln w="13970">
            <a:solidFill>
              <a:srgbClr val="23314F"/>
            </a:solidFill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9B6FF"/>
                </a:solidFill>
              </a:rPr>
              <a:t>2.5y</a:t>
            </a:r>
            <a:endParaRPr lang="en-US" sz="2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F7FA"/>
                </a:solidFill>
              </a:rPr>
              <a:t>latest gap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597133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969B0-B582-7A94-BFEC-812DEC639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923" y="687475"/>
            <a:ext cx="6473206" cy="2237469"/>
          </a:xfrm>
        </p:spPr>
        <p:txBody>
          <a:bodyPr>
            <a:normAutofit/>
          </a:bodyPr>
          <a:lstStyle/>
          <a:p>
            <a:r>
              <a:rPr lang="en-US" dirty="0"/>
              <a:t>Where AI enters the architectural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24F15-C6D5-F334-363E-0733ED5EA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922" y="2564904"/>
            <a:ext cx="9497542" cy="3293895"/>
          </a:xfrm>
        </p:spPr>
        <p:txBody>
          <a:bodyPr/>
          <a:lstStyle/>
          <a:p>
            <a:r>
              <a:rPr lang="en-US" dirty="0"/>
              <a:t>AI activity is heavily front-loaded into early design.</a:t>
            </a:r>
          </a:p>
          <a:p>
            <a:r>
              <a:rPr lang="en-US" dirty="0"/>
              <a:t>Most publications address conceptual exploration, optioning, rendering, and sustainability analyses in the schematic phase.</a:t>
            </a:r>
          </a:p>
          <a:p>
            <a:r>
              <a:rPr lang="en-US" dirty="0"/>
              <a:t>Later phases remain thinner: DD is growing, but CD tasks such as specifications and construction drawings are still rare.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5CB7C-2EC9-9E5B-FD56-F47759B2E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A0FD2-D456-4FC5-A587-87644C4EB2D1}" type="slidenum">
              <a:rPr lang="tr-TR" smtClean="0"/>
              <a:pPr/>
              <a:t>20</a:t>
            </a:fld>
            <a:endParaRPr lang="tr-TR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85100140-3DB6-52F6-CF2E-5E5AD254536B}"/>
              </a:ext>
            </a:extLst>
          </p:cNvPr>
          <p:cNvSpPr/>
          <p:nvPr/>
        </p:nvSpPr>
        <p:spPr>
          <a:xfrm>
            <a:off x="1125104" y="5209244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121B31"/>
          </a:solidFill>
          <a:ln w="13970">
            <a:solidFill>
              <a:srgbClr val="23314F"/>
            </a:solidFill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B14A"/>
                </a:solidFill>
              </a:rPr>
              <a:t>68.94%</a:t>
            </a:r>
            <a:endParaRPr lang="en-US" sz="2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F7FA"/>
                </a:solidFill>
              </a:rPr>
              <a:t>Schematic design</a:t>
            </a:r>
            <a:endParaRPr lang="en-US" sz="24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B4E3AC4F-C304-18A2-CD58-69B64A0D76E0}"/>
              </a:ext>
            </a:extLst>
          </p:cNvPr>
          <p:cNvSpPr/>
          <p:nvPr/>
        </p:nvSpPr>
        <p:spPr>
          <a:xfrm>
            <a:off x="2633864" y="5209244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121B31"/>
          </a:solidFill>
          <a:ln w="13970">
            <a:solidFill>
              <a:srgbClr val="23314F"/>
            </a:solidFill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DD19C"/>
                </a:solidFill>
              </a:rPr>
              <a:t>21.74%</a:t>
            </a:r>
            <a:endParaRPr lang="en-US" sz="2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F7FA"/>
                </a:solidFill>
              </a:rPr>
              <a:t>Design development</a:t>
            </a:r>
            <a:endParaRPr lang="en-US" sz="24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422E9EF-8BD2-7C4C-E3C1-2AD45756EA8F}"/>
              </a:ext>
            </a:extLst>
          </p:cNvPr>
          <p:cNvSpPr/>
          <p:nvPr/>
        </p:nvSpPr>
        <p:spPr>
          <a:xfrm>
            <a:off x="4051184" y="5209244"/>
            <a:ext cx="1051560" cy="914400"/>
          </a:xfrm>
          <a:prstGeom prst="roundRect">
            <a:avLst>
              <a:gd name="adj" fmla="val 8000"/>
            </a:avLst>
          </a:prstGeom>
          <a:solidFill>
            <a:srgbClr val="121B31"/>
          </a:solidFill>
          <a:ln w="13970">
            <a:solidFill>
              <a:srgbClr val="23314F"/>
            </a:solidFill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9B6FF"/>
                </a:solidFill>
              </a:rPr>
              <a:t>7.45%</a:t>
            </a:r>
            <a:endParaRPr lang="en-US" sz="2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F7FA"/>
                </a:solidFill>
              </a:rPr>
              <a:t>Pre-design</a:t>
            </a:r>
            <a:endParaRPr lang="en-US" sz="24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282EFC07-EF56-5F72-438D-1BDD16F7DA7E}"/>
              </a:ext>
            </a:extLst>
          </p:cNvPr>
          <p:cNvSpPr/>
          <p:nvPr/>
        </p:nvSpPr>
        <p:spPr>
          <a:xfrm>
            <a:off x="5303912" y="5209244"/>
            <a:ext cx="1051560" cy="914400"/>
          </a:xfrm>
          <a:prstGeom prst="roundRect">
            <a:avLst>
              <a:gd name="adj" fmla="val 8000"/>
            </a:avLst>
          </a:prstGeom>
          <a:solidFill>
            <a:srgbClr val="121B31"/>
          </a:solidFill>
          <a:ln w="13970">
            <a:solidFill>
              <a:srgbClr val="23314F"/>
            </a:solidFill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8AFF"/>
                </a:solidFill>
              </a:rPr>
              <a:t>1.86%</a:t>
            </a:r>
            <a:endParaRPr lang="en-US" sz="2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F7FA"/>
                </a:solidFill>
              </a:rPr>
              <a:t>Construction docs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500086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088FA-849B-3084-F95F-353CF8292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Most studied tasks and objectives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AFB07-BCA3-668E-39D8-53036C6EA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923" y="1556792"/>
            <a:ext cx="5321078" cy="4302007"/>
          </a:xfrm>
        </p:spPr>
        <p:txBody>
          <a:bodyPr>
            <a:normAutofit/>
          </a:bodyPr>
          <a:lstStyle/>
          <a:p>
            <a:r>
              <a:rPr lang="en-US" dirty="0"/>
              <a:t>Generate plan/elevation layouts - 28 papers</a:t>
            </a:r>
          </a:p>
          <a:p>
            <a:r>
              <a:rPr lang="en-US" dirty="0"/>
              <a:t>Explore design concepts - 21 papers</a:t>
            </a:r>
          </a:p>
          <a:p>
            <a:r>
              <a:rPr lang="en-US" dirty="0"/>
              <a:t>Align architectural and structural design - 20 papers</a:t>
            </a:r>
          </a:p>
          <a:p>
            <a:r>
              <a:rPr lang="en-US" dirty="0"/>
              <a:t>Analyze solar / thermal / wind comfort - 14 papers</a:t>
            </a:r>
          </a:p>
          <a:p>
            <a:r>
              <a:rPr lang="en-US" dirty="0"/>
              <a:t>Evaluate embodied carbon or energy use - 13 papers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51B3A0-E45C-7B68-1221-154EB4F81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A0FD2-D456-4FC5-A587-87644C4EB2D1}" type="slidenum">
              <a:rPr lang="tr-TR" smtClean="0"/>
              <a:pPr/>
              <a:t>21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142417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2AD6A-C062-F14D-FDC6-8CBAAC844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Most studied tasks and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59584-43EB-4269-85D6-A2A567DCA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923" y="2228004"/>
            <a:ext cx="4889030" cy="3630795"/>
          </a:xfrm>
        </p:spPr>
        <p:txBody>
          <a:bodyPr/>
          <a:lstStyle/>
          <a:p>
            <a:r>
              <a:rPr lang="en-US" dirty="0"/>
              <a:t>The most common transformation is image-to-image generation, which reflects a strong preference for planar visual outputs such as layouts, drawings, and renderings.</a:t>
            </a:r>
          </a:p>
          <a:p>
            <a:r>
              <a:rPr lang="en-US" dirty="0"/>
              <a:t>Variables matter when AI is used as a surrogate model for sustainability or parameter optimization.</a:t>
            </a:r>
          </a:p>
          <a:p>
            <a:r>
              <a:rPr lang="en-US" dirty="0"/>
              <a:t>Graphs and 3D models appear less often, but the authors highlight them as promising paths toward richer design semantics and more controllable workflows.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016BD-5864-6893-B1B4-9B6BB1CE9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A0FD2-D456-4FC5-A587-87644C4EB2D1}" type="slidenum">
              <a:rPr lang="tr-TR" smtClean="0"/>
              <a:pPr/>
              <a:t>22</a:t>
            </a:fld>
            <a:endParaRPr lang="tr-TR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5C7DF42A-A716-5E86-F822-0EF23431674A}"/>
              </a:ext>
            </a:extLst>
          </p:cNvPr>
          <p:cNvSpPr/>
          <p:nvPr/>
        </p:nvSpPr>
        <p:spPr>
          <a:xfrm>
            <a:off x="6917768" y="5301845"/>
            <a:ext cx="1170432" cy="868680"/>
          </a:xfrm>
          <a:prstGeom prst="roundRect">
            <a:avLst>
              <a:gd name="adj" fmla="val 8421"/>
            </a:avLst>
          </a:prstGeom>
          <a:solidFill>
            <a:srgbClr val="121B31"/>
          </a:solidFill>
          <a:ln w="13970">
            <a:solidFill>
              <a:srgbClr val="23314F"/>
            </a:solidFill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9B6FF"/>
                </a:solidFill>
              </a:rPr>
              <a:t>52.8%</a:t>
            </a:r>
            <a:endParaRPr lang="en-US" sz="2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F7FA"/>
                </a:solidFill>
              </a:rPr>
              <a:t>image input</a:t>
            </a:r>
            <a:endParaRPr lang="en-US" sz="24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DE3B8105-DEA1-3875-EE0C-9F8D0FD768D6}"/>
              </a:ext>
            </a:extLst>
          </p:cNvPr>
          <p:cNvSpPr/>
          <p:nvPr/>
        </p:nvSpPr>
        <p:spPr>
          <a:xfrm>
            <a:off x="8271080" y="5301845"/>
            <a:ext cx="1170432" cy="868680"/>
          </a:xfrm>
          <a:prstGeom prst="roundRect">
            <a:avLst>
              <a:gd name="adj" fmla="val 8421"/>
            </a:avLst>
          </a:prstGeom>
          <a:solidFill>
            <a:srgbClr val="121B31"/>
          </a:solidFill>
          <a:ln w="13970">
            <a:solidFill>
              <a:srgbClr val="23314F"/>
            </a:solidFill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B14A"/>
                </a:solidFill>
              </a:rPr>
              <a:t>68.32%</a:t>
            </a:r>
            <a:endParaRPr lang="en-US" sz="2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F7FA"/>
                </a:solidFill>
              </a:rPr>
              <a:t>image output</a:t>
            </a:r>
            <a:endParaRPr lang="en-US" sz="24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C16C8174-2750-52FD-6EE9-9E6D3F8DA70F}"/>
              </a:ext>
            </a:extLst>
          </p:cNvPr>
          <p:cNvSpPr/>
          <p:nvPr/>
        </p:nvSpPr>
        <p:spPr>
          <a:xfrm>
            <a:off x="9624392" y="5301845"/>
            <a:ext cx="1143000" cy="868680"/>
          </a:xfrm>
          <a:prstGeom prst="roundRect">
            <a:avLst>
              <a:gd name="adj" fmla="val 8421"/>
            </a:avLst>
          </a:prstGeom>
          <a:solidFill>
            <a:srgbClr val="121B31"/>
          </a:solidFill>
          <a:ln w="13970">
            <a:solidFill>
              <a:srgbClr val="23314F"/>
            </a:solidFill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DD19C"/>
                </a:solidFill>
              </a:rPr>
              <a:t>13.0%</a:t>
            </a:r>
            <a:endParaRPr lang="en-US" sz="2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F7FA"/>
                </a:solidFill>
              </a:rPr>
              <a:t>multimodal input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77443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68200-4153-FD99-8D2E-2736DBC69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Evaluation is diverse &amp; fragmented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1DD42-A46C-BECB-175A-4DC52C54C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922" y="2228004"/>
            <a:ext cx="9209509" cy="3630795"/>
          </a:xfrm>
        </p:spPr>
        <p:txBody>
          <a:bodyPr/>
          <a:lstStyle/>
          <a:p>
            <a:r>
              <a:rPr lang="en-US" dirty="0"/>
              <a:t> Most papers rely on a single evaluation type; only 27 combine methods.</a:t>
            </a:r>
          </a:p>
          <a:p>
            <a:r>
              <a:rPr lang="en-US" dirty="0"/>
              <a:t> Dataset validation is the most common method, followed by author visual interpretation.</a:t>
            </a:r>
          </a:p>
          <a:p>
            <a:r>
              <a:rPr lang="en-US" dirty="0"/>
              <a:t>The review identifies 105 unique metrics across 161 studies - a warning sign that the field still lacks shared benchmarks.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261AF5-06AE-9EE0-67DE-E9C037CDD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A0FD2-D456-4FC5-A587-87644C4EB2D1}" type="slidenum">
              <a:rPr lang="tr-TR" smtClean="0"/>
              <a:pPr/>
              <a:t>23</a:t>
            </a:fld>
            <a:endParaRPr lang="tr-TR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7150278-067D-8FB4-40F2-6DB23F3482D3}"/>
              </a:ext>
            </a:extLst>
          </p:cNvPr>
          <p:cNvSpPr/>
          <p:nvPr/>
        </p:nvSpPr>
        <p:spPr>
          <a:xfrm>
            <a:off x="743246" y="5114232"/>
            <a:ext cx="1143000" cy="868680"/>
          </a:xfrm>
          <a:prstGeom prst="roundRect">
            <a:avLst>
              <a:gd name="adj" fmla="val 8421"/>
            </a:avLst>
          </a:prstGeom>
          <a:solidFill>
            <a:srgbClr val="121B31"/>
          </a:solidFill>
          <a:ln w="13970">
            <a:solidFill>
              <a:srgbClr val="23314F"/>
            </a:solidFill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DD19C"/>
                </a:solidFill>
              </a:rPr>
              <a:t>60.9%</a:t>
            </a:r>
            <a:endParaRPr lang="en-US" sz="2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F7FA"/>
                </a:solidFill>
              </a:rPr>
              <a:t>comparative</a:t>
            </a:r>
            <a:endParaRPr lang="en-US" sz="2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E1FEF7F-AA5C-B497-2929-3148880DB411}"/>
              </a:ext>
            </a:extLst>
          </p:cNvPr>
          <p:cNvSpPr/>
          <p:nvPr/>
        </p:nvSpPr>
        <p:spPr>
          <a:xfrm>
            <a:off x="2087414" y="5114232"/>
            <a:ext cx="1143000" cy="868680"/>
          </a:xfrm>
          <a:prstGeom prst="roundRect">
            <a:avLst>
              <a:gd name="adj" fmla="val 8421"/>
            </a:avLst>
          </a:prstGeom>
          <a:solidFill>
            <a:srgbClr val="121B31"/>
          </a:solidFill>
          <a:ln w="13970">
            <a:solidFill>
              <a:srgbClr val="23314F"/>
            </a:solidFill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B14A"/>
                </a:solidFill>
              </a:rPr>
              <a:t>34.2%</a:t>
            </a:r>
            <a:endParaRPr lang="en-US" sz="2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F7FA"/>
                </a:solidFill>
              </a:rPr>
              <a:t>author assessment</a:t>
            </a:r>
            <a:endParaRPr lang="en-US" sz="24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6F43D96-C643-0596-1361-D13882B59708}"/>
              </a:ext>
            </a:extLst>
          </p:cNvPr>
          <p:cNvSpPr/>
          <p:nvPr/>
        </p:nvSpPr>
        <p:spPr>
          <a:xfrm>
            <a:off x="3431582" y="5114232"/>
            <a:ext cx="1143000" cy="868680"/>
          </a:xfrm>
          <a:prstGeom prst="roundRect">
            <a:avLst>
              <a:gd name="adj" fmla="val 8421"/>
            </a:avLst>
          </a:prstGeom>
          <a:solidFill>
            <a:srgbClr val="121B31"/>
          </a:solidFill>
          <a:ln w="13970">
            <a:solidFill>
              <a:srgbClr val="23314F"/>
            </a:solidFill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9B6FF"/>
                </a:solidFill>
              </a:rPr>
              <a:t>17.4%</a:t>
            </a:r>
            <a:endParaRPr lang="en-US" sz="2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F7FA"/>
                </a:solidFill>
              </a:rPr>
              <a:t>third party</a:t>
            </a:r>
            <a:endParaRPr lang="en-US" sz="2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1B32A06-46A0-DDBA-F499-41AC91A0BECA}"/>
              </a:ext>
            </a:extLst>
          </p:cNvPr>
          <p:cNvSpPr/>
          <p:nvPr/>
        </p:nvSpPr>
        <p:spPr>
          <a:xfrm>
            <a:off x="4775750" y="5114232"/>
            <a:ext cx="1005840" cy="868680"/>
          </a:xfrm>
          <a:prstGeom prst="roundRect">
            <a:avLst>
              <a:gd name="adj" fmla="val 8421"/>
            </a:avLst>
          </a:prstGeom>
          <a:solidFill>
            <a:srgbClr val="121B31"/>
          </a:solidFill>
          <a:ln w="13970">
            <a:solidFill>
              <a:srgbClr val="23314F"/>
            </a:solidFill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8AFF"/>
                </a:solidFill>
              </a:rPr>
              <a:t>8.7%</a:t>
            </a:r>
            <a:endParaRPr lang="en-US" sz="2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F7FA"/>
                </a:solidFill>
              </a:rPr>
              <a:t>machine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36587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10548-D906-0EC9-5CAC-6FE9B8DF7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F617B-0B26-8AF7-98AA-DA45DFE6C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reduces hype by revealing where AI is genuinely mature and where later-phase claims remain thin.</a:t>
            </a:r>
          </a:p>
          <a:p>
            <a:r>
              <a:rPr lang="en-US" dirty="0"/>
              <a:t>It offers a domain-specific vocabulary for discussing model architecture, design objective, data format, and evaluation strategy together.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F48ED-E5F0-B475-3737-2F040B00B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A0FD2-D456-4FC5-A587-87644C4EB2D1}" type="slidenum">
              <a:rPr lang="tr-TR" smtClean="0"/>
              <a:pPr/>
              <a:t>24</a:t>
            </a:fld>
            <a:endParaRPr lang="tr-T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00AE94B-B3AA-449A-AB6B-E8911BB58D59}"/>
              </a:ext>
            </a:extLst>
          </p:cNvPr>
          <p:cNvSpPr/>
          <p:nvPr/>
        </p:nvSpPr>
        <p:spPr>
          <a:xfrm>
            <a:off x="544012" y="409078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/>
              <a:t>1. Adoption timeline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0A5749F-C636-3C58-F9EF-BE34D286FC5C}"/>
              </a:ext>
            </a:extLst>
          </p:cNvPr>
          <p:cNvSpPr/>
          <p:nvPr/>
        </p:nvSpPr>
        <p:spPr>
          <a:xfrm>
            <a:off x="562300" y="4365104"/>
            <a:ext cx="2660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/>
              <a:t>Shows which model families entered architectural design and when.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9F2A559-8211-C691-198F-1220CDE83685}"/>
              </a:ext>
            </a:extLst>
          </p:cNvPr>
          <p:cNvSpPr/>
          <p:nvPr/>
        </p:nvSpPr>
        <p:spPr>
          <a:xfrm>
            <a:off x="3497524" y="409078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/>
              <a:t>2. Design process map</a:t>
            </a:r>
            <a:endParaRPr lang="en-US" sz="13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DA750F6-807F-77B4-328F-6C01EF83A2E8}"/>
              </a:ext>
            </a:extLst>
          </p:cNvPr>
          <p:cNvSpPr/>
          <p:nvPr/>
        </p:nvSpPr>
        <p:spPr>
          <a:xfrm>
            <a:off x="3515812" y="4365104"/>
            <a:ext cx="2660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/>
              <a:t>Locates AI activity across pre-design, SD, DD, and CD.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5C2C9AF2-B655-1DC9-30BA-2ED6FE31B1C7}"/>
              </a:ext>
            </a:extLst>
          </p:cNvPr>
          <p:cNvSpPr/>
          <p:nvPr/>
        </p:nvSpPr>
        <p:spPr>
          <a:xfrm>
            <a:off x="6451036" y="409078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/>
              <a:t>3. Data ecology</a:t>
            </a:r>
            <a:endParaRPr lang="en-US" sz="13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1F622FE-2014-461F-AA27-01A668885B21}"/>
              </a:ext>
            </a:extLst>
          </p:cNvPr>
          <p:cNvSpPr/>
          <p:nvPr/>
        </p:nvSpPr>
        <p:spPr>
          <a:xfrm>
            <a:off x="6469324" y="4365104"/>
            <a:ext cx="2660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/>
              <a:t>Tracks how images, variables, text, graphs, and 3D models flow.</a:t>
            </a: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2260B8EA-C01F-8789-7364-A16A5FAFE1EB}"/>
              </a:ext>
            </a:extLst>
          </p:cNvPr>
          <p:cNvSpPr/>
          <p:nvPr/>
        </p:nvSpPr>
        <p:spPr>
          <a:xfrm>
            <a:off x="9404548" y="409078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/>
              <a:t>4. Evaluation lens</a:t>
            </a:r>
            <a:endParaRPr lang="en-US" sz="13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6255D41C-58EA-45C1-660F-97FE5BE36F77}"/>
              </a:ext>
            </a:extLst>
          </p:cNvPr>
          <p:cNvSpPr/>
          <p:nvPr/>
        </p:nvSpPr>
        <p:spPr>
          <a:xfrm>
            <a:off x="9422836" y="4365104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/>
              <a:t>Explains how researchers judge systems without a single right answer.</a:t>
            </a:r>
          </a:p>
        </p:txBody>
      </p:sp>
    </p:spTree>
    <p:extLst>
      <p:ext uri="{BB962C8B-B14F-4D97-AF65-F5344CB8AC3E}">
        <p14:creationId xmlns:p14="http://schemas.microsoft.com/office/powerpoint/2010/main" val="8597197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F056D-E6B9-B68A-C30B-C85EF0BE3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gaps and future opportunities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05368-DFD7-BEB6-3210-ECEFF06C1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ends with a clear message:  AI is moving faster than the field's standards, controls, and later-phase integration.</a:t>
            </a:r>
          </a:p>
          <a:p>
            <a:r>
              <a:rPr lang="en-US" dirty="0"/>
              <a:t>Generative AI in architecture is not just about novel images - it is about building reliable, controllable, benchmarked design systems.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D165D7-391A-7A9F-E647-8078608F1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A0FD2-D456-4FC5-A587-87644C4EB2D1}" type="slidenum">
              <a:rPr lang="tr-TR" smtClean="0"/>
              <a:pPr/>
              <a:t>25</a:t>
            </a:fld>
            <a:endParaRPr lang="tr-TR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5DB33877-19A6-DFC4-D73B-7C02585CF009}"/>
              </a:ext>
            </a:extLst>
          </p:cNvPr>
          <p:cNvSpPr/>
          <p:nvPr/>
        </p:nvSpPr>
        <p:spPr>
          <a:xfrm>
            <a:off x="530688" y="4005522"/>
            <a:ext cx="2331720" cy="1878887"/>
          </a:xfrm>
          <a:prstGeom prst="roundRect">
            <a:avLst>
              <a:gd name="adj" fmla="val 3137"/>
            </a:avLst>
          </a:prstGeom>
          <a:solidFill>
            <a:srgbClr val="121B31"/>
          </a:solidFill>
          <a:ln w="19050">
            <a:solidFill>
              <a:srgbClr val="59B6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7FA"/>
                </a:solidFill>
              </a:rPr>
              <a:t>Expand beyond early design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5F7FA"/>
                </a:solidFill>
              </a:rPr>
              <a:t>AI is concentrated in schematic design. DD and CD need stronger support for drawings, specs, and coordination.</a:t>
            </a:r>
            <a:endParaRPr lang="en-US" sz="14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52095E94-07F5-68EC-7E8A-4A983E136477}"/>
              </a:ext>
            </a:extLst>
          </p:cNvPr>
          <p:cNvSpPr/>
          <p:nvPr/>
        </p:nvSpPr>
        <p:spPr>
          <a:xfrm>
            <a:off x="3465912" y="4005522"/>
            <a:ext cx="2331720" cy="1878887"/>
          </a:xfrm>
          <a:prstGeom prst="roundRect">
            <a:avLst>
              <a:gd name="adj" fmla="val 3137"/>
            </a:avLst>
          </a:prstGeom>
          <a:solidFill>
            <a:srgbClr val="121B31"/>
          </a:solidFill>
          <a:ln w="19050">
            <a:solidFill>
              <a:srgbClr val="FFB14A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7FA"/>
                </a:solidFill>
              </a:rPr>
              <a:t>Build shared benchmarks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5F7FA"/>
                </a:solidFill>
              </a:rPr>
              <a:t>The field needs domain datasets and metrics that measure usability, dimensional accuracy, and contextual fit - not only borrowed computer vision scores.</a:t>
            </a:r>
            <a:endParaRPr lang="en-US" sz="14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2F101491-F0E5-9C01-23CE-404D3D3BCC29}"/>
              </a:ext>
            </a:extLst>
          </p:cNvPr>
          <p:cNvSpPr/>
          <p:nvPr/>
        </p:nvSpPr>
        <p:spPr>
          <a:xfrm>
            <a:off x="6401136" y="4005522"/>
            <a:ext cx="2331720" cy="1878887"/>
          </a:xfrm>
          <a:prstGeom prst="roundRect">
            <a:avLst>
              <a:gd name="adj" fmla="val 3137"/>
            </a:avLst>
          </a:prstGeom>
          <a:solidFill>
            <a:srgbClr val="121B31"/>
          </a:solidFill>
          <a:ln w="19050">
            <a:solidFill>
              <a:srgbClr val="6DD19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7FA"/>
                </a:solidFill>
              </a:rPr>
              <a:t>Improve human-in-the-loop control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5F7FA"/>
                </a:solidFill>
              </a:rPr>
              <a:t>Prompting alone is not enough. Designers need interfaces and models that understand intent without repeated trial and error.</a:t>
            </a:r>
            <a:endParaRPr lang="en-US" sz="14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73A1305B-C001-ED72-A8B8-746AE42D4932}"/>
              </a:ext>
            </a:extLst>
          </p:cNvPr>
          <p:cNvSpPr/>
          <p:nvPr/>
        </p:nvSpPr>
        <p:spPr>
          <a:xfrm>
            <a:off x="9336360" y="4005522"/>
            <a:ext cx="2331720" cy="1878887"/>
          </a:xfrm>
          <a:prstGeom prst="roundRect">
            <a:avLst>
              <a:gd name="adj" fmla="val 3137"/>
            </a:avLst>
          </a:prstGeom>
          <a:solidFill>
            <a:srgbClr val="121B31"/>
          </a:solidFill>
          <a:ln w="19050">
            <a:solidFill>
              <a:srgbClr val="D98A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7FA"/>
                </a:solidFill>
              </a:rPr>
              <a:t>Create practice-ready frameworks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5F7FA"/>
                </a:solidFill>
              </a:rPr>
              <a:t>Future systems should connect AI with BIM, domain knowledge, and robust workflows rather than isolated image generators.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973376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EC7AD-5565-406D-4242-CB4D44F13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B2DB1-6B6F-D770-1044-E3F3B0E68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923" y="2228004"/>
            <a:ext cx="5321078" cy="363079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Generative AI has become a serious design technology - but it is still strongest at seeing, sketching, and comparing, not yet at fully documenting buildings.</a:t>
            </a:r>
          </a:p>
          <a:p>
            <a:r>
              <a:rPr lang="en-US" dirty="0"/>
              <a:t>Architectural AI adoption is accelerating fast enough that curricula and professional practice cannot treat it as a future topic.</a:t>
            </a:r>
          </a:p>
          <a:p>
            <a:r>
              <a:rPr lang="en-US" dirty="0"/>
              <a:t>The current center of gravity is schematic design: concept generation, layout generation, rendering, and sustainability surrogate modeling.</a:t>
            </a:r>
          </a:p>
          <a:p>
            <a:r>
              <a:rPr lang="en-US" dirty="0"/>
              <a:t>Images dominate the field, but graph, multimodal, and BIM-linked approaches point toward the next generation of more controllable systems.</a:t>
            </a:r>
          </a:p>
          <a:p>
            <a:r>
              <a:rPr lang="en-US" dirty="0"/>
              <a:t>Evaluation remains the weakest common language; the field needs shared benchmarks and domain metrics.</a:t>
            </a:r>
          </a:p>
          <a:p>
            <a:r>
              <a:rPr lang="en-US" dirty="0"/>
              <a:t>The real opportunity is not replacing architects - it is augmenting design reasoning with trustworthy, workflow-aware AI.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1E7D2-DDE5-9F3F-74BE-18C2FE302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A0FD2-D456-4FC5-A587-87644C4EB2D1}" type="slidenum">
              <a:rPr lang="tr-TR" smtClean="0"/>
              <a:pPr/>
              <a:t>26</a:t>
            </a:fld>
            <a:endParaRPr lang="tr-TR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8D244F8B-F022-3E3F-6DC9-4A026A2B9418}"/>
              </a:ext>
            </a:extLst>
          </p:cNvPr>
          <p:cNvSpPr/>
          <p:nvPr/>
        </p:nvSpPr>
        <p:spPr>
          <a:xfrm>
            <a:off x="7540712" y="1844824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121B31"/>
          </a:solidFill>
          <a:ln w="13970">
            <a:solidFill>
              <a:srgbClr val="23314F"/>
            </a:solidFill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9B6FF"/>
                </a:solidFill>
              </a:rPr>
              <a:t>161</a:t>
            </a:r>
            <a:endParaRPr lang="en-US" sz="2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F7FA"/>
                </a:solidFill>
              </a:rPr>
              <a:t>papers</a:t>
            </a:r>
            <a:endParaRPr lang="en-US" sz="240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D093FC75-4800-B283-9C02-231FB474CC52}"/>
              </a:ext>
            </a:extLst>
          </p:cNvPr>
          <p:cNvSpPr/>
          <p:nvPr/>
        </p:nvSpPr>
        <p:spPr>
          <a:xfrm>
            <a:off x="8976320" y="1844824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121B31"/>
          </a:solidFill>
          <a:ln w="13970">
            <a:solidFill>
              <a:srgbClr val="23314F"/>
            </a:solidFill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DD19C"/>
                </a:solidFill>
              </a:rPr>
              <a:t>96.09%</a:t>
            </a:r>
            <a:endParaRPr lang="en-US" sz="2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F7FA"/>
                </a:solidFill>
              </a:rPr>
              <a:t>gap down</a:t>
            </a:r>
            <a:endParaRPr lang="en-US" sz="24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25F9346C-F61C-F5B0-714B-A940E04F0B8E}"/>
              </a:ext>
            </a:extLst>
          </p:cNvPr>
          <p:cNvSpPr/>
          <p:nvPr/>
        </p:nvSpPr>
        <p:spPr>
          <a:xfrm>
            <a:off x="10594808" y="1844824"/>
            <a:ext cx="960120" cy="914400"/>
          </a:xfrm>
          <a:prstGeom prst="roundRect">
            <a:avLst>
              <a:gd name="adj" fmla="val 8000"/>
            </a:avLst>
          </a:prstGeom>
          <a:solidFill>
            <a:srgbClr val="121B31"/>
          </a:solidFill>
          <a:ln w="13970">
            <a:solidFill>
              <a:srgbClr val="23314F"/>
            </a:solidFill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B14A"/>
                </a:solidFill>
              </a:rPr>
              <a:t>68.9%</a:t>
            </a:r>
            <a:endParaRPr lang="en-US" sz="2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F7FA"/>
                </a:solidFill>
              </a:rPr>
              <a:t>SD</a:t>
            </a:r>
            <a:endParaRPr lang="en-US" sz="240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35CADF45-A633-8A14-6F72-7D56DC3F360A}"/>
              </a:ext>
            </a:extLst>
          </p:cNvPr>
          <p:cNvSpPr/>
          <p:nvPr/>
        </p:nvSpPr>
        <p:spPr>
          <a:xfrm>
            <a:off x="7540712" y="3033544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21B31"/>
          </a:solidFill>
          <a:ln w="13970">
            <a:solidFill>
              <a:srgbClr val="23314F"/>
            </a:solidFill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9B6FF"/>
                </a:solidFill>
              </a:rPr>
              <a:t>52.8% / 68.32%</a:t>
            </a:r>
            <a:endParaRPr lang="en-US" sz="2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F7FA"/>
                </a:solidFill>
              </a:rPr>
              <a:t>image input / output</a:t>
            </a:r>
            <a:endParaRPr lang="en-US" sz="240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2AA17E65-65A2-A7DB-D153-9736A9F162AE}"/>
              </a:ext>
            </a:extLst>
          </p:cNvPr>
          <p:cNvSpPr/>
          <p:nvPr/>
        </p:nvSpPr>
        <p:spPr>
          <a:xfrm>
            <a:off x="9735272" y="3033544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21B31"/>
          </a:solidFill>
          <a:ln w="13970">
            <a:solidFill>
              <a:srgbClr val="23314F"/>
            </a:solidFill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8AFF"/>
                </a:solidFill>
              </a:rPr>
              <a:t>60.9%</a:t>
            </a:r>
            <a:endParaRPr lang="en-US" sz="2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F7FA"/>
                </a:solidFill>
              </a:rPr>
              <a:t>comparative eval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900127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68F2D-570D-5A73-9649-A68A9F6E3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+ Agentic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A9C62-4BF3-4ADD-B56A-C4EFE1B7C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922" y="1740468"/>
            <a:ext cx="10653003" cy="3630795"/>
          </a:xfrm>
        </p:spPr>
        <p:txBody>
          <a:bodyPr/>
          <a:lstStyle/>
          <a:p>
            <a:r>
              <a:rPr lang="en-US" dirty="0"/>
              <a:t>The </a:t>
            </a:r>
            <a:r>
              <a:rPr lang="en-US" b="1" dirty="0">
                <a:solidFill>
                  <a:srgbClr val="7030A0"/>
                </a:solidFill>
              </a:rPr>
              <a:t>Conversational, agentic AI-enhanced architectural design process: three approaches to multimodal AI-enhanced early-stage performative design exploration </a:t>
            </a:r>
            <a:r>
              <a:rPr lang="en-US" dirty="0"/>
              <a:t>paper by Cheung et al. explores AI as a design partner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6E939-0089-4DDA-025E-6A131DCF6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A0FD2-D456-4FC5-A587-87644C4EB2D1}" type="slidenum">
              <a:rPr lang="tr-TR" smtClean="0"/>
              <a:pPr/>
              <a:t>27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244895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49AA1-A8D1-7F2E-3ECA-51BE763C5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Reading Assignments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82E5B-49FB-9769-563B-1AAA6C446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 </a:t>
            </a:r>
            <a:r>
              <a:rPr lang="en-US" b="1" dirty="0">
                <a:solidFill>
                  <a:srgbClr val="7030A0"/>
                </a:solidFill>
              </a:rPr>
              <a:t>Generative AI in architectural design: Application, data, and evaluation methods </a:t>
            </a:r>
            <a:r>
              <a:rPr lang="en-US" dirty="0"/>
              <a:t>review paper by Jang et al. provides a comprehensive overview of the field:</a:t>
            </a:r>
          </a:p>
          <a:p>
            <a:pPr marL="324000" lvl="1" indent="0">
              <a:buNone/>
            </a:pPr>
            <a:r>
              <a:rPr lang="en-US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https://www.sciencedirect.com/science/article/pii/S0926580525002146</a:t>
            </a:r>
            <a:endParaRPr lang="en-US" dirty="0">
              <a:solidFill>
                <a:srgbClr val="0070C0"/>
              </a:solidFill>
            </a:endParaRPr>
          </a:p>
          <a:p>
            <a:pPr marL="324000" lvl="1" indent="0">
              <a:buNone/>
            </a:pPr>
            <a:endParaRPr lang="en-US" dirty="0"/>
          </a:p>
          <a:p>
            <a:r>
              <a:rPr lang="en-US" dirty="0"/>
              <a:t>The </a:t>
            </a:r>
            <a:r>
              <a:rPr lang="en-US" b="1" dirty="0">
                <a:solidFill>
                  <a:srgbClr val="7030A0"/>
                </a:solidFill>
              </a:rPr>
              <a:t>Conversational, agentic AI-enhanced architectural design process: three approaches to multimodal AI-enhanced early-stage performative design exploration </a:t>
            </a:r>
            <a:r>
              <a:rPr lang="en-US" dirty="0"/>
              <a:t>paper by Cheung et al. explores AI as a design partner</a:t>
            </a:r>
          </a:p>
          <a:p>
            <a:pPr marL="324000" lvl="1" indent="0">
              <a:buNone/>
            </a:pPr>
            <a:r>
              <a:rPr lang="en-US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https://link.springer.com/article/10.1007/s44223-025-00092-5</a:t>
            </a:r>
            <a:endParaRPr lang="en-US" dirty="0">
              <a:solidFill>
                <a:srgbClr val="0070C0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89401-DE47-F472-5D48-E1C3610D8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A0FD2-D456-4FC5-A587-87644C4EB2D1}" type="slidenum">
              <a:rPr lang="tr-TR" smtClean="0"/>
              <a:pPr/>
              <a:t>28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859856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DE63B-FC38-C46C-199F-93B5EF4FA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Activity: Generative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BF6E9-3CAD-CDC4-BF9B-5ED45EE88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1463" y="1456404"/>
            <a:ext cx="10156461" cy="3630795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Open up a web browser. Google “google </a:t>
            </a:r>
            <a:r>
              <a:rPr lang="en-US" dirty="0" err="1"/>
              <a:t>colab</a:t>
            </a:r>
            <a:r>
              <a:rPr lang="en-US" dirty="0"/>
              <a:t>” click on the first entry.  You may also access the website by following </a:t>
            </a:r>
            <a:r>
              <a:rPr lang="en-US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https://colab.research.google.com/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Go to Canvas and download the file called “</a:t>
            </a:r>
            <a:r>
              <a:rPr lang="en-US" i="0" u="none" strike="noStrike" dirty="0" err="1">
                <a:effectLst/>
              </a:rPr>
              <a:t>AI_Studio-Seminar_Generative_AI_in_Architecture</a:t>
            </a:r>
            <a:r>
              <a:rPr lang="en-US" dirty="0" err="1"/>
              <a:t>.ipynb</a:t>
            </a:r>
            <a:r>
              <a:rPr lang="en-US" dirty="0"/>
              <a:t>” </a:t>
            </a:r>
            <a:endParaRPr lang="en-US" dirty="0">
              <a:solidFill>
                <a:srgbClr val="0070C0"/>
              </a:solidFill>
            </a:endParaRPr>
          </a:p>
          <a:p>
            <a:pPr marL="666900" lvl="1" indent="-342900">
              <a:buFont typeface="+mj-lt"/>
              <a:buAutoNum type="arabicPeriod"/>
            </a:pPr>
            <a:endParaRPr lang="en-US" dirty="0"/>
          </a:p>
          <a:p>
            <a:pPr marL="666900" lvl="1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231A6-8FCA-1A39-6EC2-D0947735B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A0FD2-D456-4FC5-A587-87644C4EB2D1}" type="slidenum">
              <a:rPr lang="tr-TR" smtClean="0"/>
              <a:pPr/>
              <a:t>29</a:t>
            </a:fld>
            <a:endParaRPr lang="tr-TR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5FF2AF0A-F137-658D-003D-3FE51F7D51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03712" y="2999514"/>
            <a:ext cx="4463127" cy="3139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1017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F257E-DE4B-E04B-8591-F2DC6DD1A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Class</a:t>
            </a:r>
          </a:p>
        </p:txBody>
      </p:sp>
      <p:sp>
        <p:nvSpPr>
          <p:cNvPr id="4" name="Rectangle 21">
            <a:extLst>
              <a:ext uri="{FF2B5EF4-FFF2-40B4-BE49-F238E27FC236}">
                <a16:creationId xmlns:a16="http://schemas.microsoft.com/office/drawing/2014/main" id="{E2CD8A25-F963-5A48-A13C-8FDFBE85E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440" y="1943100"/>
            <a:ext cx="8126660" cy="3574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lvl="1" indent="0">
              <a:buNone/>
            </a:pPr>
            <a:endParaRPr lang="en-US" sz="1350" dirty="0">
              <a:latin typeface="Helvetica" pitchFamily="2" charset="0"/>
              <a:ea typeface="Calibri" panose="020F0502020204030204" pitchFamily="34" charset="0"/>
            </a:endParaRPr>
          </a:p>
          <a:p>
            <a:pPr marL="214313" lvl="1"/>
            <a:r>
              <a:rPr lang="en-US" sz="1800" dirty="0"/>
              <a:t>Agentic AI</a:t>
            </a:r>
          </a:p>
          <a:p>
            <a:pPr marL="0" lvl="1" indent="0">
              <a:buNone/>
            </a:pPr>
            <a:endParaRPr lang="en-US" sz="1350" dirty="0">
              <a:latin typeface="Helvetica" pitchFamily="2" charset="0"/>
              <a:ea typeface="Calibri" panose="020F0502020204030204" pitchFamily="34" charset="0"/>
            </a:endParaRPr>
          </a:p>
          <a:p>
            <a:pPr marL="0" lvl="1" indent="0">
              <a:buNone/>
            </a:pPr>
            <a:endParaRPr lang="en-US" sz="135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8153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46938E-2735-E543-9840-0DCE71799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6C18F-78ED-364E-868B-B1136D5278E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6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92"/>
    </mc:Choice>
    <mc:Fallback xmlns="">
      <p:transition spd="slow" advTm="5592"/>
    </mc:Fallback>
  </mc:AlternateContent>
</p:sld>
</file>

<file path=ppt/theme/theme1.xml><?xml version="1.0" encoding="utf-8"?>
<a:theme xmlns:a="http://schemas.openxmlformats.org/drawingml/2006/main" name="UW Lecture Notes 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W Lecture Notes " id="{31995CA2-4DBD-4346-9BC1-E487B60AE287}" vid="{DB318C28-8647-D64A-887A-E07051A7D921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UW Lecture Notes </Template>
  <TotalTime>32538</TotalTime>
  <Words>1713</Words>
  <Application>Microsoft Macintosh PowerPoint</Application>
  <PresentationFormat>Widescreen</PresentationFormat>
  <Paragraphs>284</Paragraphs>
  <Slides>31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Aptos</vt:lpstr>
      <vt:lpstr>Arial</vt:lpstr>
      <vt:lpstr>Calibri</vt:lpstr>
      <vt:lpstr>Gill Sans MT</vt:lpstr>
      <vt:lpstr>Helvetica</vt:lpstr>
      <vt:lpstr>Times New Roman</vt:lpstr>
      <vt:lpstr>Wingdings 2</vt:lpstr>
      <vt:lpstr>UW Lecture Notes </vt:lpstr>
      <vt:lpstr>PowerPoint Presentation</vt:lpstr>
      <vt:lpstr>Today's Agenda</vt:lpstr>
      <vt:lpstr>What is Generative AI?</vt:lpstr>
      <vt:lpstr>Types of Generative Models</vt:lpstr>
      <vt:lpstr>Types of Generative Models</vt:lpstr>
      <vt:lpstr>Diffusion Models</vt:lpstr>
      <vt:lpstr>Diffusion Models</vt:lpstr>
      <vt:lpstr>Text-to-Image Models</vt:lpstr>
      <vt:lpstr>Text-to-Image Models</vt:lpstr>
      <vt:lpstr>Prompting as Design</vt:lpstr>
      <vt:lpstr>Prompting as Design</vt:lpstr>
      <vt:lpstr>Limitations of Prompting</vt:lpstr>
      <vt:lpstr>Limitations of Prompting</vt:lpstr>
      <vt:lpstr>From Images to Architecture</vt:lpstr>
      <vt:lpstr>Workflow from the Notebook</vt:lpstr>
      <vt:lpstr>Code as Design Medium</vt:lpstr>
      <vt:lpstr>Generative AI in Architectural Design</vt:lpstr>
      <vt:lpstr>How the review was conducted</vt:lpstr>
      <vt:lpstr>AI Adoption in Architecture </vt:lpstr>
      <vt:lpstr>Where AI enters the architectural workflow</vt:lpstr>
      <vt:lpstr>Most studied tasks and objectives  </vt:lpstr>
      <vt:lpstr>Most studied tasks and objectives</vt:lpstr>
      <vt:lpstr>Evaluation is diverse &amp; fragmented</vt:lpstr>
      <vt:lpstr>Conclusion</vt:lpstr>
      <vt:lpstr>Key gaps and future opportunities</vt:lpstr>
      <vt:lpstr>Key takeaways</vt:lpstr>
      <vt:lpstr>Generative + Agentic AI</vt:lpstr>
      <vt:lpstr>Main Reading Assignments</vt:lpstr>
      <vt:lpstr>Lab Activity: Generative AI</vt:lpstr>
      <vt:lpstr>Next Class</vt:lpstr>
      <vt:lpstr>PowerPoint Presentation</vt:lpstr>
    </vt:vector>
  </TitlesOfParts>
  <Company>BOGAZICI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</dc:title>
  <dc:creator>ethem</dc:creator>
  <cp:lastModifiedBy>narjes abbasabadi</cp:lastModifiedBy>
  <cp:revision>384</cp:revision>
  <dcterms:created xsi:type="dcterms:W3CDTF">2005-01-24T14:46:28Z</dcterms:created>
  <dcterms:modified xsi:type="dcterms:W3CDTF">2026-04-14T22:03:26Z</dcterms:modified>
</cp:coreProperties>
</file>