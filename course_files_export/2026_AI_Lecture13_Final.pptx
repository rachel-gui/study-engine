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79" r:id="rId1"/>
  </p:sldMasterIdLst>
  <p:notesMasterIdLst>
    <p:notesMasterId r:id="rId30"/>
  </p:notesMasterIdLst>
  <p:handoutMasterIdLst>
    <p:handoutMasterId r:id="rId31"/>
  </p:handoutMasterIdLst>
  <p:sldIdLst>
    <p:sldId id="2732" r:id="rId2"/>
    <p:sldId id="2803" r:id="rId3"/>
    <p:sldId id="2801" r:id="rId4"/>
    <p:sldId id="2774" r:id="rId5"/>
    <p:sldId id="2773" r:id="rId6"/>
    <p:sldId id="2778" r:id="rId7"/>
    <p:sldId id="2787" r:id="rId8"/>
    <p:sldId id="2775" r:id="rId9"/>
    <p:sldId id="258" r:id="rId10"/>
    <p:sldId id="2776" r:id="rId11"/>
    <p:sldId id="2790" r:id="rId12"/>
    <p:sldId id="2777" r:id="rId13"/>
    <p:sldId id="2793" r:id="rId14"/>
    <p:sldId id="2792" r:id="rId15"/>
    <p:sldId id="2798" r:id="rId16"/>
    <p:sldId id="2799" r:id="rId17"/>
    <p:sldId id="2800" r:id="rId18"/>
    <p:sldId id="2779" r:id="rId19"/>
    <p:sldId id="2780" r:id="rId20"/>
    <p:sldId id="2781" r:id="rId21"/>
    <p:sldId id="2782" r:id="rId22"/>
    <p:sldId id="2794" r:id="rId23"/>
    <p:sldId id="2795" r:id="rId24"/>
    <p:sldId id="2796" r:id="rId25"/>
    <p:sldId id="2797" r:id="rId26"/>
    <p:sldId id="2785" r:id="rId27"/>
    <p:sldId id="2786" r:id="rId28"/>
    <p:sldId id="1180" r:id="rId29"/>
  </p:sldIdLst>
  <p:sldSz cx="12192000" cy="6858000"/>
  <p:notesSz cx="10234613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4EF3"/>
    <a:srgbClr val="4B2D83"/>
    <a:srgbClr val="876DAC"/>
    <a:srgbClr val="A756B2"/>
    <a:srgbClr val="9344D1"/>
    <a:srgbClr val="7030A0"/>
    <a:srgbClr val="000000"/>
    <a:srgbClr val="FF0000"/>
    <a:srgbClr val="B0304A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742" autoAdjust="0"/>
    <p:restoredTop sz="91887" autoAdjust="0"/>
  </p:normalViewPr>
  <p:slideViewPr>
    <p:cSldViewPr>
      <p:cViewPr>
        <p:scale>
          <a:sx n="109" d="100"/>
          <a:sy n="109" d="100"/>
        </p:scale>
        <p:origin x="248" y="2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254" y="-84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5FF5AA11-6FE7-4D92-860D-F09A5A1025BA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51138" y="531813"/>
            <a:ext cx="47307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endParaRPr lang="tr-TR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2113"/>
            <a:ext cx="44354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fld id="{8B153843-1CF4-4938-B773-3DA6477B563D}" type="slidenum">
              <a:rPr lang="tr-TR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EB6C-62C6-C042-57A9-F3E9D381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9125C-3529-B401-8E02-917FEBF68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751138" y="531813"/>
            <a:ext cx="4730750" cy="266223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C0024-06D1-0C14-BB05-E822F5CDB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E75EA-E43C-E019-0C51-95A31DD53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153843-1CF4-4938-B773-3DA6477B563D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1912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1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804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60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81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99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96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29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13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18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99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34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0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76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81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example, a computer vision project should discuss image-source bias or material classification uncertainty; an RL project should discuss reward design and optimization goals; an agentic project should discuss trust, control, and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60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64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30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87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360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42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all for your work, experimentation, and willingness to learn difficult tools. Remember that perfect results are not required; clear research framing and honest interpretation are what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1" name="Google Shape;38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3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4922" y="990600"/>
            <a:ext cx="10653003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rgbClr val="4B2D8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4922" y="2495445"/>
            <a:ext cx="10653003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rgbClr val="4B2D8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tr-TR"/>
              <a:t>7/7/2014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kumimoji="0" lang="en-US">
                <a:solidFill>
                  <a:schemeClr val="accent1">
                    <a:tint val="20000"/>
                  </a:schemeClr>
                </a:solidFill>
              </a:rPr>
              <a:t>Lecture Notes for E Alpaydın 2014 Introduction to Machine Learning 3e © The MIT Press (V1.0)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fld id="{D5BBC35B-A44B-4119-B8DA-DE9E3DFADA20}" type="slidenum">
              <a:rPr kumimoji="0" lang="en-US" smtClean="0"/>
              <a:pPr/>
              <a:t>‹#›</a:t>
            </a:fld>
            <a:endParaRPr kumimoji="0"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977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922" y="2228004"/>
            <a:ext cx="10653003" cy="3630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396144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5" y="3036573"/>
            <a:ext cx="1065300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925" y="4541417"/>
            <a:ext cx="1065300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rgbClr val="4B2D8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tr-TR"/>
              <a:t>7/7/2014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fld id="{0BF0E594-9508-4F75-8FB2-7E9FCE92EA3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14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4924" y="2228003"/>
            <a:ext cx="51993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709" y="2228004"/>
            <a:ext cx="5210216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84185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2959" y="2228003"/>
            <a:ext cx="4791333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4B2D8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4924" y="2926052"/>
            <a:ext cx="5199369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25745" y="2228003"/>
            <a:ext cx="480218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rgbClr val="4B2D8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21021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25768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B51A6-28A7-47F6-AE2C-F4B123EFE55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567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5849B-5B8D-4701-B904-178A9E77F54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409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137" y="5262296"/>
            <a:ext cx="4715500" cy="689514"/>
          </a:xfrm>
        </p:spPr>
        <p:txBody>
          <a:bodyPr anchor="ctr"/>
          <a:lstStyle>
            <a:lvl1pPr algn="l">
              <a:defRPr sz="2000" b="0">
                <a:solidFill>
                  <a:srgbClr val="4B2D8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199" y="601200"/>
            <a:ext cx="109872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687103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B2D83"/>
                </a:solidFill>
              </a:defRPr>
            </a:lvl1pPr>
          </a:lstStyle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690241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22" y="4693389"/>
            <a:ext cx="10653003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458" y="599725"/>
            <a:ext cx="10984941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4922" y="5260127"/>
            <a:ext cx="10653003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547421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" y="6642100"/>
            <a:ext cx="8064500" cy="2159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784167" y="623728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340916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15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22" y="687475"/>
            <a:ext cx="10653003" cy="1083329"/>
          </a:xfrm>
          <a:prstGeom prst="rect">
            <a:avLst/>
          </a:prstGeom>
        </p:spPr>
        <p:txBody>
          <a:bodyPr vert="horz" wrap="square" lIns="91440" tIns="0" rIns="91440" bIns="4572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4922" y="2228003"/>
            <a:ext cx="10653003" cy="363079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2436" y="595613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4B2D83"/>
                </a:solidFill>
              </a:defRPr>
            </a:lvl1pPr>
          </a:lstStyle>
          <a:p>
            <a:r>
              <a:rPr lang="tr-TR"/>
              <a:t>7/7/2014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4924" y="5951811"/>
            <a:ext cx="6494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rgbClr val="4B2D83"/>
                </a:solidFill>
              </a:defRPr>
            </a:lvl1pPr>
          </a:lstStyle>
          <a:p>
            <a:r>
              <a:rPr lang="en-US"/>
              <a:t>Lecture Notes for E Alpaydın 2014 Introduction to Machine Learning 3e © The MIT Press (V1.0)</a:t>
            </a:r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00635" y="5956137"/>
            <a:ext cx="10272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4B2D83"/>
                </a:solidFill>
              </a:defRPr>
            </a:lvl1pPr>
          </a:lstStyle>
          <a:p>
            <a:fld id="{A4DA0FD2-D456-4FC5-A587-87644C4EB2D1}" type="slidenum">
              <a:rPr lang="tr-TR" smtClean="0"/>
              <a:pPr/>
              <a:t>‹#›</a:t>
            </a:fld>
            <a:endParaRPr lang="tr-T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603E0D-434A-9E56-322C-606DED7ABAC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6570695"/>
            <a:ext cx="12192000" cy="2991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F40BAB-8633-230B-3244-4D0830C8CA7A}"/>
              </a:ext>
            </a:extLst>
          </p:cNvPr>
          <p:cNvSpPr txBox="1"/>
          <p:nvPr userDrawn="1"/>
        </p:nvSpPr>
        <p:spPr>
          <a:xfrm>
            <a:off x="774921" y="6607038"/>
            <a:ext cx="1141542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dirty="0">
                <a:solidFill>
                  <a:schemeClr val="bg1"/>
                </a:solidFill>
                <a:latin typeface="Helvetica" pitchFamily="2" charset="0"/>
              </a:rPr>
              <a:t>ARCH 594/508: AI Research Seminar/Studio – AI in Architecture</a:t>
            </a:r>
            <a:endParaRPr lang="en-US" sz="900" b="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8E26F-5A5C-B0FC-3179-A359FC3EC7D5}"/>
              </a:ext>
            </a:extLst>
          </p:cNvPr>
          <p:cNvSpPr txBox="1"/>
          <p:nvPr userDrawn="1"/>
        </p:nvSpPr>
        <p:spPr>
          <a:xfrm>
            <a:off x="7871432" y="6597352"/>
            <a:ext cx="3429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NARJES ABBASABADI, PH.D.</a:t>
            </a:r>
          </a:p>
        </p:txBody>
      </p:sp>
      <p:pic>
        <p:nvPicPr>
          <p:cNvPr id="12" name="Picture 1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1309FBF8-E6ED-B105-7FBE-EE22582EB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337"/>
          <a:stretch>
            <a:fillRect/>
          </a:stretch>
        </p:blipFill>
        <p:spPr>
          <a:xfrm>
            <a:off x="9552384" y="6563763"/>
            <a:ext cx="2419613" cy="27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80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91" r:id="rId10"/>
    <p:sldLayoutId id="2147484092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rgbClr val="4B2D8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rgbClr val="4B2D83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bbasab@uw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B33C-6C3C-BDB0-C68B-33BFCE7E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21E20-ACF1-51A5-4DFC-5E7AEEA1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1</a:t>
            </a:fld>
            <a:endParaRPr lang="tr-T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725B2-6571-62CB-7F5A-AD118C3796AA}"/>
              </a:ext>
            </a:extLst>
          </p:cNvPr>
          <p:cNvSpPr txBox="1"/>
          <p:nvPr/>
        </p:nvSpPr>
        <p:spPr>
          <a:xfrm>
            <a:off x="616998" y="5004488"/>
            <a:ext cx="432048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000" dirty="0">
              <a:latin typeface="Helvetica" pitchFamily="2" charset="0"/>
              <a:ea typeface="Times New Roman" panose="02020603050405020304" pitchFamily="18" charset="0"/>
            </a:endParaRPr>
          </a:p>
          <a:p>
            <a:r>
              <a:rPr lang="en-US" sz="1000" dirty="0">
                <a:latin typeface="Helvetica" pitchFamily="2" charset="0"/>
                <a:cs typeface="Arial" panose="020B0604020202020204" pitchFamily="34" charset="0"/>
              </a:rPr>
              <a:t>Narjes Abbasabadi, Ph.D. Assistant Professor </a:t>
            </a:r>
          </a:p>
          <a:p>
            <a:r>
              <a:rPr lang="en-US" sz="1000" dirty="0">
                <a:latin typeface="Helvetica" pitchFamily="2" charset="0"/>
              </a:rPr>
              <a:t>Email: </a:t>
            </a:r>
            <a:r>
              <a:rPr lang="en-US" sz="1000" dirty="0">
                <a:latin typeface="Helvetic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nabbasab@uw.edu</a:t>
            </a:r>
            <a:endParaRPr lang="en-US" sz="1000" dirty="0">
              <a:latin typeface="Helvetica" pitchFamily="2" charset="0"/>
            </a:endParaRPr>
          </a:p>
          <a:p>
            <a:pPr>
              <a:lnSpc>
                <a:spcPct val="80000"/>
              </a:lnSpc>
              <a:spcBef>
                <a:spcPts val="152"/>
              </a:spcBef>
              <a:buClr>
                <a:schemeClr val="dk1"/>
              </a:buClr>
              <a:buSzPts val="1800"/>
            </a:pPr>
            <a:r>
              <a:rPr lang="en-US" sz="1000" dirty="0">
                <a:latin typeface="Helvetica" pitchFamily="2" charset="0"/>
                <a:sym typeface="Arial"/>
              </a:rPr>
              <a:t>Department of Architecture</a:t>
            </a:r>
          </a:p>
          <a:p>
            <a:pPr>
              <a:lnSpc>
                <a:spcPct val="80000"/>
              </a:lnSpc>
              <a:spcBef>
                <a:spcPts val="152"/>
              </a:spcBef>
              <a:buClr>
                <a:schemeClr val="dk1"/>
              </a:buClr>
              <a:buSzPts val="1800"/>
            </a:pPr>
            <a:r>
              <a:rPr lang="en-US" sz="1000" dirty="0">
                <a:latin typeface="Helvetica" pitchFamily="2" charset="0"/>
                <a:sym typeface="Arial"/>
              </a:rPr>
              <a:t>College of Built Environments</a:t>
            </a:r>
          </a:p>
          <a:p>
            <a:r>
              <a:rPr lang="en-US" sz="1000" dirty="0">
                <a:latin typeface="Helvetica" pitchFamily="2" charset="0"/>
              </a:rPr>
              <a:t>University of Washington</a:t>
            </a:r>
          </a:p>
          <a:p>
            <a:pPr>
              <a:lnSpc>
                <a:spcPct val="80000"/>
              </a:lnSpc>
              <a:spcBef>
                <a:spcPts val="152"/>
              </a:spcBef>
              <a:buClr>
                <a:schemeClr val="dk1"/>
              </a:buClr>
              <a:buSzPts val="1800"/>
            </a:pPr>
            <a:r>
              <a:rPr lang="en-US" sz="1000" dirty="0">
                <a:latin typeface="Helvetica" pitchFamily="2" charset="0"/>
              </a:rPr>
              <a:t>Website: https://</a:t>
            </a:r>
            <a:r>
              <a:rPr lang="en-US" sz="1000" dirty="0" err="1">
                <a:latin typeface="Helvetica" pitchFamily="2" charset="0"/>
              </a:rPr>
              <a:t>silab.be.uw.edu</a:t>
            </a:r>
            <a:endParaRPr lang="en-US" sz="1000" dirty="0">
              <a:latin typeface="Helvetica" pitchFamily="2" charset="0"/>
            </a:endParaRPr>
          </a:p>
          <a:p>
            <a:endParaRPr lang="en-US" sz="1000" dirty="0">
              <a:latin typeface="Helvetica" pitchFamily="2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F9DE8-D66A-CE34-B589-7521C0FE46C6}"/>
              </a:ext>
            </a:extLst>
          </p:cNvPr>
          <p:cNvSpPr txBox="1"/>
          <p:nvPr/>
        </p:nvSpPr>
        <p:spPr>
          <a:xfrm>
            <a:off x="802180" y="2492896"/>
            <a:ext cx="95962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4B2D83"/>
                </a:solidFill>
                <a:latin typeface="Helvetica" pitchFamily="2" charset="0"/>
              </a:rPr>
              <a:t>AI Seminar Session</a:t>
            </a:r>
          </a:p>
          <a:p>
            <a:r>
              <a:rPr lang="en-US" sz="2600" b="1" dirty="0">
                <a:solidFill>
                  <a:srgbClr val="4B2D83"/>
                </a:solidFill>
                <a:latin typeface="Helvetica" pitchFamily="2" charset="0"/>
              </a:rPr>
              <a:t>Synthesis · Reflection · Final Paper/ Review Preparation</a:t>
            </a:r>
            <a:endParaRPr lang="en-US" sz="2600" b="1" dirty="0">
              <a:solidFill>
                <a:srgbClr val="7030A0"/>
              </a:solidFill>
              <a:latin typeface="Helvetica" pitchFamily="2" charset="0"/>
            </a:endParaRPr>
          </a:p>
          <a:p>
            <a:endParaRPr lang="en-US" sz="3200" b="1" dirty="0">
              <a:solidFill>
                <a:srgbClr val="4B2D83"/>
              </a:solidFill>
              <a:latin typeface="Helvetica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3271D-366C-BF29-AD91-513D509DC3F7}"/>
              </a:ext>
            </a:extLst>
          </p:cNvPr>
          <p:cNvSpPr txBox="1"/>
          <p:nvPr/>
        </p:nvSpPr>
        <p:spPr>
          <a:xfrm>
            <a:off x="802180" y="1007793"/>
            <a:ext cx="85689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Helvetica" pitchFamily="2" charset="0"/>
                <a:ea typeface="Times New Roman" panose="02020603050405020304" pitchFamily="18" charset="0"/>
              </a:rPr>
              <a:t>ARCH 594/508: AI Research Seminar/Studio—AI in Architecture</a:t>
            </a:r>
          </a:p>
          <a:p>
            <a:r>
              <a:rPr lang="en-US" sz="1600" dirty="0">
                <a:latin typeface="Helvetica" pitchFamily="2" charset="0"/>
                <a:ea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32230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D29B-9C50-4774-EAAE-3A194FCD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rgbClr val="102A43"/>
                </a:solidFill>
                <a:latin typeface="+mn-lt"/>
              </a:rPr>
              <a:t>Our agenda will be: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43E9-92FA-4855-9412-8AD17F01D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Course synthesis and final reflection</a:t>
            </a:r>
          </a:p>
          <a:p>
            <a:r>
              <a:rPr lang="en-US" dirty="0"/>
              <a:t>Final presentation preparation / how to structure a clear 10-minute final presentation</a:t>
            </a:r>
          </a:p>
          <a:p>
            <a:r>
              <a:rPr lang="en-US" dirty="0"/>
              <a:t>Peer review activity</a:t>
            </a:r>
          </a:p>
          <a:p>
            <a:r>
              <a:rPr lang="en-US" dirty="0"/>
              <a:t>Final improvement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A3B47-E2D8-7699-0990-E21DEF8D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A0FD2-D456-4FC5-A587-87644C4EB2D1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6302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7016FF-A689-1673-1220-A941C8489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1124744"/>
            <a:ext cx="7971463" cy="5272463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179A34CB-2C83-BCFE-6765-25EB288C9827}"/>
              </a:ext>
            </a:extLst>
          </p:cNvPr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ea typeface="Aptos Display" pitchFamily="34" charset="-122"/>
                <a:cs typeface="Aptos Display" pitchFamily="34" charset="-120"/>
              </a:rPr>
              <a:t>Course Schedule</a:t>
            </a:r>
          </a:p>
        </p:txBody>
      </p:sp>
    </p:spTree>
    <p:extLst>
      <p:ext uri="{BB962C8B-B14F-4D97-AF65-F5344CB8AC3E}">
        <p14:creationId xmlns:p14="http://schemas.microsoft.com/office/powerpoint/2010/main" val="51840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ea typeface="Aptos Display" pitchFamily="34" charset="-122"/>
                <a:cs typeface="Aptos Display" pitchFamily="34" charset="-120"/>
              </a:rPr>
              <a:t>Method map: where the projects sit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15819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</a:rPr>
              <a:t>Representation layer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70048" y="1764792"/>
            <a:ext cx="81838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34640" y="1417320"/>
            <a:ext cx="612648" cy="612648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21305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Parametric models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62272" y="1417320"/>
            <a:ext cx="612648" cy="612648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42232" y="21305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Images / CV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9904" y="1417320"/>
            <a:ext cx="612648" cy="612648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9864" y="21305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Graphs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17536" y="1417320"/>
            <a:ext cx="612648" cy="612648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97496" y="21305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Simulation data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9808" y="3090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Learning layer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70048" y="3273552"/>
            <a:ext cx="81838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834640" y="2926080"/>
            <a:ext cx="612648" cy="612648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14600" y="363931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ML / DL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62272" y="2926080"/>
            <a:ext cx="612648" cy="612648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42232" y="363931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CNN / ViT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9904" y="2926080"/>
            <a:ext cx="612648" cy="612648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9864" y="363931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GNN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17536" y="2926080"/>
            <a:ext cx="612648" cy="612648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97496" y="363931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PINN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345168" y="2926080"/>
            <a:ext cx="612648" cy="612648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25128" y="363931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Surrogate models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49808" y="4599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7857"/>
                </a:solidFill>
              </a:rPr>
              <a:t>Decision layer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70048" y="4782312"/>
            <a:ext cx="818388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34640" y="4434840"/>
            <a:ext cx="612648" cy="612648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14600" y="51480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Optimization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62272" y="4434840"/>
            <a:ext cx="612648" cy="612648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42232" y="51480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RL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89904" y="4434840"/>
            <a:ext cx="612648" cy="612648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69864" y="51480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Agentic AI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717536" y="4434840"/>
            <a:ext cx="612648" cy="612648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97496" y="514807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A43"/>
                </a:solidFill>
              </a:rPr>
              <a:t>Human-in-the-loop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49808" y="5742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27D98"/>
                </a:solidFill>
              </a:rPr>
              <a:t>Domain clusters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880360" y="5696712"/>
            <a:ext cx="932688" cy="329184"/>
          </a:xfrm>
          <a:prstGeom prst="roundRect">
            <a:avLst>
              <a:gd name="adj" fmla="val 22222"/>
            </a:avLst>
          </a:prstGeom>
          <a:solidFill>
            <a:srgbClr val="0E7490">
              <a:alpha val="95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53512" y="57698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energy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31920" y="5696712"/>
            <a:ext cx="932688" cy="329184"/>
          </a:xfrm>
          <a:prstGeom prst="roundRect">
            <a:avLst>
              <a:gd name="adj" fmla="val 22222"/>
            </a:avLst>
          </a:prstGeom>
          <a:solidFill>
            <a:srgbClr val="F0B429">
              <a:alpha val="9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005072" y="57698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daylight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83480" y="5696712"/>
            <a:ext cx="932688" cy="329184"/>
          </a:xfrm>
          <a:prstGeom prst="roundRect">
            <a:avLst>
              <a:gd name="adj" fmla="val 22222"/>
            </a:avLst>
          </a:prstGeom>
          <a:solidFill>
            <a:srgbClr val="047857">
              <a:alpha val="95000"/>
            </a:srgbClr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56632" y="57698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retrofit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35040" y="5696712"/>
            <a:ext cx="932688" cy="329184"/>
          </a:xfrm>
          <a:prstGeom prst="roundRect">
            <a:avLst>
              <a:gd name="adj" fmla="val 22222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08192" y="57698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layout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86600" y="5696712"/>
            <a:ext cx="932688" cy="329184"/>
          </a:xfrm>
          <a:prstGeom prst="roundRect">
            <a:avLst>
              <a:gd name="adj" fmla="val 22222"/>
            </a:avLst>
          </a:prstGeom>
          <a:solidFill>
            <a:srgbClr val="F97068">
              <a:alpha val="95000"/>
            </a:srgbClr>
          </a:solidFill>
          <a:ln w="12700">
            <a:solidFill>
              <a:srgbClr val="F970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59752" y="57698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façade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38160" y="5696712"/>
            <a:ext cx="932688" cy="329184"/>
          </a:xfrm>
          <a:prstGeom prst="roundRect">
            <a:avLst>
              <a:gd name="adj" fmla="val 22222"/>
            </a:avLst>
          </a:prstGeom>
          <a:solidFill>
            <a:srgbClr val="1D4ED8">
              <a:alpha val="9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11312" y="57698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health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89720" y="5696712"/>
            <a:ext cx="932688" cy="329184"/>
          </a:xfrm>
          <a:prstGeom prst="roundRect">
            <a:avLst>
              <a:gd name="adj" fmla="val 22222"/>
            </a:avLst>
          </a:prstGeom>
          <a:solidFill>
            <a:srgbClr val="DB2777">
              <a:alpha val="95000"/>
            </a:srgbClr>
          </a:solidFill>
          <a:ln w="12700">
            <a:solidFill>
              <a:srgbClr val="DB27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262872" y="57698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human-AI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ea typeface="Aptos Display" pitchFamily="34" charset="-122"/>
                <a:cs typeface="Aptos Display" pitchFamily="34" charset="-120"/>
              </a:rPr>
              <a:t>The course arc: from data to design judgment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920240" y="2761488"/>
            <a:ext cx="1325880" cy="0"/>
          </a:xfrm>
          <a:prstGeom prst="line">
            <a:avLst/>
          </a:prstGeom>
          <a:noFill/>
          <a:ln w="31750">
            <a:solidFill>
              <a:srgbClr val="627D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2761488"/>
            <a:ext cx="1417320" cy="0"/>
          </a:xfrm>
          <a:prstGeom prst="line">
            <a:avLst/>
          </a:prstGeom>
          <a:noFill/>
          <a:ln w="31750">
            <a:solidFill>
              <a:srgbClr val="627D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0" y="2761488"/>
            <a:ext cx="1417320" cy="0"/>
          </a:xfrm>
          <a:prstGeom prst="line">
            <a:avLst/>
          </a:prstGeom>
          <a:noFill/>
          <a:ln w="31750">
            <a:solidFill>
              <a:srgbClr val="627D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08176" y="2267712"/>
            <a:ext cx="960120" cy="960120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08176" y="25420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3401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Representation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" y="3822192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Geometry, images, graphs, parameters, simulation inputs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97096" y="2267712"/>
            <a:ext cx="960120" cy="960120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97096" y="25420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47288" y="3401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AI Models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447288" y="3822192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ML / DL / CV / GNN / PINN / RL / agentic systems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986016" y="2267712"/>
            <a:ext cx="960120" cy="960120"/>
          </a:xfrm>
          <a:prstGeom prst="ellipse">
            <a:avLst/>
          </a:prstGeom>
          <a:solidFill>
            <a:srgbClr val="F0B429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86016" y="25420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6208" y="3401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Simulation + Evaluation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236208" y="3822192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Energy, daylight, comfort, health, layout, uncertainty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74936" y="2267712"/>
            <a:ext cx="960120" cy="960120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74936" y="25420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25128" y="3401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02A43"/>
                </a:solidFill>
              </a:rPr>
              <a:t>Design Decisions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025128" y="3822192"/>
            <a:ext cx="2423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11827"/>
                </a:solidFill>
              </a:rPr>
              <a:t>Interpret, compare, select, revise, communicate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43356" y="4910328"/>
            <a:ext cx="1030528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3084" y="5390388"/>
            <a:ext cx="10195560" cy="6263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02A43"/>
                </a:solidFill>
                <a:ea typeface="Aptos" pitchFamily="34" charset="-122"/>
                <a:cs typeface="Aptos" pitchFamily="34" charset="-120"/>
              </a:rPr>
              <a:t>AI is not the final answer. It is part of a research workflow that connects evidence, performance, uncertainty, and design judgment.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ea typeface="Aptos Display" pitchFamily="34" charset="-122"/>
                <a:cs typeface="Aptos Display" pitchFamily="34" charset="-120"/>
              </a:rPr>
              <a:t>Final presentation: tell a research story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97280" y="1353312"/>
            <a:ext cx="98755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96560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ea typeface="Aptos" pitchFamily="34" charset="-122"/>
                <a:cs typeface="Aptos" pitchFamily="34" charset="-120"/>
              </a:rPr>
              <a:t>10 minutes, clear visuals, minimum text, one key message per slide.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69848" y="2779776"/>
            <a:ext cx="2697480" cy="0"/>
          </a:xfrm>
          <a:prstGeom prst="line">
            <a:avLst/>
          </a:prstGeom>
          <a:noFill/>
          <a:ln w="2794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" y="2505456"/>
            <a:ext cx="493776" cy="493776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26426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5448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Problem + motivation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788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Why does this matter?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73168" y="2779776"/>
            <a:ext cx="269748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90288" y="2505456"/>
            <a:ext cx="493776" cy="493776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90288" y="26426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5780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Research question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57800" y="2788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What are you asking?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476488" y="2779776"/>
            <a:ext cx="2697480" cy="0"/>
          </a:xfrm>
          <a:prstGeom prst="line">
            <a:avLst/>
          </a:prstGeom>
          <a:noFill/>
          <a:ln w="2794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93608" y="2505456"/>
            <a:ext cx="493776" cy="493776"/>
          </a:xfrm>
          <a:prstGeom prst="ellipse">
            <a:avLst/>
          </a:prstGeom>
          <a:solidFill>
            <a:srgbClr val="F0B429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93608" y="264261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Prior work / gap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0" y="27889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What is missing?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69848" y="3950208"/>
            <a:ext cx="2697480" cy="0"/>
          </a:xfrm>
          <a:prstGeom prst="line">
            <a:avLst/>
          </a:prstGeom>
          <a:noFill/>
          <a:ln w="2794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86968" y="3675888"/>
            <a:ext cx="493776" cy="493776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6968" y="38130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54480" y="3593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Workflow + 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39593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What enters the pipeline?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773168" y="3950208"/>
            <a:ext cx="2697480" cy="0"/>
          </a:xfrm>
          <a:prstGeom prst="line">
            <a:avLst/>
          </a:prstGeom>
          <a:noFill/>
          <a:ln w="2794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90288" y="3675888"/>
            <a:ext cx="493776" cy="493776"/>
          </a:xfrm>
          <a:prstGeom prst="ellipse">
            <a:avLst/>
          </a:prstGeom>
          <a:solidFill>
            <a:srgbClr val="1D4ED8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90288" y="38130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57800" y="3593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AI method + baseline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39593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What model is tested?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476488" y="3950208"/>
            <a:ext cx="2697480" cy="0"/>
          </a:xfrm>
          <a:prstGeom prst="line">
            <a:avLst/>
          </a:prstGeom>
          <a:noFill/>
          <a:ln w="27940">
            <a:solidFill>
              <a:srgbClr val="F97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93608" y="3675888"/>
            <a:ext cx="493776" cy="493776"/>
          </a:xfrm>
          <a:prstGeom prst="ellipse">
            <a:avLst/>
          </a:prstGeom>
          <a:solidFill>
            <a:srgbClr val="F97068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93608" y="381304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961120" y="35935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Evaluation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61120" y="39593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How do you judge it?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069848" y="5120640"/>
            <a:ext cx="2697480" cy="0"/>
          </a:xfrm>
          <a:prstGeom prst="line">
            <a:avLst/>
          </a:prstGeom>
          <a:noFill/>
          <a:ln w="2794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86968" y="4846320"/>
            <a:ext cx="493776" cy="493776"/>
          </a:xfrm>
          <a:prstGeom prst="ellipse">
            <a:avLst/>
          </a:prstGeom>
          <a:solidFill>
            <a:srgbClr val="DB277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86968" y="498348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554480" y="476402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Results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54480" y="51297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What did you find?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773168" y="5120640"/>
            <a:ext cx="269748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90288" y="4846320"/>
            <a:ext cx="493776" cy="493776"/>
          </a:xfrm>
          <a:prstGeom prst="ellipse">
            <a:avLst/>
          </a:prstGeom>
          <a:solidFill>
            <a:srgbClr val="6B728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90288" y="498348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57800" y="476402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Discussion + limits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257800" y="51297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What does it mean?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476488" y="5120640"/>
            <a:ext cx="2697480" cy="0"/>
          </a:xfrm>
          <a:prstGeom prst="line">
            <a:avLst/>
          </a:prstGeom>
          <a:noFill/>
          <a:ln w="2794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293608" y="4846320"/>
            <a:ext cx="493776" cy="493776"/>
          </a:xfrm>
          <a:prstGeom prst="ellipse">
            <a:avLst/>
          </a:prstGeom>
          <a:solidFill>
            <a:srgbClr val="102A43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93608" y="498348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9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961120" y="476402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Contribution + next steps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61120" y="512978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What does it add?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1842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ea typeface="Aptos Display" pitchFamily="34" charset="-122"/>
                <a:cs typeface="Aptos Display" pitchFamily="34" charset="-120"/>
              </a:rPr>
              <a:t>Suggested 10-minute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Use this as a timing guide. Adjust slightly based on your project, but do not let methods consume the whole presentation.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5894" y="2542032"/>
            <a:ext cx="1078992" cy="292608"/>
          </a:xfrm>
          <a:prstGeom prst="rect">
            <a:avLst/>
          </a:prstGeom>
          <a:solidFill>
            <a:srgbClr val="6B3FE8"/>
          </a:solidFill>
          <a:ln>
            <a:solidFill>
              <a:srgbClr val="6B3F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0–1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5894" y="293522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Motivation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5894" y="3246120"/>
            <a:ext cx="1078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problem + why it matters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626326" y="2542032"/>
            <a:ext cx="1078992" cy="292608"/>
          </a:xfrm>
          <a:prstGeom prst="rect">
            <a:avLst/>
          </a:prstGeom>
          <a:solidFill>
            <a:srgbClr val="0F7C90"/>
          </a:solidFill>
          <a:ln>
            <a:solidFill>
              <a:srgbClr val="0F7C9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1–2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26326" y="293522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Question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626326" y="3246120"/>
            <a:ext cx="1078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objective / hypothesis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2796758" y="2542032"/>
            <a:ext cx="1618488" cy="2926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2–3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96758" y="2935224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Gap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796758" y="3246120"/>
            <a:ext cx="16184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precedent + why AI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4506686" y="2542032"/>
            <a:ext cx="2157984" cy="292608"/>
          </a:xfrm>
          <a:prstGeom prst="rect">
            <a:avLst/>
          </a:prstGeom>
          <a:solidFill>
            <a:srgbClr val="0A7E53"/>
          </a:solidFill>
          <a:ln>
            <a:solidFill>
              <a:srgbClr val="0A7E5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3–5.5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06686" y="293522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Method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506686" y="3246120"/>
            <a:ext cx="21579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workflow + model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756110" y="2542032"/>
            <a:ext cx="2157984" cy="29260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5.5–7.5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56110" y="293522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Results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756110" y="3246120"/>
            <a:ext cx="21579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key figures + comparison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9005534" y="2542032"/>
            <a:ext cx="1078992" cy="292608"/>
          </a:xfrm>
          <a:prstGeom prst="rect">
            <a:avLst/>
          </a:prstGeom>
          <a:solidFill>
            <a:srgbClr val="6B3FE8"/>
          </a:solidFill>
          <a:ln>
            <a:solidFill>
              <a:srgbClr val="6B3F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7.5–8.5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05534" y="293522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Meaning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005534" y="3246120"/>
            <a:ext cx="1078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interpretation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0175966" y="2542032"/>
            <a:ext cx="1078992" cy="292608"/>
          </a:xfrm>
          <a:prstGeom prst="rect">
            <a:avLst/>
          </a:prstGeom>
          <a:solidFill>
            <a:srgbClr val="E23B3B"/>
          </a:solidFill>
          <a:ln>
            <a:solidFill>
              <a:srgbClr val="E23B3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8.5–9.5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175966" y="293522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Limits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0175966" y="3246120"/>
            <a:ext cx="10789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what cannot be claimed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11346398" y="2542032"/>
            <a:ext cx="539496" cy="292608"/>
          </a:xfrm>
          <a:prstGeom prst="rect">
            <a:avLst/>
          </a:prstGeom>
          <a:solidFill>
            <a:srgbClr val="34235E"/>
          </a:solidFill>
          <a:ln>
            <a:solidFill>
              <a:srgbClr val="34235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9.5–10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46398" y="2935224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Close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1346398" y="3246120"/>
            <a:ext cx="5394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contribution + next step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1005840" y="4261104"/>
            <a:ext cx="10149840" cy="502920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ea typeface="Aptos" pitchFamily="34" charset="-122"/>
                <a:cs typeface="Aptos" pitchFamily="34" charset="-120"/>
              </a:rPr>
              <a:t>Best test: rehearse out loud once before Friday. If you exceed 10 minutes, cut slides before shrinking font.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93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ea typeface="Aptos Display" pitchFamily="34" charset="-122"/>
                <a:cs typeface="Aptos Display" pitchFamily="34" charset="-120"/>
              </a:rPr>
              <a:t>Move from “tool demo” to research contribution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-365760" y="2057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Tool demo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635138" y="20528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/>
              <a:t>Research project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160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a typeface="Aptos" pitchFamily="34" charset="-122"/>
                <a:cs typeface="Aptos" pitchFamily="34" charset="-120"/>
              </a:rPr>
              <a:t>• Shows a workflow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a typeface="Aptos" pitchFamily="34" charset="-122"/>
                <a:cs typeface="Aptos" pitchFamily="34" charset="-120"/>
              </a:rPr>
              <a:t>• Describes what was built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a typeface="Aptos" pitchFamily="34" charset="-122"/>
                <a:cs typeface="Aptos" pitchFamily="34" charset="-120"/>
              </a:rPr>
              <a:t>• Reports outputs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a typeface="Aptos" pitchFamily="34" charset="-122"/>
                <a:cs typeface="Aptos" pitchFamily="34" charset="-120"/>
              </a:rPr>
              <a:t>• Focuses on novelty of tools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ea typeface="Aptos" pitchFamily="34" charset="-122"/>
                <a:cs typeface="Aptos" pitchFamily="34" charset="-120"/>
              </a:rPr>
              <a:t>• Ends with “it works”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ea typeface="Aptos" pitchFamily="34" charset="-122"/>
                <a:cs typeface="Aptos" pitchFamily="34" charset="-120"/>
              </a:rPr>
              <a:t>• Frames a research question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Aptos" pitchFamily="34" charset="-122"/>
                <a:cs typeface="Aptos" pitchFamily="34" charset="-120"/>
              </a:rPr>
              <a:t>• Explains why the method fits the question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Aptos" pitchFamily="34" charset="-122"/>
                <a:cs typeface="Aptos" pitchFamily="34" charset="-120"/>
              </a:rPr>
              <a:t>• Evaluates results against evidence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Aptos" pitchFamily="34" charset="-122"/>
                <a:cs typeface="Aptos" pitchFamily="34" charset="-120"/>
              </a:rPr>
              <a:t>• Interprets what the outputs mean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Aptos" pitchFamily="34" charset="-122"/>
                <a:cs typeface="Aptos" pitchFamily="34" charset="-120"/>
              </a:rPr>
              <a:t>• Ends with contribution + limitations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3140968"/>
            <a:ext cx="1920240" cy="0"/>
          </a:xfrm>
          <a:prstGeom prst="line">
            <a:avLst/>
          </a:prstGeom>
          <a:noFill/>
          <a:ln w="50800">
            <a:solidFill>
              <a:srgbClr val="F0B42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73306" y="4525141"/>
            <a:ext cx="9784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83034" y="4634869"/>
            <a:ext cx="9564624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ea typeface="Aptos" pitchFamily="34" charset="-122"/>
                <a:cs typeface="Aptos" pitchFamily="34" charset="-120"/>
              </a:rPr>
              <a:t>“Our contribution is not only that we created a workflow; it is what the workflow reveals about AI-supported design decision-making.”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D98"/>
                </a:solidFill>
              </a:rPr>
              <a:t>06</a:t>
            </a:r>
            <a:endParaRPr lang="en-US" sz="90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B1BE8189-46EB-5A64-2012-D558FC4AAE15}"/>
              </a:ext>
            </a:extLst>
          </p:cNvPr>
          <p:cNvSpPr/>
          <p:nvPr/>
        </p:nvSpPr>
        <p:spPr>
          <a:xfrm>
            <a:off x="910883" y="5376676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926B0C2B-4B66-866A-7105-C115800C6CD8}"/>
              </a:ext>
            </a:extLst>
          </p:cNvPr>
          <p:cNvSpPr/>
          <p:nvPr/>
        </p:nvSpPr>
        <p:spPr>
          <a:xfrm>
            <a:off x="1020611" y="5486404"/>
            <a:ext cx="10021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ea typeface="Aptos" pitchFamily="34" charset="-122"/>
                <a:cs typeface="Aptos" pitchFamily="34" charset="-120"/>
              </a:rPr>
              <a:t>“A strong final project is not one where everything worked perfectly. It is one where the method is clear, the results are interpreted accurately, and the limitations are understood.”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20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ea typeface="Aptos Display" pitchFamily="34" charset="-122"/>
                <a:cs typeface="Aptos Display" pitchFamily="34" charset="-120"/>
              </a:rPr>
              <a:t>What reviewers need to understand quickly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A63"/>
                </a:solidFill>
              </a:rPr>
              <a:t>Use this as the standard for both presentation and poster.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057400" cy="960120"/>
          </a:xfrm>
          <a:prstGeom prst="rect">
            <a:avLst/>
          </a:prstGeom>
          <a:solidFill>
            <a:srgbClr val="E8E1F4"/>
          </a:solidFill>
          <a:ln w="8890">
            <a:solidFill>
              <a:srgbClr val="4B2E8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B2E83"/>
                </a:solidFill>
              </a:rPr>
              <a:t>Research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4B2E83"/>
                </a:solidFill>
              </a:rPr>
              <a:t>question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3035808"/>
            <a:ext cx="19659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E5A63"/>
                </a:solidFill>
              </a:rPr>
              <a:t>What problem are you investigating?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44368" y="2359152"/>
            <a:ext cx="420624" cy="0"/>
          </a:xfrm>
          <a:prstGeom prst="line">
            <a:avLst/>
          </a:prstGeom>
          <a:noFill/>
          <a:ln w="25400">
            <a:solidFill>
              <a:srgbClr val="4B2E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874520"/>
            <a:ext cx="2057400" cy="960120"/>
          </a:xfrm>
          <a:prstGeom prst="rect">
            <a:avLst/>
          </a:prstGeom>
          <a:solidFill>
            <a:srgbClr val="DFEAF4"/>
          </a:solidFill>
          <a:ln w="8890">
            <a:solidFill>
              <a:srgbClr val="2F5F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F5F8F"/>
                </a:solidFill>
              </a:rPr>
              <a:t>Method /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2F5F8F"/>
                </a:solidFill>
              </a:rPr>
              <a:t>workflow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20440" y="3035808"/>
            <a:ext cx="19659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E5A63"/>
                </a:solidFill>
              </a:rPr>
              <a:t>How did you test it?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41848" y="2359152"/>
            <a:ext cx="420624" cy="0"/>
          </a:xfrm>
          <a:prstGeom prst="line">
            <a:avLst/>
          </a:prstGeom>
          <a:noFill/>
          <a:ln w="25400">
            <a:solidFill>
              <a:srgbClr val="4B2E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1874520"/>
            <a:ext cx="2057400" cy="960120"/>
          </a:xfrm>
          <a:prstGeom prst="rect">
            <a:avLst/>
          </a:prstGeom>
          <a:solidFill>
            <a:srgbClr val="F4ECCE"/>
          </a:solidFill>
          <a:ln w="8890">
            <a:solidFill>
              <a:srgbClr val="B7A57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1B1F"/>
                </a:solidFill>
              </a:rPr>
              <a:t>Evidence /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B1B1F"/>
                </a:solidFill>
              </a:rPr>
              <a:t>results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217920" y="3035808"/>
            <a:ext cx="19659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E5A63"/>
                </a:solidFill>
              </a:rPr>
              <a:t>What did you find or demonstrate?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39328" y="2359152"/>
            <a:ext cx="420624" cy="0"/>
          </a:xfrm>
          <a:prstGeom prst="line">
            <a:avLst/>
          </a:prstGeom>
          <a:noFill/>
          <a:ln w="25400">
            <a:solidFill>
              <a:srgbClr val="4B2E8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0" y="1874520"/>
            <a:ext cx="2057400" cy="960120"/>
          </a:xfrm>
          <a:prstGeom prst="rect">
            <a:avLst/>
          </a:prstGeom>
          <a:solidFill>
            <a:srgbClr val="E0EEE5"/>
          </a:solidFill>
          <a:ln w="8890">
            <a:solidFill>
              <a:srgbClr val="3F7D5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F7D5A"/>
                </a:solidFill>
              </a:rPr>
              <a:t>Contribution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915400" y="3035808"/>
            <a:ext cx="19659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E5A63"/>
                </a:solidFill>
              </a:rPr>
              <a:t>Why does this matter?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709160"/>
            <a:ext cx="99669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1F"/>
                </a:solidFill>
              </a:rPr>
              <a:t>A strong project does not show everything you did. It shows the logic of the research clearly enough that reviewers can follow the question, method, evidence, and contribution.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238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1A: </a:t>
            </a: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lightning round/ 3-minute rehearsal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23686" y="1353665"/>
            <a:ext cx="2011680" cy="2011680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2424" y="2194913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3 min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80136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81328" y="1673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Research question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81328" y="2039112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What problem are you investigating?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2655200"/>
            <a:ext cx="457200" cy="457200"/>
          </a:xfrm>
          <a:prstGeom prst="ellipse">
            <a:avLst/>
          </a:prstGeom>
          <a:solidFill>
            <a:srgbClr val="F0B429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800259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1328" y="2636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AI method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81328" y="3002672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What model/workflow are you using?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3664557"/>
            <a:ext cx="457200" cy="457200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774285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81328" y="3646269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Main result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81328" y="4012029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What is the strongest finding so far?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22960" y="4546848"/>
            <a:ext cx="457200" cy="457200"/>
          </a:xfrm>
          <a:prstGeom prst="ellipse">
            <a:avLst/>
          </a:prstGeom>
          <a:solidFill>
            <a:srgbClr val="F97068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6565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81328" y="4528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Limitation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81328" y="4894320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What must be explained honestly?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84575" y="3491119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Keep it brief. The goal is clarity, not completeness.</a:t>
            </a:r>
            <a:endParaRPr lang="en-US" sz="18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B1313214-D22E-F014-60FF-ADA9F2FDFB4E}"/>
              </a:ext>
            </a:extLst>
          </p:cNvPr>
          <p:cNvSpPr/>
          <p:nvPr/>
        </p:nvSpPr>
        <p:spPr>
          <a:xfrm>
            <a:off x="5807968" y="4034477"/>
            <a:ext cx="19202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6B3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3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rule</a:t>
            </a:r>
            <a:endParaRPr lang="en-US" sz="120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629B283D-C1C5-7CD1-FF25-B75BD545D29B}"/>
              </a:ext>
            </a:extLst>
          </p:cNvPr>
          <p:cNvSpPr/>
          <p:nvPr/>
        </p:nvSpPr>
        <p:spPr>
          <a:xfrm>
            <a:off x="5812795" y="4543797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6B3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r>
              <a:rPr lang="en-US" sz="12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explain every technical detail. Test whether the story makes sense.</a:t>
            </a:r>
            <a:endParaRPr lang="en-US" sz="124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78CC8D70-43FB-B9C8-BB6D-601CA2463EFD}"/>
              </a:ext>
            </a:extLst>
          </p:cNvPr>
          <p:cNvSpPr/>
          <p:nvPr/>
        </p:nvSpPr>
        <p:spPr>
          <a:xfrm>
            <a:off x="5807968" y="4975845"/>
            <a:ext cx="19202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0A7E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rule</a:t>
            </a:r>
            <a:endParaRPr lang="en-US" sz="120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0630B40A-F2EE-B068-842C-00F20FB3FEBE}"/>
              </a:ext>
            </a:extLst>
          </p:cNvPr>
          <p:cNvSpPr/>
          <p:nvPr/>
        </p:nvSpPr>
        <p:spPr>
          <a:xfrm>
            <a:off x="5835400" y="5407893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0A7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r>
              <a:rPr lang="en-US" sz="12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 as reviewers: what is clear, what is missing, and what question would you ask?</a:t>
            </a:r>
            <a:endParaRPr lang="en-US" sz="124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518814B9-A53A-BC36-1907-B9C852E71480}"/>
              </a:ext>
            </a:extLst>
          </p:cNvPr>
          <p:cNvSpPr/>
          <p:nvPr/>
        </p:nvSpPr>
        <p:spPr>
          <a:xfrm>
            <a:off x="658368" y="10922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group presents a compressed version of the final presentation. This tests clarity and timing.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575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1B: project-logic slide sprint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your group for 10 minutes. Your goal is one clear slide, not a polished slide.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0848" y="1971543"/>
            <a:ext cx="384048" cy="384048"/>
          </a:xfrm>
          <a:prstGeom prst="rect">
            <a:avLst/>
          </a:prstGeom>
          <a:solidFill>
            <a:srgbClr val="6B3FE8"/>
          </a:solidFill>
          <a:ln>
            <a:solidFill>
              <a:srgbClr val="6B3F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15480" y="2017263"/>
            <a:ext cx="3328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research question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0848" y="2602479"/>
            <a:ext cx="384048" cy="384048"/>
          </a:xfrm>
          <a:prstGeom prst="rect">
            <a:avLst/>
          </a:prstGeom>
          <a:solidFill>
            <a:srgbClr val="0F7C90"/>
          </a:solidFill>
          <a:ln>
            <a:solidFill>
              <a:srgbClr val="0F7C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5480" y="2648199"/>
            <a:ext cx="282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the workflow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0848" y="3233415"/>
            <a:ext cx="384048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15480" y="3279135"/>
            <a:ext cx="318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result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0848" y="3864351"/>
            <a:ext cx="384048" cy="384048"/>
          </a:xfrm>
          <a:prstGeom prst="rect">
            <a:avLst/>
          </a:prstGeom>
          <a:solidFill>
            <a:srgbClr val="E23B3B"/>
          </a:solidFill>
          <a:ln>
            <a:solidFill>
              <a:srgbClr val="E23B3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15480" y="3910071"/>
            <a:ext cx="3328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one limitation honestly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0848" y="4495287"/>
            <a:ext cx="384048" cy="384048"/>
          </a:xfrm>
          <a:prstGeom prst="rect">
            <a:avLst/>
          </a:prstGeom>
          <a:solidFill>
            <a:srgbClr val="0A7E53"/>
          </a:solidFill>
          <a:ln>
            <a:solidFill>
              <a:srgbClr val="0A7E5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415480" y="4541007"/>
            <a:ext cx="3328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the contribution sentence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60720" y="1874520"/>
            <a:ext cx="42976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 after 10 minutes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2651760"/>
            <a:ext cx="43891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single slide that a reviewer can understand without hearing your full explanation.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89175" y="3713099"/>
            <a:ext cx="438912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E23B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3B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spend this time on animation, formatting, or finding a perfect image.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17230" y="6026531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dirty="0">
                <a:solidFill>
                  <a:srgbClr val="9AA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58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E78BD358-2982-CF3D-D15D-941C5F879431}"/>
              </a:ext>
            </a:extLst>
          </p:cNvPr>
          <p:cNvSpPr/>
          <p:nvPr/>
        </p:nvSpPr>
        <p:spPr>
          <a:xfrm>
            <a:off x="5824525" y="4517771"/>
            <a:ext cx="4353769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0A7E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content on this slide</a:t>
            </a:r>
            <a:endParaRPr lang="en-US" sz="12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E015AE49-A216-C49D-C42D-E4172C8098E5}"/>
              </a:ext>
            </a:extLst>
          </p:cNvPr>
          <p:cNvSpPr/>
          <p:nvPr/>
        </p:nvSpPr>
        <p:spPr>
          <a:xfrm>
            <a:off x="5915966" y="5121275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B3F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</a:t>
            </a: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research question</a:t>
            </a:r>
            <a:endParaRPr lang="en-US" sz="12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C00ACB7-7D6E-4E63-9A42-D5C8EB165238}"/>
              </a:ext>
            </a:extLst>
          </p:cNvPr>
          <p:cNvSpPr/>
          <p:nvPr/>
        </p:nvSpPr>
        <p:spPr>
          <a:xfrm>
            <a:off x="5915966" y="5532755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7C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</a:t>
            </a: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workflow diagram</a:t>
            </a:r>
            <a:endParaRPr lang="en-US" sz="12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0B5198E-9C53-7588-3599-9B123CE03EFD}"/>
              </a:ext>
            </a:extLst>
          </p:cNvPr>
          <p:cNvSpPr/>
          <p:nvPr/>
        </p:nvSpPr>
        <p:spPr>
          <a:xfrm>
            <a:off x="7852647" y="512127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</a:t>
            </a: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main result or finding</a:t>
            </a:r>
            <a:endParaRPr lang="en-US" sz="12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66ED562E-6F4E-11E6-ACFF-A81A8296DD21}"/>
              </a:ext>
            </a:extLst>
          </p:cNvPr>
          <p:cNvSpPr/>
          <p:nvPr/>
        </p:nvSpPr>
        <p:spPr>
          <a:xfrm>
            <a:off x="7852647" y="5532755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A7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 </a:t>
            </a:r>
            <a:r>
              <a:rPr lang="en-US" sz="12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contribution statement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27324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6">
            <a:extLst>
              <a:ext uri="{FF2B5EF4-FFF2-40B4-BE49-F238E27FC236}">
                <a16:creationId xmlns:a16="http://schemas.microsoft.com/office/drawing/2014/main" id="{8C198614-CD47-1FCF-98B5-63A3AF74A749}"/>
              </a:ext>
            </a:extLst>
          </p:cNvPr>
          <p:cNvSpPr/>
          <p:nvPr/>
        </p:nvSpPr>
        <p:spPr>
          <a:xfrm>
            <a:off x="895387" y="2980097"/>
            <a:ext cx="10469880" cy="1018752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ea typeface="Aptos Display" pitchFamily="34" charset="-122"/>
                <a:cs typeface="Aptos Display" pitchFamily="34" charset="-120"/>
              </a:rPr>
              <a:t>Exercise: write a one-sentence contribution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Formula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68680" y="1874520"/>
            <a:ext cx="10469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78408" y="1984248"/>
            <a:ext cx="10250424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b="1" dirty="0">
                <a:ea typeface="Aptos" pitchFamily="34" charset="-122"/>
                <a:cs typeface="Aptos" pitchFamily="34" charset="-120"/>
              </a:rPr>
              <a:t>This project develops / tests / evaluates [AI-supported method] for [design or performance problem] and shows that [main finding], while revealing [important limitation].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95387" y="4486980"/>
            <a:ext cx="4050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/>
              <a:t>Examples of stronger verbs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4343" y="5013176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0E7490">
              <a:alpha val="95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7495" y="508632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develops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50223" y="5013176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23375" y="508632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compares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76103" y="5013176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F0B429">
              <a:alpha val="9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49255" y="508632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01983" y="5013176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047857">
              <a:alpha val="95000"/>
            </a:srgbClr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75135" y="508632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quantifies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4343" y="5516096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0E7490">
              <a:alpha val="95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7495" y="55892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reveals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50223" y="5516096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7C3AED">
              <a:alpha val="9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23375" y="55892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demonstrates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76103" y="5516096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F0B429">
              <a:alpha val="95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49255" y="55892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challenges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01983" y="5516096"/>
            <a:ext cx="1078992" cy="329184"/>
          </a:xfrm>
          <a:prstGeom prst="roundRect">
            <a:avLst>
              <a:gd name="adj" fmla="val 22222"/>
            </a:avLst>
          </a:prstGeom>
          <a:solidFill>
            <a:srgbClr val="047857">
              <a:alpha val="95000"/>
            </a:srgbClr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75135" y="55892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extends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D98"/>
                </a:solidFill>
              </a:rPr>
              <a:t>08</a:t>
            </a:r>
            <a:endParaRPr lang="en-US" sz="9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A641E6F3-C1DC-DE96-9345-603E21749261}"/>
              </a:ext>
            </a:extLst>
          </p:cNvPr>
          <p:cNvSpPr/>
          <p:nvPr/>
        </p:nvSpPr>
        <p:spPr>
          <a:xfrm>
            <a:off x="960963" y="2993009"/>
            <a:ext cx="1037844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b="1" dirty="0"/>
              <a:t>Our project investigates [problem] by using [AI method] with [data/input] to evaluate [performance/design issue]. The main result shows [finding], which contributes to [design/research value].</a:t>
            </a:r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A2ED5D67-6EF0-1E57-BA0F-3BC7F659B340}"/>
              </a:ext>
            </a:extLst>
          </p:cNvPr>
          <p:cNvSpPr/>
          <p:nvPr/>
        </p:nvSpPr>
        <p:spPr>
          <a:xfrm>
            <a:off x="6600056" y="512213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r>
              <a:rPr lang="en-US" sz="12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vague words: “use AI,” “explore,” “optimize,” “improve.” Be specific.</a:t>
            </a:r>
            <a:endParaRPr lang="en-US" sz="124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B99B2B47-F790-167B-2069-1A3F92CFF5FB}"/>
              </a:ext>
            </a:extLst>
          </p:cNvPr>
          <p:cNvSpPr/>
          <p:nvPr/>
        </p:nvSpPr>
        <p:spPr>
          <a:xfrm>
            <a:off x="6578756" y="532385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r>
              <a:rPr lang="en-US" sz="124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sentence can become your opening or closing contribution statement.</a:t>
            </a:r>
            <a:endParaRPr lang="en-US" sz="1240" dirty="0"/>
          </a:p>
        </p:txBody>
      </p:sp>
    </p:spTree>
    <p:extLst>
      <p:ext uri="{BB962C8B-B14F-4D97-AF65-F5344CB8AC3E}">
        <p14:creationId xmlns:p14="http://schemas.microsoft.com/office/powerpoint/2010/main" val="3115935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Aptos Display" pitchFamily="34" charset="-122"/>
                <a:cs typeface="Aptos Display" pitchFamily="34" charset="-120"/>
              </a:rPr>
              <a:t>Feedback sheet for each group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ptos" pitchFamily="34" charset="-122"/>
                <a:cs typeface="Aptos" pitchFamily="34" charset="-120"/>
              </a:rPr>
              <a:t>Use this during peer review. Each group should leave with a revision list.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411480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0F7C9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ea typeface="Aptos" pitchFamily="34" charset="-122"/>
                <a:cs typeface="Aptos" pitchFamily="34" charset="-120"/>
              </a:rPr>
              <a:t>Feedback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4920" y="1600200"/>
            <a:ext cx="621792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0F7C9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ea typeface="Aptos" pitchFamily="34" charset="-122"/>
                <a:cs typeface="Aptos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30552"/>
            <a:ext cx="411480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ea typeface="Aptos" pitchFamily="34" charset="-122"/>
                <a:cs typeface="Aptos" pitchFamily="34" charset="-120"/>
              </a:rPr>
              <a:t>What is working well?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74920" y="2130552"/>
            <a:ext cx="621792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752344"/>
            <a:ext cx="411480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ea typeface="Aptos" pitchFamily="34" charset="-122"/>
                <a:cs typeface="Aptos" pitchFamily="34" charset="-120"/>
              </a:rPr>
              <a:t>What needs improvement before Friday?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74920" y="2752344"/>
            <a:ext cx="621792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374136"/>
            <a:ext cx="411480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ea typeface="Aptos" pitchFamily="34" charset="-122"/>
                <a:cs typeface="Aptos" pitchFamily="34" charset="-120"/>
              </a:rPr>
              <a:t>What reviewer question should they prepare for?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74920" y="3374136"/>
            <a:ext cx="621792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995928"/>
            <a:ext cx="411480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ea typeface="Aptos" pitchFamily="34" charset="-122"/>
                <a:cs typeface="Aptos" pitchFamily="34" charset="-120"/>
              </a:rPr>
              <a:t>Which figure, diagram, or result needs clarification?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3995928"/>
            <a:ext cx="621792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617720"/>
            <a:ext cx="411480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ea typeface="Aptos" pitchFamily="34" charset="-122"/>
                <a:cs typeface="Aptos" pitchFamily="34" charset="-120"/>
              </a:rPr>
              <a:t>What should be cut or shortened for timing?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4617720"/>
            <a:ext cx="6217920" cy="402336"/>
          </a:xfrm>
          <a:prstGeom prst="rect">
            <a:avLst/>
          </a:prstGeom>
          <a:solidFill>
            <a:srgbClr val="FFFFFF"/>
          </a:solidFill>
          <a:ln w="15240">
            <a:solidFill>
              <a:srgbClr val="B8C7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5852160"/>
            <a:ext cx="10469880" cy="329184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Aptos" pitchFamily="34" charset="-122"/>
                <a:cs typeface="Aptos" pitchFamily="34" charset="-120"/>
              </a:rPr>
              <a:t>Each group should record at least 3 specific edits to make before the final review.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874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Aptos Display" pitchFamily="34" charset="-122"/>
                <a:cs typeface="Aptos Display" pitchFamily="34" charset="-120"/>
              </a:rPr>
              <a:t>Peer feedback protocol: Glow / Grow / Question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ptos" pitchFamily="34" charset="-122"/>
                <a:cs typeface="Aptos" pitchFamily="34" charset="-120"/>
              </a:rPr>
              <a:t>Give fast, specific, useful feedback after each 3-minute rehearsal.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715768"/>
            <a:ext cx="228600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0A7E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ea typeface="Aptos" pitchFamily="34" charset="-122"/>
                <a:cs typeface="Aptos" pitchFamily="34" charset="-120"/>
              </a:rPr>
              <a:t>Glow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ea typeface="Aptos" pitchFamily="34" charset="-122"/>
                <a:cs typeface="Aptos" pitchFamily="34" charset="-120"/>
              </a:rPr>
              <a:t>What is already clear or strong?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715768"/>
            <a:ext cx="228600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ea typeface="Aptos" pitchFamily="34" charset="-122"/>
                <a:cs typeface="Aptos" pitchFamily="34" charset="-120"/>
              </a:rPr>
              <a:t>Grow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342900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ea typeface="Aptos" pitchFamily="34" charset="-122"/>
                <a:cs typeface="Aptos" pitchFamily="34" charset="-120"/>
              </a:rPr>
              <a:t>What needs improvement before Friday?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0" y="2715768"/>
            <a:ext cx="228600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E23B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ea typeface="Aptos" pitchFamily="34" charset="-122"/>
                <a:cs typeface="Aptos" pitchFamily="34" charset="-120"/>
              </a:rPr>
              <a:t>Question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15400" y="3429000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ea typeface="Aptos" pitchFamily="34" charset="-122"/>
                <a:cs typeface="Aptos" pitchFamily="34" charset="-120"/>
              </a:rPr>
              <a:t>What might reviewers ask?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00600"/>
            <a:ext cx="10469880" cy="329184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Aptos" pitchFamily="34" charset="-122"/>
                <a:cs typeface="Aptos" pitchFamily="34" charset="-120"/>
              </a:rPr>
              <a:t>Feedback should be specific: slide, figure, sentence, missing explanation, or timing issue.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688775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dirty="0">
                <a:solidFill>
                  <a:srgbClr val="9AA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580" dirty="0"/>
          </a:p>
        </p:txBody>
      </p:sp>
    </p:spTree>
    <p:extLst>
      <p:ext uri="{BB962C8B-B14F-4D97-AF65-F5344CB8AC3E}">
        <p14:creationId xmlns:p14="http://schemas.microsoft.com/office/powerpoint/2010/main" val="139033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B1F"/>
                </a:solidFill>
                <a:ea typeface="Aptos Display" pitchFamily="34" charset="-122"/>
                <a:cs typeface="Aptos Display" pitchFamily="34" charset="-120"/>
              </a:rPr>
              <a:t>Workflow peer review rubric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5A63"/>
                </a:solidFill>
              </a:rPr>
              <a:t>Reviewer groups: mark Yes / Partly / No and write one concrete suggestion.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0736" y="1844824"/>
            <a:ext cx="5623560" cy="384048"/>
          </a:xfrm>
          <a:prstGeom prst="rect">
            <a:avLst/>
          </a:prstGeom>
          <a:noFill/>
          <a:ln w="8890">
            <a:solidFill>
              <a:srgbClr val="4B2E8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/>
              <a:t>Criteria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40016" y="1844824"/>
            <a:ext cx="1554480" cy="384048"/>
          </a:xfrm>
          <a:prstGeom prst="rect">
            <a:avLst/>
          </a:prstGeom>
          <a:noFill/>
          <a:ln w="8890">
            <a:solidFill>
              <a:srgbClr val="4B2E8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/>
              <a:t>Yes / Partly / 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0216" y="1844824"/>
            <a:ext cx="3246120" cy="384048"/>
          </a:xfrm>
          <a:prstGeom prst="rect">
            <a:avLst/>
          </a:prstGeom>
          <a:noFill/>
          <a:ln w="8890">
            <a:solidFill>
              <a:srgbClr val="4B2E83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/>
              <a:t>Feedback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0736" y="2283736"/>
            <a:ext cx="562356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170" dirty="0"/>
              <a:t>1. The research question is clear</a:t>
            </a:r>
          </a:p>
        </p:txBody>
      </p:sp>
      <p:sp>
        <p:nvSpPr>
          <p:cNvPr id="9" name="Text 7"/>
          <p:cNvSpPr/>
          <p:nvPr/>
        </p:nvSpPr>
        <p:spPr>
          <a:xfrm>
            <a:off x="6440016" y="2283736"/>
            <a:ext cx="155448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0216" y="2283736"/>
            <a:ext cx="324612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0736" y="2695216"/>
            <a:ext cx="562356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170" dirty="0"/>
              <a:t>2. The workflow has a clear beginning, middle, and end</a:t>
            </a:r>
          </a:p>
        </p:txBody>
      </p:sp>
      <p:sp>
        <p:nvSpPr>
          <p:cNvPr id="12" name="Text 10"/>
          <p:cNvSpPr/>
          <p:nvPr/>
        </p:nvSpPr>
        <p:spPr>
          <a:xfrm>
            <a:off x="6440016" y="2695216"/>
            <a:ext cx="155448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0216" y="2695216"/>
            <a:ext cx="324612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0736" y="3106696"/>
            <a:ext cx="562356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170" dirty="0"/>
              <a:t>3. Inputs and outputs are labeled</a:t>
            </a:r>
          </a:p>
        </p:txBody>
      </p:sp>
      <p:sp>
        <p:nvSpPr>
          <p:cNvPr id="15" name="Text 13"/>
          <p:cNvSpPr/>
          <p:nvPr/>
        </p:nvSpPr>
        <p:spPr>
          <a:xfrm>
            <a:off x="6440016" y="3106696"/>
            <a:ext cx="155448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0216" y="3106696"/>
            <a:ext cx="324612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0736" y="3518176"/>
            <a:ext cx="562356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170" dirty="0"/>
              <a:t>4. The AI method is named and placed correctly</a:t>
            </a:r>
          </a:p>
        </p:txBody>
      </p:sp>
      <p:sp>
        <p:nvSpPr>
          <p:cNvPr id="18" name="Text 16"/>
          <p:cNvSpPr/>
          <p:nvPr/>
        </p:nvSpPr>
        <p:spPr>
          <a:xfrm>
            <a:off x="6440016" y="3518176"/>
            <a:ext cx="155448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0216" y="3518176"/>
            <a:ext cx="324612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0736" y="3929656"/>
            <a:ext cx="562356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170" dirty="0"/>
              <a:t>5. The evaluation step is visible</a:t>
            </a:r>
          </a:p>
        </p:txBody>
      </p:sp>
      <p:sp>
        <p:nvSpPr>
          <p:cNvPr id="21" name="Text 19"/>
          <p:cNvSpPr/>
          <p:nvPr/>
        </p:nvSpPr>
        <p:spPr>
          <a:xfrm>
            <a:off x="6440016" y="3929656"/>
            <a:ext cx="155448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0216" y="3929656"/>
            <a:ext cx="324612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0736" y="4341136"/>
            <a:ext cx="562356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170" dirty="0"/>
              <a:t>6. The result or contribution is clear</a:t>
            </a:r>
          </a:p>
        </p:txBody>
      </p:sp>
      <p:sp>
        <p:nvSpPr>
          <p:cNvPr id="24" name="Text 22"/>
          <p:cNvSpPr/>
          <p:nvPr/>
        </p:nvSpPr>
        <p:spPr>
          <a:xfrm>
            <a:off x="6440016" y="4341136"/>
            <a:ext cx="155448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0216" y="4341136"/>
            <a:ext cx="324612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0736" y="4752616"/>
            <a:ext cx="562356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170" dirty="0"/>
              <a:t>7. The diagram can be understood without verbal explanation</a:t>
            </a:r>
          </a:p>
        </p:txBody>
      </p:sp>
      <p:sp>
        <p:nvSpPr>
          <p:cNvPr id="27" name="Text 25"/>
          <p:cNvSpPr/>
          <p:nvPr/>
        </p:nvSpPr>
        <p:spPr>
          <a:xfrm>
            <a:off x="6440016" y="4752616"/>
            <a:ext cx="155448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0216" y="4752616"/>
            <a:ext cx="324612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0736" y="5164096"/>
            <a:ext cx="562356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>
              <a:buNone/>
            </a:pPr>
            <a:r>
              <a:rPr lang="en-US" sz="1170" dirty="0"/>
              <a:t>8. The workflow avoids unnecessary technical clutter</a:t>
            </a:r>
          </a:p>
        </p:txBody>
      </p:sp>
      <p:sp>
        <p:nvSpPr>
          <p:cNvPr id="30" name="Text 28"/>
          <p:cNvSpPr/>
          <p:nvPr/>
        </p:nvSpPr>
        <p:spPr>
          <a:xfrm>
            <a:off x="6440016" y="5164096"/>
            <a:ext cx="155448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0216" y="5164096"/>
            <a:ext cx="3246120" cy="347472"/>
          </a:xfrm>
          <a:prstGeom prst="rect">
            <a:avLst/>
          </a:prstGeom>
          <a:noFill/>
          <a:ln w="5080">
            <a:solidFill>
              <a:srgbClr val="D9D2C4"/>
            </a:solidFill>
          </a:ln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72703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ea typeface="Aptos Display" pitchFamily="34" charset="-122"/>
                <a:cs typeface="Aptos Display" pitchFamily="34" charset="-120"/>
              </a:rPr>
              <a:t>Fast feedback protocol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Each peer group gives three comments. Keep feedback specific and useful.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2300856"/>
            <a:ext cx="3246120" cy="502920"/>
          </a:xfrm>
          <a:prstGeom prst="rect">
            <a:avLst/>
          </a:prstGeom>
          <a:noFill/>
          <a:ln w="8890">
            <a:solidFill>
              <a:srgbClr val="3F7D5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Clear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032376"/>
            <a:ext cx="3063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/>
              <a:t>What is already working?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645024"/>
            <a:ext cx="2926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500" i="1" dirty="0"/>
              <a:t>“The relationship between input data and model output is easy to follow.”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2300856"/>
            <a:ext cx="3246120" cy="502920"/>
          </a:xfrm>
          <a:prstGeom prst="rect">
            <a:avLst/>
          </a:prstGeom>
          <a:noFill/>
          <a:ln w="8890">
            <a:solidFill>
              <a:srgbClr val="1B1B1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Missing or confusing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3032376"/>
            <a:ext cx="3063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/>
              <a:t>What is not yet understandable?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53712" y="3645024"/>
            <a:ext cx="2926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500" i="1" dirty="0"/>
              <a:t>“The evaluation step is not visible. How do you know the model works?”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0" y="2300856"/>
            <a:ext cx="3246120" cy="502920"/>
          </a:xfrm>
          <a:prstGeom prst="rect">
            <a:avLst/>
          </a:prstGeom>
          <a:noFill/>
          <a:ln w="8890">
            <a:solidFill>
              <a:srgbClr val="B95E4B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/>
              <a:t>Improve before final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38160" y="3032376"/>
            <a:ext cx="3063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/>
              <a:t>What should change now?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11312" y="3645024"/>
            <a:ext cx="2926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1500" i="1" dirty="0"/>
              <a:t>“Add a final box showing how the result informs a design decision.”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5074920"/>
            <a:ext cx="8458200" cy="640080"/>
          </a:xfrm>
          <a:prstGeom prst="rect">
            <a:avLst/>
          </a:prstGeom>
          <a:noFill/>
          <a:ln w="8890">
            <a:noFill/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/>
              <a:t>Feedback should help the group revise the diagram today — not just describe whether you liked it.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730141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ea typeface="Aptos Display" pitchFamily="34" charset="-122"/>
                <a:cs typeface="Aptos Display" pitchFamily="34" charset="-120"/>
              </a:rPr>
              <a:t>Workflow revision sprint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/>
              <a:t>After feedback, revise the workflow immediately while the comments are fresh.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/>
              <a:t>10-MINUTE TASK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56692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400" b="1" dirty="0"/>
              <a:t>Revise your workflow figure and mark the changes you made.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6035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/>
              <a:t>□ Start with a clear problem, question, or input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2871216"/>
            <a:ext cx="6035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/>
              <a:t>□ Name the AI method / computational method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3255264"/>
            <a:ext cx="6035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/>
              <a:t>□ Use arrows to show process logic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3639312"/>
            <a:ext cx="6035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/>
              <a:t>□ Add evaluation, validation, or comparison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6035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/>
              <a:t>□ Connect output to design or research impact</a:t>
            </a:r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6035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/>
              <a:t>□ Make labels readable from a distance</a:t>
            </a:r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5E5A63"/>
                </a:solidFill>
              </a:rPr>
              <a:t>AI Seminar | Final Project Preparation</a:t>
            </a:r>
            <a:endParaRPr lang="en-US" sz="720" dirty="0"/>
          </a:p>
        </p:txBody>
      </p:sp>
    </p:spTree>
    <p:extLst>
      <p:ext uri="{BB962C8B-B14F-4D97-AF65-F5344CB8AC3E}">
        <p14:creationId xmlns:p14="http://schemas.microsoft.com/office/powerpoint/2010/main" val="1173277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ea typeface="Aptos Display" pitchFamily="34" charset="-122"/>
                <a:cs typeface="Aptos Display" pitchFamily="34" charset="-120"/>
              </a:rPr>
              <a:t>Results: do not just report outputs — interpret them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73352" y="1901952"/>
            <a:ext cx="777240" cy="777240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673352" y="21305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/>
              <a:t>Evidence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3246120"/>
            <a:ext cx="2468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/>
              <a:t>Figure, table, metric, comparison, or visual result</a:t>
            </a:r>
          </a:p>
        </p:txBody>
      </p:sp>
      <p:sp>
        <p:nvSpPr>
          <p:cNvPr id="11" name="Shape 9"/>
          <p:cNvSpPr/>
          <p:nvPr/>
        </p:nvSpPr>
        <p:spPr>
          <a:xfrm>
            <a:off x="4471416" y="1901952"/>
            <a:ext cx="777240" cy="777240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471416" y="21305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02736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/>
              <a:t>Finding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02736" y="3246120"/>
            <a:ext cx="2468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/>
              <a:t>The specific pattern or performance outcome you observed</a:t>
            </a:r>
          </a:p>
        </p:txBody>
      </p:sp>
      <p:sp>
        <p:nvSpPr>
          <p:cNvPr id="15" name="Shape 13"/>
          <p:cNvSpPr/>
          <p:nvPr/>
        </p:nvSpPr>
        <p:spPr>
          <a:xfrm>
            <a:off x="7269480" y="1901952"/>
            <a:ext cx="777240" cy="777240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69480" y="21305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/>
              <a:t>Meaning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2468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/>
              <a:t>Why this matters for design, research, or evaluation</a:t>
            </a:r>
          </a:p>
        </p:txBody>
      </p:sp>
      <p:sp>
        <p:nvSpPr>
          <p:cNvPr id="19" name="Shape 17"/>
          <p:cNvSpPr/>
          <p:nvPr/>
        </p:nvSpPr>
        <p:spPr>
          <a:xfrm>
            <a:off x="10067544" y="1901952"/>
            <a:ext cx="777240" cy="777240"/>
          </a:xfrm>
          <a:prstGeom prst="ellipse">
            <a:avLst/>
          </a:prstGeom>
          <a:solidFill>
            <a:srgbClr val="F97068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67544" y="21305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98864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/>
              <a:t>Limitation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98864" y="3246120"/>
            <a:ext cx="2468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/>
              <a:t>What the result cannot prove yet</a:t>
            </a:r>
          </a:p>
        </p:txBody>
      </p:sp>
      <p:sp>
        <p:nvSpPr>
          <p:cNvPr id="24" name="Text 22"/>
          <p:cNvSpPr/>
          <p:nvPr/>
        </p:nvSpPr>
        <p:spPr>
          <a:xfrm>
            <a:off x="1024128" y="5285232"/>
            <a:ext cx="10021824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ea typeface="Aptos" pitchFamily="34" charset="-122"/>
                <a:cs typeface="Aptos" pitchFamily="34" charset="-120"/>
              </a:rPr>
              <a:t>Good result sentence: “The model improves / fails / shifts / overestimates / underestimates ___, which suggests ___, but this should be interpreted cautiously because ___.”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D98"/>
                </a:solidFill>
              </a:rPr>
              <a:t>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88535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ea typeface="Aptos Display" pitchFamily="34" charset="-122"/>
                <a:cs typeface="Aptos Display" pitchFamily="34" charset="-120"/>
              </a:rPr>
              <a:t>Discussion: what should the audience learn?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1627632"/>
            <a:ext cx="292608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Technical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2089751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What did the AI method do well?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Where did it fail or behave unexpectedly?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Was the baseline comparison fair?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553712" y="1627632"/>
            <a:ext cx="2926080" cy="0"/>
          </a:xfrm>
          <a:prstGeom prst="line">
            <a:avLst/>
          </a:prstGeom>
          <a:noFill/>
          <a:ln w="381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53712" y="1874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Design / domain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553712" y="2204864"/>
            <a:ext cx="2926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How does this affect design reasoning?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What does it reveal about performance trade-offs?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What would a designer do differently?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84464" y="1627632"/>
            <a:ext cx="2926080" cy="0"/>
          </a:xfrm>
          <a:prstGeom prst="line">
            <a:avLst/>
          </a:prstGeom>
          <a:noFill/>
          <a:ln w="381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84464" y="1874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A43"/>
                </a:solidFill>
              </a:rPr>
              <a:t>Research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284464" y="2221992"/>
            <a:ext cx="2926080" cy="12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What is the contribution?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What is generalizable?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ea typeface="Aptos" pitchFamily="34" charset="-122"/>
                <a:cs typeface="Aptos" pitchFamily="34" charset="-120"/>
              </a:rPr>
              <a:t>• What needs future validation?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83432" y="4983481"/>
            <a:ext cx="9166408" cy="1060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Discussion is not a summary. It is where you translate technical results into implications for architecture, design, and AI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Discussion is where the project becomes research.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860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ea typeface="Aptos Display" pitchFamily="34" charset="-122"/>
                <a:cs typeface="Aptos Display" pitchFamily="34" charset="-120"/>
              </a:rPr>
              <a:t>Final ethical reflection: AI needs critical framing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07624" y="18425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/>
              <a:t>Bias + data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307624" y="2226564"/>
            <a:ext cx="2514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/>
              <a:t>Who or what is missing from the dataset?</a:t>
            </a:r>
          </a:p>
        </p:txBody>
      </p:sp>
      <p:sp>
        <p:nvSpPr>
          <p:cNvPr id="11" name="Text 9"/>
          <p:cNvSpPr/>
          <p:nvPr/>
        </p:nvSpPr>
        <p:spPr>
          <a:xfrm>
            <a:off x="4919504" y="18425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/>
              <a:t>Overconfidence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919504" y="2226564"/>
            <a:ext cx="2514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/>
              <a:t>Where might the model sound more certain than it is?</a:t>
            </a:r>
          </a:p>
        </p:txBody>
      </p:sp>
      <p:sp>
        <p:nvSpPr>
          <p:cNvPr id="14" name="Text 12"/>
          <p:cNvSpPr/>
          <p:nvPr/>
        </p:nvSpPr>
        <p:spPr>
          <a:xfrm>
            <a:off x="8531384" y="18425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/>
              <a:t>Interpretability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531384" y="2226564"/>
            <a:ext cx="2514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/>
              <a:t>Can the designer explain why the model behaves this way?</a:t>
            </a:r>
          </a:p>
        </p:txBody>
      </p:sp>
      <p:sp>
        <p:nvSpPr>
          <p:cNvPr id="17" name="Text 15"/>
          <p:cNvSpPr/>
          <p:nvPr/>
        </p:nvSpPr>
        <p:spPr>
          <a:xfrm>
            <a:off x="1307624" y="34427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/>
              <a:t>Environmental cost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307624" y="3826764"/>
            <a:ext cx="2514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/>
              <a:t>What computation, energy, or resource cost is involved?</a:t>
            </a:r>
          </a:p>
        </p:txBody>
      </p:sp>
      <p:sp>
        <p:nvSpPr>
          <p:cNvPr id="20" name="Text 18"/>
          <p:cNvSpPr/>
          <p:nvPr/>
        </p:nvSpPr>
        <p:spPr>
          <a:xfrm>
            <a:off x="4919504" y="34427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/>
              <a:t>Human judgment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919504" y="3826764"/>
            <a:ext cx="2514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/>
              <a:t>Where should experts, users, or communities remain in the loop?</a:t>
            </a:r>
          </a:p>
        </p:txBody>
      </p:sp>
      <p:sp>
        <p:nvSpPr>
          <p:cNvPr id="23" name="Text 21"/>
          <p:cNvSpPr/>
          <p:nvPr/>
        </p:nvSpPr>
        <p:spPr>
          <a:xfrm>
            <a:off x="8531384" y="344271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/>
              <a:t>Equity + impact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531384" y="3826764"/>
            <a:ext cx="25146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/>
              <a:t>Who benefits, who is burdened, and who decides?</a:t>
            </a:r>
          </a:p>
        </p:txBody>
      </p:sp>
      <p:sp>
        <p:nvSpPr>
          <p:cNvPr id="26" name="Text 24"/>
          <p:cNvSpPr/>
          <p:nvPr/>
        </p:nvSpPr>
        <p:spPr>
          <a:xfrm>
            <a:off x="983432" y="5458968"/>
            <a:ext cx="102971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ea typeface="Aptos" pitchFamily="34" charset="-122"/>
                <a:cs typeface="Aptos" pitchFamily="34" charset="-120"/>
              </a:rPr>
              <a:t>Identify one ethical or societal issue that is specific to your project — not a generic AI concern.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127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ea typeface="Aptos Display" pitchFamily="34" charset="-122"/>
                <a:cs typeface="Aptos Display" pitchFamily="34" charset="-120"/>
              </a:rPr>
              <a:t>Align the final paper and presentation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148132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/>
              <a:t>Paper = detailed research document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720840" y="148132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/>
              <a:t>Presentation = clear research story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417320" y="2057400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27048" y="2167128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ea typeface="Aptos" pitchFamily="34" charset="-122"/>
                <a:cs typeface="Aptos" pitchFamily="34" charset="-120"/>
              </a:rPr>
              <a:t>Abstract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417320" y="2587752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27048" y="2697480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dirty="0">
                <a:ea typeface="Aptos" pitchFamily="34" charset="-122"/>
                <a:cs typeface="Aptos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417320" y="3118104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27048" y="3227832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dirty="0">
                <a:ea typeface="Aptos" pitchFamily="34" charset="-122"/>
                <a:cs typeface="Aptos" pitchFamily="34" charset="-120"/>
              </a:rPr>
              <a:t>Literature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417320" y="3648456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27048" y="3758184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dirty="0">
                <a:ea typeface="Aptos" pitchFamily="34" charset="-122"/>
                <a:cs typeface="Aptos" pitchFamily="34" charset="-120"/>
              </a:rPr>
              <a:t>Methods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417320" y="4178808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27048" y="4288536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dirty="0">
                <a:ea typeface="Aptos" pitchFamily="34" charset="-122"/>
                <a:cs typeface="Aptos" pitchFamily="34" charset="-120"/>
              </a:rPr>
              <a:t>Results + Discussion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417320" y="4709160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27048" y="4818888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ea typeface="Aptos" pitchFamily="34" charset="-122"/>
                <a:cs typeface="Aptos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178040" y="2057400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87768" y="2167128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ea typeface="Aptos" pitchFamily="34" charset="-122"/>
                <a:cs typeface="Aptos" pitchFamily="34" charset="-120"/>
              </a:rPr>
              <a:t>Opening claim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78040" y="2587752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87768" y="2697480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dirty="0">
                <a:ea typeface="Aptos" pitchFamily="34" charset="-122"/>
                <a:cs typeface="Aptos" pitchFamily="34" charset="-120"/>
              </a:rPr>
              <a:t>Research question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178040" y="3118104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87768" y="3227832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dirty="0">
                <a:ea typeface="Aptos" pitchFamily="34" charset="-122"/>
                <a:cs typeface="Aptos" pitchFamily="34" charset="-120"/>
              </a:rPr>
              <a:t>Gap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178040" y="3648456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287768" y="3758184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dirty="0">
                <a:ea typeface="Aptos" pitchFamily="34" charset="-122"/>
                <a:cs typeface="Aptos" pitchFamily="34" charset="-120"/>
              </a:rPr>
              <a:t>Workflow diagram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178040" y="4178808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87768" y="4288536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dirty="0">
                <a:ea typeface="Aptos" pitchFamily="34" charset="-122"/>
                <a:cs typeface="Aptos" pitchFamily="34" charset="-120"/>
              </a:rPr>
              <a:t>Key result visuals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178040" y="4709160"/>
            <a:ext cx="320040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87768" y="4818888"/>
            <a:ext cx="298094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50" b="1" dirty="0">
                <a:ea typeface="Aptos" pitchFamily="34" charset="-122"/>
                <a:cs typeface="Aptos" pitchFamily="34" charset="-120"/>
              </a:rPr>
              <a:t>Contribution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4892040" y="3611880"/>
            <a:ext cx="2011680" cy="0"/>
          </a:xfrm>
          <a:prstGeom prst="line">
            <a:avLst/>
          </a:prstGeom>
          <a:noFill/>
          <a:ln w="27940">
            <a:solidFill>
              <a:srgbClr val="627D9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69848" y="5641848"/>
            <a:ext cx="100218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50" dirty="0">
                <a:ea typeface="Aptos" pitchFamily="34" charset="-122"/>
                <a:cs typeface="Aptos" pitchFamily="34" charset="-120"/>
              </a:rPr>
              <a:t>Reminder: include all required figures, workflow diagrams, result visuals, and tables in the paper. Use the presentation to tell the clearest version of that same work.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3713104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ea typeface="Aptos Display" pitchFamily="34" charset="-122"/>
                <a:cs typeface="Aptos Display" pitchFamily="34" charset="-120"/>
              </a:rPr>
              <a:t>Common fixes before the final review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Most presentations improve quickly by fixing these issues.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B3FE8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Move the research question earlier.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0756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F7C90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Show the workflow before model details.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Replace “we tried many things” with a clear method sequence.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081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7E53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Show fewer results, but interpret them more carefully.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584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3B3B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Add one slide on limitations and what cannot be claimed.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087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End with contribution: what does this add to AI + architecture research?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1664208"/>
            <a:ext cx="182880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3B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23B3B"/>
                </a:solidFill>
                <a:ea typeface="Aptos" pitchFamily="34" charset="-122"/>
                <a:cs typeface="Aptos" pitchFamily="34" charset="-120"/>
              </a:rPr>
              <a:t>Cut list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240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3B3B"/>
                </a:solidFill>
                <a:ea typeface="Aptos" pitchFamily="34" charset="-122"/>
                <a:cs typeface="Aptos" pitchFamily="34" charset="-120"/>
              </a:rPr>
              <a:t>●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Long literature review slides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95160" y="2679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3B3B"/>
                </a:solidFill>
                <a:ea typeface="Aptos" pitchFamily="34" charset="-122"/>
                <a:cs typeface="Aptos" pitchFamily="34" charset="-120"/>
              </a:rPr>
              <a:t>●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Dense tables with unreadable text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95160" y="3108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3B3B"/>
                </a:solidFill>
                <a:ea typeface="Aptos" pitchFamily="34" charset="-122"/>
                <a:cs typeface="Aptos" pitchFamily="34" charset="-120"/>
              </a:rPr>
              <a:t>●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Duplicate process diagrams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E23B3B"/>
                </a:solidFill>
                <a:ea typeface="Aptos" pitchFamily="34" charset="-122"/>
                <a:cs typeface="Aptos" pitchFamily="34" charset="-120"/>
              </a:rPr>
              <a:t>●  </a:t>
            </a:r>
            <a:r>
              <a:rPr lang="en-US" sz="15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Results that are not discussed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577840"/>
            <a:ext cx="10469880" cy="329184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Aptos" pitchFamily="34" charset="-122"/>
                <a:cs typeface="Aptos" pitchFamily="34" charset="-120"/>
              </a:rPr>
              <a:t>When in doubt, cut content that does not support your research question, results, or contribution.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551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ea typeface="Aptos Display" pitchFamily="34" charset="-122"/>
                <a:cs typeface="Aptos Display" pitchFamily="34" charset="-120"/>
              </a:rPr>
              <a:t>Final presentation checklist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For 10 minutes, aim for 10–20 slides maximum.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B3FE8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Title + team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7C90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Motivation / problem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Research question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A7E53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Literature gap / precedent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Method / workflow diagram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4235E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Data / inputs / simulation setup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7220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6B3FE8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AI method or computational logic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220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7C90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Evaluation metrics / comparison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7220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Key results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7220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A7E53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Interpretation of results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Limitations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7220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4235E"/>
                </a:solidFill>
                <a:ea typeface="Aptos" pitchFamily="34" charset="-122"/>
                <a:cs typeface="Aptos" pitchFamily="34" charset="-120"/>
              </a:rPr>
              <a:t>✓  </a:t>
            </a:r>
            <a:r>
              <a:rPr lang="en-US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Contribution + next steps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8680" y="5358384"/>
            <a:ext cx="10469880" cy="329184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Aptos" pitchFamily="34" charset="-122"/>
                <a:cs typeface="Aptos" pitchFamily="34" charset="-120"/>
              </a:rPr>
              <a:t>Every major claim should be supported by a figure, result, comparison, or clear reasoning.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688775" y="647395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dirty="0">
                <a:solidFill>
                  <a:srgbClr val="9AA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580" dirty="0"/>
          </a:p>
        </p:txBody>
      </p:sp>
    </p:spTree>
    <p:extLst>
      <p:ext uri="{BB962C8B-B14F-4D97-AF65-F5344CB8AC3E}">
        <p14:creationId xmlns:p14="http://schemas.microsoft.com/office/powerpoint/2010/main" val="1454526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  <a:ea typeface="Aptos Display" pitchFamily="34" charset="-122"/>
                <a:cs typeface="Aptos Display" pitchFamily="34" charset="-120"/>
              </a:rPr>
              <a:t>Prepare for reviewer questions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ea typeface="Aptos" pitchFamily="34" charset="-122"/>
                <a:cs typeface="Aptos" pitchFamily="34" charset="-120"/>
              </a:rPr>
              <a:t>Use these questions to strengthen your presentation and your Q&amp;A.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6995" y="2077875"/>
            <a:ext cx="1234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6B3F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3FE8"/>
                </a:solidFill>
                <a:ea typeface="Aptos" pitchFamily="34" charset="-122"/>
                <a:cs typeface="Aptos" pitchFamily="34" charset="-120"/>
              </a:rPr>
              <a:t>Method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63459" y="2132739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Why is this AI method appropriate for the problem?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6995" y="3193443"/>
            <a:ext cx="1234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0F7C9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C90"/>
                </a:solidFill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63459" y="3248307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Where did the data come from, and what are its limitations?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6995" y="4309011"/>
            <a:ext cx="1234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63459" y="4363875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How do you know the result is meaningful or reliable?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4835" y="2077875"/>
            <a:ext cx="1234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0A7E5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53"/>
                </a:solidFill>
                <a:ea typeface="Aptos" pitchFamily="34" charset="-122"/>
                <a:cs typeface="Aptos" pitchFamily="34" charset="-120"/>
              </a:rPr>
              <a:t>Design value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41299" y="2132739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How does this support design decisions, not only prediction?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4835" y="3193443"/>
            <a:ext cx="1234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3B3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3B3B"/>
                </a:solidFill>
                <a:ea typeface="Aptos" pitchFamily="34" charset="-122"/>
                <a:cs typeface="Aptos" pitchFamily="34" charset="-120"/>
              </a:rPr>
              <a:t>Ethics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41299" y="3248307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What bias, uncertainty, or societal issue should be acknowledged?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4835" y="4309011"/>
            <a:ext cx="1234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ea typeface="Aptos" pitchFamily="34" charset="-122"/>
                <a:cs typeface="Aptos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41299" y="4363875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  <a:ea typeface="Aptos" pitchFamily="34" charset="-122"/>
                <a:cs typeface="Aptos" pitchFamily="34" charset="-120"/>
              </a:rPr>
              <a:t>What would you do with one more week or one more month?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577840"/>
            <a:ext cx="10469880" cy="329184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ea typeface="Aptos" pitchFamily="34" charset="-122"/>
                <a:cs typeface="Aptos" pitchFamily="34" charset="-120"/>
              </a:rPr>
              <a:t>Do not hide limitations.  A clear limitation often makes the research more credible.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657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60350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Aptos Display" pitchFamily="34" charset="-122"/>
                <a:cs typeface="Aptos Display" pitchFamily="34" charset="-120"/>
              </a:rPr>
              <a:t>Work block: make one concrete improvement now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21208" y="10789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a typeface="Aptos" pitchFamily="34" charset="-122"/>
                <a:cs typeface="Aptos" pitchFamily="34" charset="-120"/>
              </a:rPr>
              <a:t>Use the last part of class to revise the presentation while the feedback is fresh.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84048" cy="384048"/>
          </a:xfrm>
          <a:prstGeom prst="rect">
            <a:avLst/>
          </a:prstGeom>
          <a:solidFill>
            <a:srgbClr val="6B3FE8"/>
          </a:solidFill>
          <a:ln>
            <a:solidFill>
              <a:srgbClr val="6B3F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9032" y="1737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Revise the project-logic slide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384048" cy="384048"/>
          </a:xfrm>
          <a:prstGeom prst="rect">
            <a:avLst/>
          </a:prstGeom>
          <a:solidFill>
            <a:srgbClr val="0F7C90"/>
          </a:solidFill>
          <a:ln>
            <a:solidFill>
              <a:srgbClr val="0F7C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99032" y="237744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Update the workflow or result slide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384048" cy="38404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99032" y="3017520"/>
            <a:ext cx="368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Add one limitation / interpretation slide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611880"/>
            <a:ext cx="384048" cy="384048"/>
          </a:xfrm>
          <a:prstGeom prst="rect">
            <a:avLst/>
          </a:prstGeom>
          <a:solidFill>
            <a:srgbClr val="E23B3B"/>
          </a:solidFill>
          <a:ln>
            <a:solidFill>
              <a:srgbClr val="E23B3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99032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Cut or merge slides for timing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384048" cy="384048"/>
          </a:xfrm>
          <a:prstGeom prst="rect">
            <a:avLst/>
          </a:prstGeom>
          <a:solidFill>
            <a:srgbClr val="0A7E53"/>
          </a:solidFill>
          <a:ln>
            <a:solidFill>
              <a:srgbClr val="0A7E5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99032" y="4297680"/>
            <a:ext cx="4120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Write your closing contribution sentence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04888" y="282831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●  </a:t>
            </a:r>
            <a:r>
              <a:rPr lang="en-US" sz="1500" dirty="0">
                <a:ea typeface="Aptos" pitchFamily="34" charset="-122"/>
                <a:cs typeface="Aptos" pitchFamily="34" charset="-120"/>
              </a:rPr>
              <a:t>What is one edit your group made today?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04888" y="335866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●  </a:t>
            </a:r>
            <a:r>
              <a:rPr lang="en-US" sz="1500" dirty="0">
                <a:ea typeface="Aptos" pitchFamily="34" charset="-122"/>
                <a:cs typeface="Aptos" pitchFamily="34" charset="-120"/>
              </a:rPr>
              <a:t>What is one edit still needed before Friday?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04888" y="388901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b="1" dirty="0">
                <a:ea typeface="Aptos" pitchFamily="34" charset="-122"/>
                <a:cs typeface="Aptos" pitchFamily="34" charset="-120"/>
              </a:rPr>
              <a:t>●  </a:t>
            </a:r>
            <a:r>
              <a:rPr lang="en-US" sz="1500" dirty="0">
                <a:ea typeface="Aptos" pitchFamily="34" charset="-122"/>
                <a:cs typeface="Aptos" pitchFamily="34" charset="-120"/>
              </a:rPr>
              <a:t>What reviewer question are you preparing for?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687568"/>
            <a:ext cx="10469880" cy="329184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Final review preparation: clear question, clear method, clear evidence, clear contribution.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40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ea typeface="Aptos Display" pitchFamily="34" charset="-122"/>
                <a:cs typeface="Aptos Display" pitchFamily="34" charset="-120"/>
              </a:rPr>
              <a:t>Course reflection: what changed in your thinking?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1435608"/>
            <a:ext cx="292608" cy="292608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4859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53312" y="1399032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What AI concept or method do you understand better now?</a:t>
            </a:r>
          </a:p>
        </p:txBody>
      </p:sp>
      <p:sp>
        <p:nvSpPr>
          <p:cNvPr id="10" name="Shape 8"/>
          <p:cNvSpPr/>
          <p:nvPr/>
        </p:nvSpPr>
        <p:spPr>
          <a:xfrm>
            <a:off x="914400" y="2221992"/>
            <a:ext cx="292608" cy="292608"/>
          </a:xfrm>
          <a:prstGeom prst="ellipse">
            <a:avLst/>
          </a:prstGeom>
          <a:solidFill>
            <a:srgbClr val="F0B429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2722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53312" y="218541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What was technically or conceptually difficult?</a:t>
            </a:r>
          </a:p>
        </p:txBody>
      </p:sp>
      <p:sp>
        <p:nvSpPr>
          <p:cNvPr id="13" name="Shape 11"/>
          <p:cNvSpPr/>
          <p:nvPr/>
        </p:nvSpPr>
        <p:spPr>
          <a:xfrm>
            <a:off x="914400" y="3008376"/>
            <a:ext cx="292608" cy="292608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30586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53312" y="297180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What surprised you about applying AI to design research?</a:t>
            </a:r>
          </a:p>
        </p:txBody>
      </p:sp>
      <p:sp>
        <p:nvSpPr>
          <p:cNvPr id="16" name="Shape 14"/>
          <p:cNvSpPr/>
          <p:nvPr/>
        </p:nvSpPr>
        <p:spPr>
          <a:xfrm>
            <a:off x="914400" y="3794760"/>
            <a:ext cx="292608" cy="292608"/>
          </a:xfrm>
          <a:prstGeom prst="ellipse">
            <a:avLst/>
          </a:prstGeom>
          <a:solidFill>
            <a:srgbClr val="7C3AED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8450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353312" y="375818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How might you use AI differently in future design or research work?</a:t>
            </a:r>
          </a:p>
        </p:txBody>
      </p:sp>
      <p:sp>
        <p:nvSpPr>
          <p:cNvPr id="19" name="Shape 17"/>
          <p:cNvSpPr/>
          <p:nvPr/>
        </p:nvSpPr>
        <p:spPr>
          <a:xfrm>
            <a:off x="914400" y="4581144"/>
            <a:ext cx="292608" cy="292608"/>
          </a:xfrm>
          <a:prstGeom prst="ellipse">
            <a:avLst/>
          </a:prstGeom>
          <a:solidFill>
            <a:srgbClr val="F97068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46314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53312" y="45445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/>
              <a:t>What advice would you give to the next cohort?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658368" y="64008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message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2A43"/>
                </a:solidFill>
              </a:rPr>
              <a:t>You turned ambitious and uncertain questions into research workflows.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0" y="23957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</a:rPr>
              <a:t>That was the main goal of the AI seminar/studio.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057400" y="3675888"/>
            <a:ext cx="685800" cy="685800"/>
          </a:xfrm>
          <a:prstGeom prst="ellipse">
            <a:avLst/>
          </a:prstGeom>
          <a:solidFill>
            <a:srgbClr val="0E7490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A43"/>
                </a:solidFill>
              </a:rPr>
              <a:t>Be clear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827"/>
                </a:solidFill>
              </a:rPr>
              <a:t>Question · method · evidence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577840" y="3675888"/>
            <a:ext cx="685800" cy="685800"/>
          </a:xfrm>
          <a:prstGeom prst="ellipse">
            <a:avLst/>
          </a:prstGeom>
          <a:solidFill>
            <a:srgbClr val="F0B429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A43"/>
                </a:solidFill>
              </a:rPr>
              <a:t>Be honest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827"/>
                </a:solidFill>
              </a:rPr>
              <a:t>Uncertainty · limitations · ethics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098280" y="3675888"/>
            <a:ext cx="685800" cy="685800"/>
          </a:xfrm>
          <a:prstGeom prst="ellipse">
            <a:avLst/>
          </a:prstGeom>
          <a:solidFill>
            <a:srgbClr val="047857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92440" y="4553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2A43"/>
                </a:solidFill>
              </a:rPr>
              <a:t>Be confident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9244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11827"/>
                </a:solidFill>
              </a:rPr>
              <a:t>Contribution · design relevance · next steps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71800" y="592531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Looking forward to the final review.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46938E-2735-E543-9840-0DCE71799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C18F-78ED-364E-868B-B1136D5278E5}" type="slidenum">
              <a:rPr lang="en-US" smtClean="0"/>
              <a:t>28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44430A-41E7-1F1D-9809-AEC51915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3832" y="2780928"/>
            <a:ext cx="2656782" cy="94132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812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92"/>
    </mc:Choice>
    <mc:Fallback xmlns="">
      <p:transition spd="slow" advTm="5592"/>
    </mc:Fallback>
  </mc:AlternateContent>
</p:sld>
</file>

<file path=ppt/theme/theme1.xml><?xml version="1.0" encoding="utf-8"?>
<a:theme xmlns:a="http://schemas.openxmlformats.org/drawingml/2006/main" name="UW Lecture Notes 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_AI_Lecture09_ML-Classification" id="{08272AB1-6F88-AB4E-9C44-CC59BCA810E3}" vid="{F570A49F-2F56-134A-A0DA-063E5565C5F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37348</TotalTime>
  <Words>2412</Words>
  <Application>Microsoft Macintosh PowerPoint</Application>
  <PresentationFormat>Widescreen</PresentationFormat>
  <Paragraphs>429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Gill Sans MT</vt:lpstr>
      <vt:lpstr>Helvetica</vt:lpstr>
      <vt:lpstr>Times New Roman</vt:lpstr>
      <vt:lpstr>Wingdings 2</vt:lpstr>
      <vt:lpstr>UW Lecture Notes </vt:lpstr>
      <vt:lpstr>PowerPoint Presentation</vt:lpstr>
      <vt:lpstr>Our agenda will be: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BOGAZICI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ethem</dc:creator>
  <cp:lastModifiedBy>narjes abbasabadi</cp:lastModifiedBy>
  <cp:revision>417</cp:revision>
  <dcterms:created xsi:type="dcterms:W3CDTF">2005-01-24T14:46:28Z</dcterms:created>
  <dcterms:modified xsi:type="dcterms:W3CDTF">2026-06-03T15:34:48Z</dcterms:modified>
</cp:coreProperties>
</file>