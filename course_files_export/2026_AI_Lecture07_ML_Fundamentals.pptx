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79" r:id="rId1"/>
  </p:sldMasterIdLst>
  <p:notesMasterIdLst>
    <p:notesMasterId r:id="rId30"/>
  </p:notesMasterIdLst>
  <p:handoutMasterIdLst>
    <p:handoutMasterId r:id="rId31"/>
  </p:handoutMasterIdLst>
  <p:sldIdLst>
    <p:sldId id="2732" r:id="rId2"/>
    <p:sldId id="2537" r:id="rId3"/>
    <p:sldId id="266" r:id="rId4"/>
    <p:sldId id="258" r:id="rId5"/>
    <p:sldId id="259" r:id="rId6"/>
    <p:sldId id="2594" r:id="rId7"/>
    <p:sldId id="2595" r:id="rId8"/>
    <p:sldId id="2596" r:id="rId9"/>
    <p:sldId id="260" r:id="rId10"/>
    <p:sldId id="2675" r:id="rId11"/>
    <p:sldId id="270" r:id="rId12"/>
    <p:sldId id="2671" r:id="rId13"/>
    <p:sldId id="2549" r:id="rId14"/>
    <p:sldId id="272" r:id="rId15"/>
    <p:sldId id="273" r:id="rId16"/>
    <p:sldId id="2674" r:id="rId17"/>
    <p:sldId id="2673" r:id="rId18"/>
    <p:sldId id="2672" r:id="rId19"/>
    <p:sldId id="274" r:id="rId20"/>
    <p:sldId id="2603" r:id="rId21"/>
    <p:sldId id="2620" r:id="rId22"/>
    <p:sldId id="2605" r:id="rId23"/>
    <p:sldId id="2586" r:id="rId24"/>
    <p:sldId id="2733" r:id="rId25"/>
    <p:sldId id="2491" r:id="rId26"/>
    <p:sldId id="2546" r:id="rId27"/>
    <p:sldId id="2220" r:id="rId28"/>
    <p:sldId id="1180" r:id="rId29"/>
  </p:sldIdLst>
  <p:sldSz cx="12192000" cy="6858000"/>
  <p:notesSz cx="10234613" cy="70993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236">
          <p15:clr>
            <a:srgbClr val="A4A3A4"/>
          </p15:clr>
        </p15:guide>
        <p15:guide id="2" pos="32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B2D83"/>
    <a:srgbClr val="A54EF3"/>
    <a:srgbClr val="876DAC"/>
    <a:srgbClr val="A756B2"/>
    <a:srgbClr val="9344D1"/>
    <a:srgbClr val="7030A0"/>
    <a:srgbClr val="000000"/>
    <a:srgbClr val="FF0000"/>
    <a:srgbClr val="B0304A"/>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90" autoAdjust="0"/>
    <p:restoredTop sz="75034" autoAdjust="0"/>
  </p:normalViewPr>
  <p:slideViewPr>
    <p:cSldViewPr>
      <p:cViewPr varScale="1">
        <p:scale>
          <a:sx n="94" d="100"/>
          <a:sy n="94" d="100"/>
        </p:scale>
        <p:origin x="712" y="192"/>
      </p:cViewPr>
      <p:guideLst>
        <p:guide orient="horz" pos="2160"/>
        <p:guide pos="3840"/>
      </p:guideLst>
    </p:cSldViewPr>
  </p:slideViewPr>
  <p:outlineViewPr>
    <p:cViewPr>
      <p:scale>
        <a:sx n="33" d="100"/>
        <a:sy n="33" d="100"/>
      </p:scale>
      <p:origin x="0" y="0"/>
    </p:cViewPr>
  </p:outlineViewPr>
  <p:notesTextViewPr>
    <p:cViewPr>
      <p:scale>
        <a:sx n="110" d="100"/>
        <a:sy n="110" d="100"/>
      </p:scale>
      <p:origin x="0" y="0"/>
    </p:cViewPr>
  </p:notesTextViewPr>
  <p:sorterViewPr>
    <p:cViewPr>
      <p:scale>
        <a:sx n="66" d="100"/>
        <a:sy n="66" d="100"/>
      </p:scale>
      <p:origin x="0" y="0"/>
    </p:cViewPr>
  </p:sorterViewPr>
  <p:notesViewPr>
    <p:cSldViewPr>
      <p:cViewPr varScale="1">
        <p:scale>
          <a:sx n="80" d="100"/>
          <a:sy n="80" d="100"/>
        </p:scale>
        <p:origin x="-1254" y="-84"/>
      </p:cViewPr>
      <p:guideLst>
        <p:guide orient="horz" pos="2236"/>
        <p:guide pos="322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bwMode="auto">
          <a:xfrm>
            <a:off x="0" y="0"/>
            <a:ext cx="4435475" cy="355600"/>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a:defRPr sz="1300">
                <a:latin typeface="Arial" charset="0"/>
              </a:defRPr>
            </a:lvl1pPr>
          </a:lstStyle>
          <a:p>
            <a:endParaRPr lang="tr-TR"/>
          </a:p>
        </p:txBody>
      </p:sp>
      <p:sp>
        <p:nvSpPr>
          <p:cNvPr id="129027" name="Rectangle 3"/>
          <p:cNvSpPr>
            <a:spLocks noGrp="1" noChangeArrowheads="1"/>
          </p:cNvSpPr>
          <p:nvPr>
            <p:ph type="dt" sz="quarter" idx="1"/>
          </p:nvPr>
        </p:nvSpPr>
        <p:spPr bwMode="auto">
          <a:xfrm>
            <a:off x="5797550" y="0"/>
            <a:ext cx="4435475" cy="355600"/>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a:latin typeface="Arial" charset="0"/>
              </a:defRPr>
            </a:lvl1pPr>
          </a:lstStyle>
          <a:p>
            <a:endParaRPr lang="tr-TR"/>
          </a:p>
        </p:txBody>
      </p:sp>
      <p:sp>
        <p:nvSpPr>
          <p:cNvPr id="129028" name="Rectangle 4"/>
          <p:cNvSpPr>
            <a:spLocks noGrp="1" noChangeArrowheads="1"/>
          </p:cNvSpPr>
          <p:nvPr>
            <p:ph type="ftr" sz="quarter" idx="2"/>
          </p:nvPr>
        </p:nvSpPr>
        <p:spPr bwMode="auto">
          <a:xfrm>
            <a:off x="0" y="6742113"/>
            <a:ext cx="4435475" cy="355600"/>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a:defRPr sz="1300">
                <a:latin typeface="Arial" charset="0"/>
              </a:defRPr>
            </a:lvl1pPr>
          </a:lstStyle>
          <a:p>
            <a:endParaRPr lang="tr-TR"/>
          </a:p>
        </p:txBody>
      </p:sp>
      <p:sp>
        <p:nvSpPr>
          <p:cNvPr id="129029" name="Rectangle 5"/>
          <p:cNvSpPr>
            <a:spLocks noGrp="1" noChangeArrowheads="1"/>
          </p:cNvSpPr>
          <p:nvPr>
            <p:ph type="sldNum" sz="quarter" idx="3"/>
          </p:nvPr>
        </p:nvSpPr>
        <p:spPr bwMode="auto">
          <a:xfrm>
            <a:off x="5797550" y="6742113"/>
            <a:ext cx="4435475" cy="355600"/>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a:latin typeface="Arial" charset="0"/>
              </a:defRPr>
            </a:lvl1pPr>
          </a:lstStyle>
          <a:p>
            <a:fld id="{5FF5AA11-6FE7-4D92-860D-F09A5A1025BA}" type="slidenum">
              <a:rPr lang="tr-TR"/>
              <a:pPr/>
              <a:t>‹#›</a:t>
            </a:fld>
            <a:endParaRPr lang="tr-T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bwMode="auto">
          <a:xfrm>
            <a:off x="0" y="0"/>
            <a:ext cx="4435475" cy="355600"/>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a:defRPr sz="1300">
                <a:latin typeface="Arial" charset="0"/>
              </a:defRPr>
            </a:lvl1pPr>
          </a:lstStyle>
          <a:p>
            <a:endParaRPr lang="tr-TR"/>
          </a:p>
        </p:txBody>
      </p:sp>
      <p:sp>
        <p:nvSpPr>
          <p:cNvPr id="79875" name="Rectangle 3"/>
          <p:cNvSpPr>
            <a:spLocks noGrp="1" noChangeArrowheads="1"/>
          </p:cNvSpPr>
          <p:nvPr>
            <p:ph type="dt" idx="1"/>
          </p:nvPr>
        </p:nvSpPr>
        <p:spPr bwMode="auto">
          <a:xfrm>
            <a:off x="5797550" y="0"/>
            <a:ext cx="4435475" cy="355600"/>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a:latin typeface="Arial" charset="0"/>
              </a:defRPr>
            </a:lvl1pPr>
          </a:lstStyle>
          <a:p>
            <a:endParaRPr lang="tr-TR"/>
          </a:p>
        </p:txBody>
      </p:sp>
      <p:sp>
        <p:nvSpPr>
          <p:cNvPr id="79876" name="Rectangle 4"/>
          <p:cNvSpPr>
            <a:spLocks noGrp="1" noRot="1" noChangeAspect="1" noChangeArrowheads="1" noTextEdit="1"/>
          </p:cNvSpPr>
          <p:nvPr>
            <p:ph type="sldImg" idx="2"/>
          </p:nvPr>
        </p:nvSpPr>
        <p:spPr bwMode="auto">
          <a:xfrm>
            <a:off x="2751138" y="531813"/>
            <a:ext cx="4730750" cy="2662237"/>
          </a:xfrm>
          <a:prstGeom prst="rect">
            <a:avLst/>
          </a:prstGeom>
          <a:noFill/>
          <a:ln w="9525">
            <a:solidFill>
              <a:srgbClr val="000000"/>
            </a:solidFill>
            <a:miter lim="800000"/>
            <a:headEnd/>
            <a:tailEnd/>
          </a:ln>
          <a:effectLst/>
        </p:spPr>
        <p:txBody>
          <a:bodyPr/>
          <a:lstStyle/>
          <a:p>
            <a:endParaRPr lang="en-US"/>
          </a:p>
        </p:txBody>
      </p:sp>
      <p:sp>
        <p:nvSpPr>
          <p:cNvPr id="79877" name="Rectangle 5"/>
          <p:cNvSpPr>
            <a:spLocks noGrp="1" noChangeArrowheads="1"/>
          </p:cNvSpPr>
          <p:nvPr>
            <p:ph type="body" sz="quarter" idx="3"/>
          </p:nvPr>
        </p:nvSpPr>
        <p:spPr bwMode="auto">
          <a:xfrm>
            <a:off x="1023938" y="3371850"/>
            <a:ext cx="8186737" cy="31956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p>
        </p:txBody>
      </p:sp>
      <p:sp>
        <p:nvSpPr>
          <p:cNvPr id="79878" name="Rectangle 6"/>
          <p:cNvSpPr>
            <a:spLocks noGrp="1" noChangeArrowheads="1"/>
          </p:cNvSpPr>
          <p:nvPr>
            <p:ph type="ftr" sz="quarter" idx="4"/>
          </p:nvPr>
        </p:nvSpPr>
        <p:spPr bwMode="auto">
          <a:xfrm>
            <a:off x="0" y="6742113"/>
            <a:ext cx="4435475" cy="355600"/>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a:defRPr sz="1300">
                <a:latin typeface="Arial" charset="0"/>
              </a:defRPr>
            </a:lvl1pPr>
          </a:lstStyle>
          <a:p>
            <a:endParaRPr lang="tr-TR"/>
          </a:p>
        </p:txBody>
      </p:sp>
      <p:sp>
        <p:nvSpPr>
          <p:cNvPr id="79879" name="Rectangle 7"/>
          <p:cNvSpPr>
            <a:spLocks noGrp="1" noChangeArrowheads="1"/>
          </p:cNvSpPr>
          <p:nvPr>
            <p:ph type="sldNum" sz="quarter" idx="5"/>
          </p:nvPr>
        </p:nvSpPr>
        <p:spPr bwMode="auto">
          <a:xfrm>
            <a:off x="5797550" y="6742113"/>
            <a:ext cx="4435475" cy="355600"/>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a:latin typeface="Arial" charset="0"/>
              </a:defRPr>
            </a:lvl1pPr>
          </a:lstStyle>
          <a:p>
            <a:fld id="{8B153843-1CF4-4938-B773-3DA6477B563D}" type="slidenum">
              <a:rPr lang="tr-TR"/>
              <a:pPr/>
              <a:t>‹#›</a:t>
            </a:fld>
            <a:endParaRPr lang="tr-TR"/>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2EB6C-62C6-C042-57A9-F3E9D381B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39125C-3529-B401-8E02-917FEBF68C5F}"/>
              </a:ext>
            </a:extLst>
          </p:cNvPr>
          <p:cNvSpPr>
            <a:spLocks noGrp="1" noRot="1" noChangeAspect="1"/>
          </p:cNvSpPr>
          <p:nvPr>
            <p:ph type="sldImg"/>
          </p:nvPr>
        </p:nvSpPr>
        <p:spPr>
          <a:xfrm>
            <a:off x="2751138" y="531813"/>
            <a:ext cx="4730750" cy="2662237"/>
          </a:xfrm>
        </p:spPr>
        <p:txBody>
          <a:bodyPr/>
          <a:lstStyle/>
          <a:p>
            <a:endParaRPr lang="en-US"/>
          </a:p>
        </p:txBody>
      </p:sp>
      <p:sp>
        <p:nvSpPr>
          <p:cNvPr id="3" name="Notes Placeholder 2">
            <a:extLst>
              <a:ext uri="{FF2B5EF4-FFF2-40B4-BE49-F238E27FC236}">
                <a16:creationId xmlns:a16="http://schemas.microsoft.com/office/drawing/2014/main" id="{121C0024-06D1-0C14-BB05-E822F5CDBF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BE75EA-E43C-E019-0C51-95A31DD536BC}"/>
              </a:ext>
            </a:extLst>
          </p:cNvPr>
          <p:cNvSpPr>
            <a:spLocks noGrp="1"/>
          </p:cNvSpPr>
          <p:nvPr>
            <p:ph type="sldNum" sz="quarter" idx="5"/>
          </p:nvPr>
        </p:nvSpPr>
        <p:spPr/>
        <p:txBody>
          <a:bodyPr/>
          <a:lstStyle/>
          <a:p>
            <a:fld id="{8B153843-1CF4-4938-B773-3DA6477B563D}" type="slidenum">
              <a:rPr lang="tr-TR" smtClean="0"/>
              <a:pPr/>
              <a:t>1</a:t>
            </a:fld>
            <a:endParaRPr lang="tr-TR"/>
          </a:p>
        </p:txBody>
      </p:sp>
    </p:spTree>
    <p:extLst>
      <p:ext uri="{BB962C8B-B14F-4D97-AF65-F5344CB8AC3E}">
        <p14:creationId xmlns:p14="http://schemas.microsoft.com/office/powerpoint/2010/main" val="2101912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2</a:t>
            </a:fld>
            <a:endParaRPr lang="tr-TR"/>
          </a:p>
        </p:txBody>
      </p:sp>
    </p:spTree>
    <p:extLst>
      <p:ext uri="{BB962C8B-B14F-4D97-AF65-F5344CB8AC3E}">
        <p14:creationId xmlns:p14="http://schemas.microsoft.com/office/powerpoint/2010/main" val="503472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4</a:t>
            </a:fld>
            <a:endParaRPr lang="tr-TR"/>
          </a:p>
        </p:txBody>
      </p:sp>
    </p:spTree>
    <p:extLst>
      <p:ext uri="{BB962C8B-B14F-4D97-AF65-F5344CB8AC3E}">
        <p14:creationId xmlns:p14="http://schemas.microsoft.com/office/powerpoint/2010/main" val="1479184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Measures of Central Tendency:</a:t>
            </a:r>
          </a:p>
          <a:p>
            <a:pPr>
              <a:buFont typeface="Arial" panose="020B0604020202020204" pitchFamily="34" charset="0"/>
              <a:buChar char="•"/>
            </a:pPr>
            <a:r>
              <a:rPr lang="en-US" b="1" dirty="0"/>
              <a:t>Mean</a:t>
            </a:r>
            <a:r>
              <a:rPr lang="en-US" dirty="0"/>
              <a:t>: The average of a set of numbers. Add them up and divide by how many numbers there are.</a:t>
            </a:r>
          </a:p>
          <a:p>
            <a:pPr>
              <a:buFont typeface="Arial" panose="020B0604020202020204" pitchFamily="34" charset="0"/>
              <a:buChar char="•"/>
            </a:pPr>
            <a:r>
              <a:rPr lang="en-US" b="1" dirty="0"/>
              <a:t>Median</a:t>
            </a:r>
            <a:r>
              <a:rPr lang="en-US" dirty="0"/>
              <a:t>: The middle value when you arrange the numbers in order. If there’s an even number of values, it’s the average of the two middle ones.</a:t>
            </a:r>
          </a:p>
          <a:p>
            <a:pPr>
              <a:buFont typeface="Arial" panose="020B0604020202020204" pitchFamily="34" charset="0"/>
              <a:buChar char="•"/>
            </a:pPr>
            <a:r>
              <a:rPr lang="en-US" b="1" dirty="0"/>
              <a:t>Mode</a:t>
            </a:r>
            <a:r>
              <a:rPr lang="en-US" dirty="0"/>
              <a:t>: The number that appears most often in a set of numbers.</a:t>
            </a:r>
          </a:p>
          <a:p>
            <a:r>
              <a:rPr lang="en-US" b="1" dirty="0"/>
              <a:t>Measures of Spread:</a:t>
            </a:r>
          </a:p>
          <a:p>
            <a:pPr>
              <a:buFont typeface="Arial" panose="020B0604020202020204" pitchFamily="34" charset="0"/>
              <a:buChar char="•"/>
            </a:pPr>
            <a:r>
              <a:rPr lang="en-US" b="1" dirty="0"/>
              <a:t>Variance</a:t>
            </a:r>
            <a:r>
              <a:rPr lang="en-US" dirty="0"/>
              <a:t>: Tells us how spread out the numbers are. How far each number in a dataset is from the mean (average). It’s the average of the squared differences between each number and the mean.</a:t>
            </a:r>
          </a:p>
          <a:p>
            <a:pPr>
              <a:buFont typeface="Arial" panose="020B0604020202020204" pitchFamily="34" charset="0"/>
              <a:buChar char="•"/>
            </a:pPr>
            <a:r>
              <a:rPr lang="en-US" b="1" dirty="0"/>
              <a:t>Standard Deviation</a:t>
            </a:r>
            <a:r>
              <a:rPr lang="en-US" dirty="0"/>
              <a:t>: A measure of how spread out the numbers are, similar to variance but easier to interpret because it’s in the same units as the data.</a:t>
            </a:r>
          </a:p>
          <a:p>
            <a:pPr>
              <a:buFont typeface="Arial" panose="020B0604020202020204" pitchFamily="34" charset="0"/>
              <a:buChar char="•"/>
            </a:pPr>
            <a:r>
              <a:rPr lang="en-US" b="1" dirty="0"/>
              <a:t>Range</a:t>
            </a:r>
            <a:r>
              <a:rPr lang="en-US" dirty="0"/>
              <a:t>: The difference between the largest and smallest numbers in a set. It shows how wide the data is spread.</a:t>
            </a:r>
          </a:p>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5</a:t>
            </a:fld>
            <a:endParaRPr lang="tr-TR"/>
          </a:p>
        </p:txBody>
      </p:sp>
    </p:spTree>
    <p:extLst>
      <p:ext uri="{BB962C8B-B14F-4D97-AF65-F5344CB8AC3E}">
        <p14:creationId xmlns:p14="http://schemas.microsoft.com/office/powerpoint/2010/main" val="1578988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9</a:t>
            </a:fld>
            <a:endParaRPr lang="tr-TR"/>
          </a:p>
        </p:txBody>
      </p:sp>
    </p:spTree>
    <p:extLst>
      <p:ext uri="{BB962C8B-B14F-4D97-AF65-F5344CB8AC3E}">
        <p14:creationId xmlns:p14="http://schemas.microsoft.com/office/powerpoint/2010/main" val="1813799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10</a:t>
            </a:fld>
            <a:endParaRPr lang="tr-TR"/>
          </a:p>
        </p:txBody>
      </p:sp>
    </p:spTree>
    <p:extLst>
      <p:ext uri="{BB962C8B-B14F-4D97-AF65-F5344CB8AC3E}">
        <p14:creationId xmlns:p14="http://schemas.microsoft.com/office/powerpoint/2010/main" val="4083013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13</a:t>
            </a:fld>
            <a:endParaRPr lang="tr-TR"/>
          </a:p>
        </p:txBody>
      </p:sp>
    </p:spTree>
    <p:extLst>
      <p:ext uri="{BB962C8B-B14F-4D97-AF65-F5344CB8AC3E}">
        <p14:creationId xmlns:p14="http://schemas.microsoft.com/office/powerpoint/2010/main" val="1541491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95E81F-9340-44B8-B140-86966CCF85B6}" type="slidenum">
              <a:rPr lang="en-US" smtClean="0"/>
              <a:pPr/>
              <a:t>27</a:t>
            </a:fld>
            <a:endParaRPr lang="en-US"/>
          </a:p>
        </p:txBody>
      </p:sp>
    </p:spTree>
    <p:extLst>
      <p:ext uri="{BB962C8B-B14F-4D97-AF65-F5344CB8AC3E}">
        <p14:creationId xmlns:p14="http://schemas.microsoft.com/office/powerpoint/2010/main" val="24366374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381" name="Google Shape;381;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070536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4922" y="990600"/>
            <a:ext cx="10653003" cy="1504844"/>
          </a:xfrm>
          <a:effectLst/>
        </p:spPr>
        <p:txBody>
          <a:bodyPr anchor="b">
            <a:normAutofit/>
          </a:bodyPr>
          <a:lstStyle>
            <a:lvl1pPr>
              <a:defRPr sz="3600">
                <a:solidFill>
                  <a:srgbClr val="4B2D83"/>
                </a:solidFill>
              </a:defRPr>
            </a:lvl1pPr>
          </a:lstStyle>
          <a:p>
            <a:r>
              <a:rPr lang="en-US" dirty="0"/>
              <a:t>Click to edit Master title style</a:t>
            </a:r>
          </a:p>
        </p:txBody>
      </p:sp>
      <p:sp>
        <p:nvSpPr>
          <p:cNvPr id="3" name="Subtitle 2"/>
          <p:cNvSpPr>
            <a:spLocks noGrp="1"/>
          </p:cNvSpPr>
          <p:nvPr>
            <p:ph type="subTitle" idx="1"/>
          </p:nvPr>
        </p:nvSpPr>
        <p:spPr>
          <a:xfrm>
            <a:off x="774922" y="2495445"/>
            <a:ext cx="10653003" cy="590321"/>
          </a:xfrm>
        </p:spPr>
        <p:txBody>
          <a:bodyPr anchor="t">
            <a:normAutofit/>
          </a:bodyPr>
          <a:lstStyle>
            <a:lvl1pPr marL="0" indent="0" algn="l">
              <a:buNone/>
              <a:defRPr sz="1600" cap="all">
                <a:solidFill>
                  <a:srgbClr val="4B2D8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4B2D83"/>
                </a:solidFill>
              </a:defRPr>
            </a:lvl1pPr>
          </a:lstStyle>
          <a:p>
            <a:r>
              <a:rPr lang="tr-TR"/>
              <a:t>7/7/2014</a:t>
            </a:r>
            <a:endParaRPr lang="en-US">
              <a:solidFill>
                <a:srgbClr val="FFFFFF"/>
              </a:solidFill>
            </a:endParaRPr>
          </a:p>
        </p:txBody>
      </p:sp>
      <p:sp>
        <p:nvSpPr>
          <p:cNvPr id="5" name="Footer Placeholder 4"/>
          <p:cNvSpPr>
            <a:spLocks noGrp="1"/>
          </p:cNvSpPr>
          <p:nvPr>
            <p:ph type="ftr" sz="quarter" idx="11"/>
          </p:nvPr>
        </p:nvSpPr>
        <p:spPr/>
        <p:txBody>
          <a:bodyPr/>
          <a:lstStyle>
            <a:lvl1pPr>
              <a:defRPr>
                <a:solidFill>
                  <a:srgbClr val="4B2D83"/>
                </a:solidFill>
              </a:defRPr>
            </a:lvl1pPr>
          </a:lstStyle>
          <a:p>
            <a:r>
              <a:rPr kumimoji="0" lang="en-US">
                <a:solidFill>
                  <a:schemeClr val="accent1">
                    <a:tint val="20000"/>
                  </a:schemeClr>
                </a:solidFill>
              </a:rPr>
              <a:t>Lecture Notes for E Alpaydın 2014 Introduction to Machine Learning 3e © The MIT Press (V1.0)</a:t>
            </a:r>
          </a:p>
        </p:txBody>
      </p:sp>
      <p:sp>
        <p:nvSpPr>
          <p:cNvPr id="6" name="Slide Number Placeholder 5"/>
          <p:cNvSpPr>
            <a:spLocks noGrp="1"/>
          </p:cNvSpPr>
          <p:nvPr>
            <p:ph type="sldNum" sz="quarter" idx="12"/>
          </p:nvPr>
        </p:nvSpPr>
        <p:spPr/>
        <p:txBody>
          <a:bodyPr/>
          <a:lstStyle>
            <a:lvl1pPr>
              <a:defRPr>
                <a:solidFill>
                  <a:srgbClr val="4B2D83"/>
                </a:solidFill>
              </a:defRPr>
            </a:lvl1pPr>
          </a:lstStyle>
          <a:p>
            <a:fld id="{D5BBC35B-A44B-4119-B8DA-DE9E3DFADA20}" type="slidenum">
              <a:rPr kumimoji="0" lang="en-US" smtClean="0"/>
              <a:pPr/>
              <a:t>‹#›</a:t>
            </a:fld>
            <a:endParaRPr kumimoji="0" lang="en-US">
              <a:solidFill>
                <a:srgbClr val="FFFFFF"/>
              </a:solidFill>
            </a:endParaRPr>
          </a:p>
        </p:txBody>
      </p:sp>
    </p:spTree>
    <p:extLst>
      <p:ext uri="{BB962C8B-B14F-4D97-AF65-F5344CB8AC3E}">
        <p14:creationId xmlns:p14="http://schemas.microsoft.com/office/powerpoint/2010/main" val="2582977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774922" y="2228004"/>
            <a:ext cx="10653003"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rgbClr val="4B2D83"/>
                </a:solidFill>
              </a:defRPr>
            </a:lvl1pPr>
          </a:lstStyle>
          <a:p>
            <a:r>
              <a:rPr lang="tr-TR"/>
              <a:t>7/7/2014</a:t>
            </a:r>
            <a:endParaRPr lang="en-US" sz="1000">
              <a:solidFill>
                <a:schemeClr val="tx1"/>
              </a:solidFill>
            </a:endParaRPr>
          </a:p>
        </p:txBody>
      </p:sp>
      <p:sp>
        <p:nvSpPr>
          <p:cNvPr id="5" name="Footer Placeholder 4"/>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6" name="Slide Number Placeholder 5"/>
          <p:cNvSpPr>
            <a:spLocks noGrp="1"/>
          </p:cNvSpPr>
          <p:nvPr>
            <p:ph type="sldNum" sz="quarter" idx="12"/>
          </p:nvPr>
        </p:nvSpPr>
        <p:spPr/>
        <p:txBody>
          <a:bodyPr/>
          <a:lstStyle/>
          <a:p>
            <a:fld id="{A4DA0FD2-D456-4FC5-A587-87644C4EB2D1}" type="slidenum">
              <a:rPr lang="tr-TR" smtClean="0"/>
              <a:pPr/>
              <a:t>‹#›</a:t>
            </a:fld>
            <a:endParaRPr lang="tr-TR"/>
          </a:p>
        </p:txBody>
      </p:sp>
    </p:spTree>
    <p:extLst>
      <p:ext uri="{BB962C8B-B14F-4D97-AF65-F5344CB8AC3E}">
        <p14:creationId xmlns:p14="http://schemas.microsoft.com/office/powerpoint/2010/main" val="154396144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74925" y="3036573"/>
            <a:ext cx="10653001" cy="1504844"/>
          </a:xfrm>
        </p:spPr>
        <p:txBody>
          <a:bodyPr anchor="b">
            <a:normAutofit/>
          </a:bodyPr>
          <a:lstStyle>
            <a:lvl1pPr algn="l">
              <a:defRPr sz="3600" b="0" cap="all">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74925" y="4541417"/>
            <a:ext cx="10653001" cy="600556"/>
          </a:xfrm>
        </p:spPr>
        <p:txBody>
          <a:bodyPr anchor="t">
            <a:normAutofit/>
          </a:bodyPr>
          <a:lstStyle>
            <a:lvl1pPr marL="0" indent="0" algn="l">
              <a:buNone/>
              <a:defRPr sz="1800" cap="all">
                <a:solidFill>
                  <a:srgbClr val="4B2D8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rgbClr val="4B2D83"/>
                </a:solidFill>
              </a:defRPr>
            </a:lvl1pPr>
          </a:lstStyle>
          <a:p>
            <a:r>
              <a:rPr lang="tr-TR"/>
              <a:t>7/7/2014</a:t>
            </a:r>
            <a:endParaRPr lang="en-US"/>
          </a:p>
        </p:txBody>
      </p:sp>
      <p:sp>
        <p:nvSpPr>
          <p:cNvPr id="5" name="Footer Placeholder 4"/>
          <p:cNvSpPr>
            <a:spLocks noGrp="1"/>
          </p:cNvSpPr>
          <p:nvPr>
            <p:ph type="ftr" sz="quarter" idx="11"/>
          </p:nvPr>
        </p:nvSpPr>
        <p:spPr/>
        <p:txBody>
          <a:bodyPr/>
          <a:lstStyle>
            <a:lvl1pPr>
              <a:defRPr>
                <a:solidFill>
                  <a:srgbClr val="4B2D83"/>
                </a:solidFill>
              </a:defRPr>
            </a:lvl1pPr>
          </a:lstStyle>
          <a:p>
            <a:r>
              <a:rPr lang="en-US"/>
              <a:t>Lecture Notes for E Alpaydın 2014 Introduction to Machine Learning 3e © The MIT Press (V1.0)</a:t>
            </a:r>
            <a:endParaRPr lang="tr-TR"/>
          </a:p>
        </p:txBody>
      </p:sp>
      <p:sp>
        <p:nvSpPr>
          <p:cNvPr id="6" name="Slide Number Placeholder 5"/>
          <p:cNvSpPr>
            <a:spLocks noGrp="1"/>
          </p:cNvSpPr>
          <p:nvPr>
            <p:ph type="sldNum" sz="quarter" idx="12"/>
          </p:nvPr>
        </p:nvSpPr>
        <p:spPr/>
        <p:txBody>
          <a:bodyPr/>
          <a:lstStyle>
            <a:lvl1pPr>
              <a:defRPr>
                <a:solidFill>
                  <a:srgbClr val="4B2D83"/>
                </a:solidFill>
              </a:defRPr>
            </a:lvl1pPr>
          </a:lstStyle>
          <a:p>
            <a:fld id="{0BF0E594-9508-4F75-8FB2-7E9FCE92EA31}" type="slidenum">
              <a:rPr lang="tr-TR" smtClean="0"/>
              <a:pPr/>
              <a:t>‹#›</a:t>
            </a:fld>
            <a:endParaRPr lang="tr-TR"/>
          </a:p>
        </p:txBody>
      </p:sp>
    </p:spTree>
    <p:extLst>
      <p:ext uri="{BB962C8B-B14F-4D97-AF65-F5344CB8AC3E}">
        <p14:creationId xmlns:p14="http://schemas.microsoft.com/office/powerpoint/2010/main" val="290140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74924" y="2228003"/>
            <a:ext cx="51993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709" y="2228004"/>
            <a:ext cx="5210216"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tr-TR"/>
              <a:t>7/7/2014</a:t>
            </a:r>
            <a:endParaRPr lang="en-US" sz="1000">
              <a:solidFill>
                <a:schemeClr val="tx1"/>
              </a:solidFill>
            </a:endParaRPr>
          </a:p>
        </p:txBody>
      </p:sp>
      <p:sp>
        <p:nvSpPr>
          <p:cNvPr id="6" name="Footer Placeholder 5"/>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7" name="Slide Number Placeholder 6"/>
          <p:cNvSpPr>
            <a:spLocks noGrp="1"/>
          </p:cNvSpPr>
          <p:nvPr>
            <p:ph type="sldNum" sz="quarter" idx="12"/>
          </p:nvPr>
        </p:nvSpPr>
        <p:spPr/>
        <p:txBody>
          <a:bodyPr/>
          <a:lstStyle/>
          <a:p>
            <a:fld id="{A4DA0FD2-D456-4FC5-A587-87644C4EB2D1}" type="slidenum">
              <a:rPr lang="tr-TR" smtClean="0"/>
              <a:pPr/>
              <a:t>‹#›</a:t>
            </a:fld>
            <a:endParaRPr lang="tr-TR"/>
          </a:p>
        </p:txBody>
      </p:sp>
    </p:spTree>
    <p:extLst>
      <p:ext uri="{BB962C8B-B14F-4D97-AF65-F5344CB8AC3E}">
        <p14:creationId xmlns:p14="http://schemas.microsoft.com/office/powerpoint/2010/main" val="258841852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82959" y="2228003"/>
            <a:ext cx="4791333" cy="576262"/>
          </a:xfrm>
        </p:spPr>
        <p:txBody>
          <a:bodyPr anchor="b">
            <a:noAutofit/>
          </a:bodyPr>
          <a:lstStyle>
            <a:lvl1pPr marL="0" indent="0">
              <a:buNone/>
              <a:defRPr sz="2200" b="0">
                <a:solidFill>
                  <a:srgbClr val="4B2D8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4924" y="2926052"/>
            <a:ext cx="5199369"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25745" y="2228003"/>
            <a:ext cx="4802180" cy="576262"/>
          </a:xfrm>
        </p:spPr>
        <p:txBody>
          <a:bodyPr anchor="b">
            <a:noAutofit/>
          </a:bodyPr>
          <a:lstStyle>
            <a:lvl1pPr marL="0" indent="0">
              <a:buNone/>
              <a:defRPr sz="2200" b="0">
                <a:solidFill>
                  <a:srgbClr val="4B2D8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21021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tr-TR"/>
              <a:t>7/7/2014</a:t>
            </a:r>
            <a:endParaRPr lang="en-US" sz="1000">
              <a:solidFill>
                <a:schemeClr val="tx1"/>
              </a:solidFill>
            </a:endParaRPr>
          </a:p>
        </p:txBody>
      </p:sp>
      <p:sp>
        <p:nvSpPr>
          <p:cNvPr id="8" name="Footer Placeholder 7"/>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9" name="Slide Number Placeholder 8"/>
          <p:cNvSpPr>
            <a:spLocks noGrp="1"/>
          </p:cNvSpPr>
          <p:nvPr>
            <p:ph type="sldNum" sz="quarter" idx="12"/>
          </p:nvPr>
        </p:nvSpPr>
        <p:spPr/>
        <p:txBody>
          <a:bodyPr/>
          <a:lstStyle/>
          <a:p>
            <a:fld id="{A4DA0FD2-D456-4FC5-A587-87644C4EB2D1}" type="slidenum">
              <a:rPr lang="tr-TR" smtClean="0"/>
              <a:pPr/>
              <a:t>‹#›</a:t>
            </a:fld>
            <a:endParaRPr lang="tr-TR"/>
          </a:p>
        </p:txBody>
      </p:sp>
    </p:spTree>
    <p:extLst>
      <p:ext uri="{BB962C8B-B14F-4D97-AF65-F5344CB8AC3E}">
        <p14:creationId xmlns:p14="http://schemas.microsoft.com/office/powerpoint/2010/main" val="62257689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tr-TR"/>
              <a:t>7/7/2014</a:t>
            </a:r>
            <a:endParaRPr lang="en-US"/>
          </a:p>
        </p:txBody>
      </p:sp>
      <p:sp>
        <p:nvSpPr>
          <p:cNvPr id="4" name="Footer Placeholder 3"/>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5" name="Slide Number Placeholder 4"/>
          <p:cNvSpPr>
            <a:spLocks noGrp="1"/>
          </p:cNvSpPr>
          <p:nvPr>
            <p:ph type="sldNum" sz="quarter" idx="12"/>
          </p:nvPr>
        </p:nvSpPr>
        <p:spPr/>
        <p:txBody>
          <a:bodyPr/>
          <a:lstStyle/>
          <a:p>
            <a:fld id="{DC4B51A6-28A7-47F6-AE2C-F4B123EFE551}" type="slidenum">
              <a:rPr lang="tr-TR" smtClean="0"/>
              <a:pPr/>
              <a:t>‹#›</a:t>
            </a:fld>
            <a:endParaRPr lang="tr-TR"/>
          </a:p>
        </p:txBody>
      </p:sp>
    </p:spTree>
    <p:extLst>
      <p:ext uri="{BB962C8B-B14F-4D97-AF65-F5344CB8AC3E}">
        <p14:creationId xmlns:p14="http://schemas.microsoft.com/office/powerpoint/2010/main" val="3105678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tr-TR"/>
              <a:t>7/7/2014</a:t>
            </a:r>
            <a:endParaRPr lang="en-US"/>
          </a:p>
        </p:txBody>
      </p:sp>
      <p:sp>
        <p:nvSpPr>
          <p:cNvPr id="3" name="Footer Placeholder 2"/>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4" name="Slide Number Placeholder 3"/>
          <p:cNvSpPr>
            <a:spLocks noGrp="1"/>
          </p:cNvSpPr>
          <p:nvPr>
            <p:ph type="sldNum" sz="quarter" idx="12"/>
          </p:nvPr>
        </p:nvSpPr>
        <p:spPr/>
        <p:txBody>
          <a:bodyPr/>
          <a:lstStyle/>
          <a:p>
            <a:fld id="{1895849B-5B8D-4701-B904-178A9E77F54C}" type="slidenum">
              <a:rPr lang="tr-TR" smtClean="0"/>
              <a:pPr/>
              <a:t>‹#›</a:t>
            </a:fld>
            <a:endParaRPr lang="tr-TR"/>
          </a:p>
        </p:txBody>
      </p:sp>
    </p:spTree>
    <p:extLst>
      <p:ext uri="{BB962C8B-B14F-4D97-AF65-F5344CB8AC3E}">
        <p14:creationId xmlns:p14="http://schemas.microsoft.com/office/powerpoint/2010/main" val="2354099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5137" y="5262296"/>
            <a:ext cx="4715500" cy="689514"/>
          </a:xfrm>
        </p:spPr>
        <p:txBody>
          <a:bodyPr anchor="ctr"/>
          <a:lstStyle>
            <a:lvl1pPr algn="l">
              <a:defRPr sz="2000" b="0">
                <a:solidFill>
                  <a:srgbClr val="4B2D83"/>
                </a:solidFill>
              </a:defRPr>
            </a:lvl1pPr>
          </a:lstStyle>
          <a:p>
            <a:r>
              <a:rPr lang="en-US"/>
              <a:t>Click to edit Master title style</a:t>
            </a:r>
            <a:endParaRPr lang="en-US" dirty="0"/>
          </a:p>
        </p:txBody>
      </p:sp>
      <p:sp>
        <p:nvSpPr>
          <p:cNvPr id="3" name="Content Placeholder 2"/>
          <p:cNvSpPr>
            <a:spLocks noGrp="1"/>
          </p:cNvSpPr>
          <p:nvPr>
            <p:ph idx="1"/>
          </p:nvPr>
        </p:nvSpPr>
        <p:spPr>
          <a:xfrm>
            <a:off x="595199" y="601200"/>
            <a:ext cx="109872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687103"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r>
              <a:rPr lang="tr-TR"/>
              <a:t>7/7/2014</a:t>
            </a:r>
            <a:endParaRPr lang="en-US" sz="1000">
              <a:solidFill>
                <a:schemeClr val="tx1"/>
              </a:solidFill>
            </a:endParaRPr>
          </a:p>
        </p:txBody>
      </p:sp>
      <p:sp>
        <p:nvSpPr>
          <p:cNvPr id="6" name="Footer Placeholder 5"/>
          <p:cNvSpPr>
            <a:spLocks noGrp="1"/>
          </p:cNvSpPr>
          <p:nvPr>
            <p:ph type="ftr" sz="quarter" idx="11"/>
          </p:nvPr>
        </p:nvSpPr>
        <p:spPr/>
        <p:txBody>
          <a:bodyPr/>
          <a:lstStyle>
            <a:lvl1pPr>
              <a:defRPr>
                <a:solidFill>
                  <a:srgbClr val="4B2D83"/>
                </a:solidFill>
              </a:defRPr>
            </a:lvl1pPr>
          </a:lstStyle>
          <a:p>
            <a:r>
              <a:rPr lang="en-US"/>
              <a:t>Lecture Notes for E Alpaydın 2014 Introduction to Machine Learning 3e © The MIT Press (V1.0)</a:t>
            </a:r>
            <a:endParaRPr lang="tr-TR"/>
          </a:p>
        </p:txBody>
      </p:sp>
      <p:sp>
        <p:nvSpPr>
          <p:cNvPr id="7" name="Slide Number Placeholder 6"/>
          <p:cNvSpPr>
            <a:spLocks noGrp="1"/>
          </p:cNvSpPr>
          <p:nvPr>
            <p:ph type="sldNum" sz="quarter" idx="12"/>
          </p:nvPr>
        </p:nvSpPr>
        <p:spPr/>
        <p:txBody>
          <a:bodyPr/>
          <a:lstStyle>
            <a:lvl1pPr>
              <a:defRPr>
                <a:solidFill>
                  <a:srgbClr val="4B2D83"/>
                </a:solidFill>
              </a:defRPr>
            </a:lvl1pPr>
          </a:lstStyle>
          <a:p>
            <a:fld id="{A4DA0FD2-D456-4FC5-A587-87644C4EB2D1}" type="slidenum">
              <a:rPr lang="tr-TR" smtClean="0"/>
              <a:pPr/>
              <a:t>‹#›</a:t>
            </a:fld>
            <a:endParaRPr lang="tr-TR"/>
          </a:p>
        </p:txBody>
      </p:sp>
    </p:spTree>
    <p:extLst>
      <p:ext uri="{BB962C8B-B14F-4D97-AF65-F5344CB8AC3E}">
        <p14:creationId xmlns:p14="http://schemas.microsoft.com/office/powerpoint/2010/main" val="228690241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922" y="4693389"/>
            <a:ext cx="10653003"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597458" y="599725"/>
            <a:ext cx="10984941"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774922" y="5260127"/>
            <a:ext cx="10653003"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tr-TR"/>
              <a:t>7/7/2014</a:t>
            </a:r>
            <a:endParaRPr lang="en-US" sz="1000">
              <a:solidFill>
                <a:schemeClr val="tx1"/>
              </a:solidFill>
            </a:endParaRPr>
          </a:p>
        </p:txBody>
      </p:sp>
      <p:sp>
        <p:nvSpPr>
          <p:cNvPr id="6" name="Footer Placeholder 5"/>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7" name="Slide Number Placeholder 6"/>
          <p:cNvSpPr>
            <a:spLocks noGrp="1"/>
          </p:cNvSpPr>
          <p:nvPr>
            <p:ph type="sldNum" sz="quarter" idx="12"/>
          </p:nvPr>
        </p:nvSpPr>
        <p:spPr/>
        <p:txBody>
          <a:bodyPr/>
          <a:lstStyle/>
          <a:p>
            <a:fld id="{A4DA0FD2-D456-4FC5-A587-87644C4EB2D1}" type="slidenum">
              <a:rPr lang="tr-TR" smtClean="0"/>
              <a:pPr/>
              <a:t>‹#›</a:t>
            </a:fld>
            <a:endParaRPr lang="tr-TR"/>
          </a:p>
        </p:txBody>
      </p:sp>
    </p:spTree>
    <p:extLst>
      <p:ext uri="{BB962C8B-B14F-4D97-AF65-F5344CB8AC3E}">
        <p14:creationId xmlns:p14="http://schemas.microsoft.com/office/powerpoint/2010/main" val="381547421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457200"/>
            <a:ext cx="10972800" cy="1371600"/>
          </a:xfrm>
        </p:spPr>
        <p:txBody>
          <a:bodyPr/>
          <a:lstStyle/>
          <a:p>
            <a:r>
              <a:rPr lang="en-US"/>
              <a:t>Click to edit Master title style</a:t>
            </a:r>
            <a:endParaRPr lang="tr-TR"/>
          </a:p>
        </p:txBody>
      </p:sp>
      <p:sp>
        <p:nvSpPr>
          <p:cNvPr id="3" name="Content Placeholder 2"/>
          <p:cNvSpPr>
            <a:spLocks noGrp="1"/>
          </p:cNvSpPr>
          <p:nvPr>
            <p:ph sz="quarter" idx="1"/>
          </p:nvPr>
        </p:nvSpPr>
        <p:spPr>
          <a:xfrm>
            <a:off x="609600" y="19812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quarter" idx="2"/>
          </p:nvPr>
        </p:nvSpPr>
        <p:spPr>
          <a:xfrm>
            <a:off x="6197600" y="19812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Content Placeholder 4"/>
          <p:cNvSpPr>
            <a:spLocks noGrp="1"/>
          </p:cNvSpPr>
          <p:nvPr>
            <p:ph sz="quarter" idx="3"/>
          </p:nvPr>
        </p:nvSpPr>
        <p:spPr>
          <a:xfrm>
            <a:off x="609600" y="40005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Content Placeholder 5"/>
          <p:cNvSpPr>
            <a:spLocks noGrp="1"/>
          </p:cNvSpPr>
          <p:nvPr>
            <p:ph sz="quarter" idx="4"/>
          </p:nvPr>
        </p:nvSpPr>
        <p:spPr>
          <a:xfrm>
            <a:off x="6197600" y="40005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Footer Placeholder 6"/>
          <p:cNvSpPr>
            <a:spLocks noGrp="1"/>
          </p:cNvSpPr>
          <p:nvPr>
            <p:ph type="ftr" sz="quarter" idx="10"/>
          </p:nvPr>
        </p:nvSpPr>
        <p:spPr>
          <a:xfrm>
            <a:off x="1" y="6642100"/>
            <a:ext cx="8064500" cy="215900"/>
          </a:xfrm>
        </p:spPr>
        <p:txBody>
          <a:bodyPr/>
          <a:lstStyle>
            <a:lvl1pPr>
              <a:defRPr/>
            </a:lvl1pPr>
          </a:lstStyle>
          <a:p>
            <a:r>
              <a:rPr lang="en-US"/>
              <a:t>Lecture Notes for E Alpaydın 2014 Introduction to Machine Learning 3e © The MIT Press (V1.0)</a:t>
            </a:r>
            <a:endParaRPr lang="tr-TR"/>
          </a:p>
        </p:txBody>
      </p:sp>
      <p:sp>
        <p:nvSpPr>
          <p:cNvPr id="8" name="Slide Number Placeholder 7"/>
          <p:cNvSpPr>
            <a:spLocks noGrp="1"/>
          </p:cNvSpPr>
          <p:nvPr>
            <p:ph type="sldNum" sz="quarter" idx="11"/>
          </p:nvPr>
        </p:nvSpPr>
        <p:spPr>
          <a:xfrm>
            <a:off x="8784167" y="6237288"/>
            <a:ext cx="2844800" cy="457200"/>
          </a:xfrm>
        </p:spPr>
        <p:txBody>
          <a:bodyPr/>
          <a:lstStyle>
            <a:lvl1pPr>
              <a:defRPr/>
            </a:lvl1pPr>
          </a:lstStyle>
          <a:p>
            <a:fld id="{A4DA0FD2-D456-4FC5-A587-87644C4EB2D1}" type="slidenum">
              <a:rPr lang="tr-TR" smtClean="0"/>
              <a:pPr/>
              <a:t>‹#›</a:t>
            </a:fld>
            <a:endParaRPr lang="tr-TR"/>
          </a:p>
        </p:txBody>
      </p:sp>
    </p:spTree>
    <p:extLst>
      <p:ext uri="{BB962C8B-B14F-4D97-AF65-F5344CB8AC3E}">
        <p14:creationId xmlns:p14="http://schemas.microsoft.com/office/powerpoint/2010/main" val="377325354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1371600"/>
          </a:xfrm>
        </p:spPr>
        <p:txBody>
          <a:bodyPr/>
          <a:lstStyle/>
          <a:p>
            <a:r>
              <a:rPr lang="en-US"/>
              <a:t>Click to edit Master title style</a:t>
            </a:r>
            <a:endParaRPr lang="tr-TR"/>
          </a:p>
        </p:txBody>
      </p:sp>
      <p:sp>
        <p:nvSpPr>
          <p:cNvPr id="3" name="Content Placeholder 2"/>
          <p:cNvSpPr>
            <a:spLocks noGrp="1"/>
          </p:cNvSpPr>
          <p:nvPr>
            <p:ph sz="half" idx="1"/>
          </p:nvPr>
        </p:nvSpPr>
        <p:spPr>
          <a:xfrm>
            <a:off x="609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quarter" idx="2"/>
          </p:nvPr>
        </p:nvSpPr>
        <p:spPr>
          <a:xfrm>
            <a:off x="6197600" y="19812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Content Placeholder 4"/>
          <p:cNvSpPr>
            <a:spLocks noGrp="1"/>
          </p:cNvSpPr>
          <p:nvPr>
            <p:ph sz="quarter" idx="3"/>
          </p:nvPr>
        </p:nvSpPr>
        <p:spPr>
          <a:xfrm>
            <a:off x="6197600" y="40005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10"/>
          </p:nvPr>
        </p:nvSpPr>
        <p:spPr>
          <a:xfrm>
            <a:off x="1" y="6642100"/>
            <a:ext cx="8064500" cy="215900"/>
          </a:xfrm>
        </p:spPr>
        <p:txBody>
          <a:bodyPr/>
          <a:lstStyle>
            <a:lvl1pPr>
              <a:defRPr/>
            </a:lvl1pPr>
          </a:lstStyle>
          <a:p>
            <a:r>
              <a:rPr lang="en-US"/>
              <a:t>Lecture Notes for E Alpaydın 2014 Introduction to Machine Learning 3e © The MIT Press (V1.0)</a:t>
            </a:r>
            <a:endParaRPr lang="tr-TR"/>
          </a:p>
        </p:txBody>
      </p:sp>
      <p:sp>
        <p:nvSpPr>
          <p:cNvPr id="7" name="Slide Number Placeholder 6"/>
          <p:cNvSpPr>
            <a:spLocks noGrp="1"/>
          </p:cNvSpPr>
          <p:nvPr>
            <p:ph type="sldNum" sz="quarter" idx="11"/>
          </p:nvPr>
        </p:nvSpPr>
        <p:spPr>
          <a:xfrm>
            <a:off x="8784167" y="6237288"/>
            <a:ext cx="2844800" cy="457200"/>
          </a:xfrm>
        </p:spPr>
        <p:txBody>
          <a:bodyPr/>
          <a:lstStyle>
            <a:lvl1pPr>
              <a:defRPr/>
            </a:lvl1pPr>
          </a:lstStyle>
          <a:p>
            <a:fld id="{A4DA0FD2-D456-4FC5-A587-87644C4EB2D1}" type="slidenum">
              <a:rPr lang="tr-TR" smtClean="0"/>
              <a:pPr/>
              <a:t>‹#›</a:t>
            </a:fld>
            <a:endParaRPr lang="tr-TR"/>
          </a:p>
        </p:txBody>
      </p:sp>
    </p:spTree>
    <p:extLst>
      <p:ext uri="{BB962C8B-B14F-4D97-AF65-F5344CB8AC3E}">
        <p14:creationId xmlns:p14="http://schemas.microsoft.com/office/powerpoint/2010/main" val="426991609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1371600"/>
          </a:xfrm>
        </p:spPr>
        <p:txBody>
          <a:bodyPr/>
          <a:lstStyle/>
          <a:p>
            <a:r>
              <a:rPr lang="en-US"/>
              <a:t>Click to edit Master title style</a:t>
            </a:r>
            <a:endParaRPr lang="tr-TR"/>
          </a:p>
        </p:txBody>
      </p:sp>
      <p:sp>
        <p:nvSpPr>
          <p:cNvPr id="3" name="Text Placeholder 2"/>
          <p:cNvSpPr>
            <a:spLocks noGrp="1"/>
          </p:cNvSpPr>
          <p:nvPr>
            <p:ph type="body" sz="half" idx="1"/>
          </p:nvPr>
        </p:nvSpPr>
        <p:spPr>
          <a:xfrm>
            <a:off x="609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quarter" idx="2"/>
          </p:nvPr>
        </p:nvSpPr>
        <p:spPr>
          <a:xfrm>
            <a:off x="6197600" y="19812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Content Placeholder 4"/>
          <p:cNvSpPr>
            <a:spLocks noGrp="1"/>
          </p:cNvSpPr>
          <p:nvPr>
            <p:ph sz="quarter" idx="3"/>
          </p:nvPr>
        </p:nvSpPr>
        <p:spPr>
          <a:xfrm>
            <a:off x="6197600" y="40005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10"/>
          </p:nvPr>
        </p:nvSpPr>
        <p:spPr>
          <a:xfrm>
            <a:off x="1" y="6642100"/>
            <a:ext cx="8064500" cy="215900"/>
          </a:xfrm>
        </p:spPr>
        <p:txBody>
          <a:bodyPr/>
          <a:lstStyle>
            <a:lvl1pPr>
              <a:defRPr/>
            </a:lvl1pPr>
          </a:lstStyle>
          <a:p>
            <a:r>
              <a:rPr lang="en-US"/>
              <a:t>Lecture Notes for E Alpaydın 2014 Introduction to Machine Learning 3e © The MIT Press (V1.0)</a:t>
            </a:r>
            <a:endParaRPr lang="tr-TR"/>
          </a:p>
        </p:txBody>
      </p:sp>
      <p:sp>
        <p:nvSpPr>
          <p:cNvPr id="7" name="Slide Number Placeholder 6"/>
          <p:cNvSpPr>
            <a:spLocks noGrp="1"/>
          </p:cNvSpPr>
          <p:nvPr>
            <p:ph type="sldNum" sz="quarter" idx="11"/>
          </p:nvPr>
        </p:nvSpPr>
        <p:spPr>
          <a:xfrm>
            <a:off x="8784167" y="6237288"/>
            <a:ext cx="2844800" cy="457200"/>
          </a:xfrm>
        </p:spPr>
        <p:txBody>
          <a:bodyPr/>
          <a:lstStyle>
            <a:lvl1pPr>
              <a:defRPr/>
            </a:lvl1pPr>
          </a:lstStyle>
          <a:p>
            <a:fld id="{A4DA0FD2-D456-4FC5-A587-87644C4EB2D1}" type="slidenum">
              <a:rPr lang="tr-TR" smtClean="0"/>
              <a:pPr/>
              <a:t>‹#›</a:t>
            </a:fld>
            <a:endParaRPr lang="tr-TR"/>
          </a:p>
        </p:txBody>
      </p:sp>
    </p:spTree>
    <p:extLst>
      <p:ext uri="{BB962C8B-B14F-4D97-AF65-F5344CB8AC3E}">
        <p14:creationId xmlns:p14="http://schemas.microsoft.com/office/powerpoint/2010/main" val="312340916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22" y="687475"/>
            <a:ext cx="10653003" cy="1083329"/>
          </a:xfrm>
          <a:prstGeom prst="rect">
            <a:avLst/>
          </a:prstGeom>
        </p:spPr>
        <p:txBody>
          <a:bodyPr vert="horz" wrap="square" lIns="91440" tIns="0" rIns="91440" bIns="45720" rtlCol="0" anchor="ctr" anchorCtr="0">
            <a:normAutofit/>
          </a:bodyPr>
          <a:lstStyle/>
          <a:p>
            <a:r>
              <a:rPr lang="en-US" dirty="0"/>
              <a:t>Click to edit Master title style</a:t>
            </a:r>
          </a:p>
        </p:txBody>
      </p:sp>
      <p:sp>
        <p:nvSpPr>
          <p:cNvPr id="3" name="Text Placeholder 2"/>
          <p:cNvSpPr>
            <a:spLocks noGrp="1"/>
          </p:cNvSpPr>
          <p:nvPr>
            <p:ph type="body" idx="1"/>
          </p:nvPr>
        </p:nvSpPr>
        <p:spPr>
          <a:xfrm>
            <a:off x="774922" y="2228003"/>
            <a:ext cx="10653003" cy="3630794"/>
          </a:xfrm>
          <a:prstGeom prst="rect">
            <a:avLst/>
          </a:prstGeom>
        </p:spPr>
        <p:txBody>
          <a:bodyPr vert="horz" lIns="91440" tIns="45720" rIns="91440" bIns="45720" rtlCol="0" anchor="t" anchorCtr="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412436" y="5956137"/>
            <a:ext cx="2844800" cy="365125"/>
          </a:xfrm>
          <a:prstGeom prst="rect">
            <a:avLst/>
          </a:prstGeom>
        </p:spPr>
        <p:txBody>
          <a:bodyPr vert="horz" lIns="91440" tIns="45720" rIns="91440" bIns="45720" rtlCol="0" anchor="ctr"/>
          <a:lstStyle>
            <a:lvl1pPr algn="r">
              <a:defRPr sz="900">
                <a:solidFill>
                  <a:srgbClr val="4B2D83"/>
                </a:solidFill>
              </a:defRPr>
            </a:lvl1pPr>
          </a:lstStyle>
          <a:p>
            <a:r>
              <a:rPr lang="tr-TR"/>
              <a:t>7/7/2014</a:t>
            </a:r>
            <a:endParaRPr lang="en-US" sz="1000">
              <a:solidFill>
                <a:schemeClr val="tx1"/>
              </a:solidFill>
            </a:endParaRPr>
          </a:p>
        </p:txBody>
      </p:sp>
      <p:sp>
        <p:nvSpPr>
          <p:cNvPr id="5" name="Footer Placeholder 4"/>
          <p:cNvSpPr>
            <a:spLocks noGrp="1"/>
          </p:cNvSpPr>
          <p:nvPr>
            <p:ph type="ftr" sz="quarter" idx="3"/>
          </p:nvPr>
        </p:nvSpPr>
        <p:spPr>
          <a:xfrm>
            <a:off x="774924" y="5951811"/>
            <a:ext cx="6494113" cy="365125"/>
          </a:xfrm>
          <a:prstGeom prst="rect">
            <a:avLst/>
          </a:prstGeom>
        </p:spPr>
        <p:txBody>
          <a:bodyPr vert="horz" lIns="91440" tIns="45720" rIns="91440" bIns="45720" rtlCol="0" anchor="ctr"/>
          <a:lstStyle>
            <a:lvl1pPr algn="l">
              <a:defRPr sz="900" cap="all">
                <a:solidFill>
                  <a:srgbClr val="4B2D83"/>
                </a:solidFill>
              </a:defRPr>
            </a:lvl1pPr>
          </a:lstStyle>
          <a:p>
            <a:r>
              <a:rPr lang="en-US"/>
              <a:t>Lecture Notes for E Alpaydın 2014 Introduction to Machine Learning 3e © The MIT Press (V1.0)</a:t>
            </a:r>
            <a:endParaRPr lang="tr-TR"/>
          </a:p>
        </p:txBody>
      </p:sp>
      <p:sp>
        <p:nvSpPr>
          <p:cNvPr id="6" name="Slide Number Placeholder 5"/>
          <p:cNvSpPr>
            <a:spLocks noGrp="1"/>
          </p:cNvSpPr>
          <p:nvPr>
            <p:ph type="sldNum" sz="quarter" idx="4"/>
          </p:nvPr>
        </p:nvSpPr>
        <p:spPr>
          <a:xfrm>
            <a:off x="10400635" y="5956137"/>
            <a:ext cx="1027291" cy="365125"/>
          </a:xfrm>
          <a:prstGeom prst="rect">
            <a:avLst/>
          </a:prstGeom>
        </p:spPr>
        <p:txBody>
          <a:bodyPr vert="horz" lIns="91440" tIns="45720" rIns="91440" bIns="45720" rtlCol="0" anchor="ctr"/>
          <a:lstStyle>
            <a:lvl1pPr algn="r">
              <a:defRPr sz="900">
                <a:solidFill>
                  <a:srgbClr val="4B2D83"/>
                </a:solidFill>
              </a:defRPr>
            </a:lvl1pPr>
          </a:lstStyle>
          <a:p>
            <a:fld id="{A4DA0FD2-D456-4FC5-A587-87644C4EB2D1}" type="slidenum">
              <a:rPr lang="tr-TR" smtClean="0"/>
              <a:pPr/>
              <a:t>‹#›</a:t>
            </a:fld>
            <a:endParaRPr lang="tr-TR"/>
          </a:p>
        </p:txBody>
      </p:sp>
      <p:pic>
        <p:nvPicPr>
          <p:cNvPr id="8" name="Picture 7">
            <a:extLst>
              <a:ext uri="{FF2B5EF4-FFF2-40B4-BE49-F238E27FC236}">
                <a16:creationId xmlns:a16="http://schemas.microsoft.com/office/drawing/2014/main" id="{76603E0D-434A-9E56-322C-606DED7ABAC5}"/>
              </a:ext>
            </a:extLst>
          </p:cNvPr>
          <p:cNvPicPr>
            <a:picLocks noChangeAspect="1"/>
          </p:cNvPicPr>
          <p:nvPr/>
        </p:nvPicPr>
        <p:blipFill rotWithShape="1">
          <a:blip r:embed="rId14">
            <a:extLst>
              <a:ext uri="{28A0092B-C50C-407E-A947-70E740481C1C}">
                <a14:useLocalDpi xmlns:a14="http://schemas.microsoft.com/office/drawing/2010/main"/>
              </a:ext>
            </a:extLst>
          </a:blip>
          <a:srcRect/>
          <a:stretch/>
        </p:blipFill>
        <p:spPr>
          <a:xfrm>
            <a:off x="1" y="6570695"/>
            <a:ext cx="12192000" cy="299139"/>
          </a:xfrm>
          <a:prstGeom prst="rect">
            <a:avLst/>
          </a:prstGeom>
        </p:spPr>
      </p:pic>
      <p:sp>
        <p:nvSpPr>
          <p:cNvPr id="7" name="TextBox 6">
            <a:extLst>
              <a:ext uri="{FF2B5EF4-FFF2-40B4-BE49-F238E27FC236}">
                <a16:creationId xmlns:a16="http://schemas.microsoft.com/office/drawing/2014/main" id="{78F40BAB-8633-230B-3244-4D0830C8CA7A}"/>
              </a:ext>
            </a:extLst>
          </p:cNvPr>
          <p:cNvSpPr txBox="1"/>
          <p:nvPr userDrawn="1"/>
        </p:nvSpPr>
        <p:spPr>
          <a:xfrm>
            <a:off x="774921" y="6607038"/>
            <a:ext cx="11415427" cy="230832"/>
          </a:xfrm>
          <a:prstGeom prst="rect">
            <a:avLst/>
          </a:prstGeom>
          <a:noFill/>
        </p:spPr>
        <p:txBody>
          <a:bodyPr wrap="square">
            <a:spAutoFit/>
          </a:bodyPr>
          <a:lstStyle/>
          <a:p>
            <a:pPr algn="l"/>
            <a:r>
              <a:rPr lang="en-US" sz="900" b="0" dirty="0">
                <a:solidFill>
                  <a:schemeClr val="bg1"/>
                </a:solidFill>
                <a:latin typeface="Helvetica" pitchFamily="2" charset="0"/>
              </a:rPr>
              <a:t>ARCH 594/508: AI Research Seminar/Studio – AI in Architecture</a:t>
            </a:r>
            <a:endParaRPr lang="en-US" sz="900" b="0" dirty="0">
              <a:solidFill>
                <a:schemeClr val="bg1"/>
              </a:solidFill>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5908E26F-5A5C-B0FC-3179-A359FC3EC7D5}"/>
              </a:ext>
            </a:extLst>
          </p:cNvPr>
          <p:cNvSpPr txBox="1"/>
          <p:nvPr userDrawn="1"/>
        </p:nvSpPr>
        <p:spPr>
          <a:xfrm>
            <a:off x="7871432" y="6597352"/>
            <a:ext cx="3429000" cy="230832"/>
          </a:xfrm>
          <a:prstGeom prst="rect">
            <a:avLst/>
          </a:prstGeom>
          <a:noFill/>
        </p:spPr>
        <p:txBody>
          <a:bodyPr wrap="square">
            <a:spAutoFit/>
          </a:bodyPr>
          <a:lstStyle/>
          <a:p>
            <a:r>
              <a:rPr lang="en-US" sz="900" b="0" dirty="0">
                <a:solidFill>
                  <a:schemeClr val="bg1"/>
                </a:solidFill>
                <a:latin typeface="Helvetica" pitchFamily="2" charset="0"/>
                <a:cs typeface="Arial" panose="020B0604020202020204" pitchFamily="34" charset="0"/>
              </a:rPr>
              <a:t>NARJES ABBASABADI, PH.D.</a:t>
            </a:r>
          </a:p>
        </p:txBody>
      </p:sp>
      <p:pic>
        <p:nvPicPr>
          <p:cNvPr id="12" name="Picture 11" descr="Graphical user interface, text&#10;&#10;Description automatically generated">
            <a:extLst>
              <a:ext uri="{FF2B5EF4-FFF2-40B4-BE49-F238E27FC236}">
                <a16:creationId xmlns:a16="http://schemas.microsoft.com/office/drawing/2014/main" id="{1309FBF8-E6ED-B105-7FBE-EE22582EBC64}"/>
              </a:ext>
            </a:extLst>
          </p:cNvPr>
          <p:cNvPicPr>
            <a:picLocks noChangeAspect="1"/>
          </p:cNvPicPr>
          <p:nvPr userDrawn="1"/>
        </p:nvPicPr>
        <p:blipFill rotWithShape="1">
          <a:blip r:embed="rId15">
            <a:extLst>
              <a:ext uri="{28A0092B-C50C-407E-A947-70E740481C1C}">
                <a14:useLocalDpi xmlns:a14="http://schemas.microsoft.com/office/drawing/2010/main"/>
              </a:ext>
            </a:extLst>
          </a:blip>
          <a:srcRect t="-9337"/>
          <a:stretch>
            <a:fillRect/>
          </a:stretch>
        </p:blipFill>
        <p:spPr>
          <a:xfrm>
            <a:off x="9552384" y="6563763"/>
            <a:ext cx="2419613" cy="274108"/>
          </a:xfrm>
          <a:prstGeom prst="rect">
            <a:avLst/>
          </a:prstGeom>
        </p:spPr>
      </p:pic>
    </p:spTree>
    <p:extLst>
      <p:ext uri="{BB962C8B-B14F-4D97-AF65-F5344CB8AC3E}">
        <p14:creationId xmlns:p14="http://schemas.microsoft.com/office/powerpoint/2010/main" val="2647080578"/>
      </p:ext>
    </p:extLst>
  </p:cSld>
  <p:clrMap bg1="lt1" tx1="dk1" bg2="lt2" tx2="dk2" accent1="accent1" accent2="accent2" accent3="accent3" accent4="accent4" accent5="accent5" accent6="accent6" hlink="hlink" folHlink="folHlink"/>
  <p:sldLayoutIdLst>
    <p:sldLayoutId id="2147484080" r:id="rId1"/>
    <p:sldLayoutId id="2147484081" r:id="rId2"/>
    <p:sldLayoutId id="2147484082" r:id="rId3"/>
    <p:sldLayoutId id="2147484083" r:id="rId4"/>
    <p:sldLayoutId id="2147484084" r:id="rId5"/>
    <p:sldLayoutId id="2147484085" r:id="rId6"/>
    <p:sldLayoutId id="2147484086" r:id="rId7"/>
    <p:sldLayoutId id="2147484087" r:id="rId8"/>
    <p:sldLayoutId id="2147484088" r:id="rId9"/>
    <p:sldLayoutId id="2147484089" r:id="rId10"/>
    <p:sldLayoutId id="2147484090" r:id="rId11"/>
    <p:sldLayoutId id="2147484091" r:id="rId12"/>
  </p:sldLayoutIdLst>
  <p:hf hdr="0" ftr="0" dt="0"/>
  <p:txStyles>
    <p:titleStyle>
      <a:lvl1pPr algn="l" defTabSz="457200" rtl="0" eaLnBrk="1" latinLnBrk="0" hangingPunct="1">
        <a:spcBef>
          <a:spcPct val="0"/>
        </a:spcBef>
        <a:buNone/>
        <a:defRPr sz="2800" b="0" kern="1200" cap="all">
          <a:solidFill>
            <a:srgbClr val="4B2D83"/>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800" kern="1200">
          <a:solidFill>
            <a:schemeClr val="tx1"/>
          </a:solidFill>
          <a:latin typeface="+mn-lt"/>
          <a:ea typeface="+mn-ea"/>
          <a:cs typeface="+mn-cs"/>
        </a:defRPr>
      </a:lvl1pPr>
      <a:lvl2pPr marL="630000" indent="-306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600" kern="1200">
          <a:solidFill>
            <a:schemeClr val="tx1"/>
          </a:solidFill>
          <a:latin typeface="+mn-lt"/>
          <a:ea typeface="+mn-ea"/>
          <a:cs typeface="+mn-cs"/>
        </a:defRPr>
      </a:lvl2pPr>
      <a:lvl3pPr marL="900000" indent="-270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400" kern="1200">
          <a:solidFill>
            <a:schemeClr val="tx1"/>
          </a:solidFill>
          <a:latin typeface="+mn-lt"/>
          <a:ea typeface="+mn-ea"/>
          <a:cs typeface="+mn-cs"/>
        </a:defRPr>
      </a:lvl3pPr>
      <a:lvl4pPr marL="1242000" indent="-234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200" kern="1200">
          <a:solidFill>
            <a:schemeClr val="tx1"/>
          </a:solidFill>
          <a:latin typeface="+mn-lt"/>
          <a:ea typeface="+mn-ea"/>
          <a:cs typeface="+mn-cs"/>
        </a:defRPr>
      </a:lvl4pPr>
      <a:lvl5pPr marL="1602000" indent="-234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200" kern="1200">
          <a:solidFill>
            <a:schemeClr val="tx1"/>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nabbasab@uw.edu"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5B33C-6C3C-BDB0-C68B-33BFCE7E7CC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B21E20-ACF1-51A5-4DFC-5E7AEEA1FD3A}"/>
              </a:ext>
            </a:extLst>
          </p:cNvPr>
          <p:cNvSpPr>
            <a:spLocks noGrp="1"/>
          </p:cNvSpPr>
          <p:nvPr>
            <p:ph type="sldNum" sz="quarter" idx="12"/>
          </p:nvPr>
        </p:nvSpPr>
        <p:spPr/>
        <p:txBody>
          <a:bodyPr/>
          <a:lstStyle/>
          <a:p>
            <a:fld id="{A4DA0FD2-D456-4FC5-A587-87644C4EB2D1}" type="slidenum">
              <a:rPr lang="tr-TR" smtClean="0"/>
              <a:pPr/>
              <a:t>1</a:t>
            </a:fld>
            <a:endParaRPr lang="tr-TR"/>
          </a:p>
        </p:txBody>
      </p:sp>
      <p:sp>
        <p:nvSpPr>
          <p:cNvPr id="8" name="TextBox 7">
            <a:extLst>
              <a:ext uri="{FF2B5EF4-FFF2-40B4-BE49-F238E27FC236}">
                <a16:creationId xmlns:a16="http://schemas.microsoft.com/office/drawing/2014/main" id="{388725B2-6571-62CB-7F5A-AD118C3796AA}"/>
              </a:ext>
            </a:extLst>
          </p:cNvPr>
          <p:cNvSpPr txBox="1"/>
          <p:nvPr/>
        </p:nvSpPr>
        <p:spPr>
          <a:xfrm>
            <a:off x="616998" y="5004488"/>
            <a:ext cx="4320480" cy="1308050"/>
          </a:xfrm>
          <a:prstGeom prst="rect">
            <a:avLst/>
          </a:prstGeom>
          <a:noFill/>
        </p:spPr>
        <p:txBody>
          <a:bodyPr wrap="square">
            <a:spAutoFit/>
          </a:bodyPr>
          <a:lstStyle/>
          <a:p>
            <a:endParaRPr lang="en-US" sz="1000" dirty="0">
              <a:latin typeface="Helvetica" pitchFamily="2" charset="0"/>
              <a:ea typeface="Times New Roman" panose="02020603050405020304" pitchFamily="18" charset="0"/>
            </a:endParaRPr>
          </a:p>
          <a:p>
            <a:r>
              <a:rPr lang="en-US" sz="1000" dirty="0">
                <a:latin typeface="Helvetica" pitchFamily="2" charset="0"/>
                <a:cs typeface="Arial" panose="020B0604020202020204" pitchFamily="34" charset="0"/>
              </a:rPr>
              <a:t>Narjes Abbasabadi, Ph.D. Assistant Professor </a:t>
            </a:r>
          </a:p>
          <a:p>
            <a:r>
              <a:rPr lang="en-US" sz="1000" dirty="0">
                <a:latin typeface="Helvetica" pitchFamily="2" charset="0"/>
              </a:rPr>
              <a:t>Email: </a:t>
            </a:r>
            <a:r>
              <a:rPr lang="en-US" sz="1000" dirty="0">
                <a:latin typeface="Helvetica" pitchFamily="2" charset="0"/>
                <a:hlinkClick r:id="rId3">
                  <a:extLst>
                    <a:ext uri="{A12FA001-AC4F-418D-AE19-62706E023703}">
                      <ahyp:hlinkClr xmlns:ahyp="http://schemas.microsoft.com/office/drawing/2018/hyperlinkcolor" val="tx"/>
                    </a:ext>
                  </a:extLst>
                </a:hlinkClick>
              </a:rPr>
              <a:t>nabbasab@uw.edu</a:t>
            </a:r>
            <a:endParaRPr lang="en-US" sz="1000" dirty="0">
              <a:latin typeface="Helvetica" pitchFamily="2" charset="0"/>
            </a:endParaRPr>
          </a:p>
          <a:p>
            <a:pPr>
              <a:lnSpc>
                <a:spcPct val="80000"/>
              </a:lnSpc>
              <a:spcBef>
                <a:spcPts val="152"/>
              </a:spcBef>
              <a:buClr>
                <a:schemeClr val="dk1"/>
              </a:buClr>
              <a:buSzPts val="1800"/>
            </a:pPr>
            <a:r>
              <a:rPr lang="en-US" sz="1000" dirty="0">
                <a:latin typeface="Helvetica" pitchFamily="2" charset="0"/>
                <a:sym typeface="Arial"/>
              </a:rPr>
              <a:t>Department of Architecture</a:t>
            </a:r>
          </a:p>
          <a:p>
            <a:pPr>
              <a:lnSpc>
                <a:spcPct val="80000"/>
              </a:lnSpc>
              <a:spcBef>
                <a:spcPts val="152"/>
              </a:spcBef>
              <a:buClr>
                <a:schemeClr val="dk1"/>
              </a:buClr>
              <a:buSzPts val="1800"/>
            </a:pPr>
            <a:r>
              <a:rPr lang="en-US" sz="1000" dirty="0">
                <a:latin typeface="Helvetica" pitchFamily="2" charset="0"/>
                <a:sym typeface="Arial"/>
              </a:rPr>
              <a:t>College of Built Environments</a:t>
            </a:r>
          </a:p>
          <a:p>
            <a:r>
              <a:rPr lang="en-US" sz="1000" dirty="0">
                <a:latin typeface="Helvetica" pitchFamily="2" charset="0"/>
              </a:rPr>
              <a:t>University of Washington</a:t>
            </a:r>
          </a:p>
          <a:p>
            <a:pPr>
              <a:lnSpc>
                <a:spcPct val="80000"/>
              </a:lnSpc>
              <a:spcBef>
                <a:spcPts val="152"/>
              </a:spcBef>
              <a:buClr>
                <a:schemeClr val="dk1"/>
              </a:buClr>
              <a:buSzPts val="1800"/>
            </a:pPr>
            <a:r>
              <a:rPr lang="en-US" sz="1000" dirty="0">
                <a:latin typeface="Helvetica" pitchFamily="2" charset="0"/>
              </a:rPr>
              <a:t>Website: https://</a:t>
            </a:r>
            <a:r>
              <a:rPr lang="en-US" sz="1000" dirty="0" err="1">
                <a:latin typeface="Helvetica" pitchFamily="2" charset="0"/>
              </a:rPr>
              <a:t>silab.be.uw.edu</a:t>
            </a:r>
            <a:endParaRPr lang="en-US" sz="1000" dirty="0">
              <a:latin typeface="Helvetica" pitchFamily="2" charset="0"/>
            </a:endParaRPr>
          </a:p>
          <a:p>
            <a:endParaRPr lang="en-US" sz="1000" dirty="0">
              <a:latin typeface="Helvetica" pitchFamily="2" charset="0"/>
              <a:ea typeface="Times New Roman" panose="02020603050405020304" pitchFamily="18" charset="0"/>
            </a:endParaRPr>
          </a:p>
        </p:txBody>
      </p:sp>
      <p:sp>
        <p:nvSpPr>
          <p:cNvPr id="3" name="TextBox 2">
            <a:extLst>
              <a:ext uri="{FF2B5EF4-FFF2-40B4-BE49-F238E27FC236}">
                <a16:creationId xmlns:a16="http://schemas.microsoft.com/office/drawing/2014/main" id="{A65F9DE8-D66A-CE34-B589-7521C0FE46C6}"/>
              </a:ext>
            </a:extLst>
          </p:cNvPr>
          <p:cNvSpPr txBox="1"/>
          <p:nvPr/>
        </p:nvSpPr>
        <p:spPr>
          <a:xfrm>
            <a:off x="802180" y="2492896"/>
            <a:ext cx="9596236" cy="1569660"/>
          </a:xfrm>
          <a:prstGeom prst="rect">
            <a:avLst/>
          </a:prstGeom>
          <a:noFill/>
        </p:spPr>
        <p:txBody>
          <a:bodyPr wrap="square">
            <a:spAutoFit/>
          </a:bodyPr>
          <a:lstStyle/>
          <a:p>
            <a:r>
              <a:rPr lang="en-US" sz="3200" b="1" dirty="0">
                <a:solidFill>
                  <a:srgbClr val="4B2D83"/>
                </a:solidFill>
                <a:latin typeface="Helvetica" pitchFamily="2" charset="0"/>
              </a:rPr>
              <a:t>MACHINE LEARNING FUNDAMENTALS</a:t>
            </a:r>
          </a:p>
          <a:p>
            <a:r>
              <a:rPr lang="en-US" sz="3200" b="1" dirty="0">
                <a:solidFill>
                  <a:srgbClr val="4B2D83"/>
                </a:solidFill>
                <a:latin typeface="Helvetica" pitchFamily="2" charset="0"/>
              </a:rPr>
              <a:t>Key Statistical and Probability Concepts</a:t>
            </a:r>
          </a:p>
          <a:p>
            <a:endParaRPr lang="en-US" sz="3200" b="1" dirty="0">
              <a:solidFill>
                <a:srgbClr val="4B2D83"/>
              </a:solidFill>
              <a:latin typeface="Helvetica" pitchFamily="2" charset="0"/>
            </a:endParaRPr>
          </a:p>
        </p:txBody>
      </p:sp>
      <p:sp>
        <p:nvSpPr>
          <p:cNvPr id="12" name="TextBox 11">
            <a:extLst>
              <a:ext uri="{FF2B5EF4-FFF2-40B4-BE49-F238E27FC236}">
                <a16:creationId xmlns:a16="http://schemas.microsoft.com/office/drawing/2014/main" id="{16F3271D-366C-BF29-AD91-513D509DC3F7}"/>
              </a:ext>
            </a:extLst>
          </p:cNvPr>
          <p:cNvSpPr txBox="1"/>
          <p:nvPr/>
        </p:nvSpPr>
        <p:spPr>
          <a:xfrm>
            <a:off x="802180" y="1007793"/>
            <a:ext cx="8568952" cy="584775"/>
          </a:xfrm>
          <a:prstGeom prst="rect">
            <a:avLst/>
          </a:prstGeom>
          <a:noFill/>
        </p:spPr>
        <p:txBody>
          <a:bodyPr wrap="square">
            <a:spAutoFit/>
          </a:bodyPr>
          <a:lstStyle/>
          <a:p>
            <a:r>
              <a:rPr lang="en-US" sz="1600" b="1" dirty="0">
                <a:latin typeface="Helvetica" pitchFamily="2" charset="0"/>
                <a:ea typeface="Times New Roman" panose="02020603050405020304" pitchFamily="18" charset="0"/>
              </a:rPr>
              <a:t>ARCH 594/508: AI Research Seminar/Studio—AI in Architecture</a:t>
            </a:r>
          </a:p>
          <a:p>
            <a:r>
              <a:rPr lang="en-US" sz="1600" dirty="0">
                <a:latin typeface="Helvetica" pitchFamily="2" charset="0"/>
                <a:ea typeface="Times New Roman" panose="02020603050405020304" pitchFamily="18" charset="0"/>
              </a:rPr>
              <a:t>Spring 2026</a:t>
            </a:r>
          </a:p>
        </p:txBody>
      </p:sp>
    </p:spTree>
    <p:extLst>
      <p:ext uri="{BB962C8B-B14F-4D97-AF65-F5344CB8AC3E}">
        <p14:creationId xmlns:p14="http://schemas.microsoft.com/office/powerpoint/2010/main" val="3322306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0E53F-8E2D-5CF4-BD2E-B6A3D11721B4}"/>
              </a:ext>
            </a:extLst>
          </p:cNvPr>
          <p:cNvSpPr>
            <a:spLocks noGrp="1"/>
          </p:cNvSpPr>
          <p:nvPr>
            <p:ph type="title"/>
          </p:nvPr>
        </p:nvSpPr>
        <p:spPr/>
        <p:txBody>
          <a:bodyPr/>
          <a:lstStyle/>
          <a:p>
            <a:r>
              <a:rPr lang="en-US" dirty="0"/>
              <a:t>Today's Agenda</a:t>
            </a:r>
          </a:p>
        </p:txBody>
      </p:sp>
      <p:sp>
        <p:nvSpPr>
          <p:cNvPr id="3" name="Content Placeholder 2">
            <a:extLst>
              <a:ext uri="{FF2B5EF4-FFF2-40B4-BE49-F238E27FC236}">
                <a16:creationId xmlns:a16="http://schemas.microsoft.com/office/drawing/2014/main" id="{76F9B1BB-3843-0294-23B9-1452574BA693}"/>
              </a:ext>
            </a:extLst>
          </p:cNvPr>
          <p:cNvSpPr>
            <a:spLocks noGrp="1"/>
          </p:cNvSpPr>
          <p:nvPr>
            <p:ph idx="1"/>
          </p:nvPr>
        </p:nvSpPr>
        <p:spPr/>
        <p:txBody>
          <a:bodyPr>
            <a:normAutofit/>
          </a:bodyPr>
          <a:lstStyle/>
          <a:p>
            <a:pPr marL="0" indent="0">
              <a:buNone/>
            </a:pPr>
            <a:r>
              <a:rPr lang="en-US" i="0" u="none" strike="noStrike" dirty="0">
                <a:effectLst/>
              </a:rPr>
              <a:t>Machine Learning</a:t>
            </a:r>
          </a:p>
          <a:p>
            <a:r>
              <a:rPr lang="en-US" dirty="0"/>
              <a:t>Key Statistical and Probability Concepts</a:t>
            </a:r>
          </a:p>
          <a:p>
            <a:r>
              <a:rPr lang="en-US" dirty="0"/>
              <a:t>An Introduction to ML</a:t>
            </a:r>
          </a:p>
          <a:p>
            <a:endParaRPr lang="en-US" dirty="0"/>
          </a:p>
          <a:p>
            <a:pPr marL="342900" indent="-342900">
              <a:buAutoNum type="arabicPeriod"/>
            </a:pPr>
            <a:endParaRPr lang="en-US" i="0" u="none" strike="noStrike" dirty="0">
              <a:effectLst/>
            </a:endParaRPr>
          </a:p>
        </p:txBody>
      </p:sp>
      <p:sp>
        <p:nvSpPr>
          <p:cNvPr id="4" name="Slide Number Placeholder 3">
            <a:extLst>
              <a:ext uri="{FF2B5EF4-FFF2-40B4-BE49-F238E27FC236}">
                <a16:creationId xmlns:a16="http://schemas.microsoft.com/office/drawing/2014/main" id="{2D02BC2C-8F9A-73A3-7551-50FB3DD43085}"/>
              </a:ext>
            </a:extLst>
          </p:cNvPr>
          <p:cNvSpPr>
            <a:spLocks noGrp="1"/>
          </p:cNvSpPr>
          <p:nvPr>
            <p:ph type="sldNum" sz="quarter" idx="12"/>
          </p:nvPr>
        </p:nvSpPr>
        <p:spPr/>
        <p:txBody>
          <a:bodyPr/>
          <a:lstStyle/>
          <a:p>
            <a:fld id="{A4DA0FD2-D456-4FC5-A587-87644C4EB2D1}" type="slidenum">
              <a:rPr lang="tr-TR" smtClean="0"/>
              <a:pPr/>
              <a:t>2</a:t>
            </a:fld>
            <a:endParaRPr lang="tr-TR"/>
          </a:p>
        </p:txBody>
      </p:sp>
    </p:spTree>
    <p:extLst>
      <p:ext uri="{BB962C8B-B14F-4D97-AF65-F5344CB8AC3E}">
        <p14:creationId xmlns:p14="http://schemas.microsoft.com/office/powerpoint/2010/main" val="2217637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54EF3"/>
                </a:solidFill>
              </a:rPr>
              <a:t>Review </a:t>
            </a:r>
            <a:br>
              <a:rPr lang="en-US" dirty="0">
                <a:solidFill>
                  <a:srgbClr val="A54EF3"/>
                </a:solidFill>
              </a:rPr>
            </a:br>
            <a:r>
              <a:rPr dirty="0"/>
              <a:t>Exploratory Data Analysis (EDA)</a:t>
            </a:r>
          </a:p>
        </p:txBody>
      </p:sp>
      <p:sp>
        <p:nvSpPr>
          <p:cNvPr id="3" name="Content Placeholder 2"/>
          <p:cNvSpPr>
            <a:spLocks noGrp="1"/>
          </p:cNvSpPr>
          <p:nvPr>
            <p:ph idx="1"/>
          </p:nvPr>
        </p:nvSpPr>
        <p:spPr>
          <a:xfrm>
            <a:off x="2105192" y="2228004"/>
            <a:ext cx="4448008" cy="3630795"/>
          </a:xfrm>
        </p:spPr>
        <p:txBody>
          <a:bodyPr>
            <a:normAutofit lnSpcReduction="10000"/>
          </a:bodyPr>
          <a:lstStyle/>
          <a:p>
            <a:r>
              <a:rPr dirty="0"/>
              <a:t>EDA involves analyzing data sets to </a:t>
            </a:r>
            <a:r>
              <a:rPr lang="en-US" dirty="0"/>
              <a:t>understand data structure, </a:t>
            </a:r>
            <a:r>
              <a:rPr dirty="0"/>
              <a:t>summarize their main characteristics, often using visual methods. It helps to discover patterns, spot anomalies, and test hypotheses.</a:t>
            </a:r>
            <a:endParaRPr lang="en-US" dirty="0"/>
          </a:p>
          <a:p>
            <a:endParaRPr dirty="0"/>
          </a:p>
          <a:p>
            <a:r>
              <a:rPr dirty="0"/>
              <a:t>Key tasks include:</a:t>
            </a:r>
          </a:p>
          <a:p>
            <a:pPr lvl="1">
              <a:buFont typeface="Courier New" panose="02070309020205020404" pitchFamily="49" charset="0"/>
              <a:buChar char="o"/>
            </a:pPr>
            <a:r>
              <a:rPr dirty="0"/>
              <a:t>Using statistics to explore data</a:t>
            </a:r>
          </a:p>
          <a:p>
            <a:pPr lvl="1">
              <a:buFont typeface="Courier New" panose="02070309020205020404" pitchFamily="49" charset="0"/>
              <a:buChar char="o"/>
            </a:pPr>
            <a:r>
              <a:rPr dirty="0"/>
              <a:t>Visualizing data using graphs and charts</a:t>
            </a:r>
          </a:p>
          <a:p>
            <a:pPr lvl="1">
              <a:buFont typeface="Courier New" panose="02070309020205020404" pitchFamily="49" charset="0"/>
              <a:buChar char="o"/>
            </a:pPr>
            <a:r>
              <a:rPr dirty="0"/>
              <a:t>Identifying trends, correlations, and distributions</a:t>
            </a:r>
          </a:p>
        </p:txBody>
      </p:sp>
      <p:pic>
        <p:nvPicPr>
          <p:cNvPr id="2050" name="Picture 2" descr="Exploratory Data Analysis in Predictive Modeling: Techniques ...">
            <a:extLst>
              <a:ext uri="{FF2B5EF4-FFF2-40B4-BE49-F238E27FC236}">
                <a16:creationId xmlns:a16="http://schemas.microsoft.com/office/drawing/2014/main" id="{93BA42C4-7376-0F51-DAAE-F33061BCBF73}"/>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400801" y="1969054"/>
            <a:ext cx="3484563" cy="38897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DE0EBEB-C865-F4E0-975C-C25C8762904A}"/>
              </a:ext>
            </a:extLst>
          </p:cNvPr>
          <p:cNvSpPr txBox="1"/>
          <p:nvPr/>
        </p:nvSpPr>
        <p:spPr>
          <a:xfrm>
            <a:off x="6942391" y="5863352"/>
            <a:ext cx="6152706" cy="215444"/>
          </a:xfrm>
          <a:prstGeom prst="rect">
            <a:avLst/>
          </a:prstGeom>
          <a:noFill/>
        </p:spPr>
        <p:txBody>
          <a:bodyPr wrap="square">
            <a:spAutoFit/>
          </a:bodyPr>
          <a:lstStyle/>
          <a:p>
            <a:r>
              <a:rPr lang="en-US" sz="800" dirty="0"/>
              <a:t>Image Source: https://</a:t>
            </a:r>
            <a:r>
              <a:rPr lang="en-US" sz="800" dirty="0" err="1"/>
              <a:t>www.markovml.com</a:t>
            </a:r>
            <a:r>
              <a:rPr lang="en-US" sz="800" dirty="0"/>
              <a:t>/blog/exploratory-data-analysis</a:t>
            </a:r>
          </a:p>
        </p:txBody>
      </p:sp>
    </p:spTree>
    <p:extLst>
      <p:ext uri="{BB962C8B-B14F-4D97-AF65-F5344CB8AC3E}">
        <p14:creationId xmlns:p14="http://schemas.microsoft.com/office/powerpoint/2010/main" val="4190671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54EF3"/>
                </a:solidFill>
              </a:rPr>
              <a:t>Review </a:t>
            </a:r>
            <a:br>
              <a:rPr lang="en-US" dirty="0">
                <a:solidFill>
                  <a:srgbClr val="A54EF3"/>
                </a:solidFill>
              </a:rPr>
            </a:br>
            <a:r>
              <a:rPr dirty="0"/>
              <a:t>Statistics</a:t>
            </a:r>
          </a:p>
        </p:txBody>
      </p:sp>
      <p:sp>
        <p:nvSpPr>
          <p:cNvPr id="3" name="Content Placeholder 2"/>
          <p:cNvSpPr>
            <a:spLocks noGrp="1"/>
          </p:cNvSpPr>
          <p:nvPr>
            <p:ph idx="1"/>
          </p:nvPr>
        </p:nvSpPr>
        <p:spPr/>
        <p:txBody>
          <a:bodyPr/>
          <a:lstStyle/>
          <a:p>
            <a:r>
              <a:rPr dirty="0"/>
              <a:t>Statistics is the study of data collection, analysis, interpretation, and presentation.</a:t>
            </a:r>
          </a:p>
          <a:p>
            <a:pPr lvl="1">
              <a:buFont typeface="Wingdings" pitchFamily="2" charset="2"/>
              <a:buChar char="Ø"/>
            </a:pPr>
            <a:r>
              <a:rPr sz="1800" dirty="0"/>
              <a:t>Two types:</a:t>
            </a:r>
          </a:p>
          <a:p>
            <a:pPr lvl="2">
              <a:buFont typeface="Courier New" panose="02070309020205020404" pitchFamily="49" charset="0"/>
              <a:buChar char="o"/>
            </a:pPr>
            <a:r>
              <a:rPr sz="1800" b="1" dirty="0">
                <a:solidFill>
                  <a:srgbClr val="7030A0"/>
                </a:solidFill>
              </a:rPr>
              <a:t>Descriptive: </a:t>
            </a:r>
            <a:r>
              <a:rPr sz="1800" dirty="0"/>
              <a:t>Summarizing data.</a:t>
            </a:r>
          </a:p>
          <a:p>
            <a:pPr lvl="2">
              <a:buFont typeface="Courier New" panose="02070309020205020404" pitchFamily="49" charset="0"/>
              <a:buChar char="o"/>
            </a:pPr>
            <a:r>
              <a:rPr sz="1800" b="1" dirty="0">
                <a:solidFill>
                  <a:srgbClr val="7030A0"/>
                </a:solidFill>
              </a:rPr>
              <a:t>Inferential: </a:t>
            </a:r>
            <a:r>
              <a:rPr sz="1800" dirty="0"/>
              <a:t>Drawing conclusions from data.</a:t>
            </a:r>
          </a:p>
        </p:txBody>
      </p:sp>
    </p:spTree>
    <p:extLst>
      <p:ext uri="{BB962C8B-B14F-4D97-AF65-F5344CB8AC3E}">
        <p14:creationId xmlns:p14="http://schemas.microsoft.com/office/powerpoint/2010/main" val="1600281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54EF3"/>
                </a:solidFill>
              </a:rPr>
              <a:t>Review </a:t>
            </a:r>
            <a:br>
              <a:rPr lang="en-US" dirty="0">
                <a:solidFill>
                  <a:srgbClr val="A54EF3"/>
                </a:solidFill>
              </a:rPr>
            </a:br>
            <a:r>
              <a:rPr dirty="0"/>
              <a:t>Descriptive Statistics</a:t>
            </a:r>
          </a:p>
        </p:txBody>
      </p:sp>
      <p:sp>
        <p:nvSpPr>
          <p:cNvPr id="3" name="Content Placeholder 2"/>
          <p:cNvSpPr>
            <a:spLocks noGrp="1"/>
          </p:cNvSpPr>
          <p:nvPr>
            <p:ph idx="1"/>
          </p:nvPr>
        </p:nvSpPr>
        <p:spPr/>
        <p:txBody>
          <a:bodyPr/>
          <a:lstStyle/>
          <a:p>
            <a:r>
              <a:rPr b="1" dirty="0"/>
              <a:t>Measures of Central Tendency: </a:t>
            </a:r>
            <a:r>
              <a:rPr dirty="0"/>
              <a:t>Mean, Median, Mode.</a:t>
            </a:r>
          </a:p>
          <a:p>
            <a:r>
              <a:rPr b="1" dirty="0"/>
              <a:t>Measures of Spread: </a:t>
            </a:r>
            <a:r>
              <a:rPr dirty="0"/>
              <a:t>Variance, Standard Deviation, Range.</a:t>
            </a:r>
          </a:p>
          <a:p>
            <a:r>
              <a:rPr b="1" dirty="0"/>
              <a:t>Visualization Tools: </a:t>
            </a:r>
            <a:r>
              <a:rPr dirty="0"/>
              <a:t>Histograms, Boxplots</a:t>
            </a:r>
            <a:r>
              <a:rPr lang="en-US" dirty="0"/>
              <a:t>, etc.</a:t>
            </a:r>
            <a:endParaRPr dirty="0"/>
          </a:p>
        </p:txBody>
      </p:sp>
      <p:pic>
        <p:nvPicPr>
          <p:cNvPr id="3074" name="Picture 2">
            <a:extLst>
              <a:ext uri="{FF2B5EF4-FFF2-40B4-BE49-F238E27FC236}">
                <a16:creationId xmlns:a16="http://schemas.microsoft.com/office/drawing/2014/main" id="{D9241EB8-CA1B-1F70-2896-2FBD8C5DA4B3}"/>
              </a:ext>
            </a:extLst>
          </p:cNvPr>
          <p:cNvPicPr>
            <a:picLocks noChangeAspect="1" noChangeArrowheads="1"/>
          </p:cNvPicPr>
          <p:nvPr/>
        </p:nvPicPr>
        <p:blipFill rotWithShape="1">
          <a:blip r:embed="rId3">
            <a:extLst>
              <a:ext uri="{28A0092B-C50C-407E-A947-70E740481C1C}">
                <a14:useLocalDpi xmlns:a14="http://schemas.microsoft.com/office/drawing/2010/main"/>
              </a:ext>
            </a:extLst>
          </a:blip>
          <a:srcRect/>
          <a:stretch/>
        </p:blipFill>
        <p:spPr bwMode="auto">
          <a:xfrm>
            <a:off x="5943601" y="3853017"/>
            <a:ext cx="4500073" cy="175002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A0C51F0-6A16-B1F1-1F27-7575C9A74CEC}"/>
              </a:ext>
            </a:extLst>
          </p:cNvPr>
          <p:cNvSpPr txBox="1"/>
          <p:nvPr/>
        </p:nvSpPr>
        <p:spPr>
          <a:xfrm>
            <a:off x="6248400" y="5495323"/>
            <a:ext cx="4676214" cy="215444"/>
          </a:xfrm>
          <a:prstGeom prst="rect">
            <a:avLst/>
          </a:prstGeom>
          <a:noFill/>
        </p:spPr>
        <p:txBody>
          <a:bodyPr wrap="square">
            <a:spAutoFit/>
          </a:bodyPr>
          <a:lstStyle/>
          <a:p>
            <a:r>
              <a:rPr lang="en-US" sz="800" dirty="0"/>
              <a:t>Image Source: https://</a:t>
            </a:r>
            <a:r>
              <a:rPr lang="en-US" sz="800" dirty="0" err="1"/>
              <a:t>ledidi.com</a:t>
            </a:r>
            <a:r>
              <a:rPr lang="en-US" sz="800" dirty="0"/>
              <a:t>/academy/measures-of-central-tendency-mean-median-and-mode</a:t>
            </a:r>
          </a:p>
        </p:txBody>
      </p:sp>
      <p:pic>
        <p:nvPicPr>
          <p:cNvPr id="3076" name="Picture 4" descr="Mean, Median, and Mode: Measures of Central Tendency - Statistics ...">
            <a:extLst>
              <a:ext uri="{FF2B5EF4-FFF2-40B4-BE49-F238E27FC236}">
                <a16:creationId xmlns:a16="http://schemas.microsoft.com/office/drawing/2014/main" id="{CDD4F4E8-4ED9-E3A4-7376-2F2F0A9A7B1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004525" y="4157470"/>
            <a:ext cx="1855631" cy="123708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Histogram that shows a continuous, skewed distribution. The area of central tendency is circled.">
            <a:extLst>
              <a:ext uri="{FF2B5EF4-FFF2-40B4-BE49-F238E27FC236}">
                <a16:creationId xmlns:a16="http://schemas.microsoft.com/office/drawing/2014/main" id="{980D6128-1031-0D93-3119-38F4467BE19A}"/>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974062" y="4141807"/>
            <a:ext cx="1855632" cy="123708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9ADFE36-5758-A21F-AD10-FFA8C042104D}"/>
              </a:ext>
            </a:extLst>
          </p:cNvPr>
          <p:cNvSpPr txBox="1"/>
          <p:nvPr/>
        </p:nvSpPr>
        <p:spPr>
          <a:xfrm>
            <a:off x="1852758" y="5515670"/>
            <a:ext cx="6152028" cy="215444"/>
          </a:xfrm>
          <a:prstGeom prst="rect">
            <a:avLst/>
          </a:prstGeom>
          <a:noFill/>
        </p:spPr>
        <p:txBody>
          <a:bodyPr wrap="square">
            <a:spAutoFit/>
          </a:bodyPr>
          <a:lstStyle/>
          <a:p>
            <a:r>
              <a:rPr lang="en-US" sz="800" dirty="0"/>
              <a:t>Image Source: https://</a:t>
            </a:r>
            <a:r>
              <a:rPr lang="en-US" sz="800" dirty="0" err="1"/>
              <a:t>statisticsbyjim.com</a:t>
            </a:r>
            <a:r>
              <a:rPr lang="en-US" sz="800" dirty="0"/>
              <a:t>/basics/measures-central-tendency-mean-median-mode/</a:t>
            </a:r>
          </a:p>
        </p:txBody>
      </p:sp>
    </p:spTree>
    <p:extLst>
      <p:ext uri="{BB962C8B-B14F-4D97-AF65-F5344CB8AC3E}">
        <p14:creationId xmlns:p14="http://schemas.microsoft.com/office/powerpoint/2010/main" val="750356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C7F55-A2DE-BFF9-88AD-6B63D4F2D717}"/>
              </a:ext>
            </a:extLst>
          </p:cNvPr>
          <p:cNvSpPr>
            <a:spLocks noGrp="1"/>
          </p:cNvSpPr>
          <p:nvPr>
            <p:ph type="title"/>
          </p:nvPr>
        </p:nvSpPr>
        <p:spPr/>
        <p:txBody>
          <a:bodyPr/>
          <a:lstStyle/>
          <a:p>
            <a:r>
              <a:rPr lang="en-US" dirty="0">
                <a:solidFill>
                  <a:srgbClr val="A54EF3"/>
                </a:solidFill>
              </a:rPr>
              <a:t>Review </a:t>
            </a:r>
            <a:br>
              <a:rPr lang="en-US" dirty="0">
                <a:solidFill>
                  <a:srgbClr val="A54EF3"/>
                </a:solidFill>
              </a:rPr>
            </a:br>
            <a:r>
              <a:rPr lang="en-US" dirty="0"/>
              <a:t>Correlation</a:t>
            </a:r>
          </a:p>
        </p:txBody>
      </p:sp>
      <p:sp>
        <p:nvSpPr>
          <p:cNvPr id="3" name="Content Placeholder 2">
            <a:extLst>
              <a:ext uri="{FF2B5EF4-FFF2-40B4-BE49-F238E27FC236}">
                <a16:creationId xmlns:a16="http://schemas.microsoft.com/office/drawing/2014/main" id="{3FB4972C-2BD3-B750-748E-094CD56C411F}"/>
              </a:ext>
            </a:extLst>
          </p:cNvPr>
          <p:cNvSpPr>
            <a:spLocks noGrp="1"/>
          </p:cNvSpPr>
          <p:nvPr>
            <p:ph idx="1"/>
          </p:nvPr>
        </p:nvSpPr>
        <p:spPr/>
        <p:txBody>
          <a:bodyPr/>
          <a:lstStyle/>
          <a:p>
            <a:r>
              <a:rPr lang="en-US" dirty="0"/>
              <a:t>Correlation is a statistical technique that measures the strength of the relationship between two variables.</a:t>
            </a:r>
          </a:p>
          <a:p>
            <a:r>
              <a:rPr lang="en-US" dirty="0"/>
              <a:t>It is used to understand how one variable may predict or be associated with another. </a:t>
            </a:r>
          </a:p>
        </p:txBody>
      </p:sp>
      <p:sp>
        <p:nvSpPr>
          <p:cNvPr id="4" name="Slide Number Placeholder 3">
            <a:extLst>
              <a:ext uri="{FF2B5EF4-FFF2-40B4-BE49-F238E27FC236}">
                <a16:creationId xmlns:a16="http://schemas.microsoft.com/office/drawing/2014/main" id="{B1CC2085-980A-18D0-3B65-0158C18CECCD}"/>
              </a:ext>
            </a:extLst>
          </p:cNvPr>
          <p:cNvSpPr>
            <a:spLocks noGrp="1"/>
          </p:cNvSpPr>
          <p:nvPr>
            <p:ph type="sldNum" sz="quarter" idx="12"/>
          </p:nvPr>
        </p:nvSpPr>
        <p:spPr/>
        <p:txBody>
          <a:bodyPr/>
          <a:lstStyle/>
          <a:p>
            <a:fld id="{A4DA0FD2-D456-4FC5-A587-87644C4EB2D1}" type="slidenum">
              <a:rPr lang="tr-TR" smtClean="0"/>
              <a:pPr/>
              <a:t>6</a:t>
            </a:fld>
            <a:endParaRPr lang="tr-TR"/>
          </a:p>
        </p:txBody>
      </p:sp>
      <p:pic>
        <p:nvPicPr>
          <p:cNvPr id="5" name="Picture 4" descr="Correlation(s) in Python">
            <a:extLst>
              <a:ext uri="{FF2B5EF4-FFF2-40B4-BE49-F238E27FC236}">
                <a16:creationId xmlns:a16="http://schemas.microsoft.com/office/drawing/2014/main" id="{FBB0E221-828C-5EED-8409-1D99859E54E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781800" y="3365760"/>
            <a:ext cx="2895600" cy="2895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05147435-0766-2B11-0009-912F22FFDEDC}"/>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514600" y="3582102"/>
            <a:ext cx="3697196" cy="2615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4792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40A38-11FF-F3C0-F26A-4CD7A490076B}"/>
              </a:ext>
            </a:extLst>
          </p:cNvPr>
          <p:cNvSpPr>
            <a:spLocks noGrp="1"/>
          </p:cNvSpPr>
          <p:nvPr>
            <p:ph type="title"/>
          </p:nvPr>
        </p:nvSpPr>
        <p:spPr/>
        <p:txBody>
          <a:bodyPr/>
          <a:lstStyle/>
          <a:p>
            <a:r>
              <a:rPr lang="en-US" dirty="0">
                <a:solidFill>
                  <a:srgbClr val="A54EF3"/>
                </a:solidFill>
              </a:rPr>
              <a:t>Review </a:t>
            </a:r>
            <a:br>
              <a:rPr lang="en-US" dirty="0">
                <a:solidFill>
                  <a:srgbClr val="A54EF3"/>
                </a:solidFill>
              </a:rPr>
            </a:br>
            <a:r>
              <a:rPr lang="en-US" dirty="0"/>
              <a:t>Correlation</a:t>
            </a:r>
          </a:p>
        </p:txBody>
      </p:sp>
      <p:sp>
        <p:nvSpPr>
          <p:cNvPr id="3" name="Content Placeholder 2">
            <a:extLst>
              <a:ext uri="{FF2B5EF4-FFF2-40B4-BE49-F238E27FC236}">
                <a16:creationId xmlns:a16="http://schemas.microsoft.com/office/drawing/2014/main" id="{2DD53485-D482-61FF-9FFD-F16E8BA204A4}"/>
              </a:ext>
            </a:extLst>
          </p:cNvPr>
          <p:cNvSpPr>
            <a:spLocks noGrp="1"/>
          </p:cNvSpPr>
          <p:nvPr>
            <p:ph idx="1"/>
          </p:nvPr>
        </p:nvSpPr>
        <p:spPr/>
        <p:txBody>
          <a:bodyPr>
            <a:normAutofit lnSpcReduction="10000"/>
          </a:bodyPr>
          <a:lstStyle/>
          <a:p>
            <a:pPr marL="0" indent="0">
              <a:buNone/>
            </a:pPr>
            <a:r>
              <a:rPr lang="en-US" b="1" dirty="0">
                <a:solidFill>
                  <a:srgbClr val="7030A0"/>
                </a:solidFill>
              </a:rPr>
              <a:t>Direction of Relationship:</a:t>
            </a:r>
          </a:p>
          <a:p>
            <a:pPr lvl="1">
              <a:buFont typeface="Courier New" panose="02070309020205020404" pitchFamily="49" charset="0"/>
              <a:buChar char="o"/>
            </a:pPr>
            <a:r>
              <a:rPr lang="en-US" b="1" dirty="0"/>
              <a:t>Positive Correlation: </a:t>
            </a:r>
            <a:r>
              <a:rPr lang="en-US" dirty="0"/>
              <a:t>When one variable increases, the other variable tends to increase as well. </a:t>
            </a:r>
          </a:p>
          <a:p>
            <a:pPr lvl="1">
              <a:buFont typeface="Courier New" panose="02070309020205020404" pitchFamily="49" charset="0"/>
              <a:buChar char="o"/>
            </a:pPr>
            <a:r>
              <a:rPr lang="en-US" b="1" dirty="0"/>
              <a:t>Negative Correlation: </a:t>
            </a:r>
            <a:r>
              <a:rPr lang="en-US" dirty="0"/>
              <a:t>When one variable increases, the other variable tends to decrease. </a:t>
            </a:r>
          </a:p>
          <a:p>
            <a:pPr marL="0" indent="0">
              <a:buNone/>
            </a:pPr>
            <a:endParaRPr lang="en-US" b="1" dirty="0">
              <a:solidFill>
                <a:srgbClr val="7030A0"/>
              </a:solidFill>
            </a:endParaRPr>
          </a:p>
          <a:p>
            <a:pPr marL="0" indent="0">
              <a:buNone/>
            </a:pPr>
            <a:r>
              <a:rPr lang="en-US" b="1" dirty="0">
                <a:solidFill>
                  <a:srgbClr val="7030A0"/>
                </a:solidFill>
              </a:rPr>
              <a:t>Strength of Relationship: </a:t>
            </a:r>
          </a:p>
          <a:p>
            <a:r>
              <a:rPr lang="en-US" dirty="0"/>
              <a:t>The correlation coefficient (usually denoted as "r") measures the strength of the relationship between the variables. It ranges from -1 to +1, where:</a:t>
            </a:r>
          </a:p>
          <a:p>
            <a:pPr lvl="1">
              <a:buFont typeface="Courier New" panose="02070309020205020404" pitchFamily="49" charset="0"/>
              <a:buChar char="o"/>
            </a:pPr>
            <a:r>
              <a:rPr lang="en-US" dirty="0">
                <a:solidFill>
                  <a:srgbClr val="7030A0"/>
                </a:solidFill>
              </a:rPr>
              <a:t>+1 indicates a perfect positive correlation.</a:t>
            </a:r>
          </a:p>
          <a:p>
            <a:pPr lvl="1">
              <a:buFont typeface="Courier New" panose="02070309020205020404" pitchFamily="49" charset="0"/>
              <a:buChar char="o"/>
            </a:pPr>
            <a:r>
              <a:rPr lang="en-US" dirty="0">
                <a:solidFill>
                  <a:srgbClr val="7030A0"/>
                </a:solidFill>
              </a:rPr>
              <a:t>0 indicates no correlation.</a:t>
            </a:r>
          </a:p>
          <a:p>
            <a:pPr lvl="1">
              <a:buFont typeface="Courier New" panose="02070309020205020404" pitchFamily="49" charset="0"/>
              <a:buChar char="o"/>
            </a:pPr>
            <a:r>
              <a:rPr lang="en-US" dirty="0">
                <a:solidFill>
                  <a:srgbClr val="7030A0"/>
                </a:solidFill>
              </a:rPr>
              <a:t>-1 indicates a perfect negative correlation.</a:t>
            </a:r>
          </a:p>
        </p:txBody>
      </p:sp>
      <p:sp>
        <p:nvSpPr>
          <p:cNvPr id="4" name="Slide Number Placeholder 3">
            <a:extLst>
              <a:ext uri="{FF2B5EF4-FFF2-40B4-BE49-F238E27FC236}">
                <a16:creationId xmlns:a16="http://schemas.microsoft.com/office/drawing/2014/main" id="{42F42C78-BE64-F854-7590-1E377048317C}"/>
              </a:ext>
            </a:extLst>
          </p:cNvPr>
          <p:cNvSpPr>
            <a:spLocks noGrp="1"/>
          </p:cNvSpPr>
          <p:nvPr>
            <p:ph type="sldNum" sz="quarter" idx="12"/>
          </p:nvPr>
        </p:nvSpPr>
        <p:spPr/>
        <p:txBody>
          <a:bodyPr/>
          <a:lstStyle/>
          <a:p>
            <a:fld id="{A4DA0FD2-D456-4FC5-A587-87644C4EB2D1}" type="slidenum">
              <a:rPr lang="tr-TR" smtClean="0"/>
              <a:pPr/>
              <a:t>7</a:t>
            </a:fld>
            <a:endParaRPr lang="tr-TR"/>
          </a:p>
        </p:txBody>
      </p:sp>
    </p:spTree>
    <p:extLst>
      <p:ext uri="{BB962C8B-B14F-4D97-AF65-F5344CB8AC3E}">
        <p14:creationId xmlns:p14="http://schemas.microsoft.com/office/powerpoint/2010/main" val="2071160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FD2BD-AA99-BA1B-26D6-DE6AAD464DE6}"/>
              </a:ext>
            </a:extLst>
          </p:cNvPr>
          <p:cNvSpPr>
            <a:spLocks noGrp="1"/>
          </p:cNvSpPr>
          <p:nvPr>
            <p:ph type="title"/>
          </p:nvPr>
        </p:nvSpPr>
        <p:spPr/>
        <p:txBody>
          <a:bodyPr/>
          <a:lstStyle/>
          <a:p>
            <a:r>
              <a:rPr lang="en-US" dirty="0">
                <a:solidFill>
                  <a:srgbClr val="A54EF3"/>
                </a:solidFill>
              </a:rPr>
              <a:t>Review </a:t>
            </a:r>
            <a:br>
              <a:rPr lang="en-US" dirty="0">
                <a:solidFill>
                  <a:srgbClr val="A54EF3"/>
                </a:solidFill>
              </a:rPr>
            </a:br>
            <a:r>
              <a:rPr lang="en-US" dirty="0"/>
              <a:t>Correlation</a:t>
            </a:r>
          </a:p>
        </p:txBody>
      </p:sp>
      <p:sp>
        <p:nvSpPr>
          <p:cNvPr id="3" name="Content Placeholder 2">
            <a:extLst>
              <a:ext uri="{FF2B5EF4-FFF2-40B4-BE49-F238E27FC236}">
                <a16:creationId xmlns:a16="http://schemas.microsoft.com/office/drawing/2014/main" id="{DD39E0B9-CA8F-C9DC-60C5-AC55346C3402}"/>
              </a:ext>
            </a:extLst>
          </p:cNvPr>
          <p:cNvSpPr>
            <a:spLocks noGrp="1"/>
          </p:cNvSpPr>
          <p:nvPr>
            <p:ph idx="1"/>
          </p:nvPr>
        </p:nvSpPr>
        <p:spPr/>
        <p:txBody>
          <a:bodyPr/>
          <a:lstStyle/>
          <a:p>
            <a:pPr marL="0" indent="0">
              <a:buNone/>
            </a:pPr>
            <a:r>
              <a:rPr lang="en-US" b="1" dirty="0">
                <a:solidFill>
                  <a:srgbClr val="7030A0"/>
                </a:solidFill>
              </a:rPr>
              <a:t>NOTE:</a:t>
            </a:r>
          </a:p>
          <a:p>
            <a:pPr marL="0" indent="0">
              <a:buNone/>
            </a:pPr>
            <a:r>
              <a:rPr lang="en-US" sz="2200" b="1" dirty="0">
                <a:solidFill>
                  <a:srgbClr val="7030A0"/>
                </a:solidFill>
              </a:rPr>
              <a:t>Causation is Not Correlation: </a:t>
            </a:r>
            <a:r>
              <a:rPr lang="en-US" dirty="0"/>
              <a:t>A crucial aspect of correlation is that it does not imply causation. </a:t>
            </a:r>
          </a:p>
          <a:p>
            <a:pPr marL="0" indent="0">
              <a:buNone/>
            </a:pPr>
            <a:endParaRPr lang="en-US" dirty="0"/>
          </a:p>
          <a:p>
            <a:pPr marL="0" indent="0">
              <a:buNone/>
            </a:pPr>
            <a:r>
              <a:rPr lang="en-US" dirty="0">
                <a:solidFill>
                  <a:srgbClr val="7030A0"/>
                </a:solidFill>
              </a:rPr>
              <a:t>Two variables may be correlated without one causing the other. They could be influenced by a third factor, or the correlation might be coincidental.</a:t>
            </a:r>
          </a:p>
        </p:txBody>
      </p:sp>
      <p:sp>
        <p:nvSpPr>
          <p:cNvPr id="4" name="Slide Number Placeholder 3">
            <a:extLst>
              <a:ext uri="{FF2B5EF4-FFF2-40B4-BE49-F238E27FC236}">
                <a16:creationId xmlns:a16="http://schemas.microsoft.com/office/drawing/2014/main" id="{608CE868-09BE-AB50-49AA-CFD4300F0FBC}"/>
              </a:ext>
            </a:extLst>
          </p:cNvPr>
          <p:cNvSpPr>
            <a:spLocks noGrp="1"/>
          </p:cNvSpPr>
          <p:nvPr>
            <p:ph type="sldNum" sz="quarter" idx="12"/>
          </p:nvPr>
        </p:nvSpPr>
        <p:spPr/>
        <p:txBody>
          <a:bodyPr/>
          <a:lstStyle/>
          <a:p>
            <a:fld id="{A4DA0FD2-D456-4FC5-A587-87644C4EB2D1}" type="slidenum">
              <a:rPr lang="tr-TR" smtClean="0"/>
              <a:pPr/>
              <a:t>8</a:t>
            </a:fld>
            <a:endParaRPr lang="tr-TR"/>
          </a:p>
        </p:txBody>
      </p:sp>
    </p:spTree>
    <p:extLst>
      <p:ext uri="{BB962C8B-B14F-4D97-AF65-F5344CB8AC3E}">
        <p14:creationId xmlns:p14="http://schemas.microsoft.com/office/powerpoint/2010/main" val="3580625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Probability</a:t>
            </a:r>
          </a:p>
        </p:txBody>
      </p:sp>
      <p:sp>
        <p:nvSpPr>
          <p:cNvPr id="3" name="Content Placeholder 2"/>
          <p:cNvSpPr>
            <a:spLocks noGrp="1"/>
          </p:cNvSpPr>
          <p:nvPr>
            <p:ph idx="1"/>
          </p:nvPr>
        </p:nvSpPr>
        <p:spPr/>
        <p:txBody>
          <a:bodyPr/>
          <a:lstStyle/>
          <a:p>
            <a:r>
              <a:rPr lang="en-US" dirty="0"/>
              <a:t>Probability is a measure of the likelihood that an event will occur. </a:t>
            </a:r>
          </a:p>
        </p:txBody>
      </p:sp>
      <p:pic>
        <p:nvPicPr>
          <p:cNvPr id="1026" name="Picture 2" descr="undefined">
            <a:extLst>
              <a:ext uri="{FF2B5EF4-FFF2-40B4-BE49-F238E27FC236}">
                <a16:creationId xmlns:a16="http://schemas.microsoft.com/office/drawing/2014/main" id="{72D4B83A-A236-2F44-3D01-B8315FF24356}"/>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181600" y="3292124"/>
            <a:ext cx="4191000" cy="287840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833C77D-C02F-AE9C-66B5-9793E301D7FA}"/>
              </a:ext>
            </a:extLst>
          </p:cNvPr>
          <p:cNvSpPr txBox="1"/>
          <p:nvPr/>
        </p:nvSpPr>
        <p:spPr>
          <a:xfrm>
            <a:off x="5764306" y="6170527"/>
            <a:ext cx="3962400" cy="246221"/>
          </a:xfrm>
          <a:prstGeom prst="rect">
            <a:avLst/>
          </a:prstGeom>
          <a:noFill/>
        </p:spPr>
        <p:txBody>
          <a:bodyPr wrap="square">
            <a:spAutoFit/>
          </a:bodyPr>
          <a:lstStyle/>
          <a:p>
            <a:r>
              <a:rPr lang="en-US" sz="1000" dirty="0"/>
              <a:t>Source: https://</a:t>
            </a:r>
            <a:r>
              <a:rPr lang="en-US" sz="1000" dirty="0" err="1"/>
              <a:t>en.wikipedia.org</a:t>
            </a:r>
            <a:r>
              <a:rPr lang="en-US" sz="1000" dirty="0"/>
              <a:t>/wiki/</a:t>
            </a:r>
            <a:r>
              <a:rPr lang="en-US" sz="1000" dirty="0" err="1"/>
              <a:t>Tree_diagram</a:t>
            </a:r>
            <a:r>
              <a:rPr lang="en-US" sz="1000" dirty="0"/>
              <a:t>_(</a:t>
            </a:r>
            <a:r>
              <a:rPr lang="en-US" sz="1000" dirty="0" err="1"/>
              <a:t>probability_theory</a:t>
            </a:r>
            <a:r>
              <a:rPr lang="en-US" sz="10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266D8-A129-2ACE-DA39-D3FC8E53BA09}"/>
              </a:ext>
            </a:extLst>
          </p:cNvPr>
          <p:cNvSpPr>
            <a:spLocks noGrp="1"/>
          </p:cNvSpPr>
          <p:nvPr>
            <p:ph type="title"/>
          </p:nvPr>
        </p:nvSpPr>
        <p:spPr/>
        <p:txBody>
          <a:bodyPr/>
          <a:lstStyle/>
          <a:p>
            <a:r>
              <a:rPr lang="en-US" dirty="0"/>
              <a:t>Why Are Probability Important?</a:t>
            </a:r>
          </a:p>
        </p:txBody>
      </p:sp>
      <p:sp>
        <p:nvSpPr>
          <p:cNvPr id="3" name="Content Placeholder 2">
            <a:extLst>
              <a:ext uri="{FF2B5EF4-FFF2-40B4-BE49-F238E27FC236}">
                <a16:creationId xmlns:a16="http://schemas.microsoft.com/office/drawing/2014/main" id="{25DCC247-B1C9-E4DE-BB2E-41B485540DD8}"/>
              </a:ext>
            </a:extLst>
          </p:cNvPr>
          <p:cNvSpPr>
            <a:spLocks noGrp="1"/>
          </p:cNvSpPr>
          <p:nvPr>
            <p:ph idx="1"/>
          </p:nvPr>
        </p:nvSpPr>
        <p:spPr/>
        <p:txBody>
          <a:bodyPr/>
          <a:lstStyle/>
          <a:p>
            <a:r>
              <a:rPr lang="en-US" dirty="0"/>
              <a:t>Applications in Data Science: Gives us the mathematical tools for</a:t>
            </a:r>
          </a:p>
          <a:p>
            <a:pPr lvl="1">
              <a:buFont typeface="Courier New" panose="02070309020205020404" pitchFamily="49" charset="0"/>
              <a:buChar char="o"/>
            </a:pPr>
            <a:r>
              <a:rPr lang="en-US" dirty="0"/>
              <a:t>Calculating the likelihood of different outcomes.</a:t>
            </a:r>
          </a:p>
          <a:p>
            <a:pPr lvl="1">
              <a:buFont typeface="Courier New" panose="02070309020205020404" pitchFamily="49" charset="0"/>
              <a:buChar char="o"/>
            </a:pPr>
            <a:r>
              <a:rPr lang="en-US" dirty="0"/>
              <a:t>Quantifying uncertainty.</a:t>
            </a:r>
          </a:p>
          <a:p>
            <a:pPr lvl="1">
              <a:buFont typeface="Courier New" panose="02070309020205020404" pitchFamily="49" charset="0"/>
              <a:buChar char="o"/>
            </a:pPr>
            <a:r>
              <a:rPr lang="en-US" dirty="0"/>
              <a:t>Hypothesis testing.</a:t>
            </a:r>
          </a:p>
          <a:p>
            <a:pPr lvl="1">
              <a:buFont typeface="Courier New" panose="02070309020205020404" pitchFamily="49" charset="0"/>
              <a:buChar char="o"/>
            </a:pPr>
            <a:r>
              <a:rPr lang="en-US" dirty="0"/>
              <a:t>Predictive analytics.</a:t>
            </a:r>
          </a:p>
          <a:p>
            <a:pPr lvl="1">
              <a:buFont typeface="Courier New" panose="02070309020205020404" pitchFamily="49" charset="0"/>
              <a:buChar char="o"/>
            </a:pPr>
            <a:r>
              <a:rPr lang="en-US" dirty="0"/>
              <a:t>Machine learning algorithms.</a:t>
            </a:r>
          </a:p>
          <a:p>
            <a:endParaRPr lang="en-US" dirty="0"/>
          </a:p>
        </p:txBody>
      </p:sp>
      <p:sp>
        <p:nvSpPr>
          <p:cNvPr id="4" name="Slide Number Placeholder 3">
            <a:extLst>
              <a:ext uri="{FF2B5EF4-FFF2-40B4-BE49-F238E27FC236}">
                <a16:creationId xmlns:a16="http://schemas.microsoft.com/office/drawing/2014/main" id="{12431E9F-7584-048D-288E-A72F409BB5BC}"/>
              </a:ext>
            </a:extLst>
          </p:cNvPr>
          <p:cNvSpPr>
            <a:spLocks noGrp="1"/>
          </p:cNvSpPr>
          <p:nvPr>
            <p:ph type="sldNum" sz="quarter" idx="12"/>
          </p:nvPr>
        </p:nvSpPr>
        <p:spPr/>
        <p:txBody>
          <a:bodyPr/>
          <a:lstStyle/>
          <a:p>
            <a:fld id="{A4DA0FD2-D456-4FC5-A587-87644C4EB2D1}" type="slidenum">
              <a:rPr lang="tr-TR" smtClean="0"/>
              <a:pPr/>
              <a:t>10</a:t>
            </a:fld>
            <a:endParaRPr lang="tr-TR"/>
          </a:p>
        </p:txBody>
      </p:sp>
    </p:spTree>
    <p:extLst>
      <p:ext uri="{BB962C8B-B14F-4D97-AF65-F5344CB8AC3E}">
        <p14:creationId xmlns:p14="http://schemas.microsoft.com/office/powerpoint/2010/main" val="3844606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Probability</a:t>
            </a:r>
          </a:p>
        </p:txBody>
      </p:sp>
      <p:sp>
        <p:nvSpPr>
          <p:cNvPr id="3" name="Content Placeholder 2"/>
          <p:cNvSpPr>
            <a:spLocks noGrp="1"/>
          </p:cNvSpPr>
          <p:nvPr>
            <p:ph idx="1"/>
          </p:nvPr>
        </p:nvSpPr>
        <p:spPr/>
        <p:txBody>
          <a:bodyPr/>
          <a:lstStyle/>
          <a:p>
            <a:r>
              <a:rPr dirty="0"/>
              <a:t>Key terms include:</a:t>
            </a:r>
          </a:p>
          <a:p>
            <a:pPr lvl="1">
              <a:buFont typeface="Courier New" panose="02070309020205020404" pitchFamily="49" charset="0"/>
              <a:buChar char="o"/>
            </a:pPr>
            <a:r>
              <a:rPr b="1" dirty="0"/>
              <a:t>Experiment: </a:t>
            </a:r>
            <a:r>
              <a:rPr dirty="0"/>
              <a:t>A process leading to an outcome.</a:t>
            </a:r>
          </a:p>
          <a:p>
            <a:pPr lvl="1">
              <a:buFont typeface="Courier New" panose="02070309020205020404" pitchFamily="49" charset="0"/>
              <a:buChar char="o"/>
            </a:pPr>
            <a:r>
              <a:rPr b="1" dirty="0"/>
              <a:t>Event: </a:t>
            </a:r>
            <a:r>
              <a:rPr dirty="0"/>
              <a:t>A specific outcome or set of outcomes.</a:t>
            </a:r>
          </a:p>
          <a:p>
            <a:pPr lvl="1">
              <a:buFont typeface="Courier New" panose="02070309020205020404" pitchFamily="49" charset="0"/>
              <a:buChar char="o"/>
            </a:pPr>
            <a:r>
              <a:rPr b="1" dirty="0"/>
              <a:t>Probability: </a:t>
            </a:r>
            <a:r>
              <a:rPr dirty="0"/>
              <a:t>A number </a:t>
            </a:r>
            <a:r>
              <a:rPr dirty="0">
                <a:solidFill>
                  <a:srgbClr val="7030A0"/>
                </a:solidFill>
              </a:rPr>
              <a:t>between 0 and 1 </a:t>
            </a:r>
            <a:r>
              <a:rPr dirty="0"/>
              <a:t>representing the likelihood of an event.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Conditional Probability</a:t>
            </a:r>
          </a:p>
        </p:txBody>
      </p:sp>
      <p:sp>
        <p:nvSpPr>
          <p:cNvPr id="3" name="Content Placeholder 2"/>
          <p:cNvSpPr>
            <a:spLocks noGrp="1"/>
          </p:cNvSpPr>
          <p:nvPr>
            <p:ph idx="1"/>
          </p:nvPr>
        </p:nvSpPr>
        <p:spPr/>
        <p:txBody>
          <a:bodyPr/>
          <a:lstStyle/>
          <a:p>
            <a:r>
              <a:rPr dirty="0"/>
              <a:t>Conditional probability measures the probability of an event occurring given that another event has already occurred.</a:t>
            </a:r>
          </a:p>
          <a:p>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dirty="0"/>
              <a:t>Learning Associations</a:t>
            </a:r>
          </a:p>
        </p:txBody>
      </p:sp>
      <p:sp>
        <p:nvSpPr>
          <p:cNvPr id="87043" name="Rectangle 3"/>
          <p:cNvSpPr>
            <a:spLocks noGrp="1" noChangeArrowheads="1"/>
          </p:cNvSpPr>
          <p:nvPr>
            <p:ph idx="1"/>
          </p:nvPr>
        </p:nvSpPr>
        <p:spPr/>
        <p:txBody>
          <a:bodyPr>
            <a:normAutofit/>
          </a:bodyPr>
          <a:lstStyle/>
          <a:p>
            <a:r>
              <a:rPr lang="en-US" b="1" dirty="0">
                <a:solidFill>
                  <a:srgbClr val="7030A0"/>
                </a:solidFill>
              </a:rPr>
              <a:t>Association rule </a:t>
            </a:r>
          </a:p>
          <a:p>
            <a:pPr>
              <a:buFont typeface="Wingdings" pitchFamily="2" charset="2"/>
              <a:buNone/>
            </a:pPr>
            <a:r>
              <a:rPr lang="en-US" b="1" dirty="0">
                <a:solidFill>
                  <a:srgbClr val="7030A0"/>
                </a:solidFill>
              </a:rPr>
              <a:t>	</a:t>
            </a:r>
            <a:r>
              <a:rPr lang="en-US" b="1" i="1" dirty="0">
                <a:solidFill>
                  <a:srgbClr val="7030A0"/>
                </a:solidFill>
              </a:rPr>
              <a:t>P </a:t>
            </a:r>
            <a:r>
              <a:rPr lang="en-US" b="1" dirty="0">
                <a:solidFill>
                  <a:srgbClr val="7030A0"/>
                </a:solidFill>
              </a:rPr>
              <a:t>(</a:t>
            </a:r>
            <a:r>
              <a:rPr lang="en-US" b="1" i="1" dirty="0">
                <a:solidFill>
                  <a:srgbClr val="7030A0"/>
                </a:solidFill>
              </a:rPr>
              <a:t>Y </a:t>
            </a:r>
            <a:r>
              <a:rPr lang="en-US" b="1" dirty="0">
                <a:solidFill>
                  <a:srgbClr val="7030A0"/>
                </a:solidFill>
              </a:rPr>
              <a:t>| </a:t>
            </a:r>
            <a:r>
              <a:rPr lang="en-US" b="1" i="1" dirty="0">
                <a:solidFill>
                  <a:srgbClr val="7030A0"/>
                </a:solidFill>
              </a:rPr>
              <a:t>X </a:t>
            </a:r>
            <a:r>
              <a:rPr lang="en-US" b="1" dirty="0">
                <a:solidFill>
                  <a:srgbClr val="7030A0"/>
                </a:solidFill>
              </a:rPr>
              <a:t>) </a:t>
            </a:r>
            <a:r>
              <a:rPr lang="en-US" dirty="0"/>
              <a:t>the probability of event Y given event X</a:t>
            </a:r>
          </a:p>
          <a:p>
            <a:pPr lvl="1">
              <a:buNone/>
            </a:pPr>
            <a:r>
              <a:rPr lang="en-US" b="1" dirty="0"/>
              <a:t>Conditional probability </a:t>
            </a:r>
          </a:p>
          <a:p>
            <a:pPr>
              <a:buFont typeface="Wingdings" pitchFamily="2" charset="2"/>
              <a:buNone/>
            </a:pPr>
            <a:endParaRPr lang="en-US" dirty="0"/>
          </a:p>
          <a:p>
            <a:pPr>
              <a:buFont typeface="Wingdings" pitchFamily="2" charset="2"/>
              <a:buNone/>
            </a:pPr>
            <a:endParaRPr lang="en-US" b="1" dirty="0"/>
          </a:p>
          <a:p>
            <a:pPr>
              <a:buFont typeface="Wingdings" pitchFamily="2" charset="2"/>
              <a:buNone/>
            </a:pPr>
            <a:r>
              <a:rPr lang="en-US" b="1" dirty="0"/>
              <a:t>Example in Retail: </a:t>
            </a:r>
          </a:p>
          <a:p>
            <a:pPr>
              <a:buNone/>
            </a:pPr>
            <a:r>
              <a:rPr lang="en-US" b="1" dirty="0"/>
              <a:t>Basket analysis:</a:t>
            </a:r>
          </a:p>
          <a:p>
            <a:pPr>
              <a:buNone/>
            </a:pPr>
            <a:r>
              <a:rPr lang="en-US" dirty="0"/>
              <a:t>Probability that somebody who buys </a:t>
            </a:r>
            <a:r>
              <a:rPr lang="en-US" i="1" dirty="0"/>
              <a:t>X</a:t>
            </a:r>
            <a:r>
              <a:rPr lang="en-US" dirty="0"/>
              <a:t> also buys </a:t>
            </a:r>
            <a:r>
              <a:rPr lang="en-US" i="1" dirty="0"/>
              <a:t>Y </a:t>
            </a:r>
            <a:r>
              <a:rPr lang="en-US" dirty="0"/>
              <a:t>where </a:t>
            </a:r>
            <a:r>
              <a:rPr lang="en-US" i="1" dirty="0"/>
              <a:t>X</a:t>
            </a:r>
            <a:r>
              <a:rPr lang="en-US" dirty="0"/>
              <a:t> and </a:t>
            </a:r>
            <a:r>
              <a:rPr lang="en-US" i="1" dirty="0"/>
              <a:t>Y</a:t>
            </a:r>
            <a:r>
              <a:rPr lang="en-US" dirty="0"/>
              <a:t> are products/services.</a:t>
            </a:r>
          </a:p>
          <a:p>
            <a:pPr>
              <a:buFont typeface="Wingdings" pitchFamily="2" charset="2"/>
              <a:buNone/>
            </a:pPr>
            <a:r>
              <a:rPr lang="en-US" i="1" dirty="0"/>
              <a:t>P </a:t>
            </a:r>
            <a:r>
              <a:rPr lang="en-US" dirty="0"/>
              <a:t>( chips | beer )</a:t>
            </a:r>
          </a:p>
        </p:txBody>
      </p:sp>
      <p:sp>
        <p:nvSpPr>
          <p:cNvPr id="9" name="Slide Number Placeholder 8"/>
          <p:cNvSpPr>
            <a:spLocks noGrp="1"/>
          </p:cNvSpPr>
          <p:nvPr>
            <p:ph type="sldNum" sz="quarter" idx="12"/>
          </p:nvPr>
        </p:nvSpPr>
        <p:spPr/>
        <p:txBody>
          <a:bodyPr>
            <a:normAutofit/>
          </a:bodyPr>
          <a:lstStyle/>
          <a:p>
            <a:fld id="{6DF4C409-C017-451C-B236-E185BBA6E0E4}" type="slidenum">
              <a:rPr lang="tr-TR" smtClean="0"/>
              <a:pPr/>
              <a:t>13</a:t>
            </a:fld>
            <a:endParaRPr lang="tr-TR"/>
          </a:p>
        </p:txBody>
      </p:sp>
    </p:spTree>
    <p:extLst>
      <p:ext uri="{BB962C8B-B14F-4D97-AF65-F5344CB8AC3E}">
        <p14:creationId xmlns:p14="http://schemas.microsoft.com/office/powerpoint/2010/main" val="3690243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Random Variables</a:t>
            </a:r>
          </a:p>
        </p:txBody>
      </p:sp>
      <p:sp>
        <p:nvSpPr>
          <p:cNvPr id="3" name="Content Placeholder 2"/>
          <p:cNvSpPr>
            <a:spLocks noGrp="1"/>
          </p:cNvSpPr>
          <p:nvPr>
            <p:ph idx="1"/>
          </p:nvPr>
        </p:nvSpPr>
        <p:spPr/>
        <p:txBody>
          <a:bodyPr/>
          <a:lstStyle/>
          <a:p>
            <a:r>
              <a:rPr dirty="0"/>
              <a:t>A random variable is a variable whose possible values are numerical outcomes of a random phenomenon.</a:t>
            </a:r>
          </a:p>
          <a:p>
            <a:endParaRPr dirty="0"/>
          </a:p>
          <a:p>
            <a:r>
              <a:rPr dirty="0"/>
              <a:t>There are two types:</a:t>
            </a:r>
          </a:p>
          <a:p>
            <a:pPr lvl="1">
              <a:buFont typeface="Courier New" panose="02070309020205020404" pitchFamily="49" charset="0"/>
              <a:buChar char="o"/>
            </a:pPr>
            <a:r>
              <a:rPr b="1" dirty="0">
                <a:solidFill>
                  <a:srgbClr val="7030A0"/>
                </a:solidFill>
              </a:rPr>
              <a:t>Continuous random variables: </a:t>
            </a:r>
            <a:r>
              <a:rPr dirty="0"/>
              <a:t>Take any value within a range (e.g., height, temperature).</a:t>
            </a:r>
            <a:endParaRPr lang="en-US" dirty="0"/>
          </a:p>
          <a:p>
            <a:pPr lvl="1">
              <a:buFont typeface="Courier New" panose="02070309020205020404" pitchFamily="49" charset="0"/>
              <a:buChar char="o"/>
            </a:pPr>
            <a:r>
              <a:rPr lang="en-US" b="1" dirty="0">
                <a:solidFill>
                  <a:srgbClr val="7030A0"/>
                </a:solidFill>
              </a:rPr>
              <a:t>Discrete random variables: </a:t>
            </a:r>
            <a:r>
              <a:rPr lang="en-US" dirty="0"/>
              <a:t>Take specific values (e.g., rolling a dice).</a:t>
            </a:r>
          </a:p>
          <a:p>
            <a:pPr lvl="1">
              <a:buFont typeface="Courier New" panose="02070309020205020404" pitchFamily="49" charset="0"/>
              <a:buChar char="o"/>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Probability Distributions</a:t>
            </a:r>
          </a:p>
        </p:txBody>
      </p:sp>
      <p:sp>
        <p:nvSpPr>
          <p:cNvPr id="3" name="Content Placeholder 2"/>
          <p:cNvSpPr>
            <a:spLocks noGrp="1"/>
          </p:cNvSpPr>
          <p:nvPr>
            <p:ph idx="1"/>
          </p:nvPr>
        </p:nvSpPr>
        <p:spPr>
          <a:xfrm>
            <a:off x="2105192" y="2228004"/>
            <a:ext cx="4600408" cy="3630795"/>
          </a:xfrm>
        </p:spPr>
        <p:txBody>
          <a:bodyPr>
            <a:normAutofit/>
          </a:bodyPr>
          <a:lstStyle/>
          <a:p>
            <a:r>
              <a:rPr dirty="0"/>
              <a:t>Probability distributions describe how the probabilities are distributed over the values of the random variable.</a:t>
            </a:r>
          </a:p>
        </p:txBody>
      </p:sp>
      <p:sp>
        <p:nvSpPr>
          <p:cNvPr id="6" name="TextBox 5">
            <a:extLst>
              <a:ext uri="{FF2B5EF4-FFF2-40B4-BE49-F238E27FC236}">
                <a16:creationId xmlns:a16="http://schemas.microsoft.com/office/drawing/2014/main" id="{108FF3CB-703F-1446-50A8-64E624953C9D}"/>
              </a:ext>
            </a:extLst>
          </p:cNvPr>
          <p:cNvSpPr txBox="1"/>
          <p:nvPr/>
        </p:nvSpPr>
        <p:spPr>
          <a:xfrm>
            <a:off x="7239000" y="2830039"/>
            <a:ext cx="2855944" cy="461665"/>
          </a:xfrm>
          <a:prstGeom prst="rect">
            <a:avLst/>
          </a:prstGeom>
          <a:noFill/>
        </p:spPr>
        <p:txBody>
          <a:bodyPr wrap="square" rtlCol="0">
            <a:spAutoFit/>
          </a:bodyPr>
          <a:lstStyle/>
          <a:p>
            <a:r>
              <a:rPr lang="en-US" sz="800" dirty="0"/>
              <a:t>The probability density function (pdf) of the normal distribution, also called Gaussian or "bell curve", the most important absolutely continuous random distribution. </a:t>
            </a:r>
          </a:p>
        </p:txBody>
      </p:sp>
      <p:sp>
        <p:nvSpPr>
          <p:cNvPr id="13" name="AutoShape 11" descr="{\displaystyle p(S)}">
            <a:extLst>
              <a:ext uri="{FF2B5EF4-FFF2-40B4-BE49-F238E27FC236}">
                <a16:creationId xmlns:a16="http://schemas.microsoft.com/office/drawing/2014/main" id="{E096CDFF-7EE2-5DFF-1EA9-608BF56FC6D2}"/>
              </a:ext>
            </a:extLst>
          </p:cNvPr>
          <p:cNvSpPr>
            <a:spLocks noChangeAspect="1" noChangeArrowheads="1"/>
          </p:cNvSpPr>
          <p:nvPr/>
        </p:nvSpPr>
        <p:spPr bwMode="auto">
          <a:xfrm>
            <a:off x="36036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2" descr="{\displaystyle S}">
            <a:extLst>
              <a:ext uri="{FF2B5EF4-FFF2-40B4-BE49-F238E27FC236}">
                <a16:creationId xmlns:a16="http://schemas.microsoft.com/office/drawing/2014/main" id="{86609EDD-530A-F964-E0FE-42783721F8D9}"/>
              </a:ext>
            </a:extLst>
          </p:cNvPr>
          <p:cNvSpPr>
            <a:spLocks noChangeAspect="1" noChangeArrowheads="1"/>
          </p:cNvSpPr>
          <p:nvPr/>
        </p:nvSpPr>
        <p:spPr bwMode="auto">
          <a:xfrm>
            <a:off x="67024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3" descr="{\displaystyle p(11)=2/36=1/18}">
            <a:extLst>
              <a:ext uri="{FF2B5EF4-FFF2-40B4-BE49-F238E27FC236}">
                <a16:creationId xmlns:a16="http://schemas.microsoft.com/office/drawing/2014/main" id="{686560F2-86DA-247D-8224-DA0A175BD40B}"/>
              </a:ext>
            </a:extLst>
          </p:cNvPr>
          <p:cNvSpPr>
            <a:spLocks noChangeAspect="1" noChangeArrowheads="1"/>
          </p:cNvSpPr>
          <p:nvPr/>
        </p:nvSpPr>
        <p:spPr bwMode="auto">
          <a:xfrm>
            <a:off x="104806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FEF2F5DD-758B-950D-B532-3E21D442EFC9}"/>
              </a:ext>
            </a:extLst>
          </p:cNvPr>
          <p:cNvSpPr txBox="1"/>
          <p:nvPr/>
        </p:nvSpPr>
        <p:spPr>
          <a:xfrm>
            <a:off x="7263385" y="5782111"/>
            <a:ext cx="3151967" cy="584775"/>
          </a:xfrm>
          <a:prstGeom prst="rect">
            <a:avLst/>
          </a:prstGeom>
          <a:noFill/>
        </p:spPr>
        <p:txBody>
          <a:bodyPr wrap="square" rtlCol="0">
            <a:spAutoFit/>
          </a:bodyPr>
          <a:lstStyle/>
          <a:p>
            <a:r>
              <a:rPr lang="en-US" sz="800" dirty="0"/>
              <a:t>The probability mass function (</a:t>
            </a:r>
            <a:r>
              <a:rPr lang="en-US" sz="800" dirty="0" err="1"/>
              <a:t>pmf</a:t>
            </a:r>
            <a:r>
              <a:rPr lang="en-US" sz="800" dirty="0"/>
              <a:t>)   P(S) specifies the probability distribution for the sum  S of counts from two dice. </a:t>
            </a:r>
          </a:p>
          <a:p>
            <a:endParaRPr lang="en-US" sz="800" dirty="0"/>
          </a:p>
          <a:p>
            <a:endParaRPr lang="en-US" sz="800" dirty="0"/>
          </a:p>
        </p:txBody>
      </p:sp>
      <p:pic>
        <p:nvPicPr>
          <p:cNvPr id="1039" name="Picture 15" descr="undefined">
            <a:extLst>
              <a:ext uri="{FF2B5EF4-FFF2-40B4-BE49-F238E27FC236}">
                <a16:creationId xmlns:a16="http://schemas.microsoft.com/office/drawing/2014/main" id="{636FF547-053E-1F37-AD3B-CF00DC953A5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066772" y="1257711"/>
            <a:ext cx="32004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7" descr="undefined">
            <a:extLst>
              <a:ext uri="{FF2B5EF4-FFF2-40B4-BE49-F238E27FC236}">
                <a16:creationId xmlns:a16="http://schemas.microsoft.com/office/drawing/2014/main" id="{10AC1AFE-6F90-2D9F-96BE-A1B546160D8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263384" y="3572310"/>
            <a:ext cx="2946400" cy="2209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09D7F-605E-3461-BBE1-F57606104A61}"/>
              </a:ext>
            </a:extLst>
          </p:cNvPr>
          <p:cNvSpPr>
            <a:spLocks noGrp="1"/>
          </p:cNvSpPr>
          <p:nvPr>
            <p:ph type="title"/>
          </p:nvPr>
        </p:nvSpPr>
        <p:spPr/>
        <p:txBody>
          <a:bodyPr/>
          <a:lstStyle/>
          <a:p>
            <a:r>
              <a:rPr lang="en-US" dirty="0"/>
              <a:t>Other Key Distributions</a:t>
            </a:r>
          </a:p>
        </p:txBody>
      </p:sp>
      <p:sp>
        <p:nvSpPr>
          <p:cNvPr id="3" name="Content Placeholder 2">
            <a:extLst>
              <a:ext uri="{FF2B5EF4-FFF2-40B4-BE49-F238E27FC236}">
                <a16:creationId xmlns:a16="http://schemas.microsoft.com/office/drawing/2014/main" id="{3BA94720-47AB-F282-1FB9-A9AA25EF1B04}"/>
              </a:ext>
            </a:extLst>
          </p:cNvPr>
          <p:cNvSpPr>
            <a:spLocks noGrp="1"/>
          </p:cNvSpPr>
          <p:nvPr>
            <p:ph idx="1"/>
          </p:nvPr>
        </p:nvSpPr>
        <p:spPr>
          <a:xfrm>
            <a:off x="2105192" y="2228004"/>
            <a:ext cx="3686008" cy="3630795"/>
          </a:xfrm>
        </p:spPr>
        <p:txBody>
          <a:bodyPr>
            <a:normAutofit fontScale="85000" lnSpcReduction="10000"/>
          </a:bodyPr>
          <a:lstStyle/>
          <a:p>
            <a:r>
              <a:rPr lang="en-US" b="1" dirty="0"/>
              <a:t>Normal distribution: </a:t>
            </a:r>
            <a:r>
              <a:rPr lang="en-US" dirty="0"/>
              <a:t>A continuous distribution that is symmetric and bell-shaped, used in many natural phenomena.</a:t>
            </a:r>
          </a:p>
          <a:p>
            <a:r>
              <a:rPr lang="en-US" b="1" dirty="0"/>
              <a:t>Uniform Distribution: </a:t>
            </a:r>
            <a:r>
              <a:rPr lang="en-US" dirty="0"/>
              <a:t>All outcomes are equally likely.</a:t>
            </a:r>
          </a:p>
          <a:p>
            <a:r>
              <a:rPr lang="en-US" b="1" dirty="0"/>
              <a:t>Binomial distribution: </a:t>
            </a:r>
            <a:r>
              <a:rPr lang="en-US" dirty="0"/>
              <a:t>For discrete outcomes with two possible results (success/failure).</a:t>
            </a:r>
          </a:p>
          <a:p>
            <a:r>
              <a:rPr lang="en-US" b="1" dirty="0"/>
              <a:t>Poisson Distribution: </a:t>
            </a:r>
            <a:r>
              <a:rPr lang="en-US" dirty="0"/>
              <a:t>Counts the number of events happening in a fixed interval.</a:t>
            </a:r>
          </a:p>
          <a:p>
            <a:r>
              <a:rPr lang="en-US" b="1" dirty="0"/>
              <a:t>Exponential Distribution: </a:t>
            </a:r>
            <a:r>
              <a:rPr lang="en-US" dirty="0"/>
              <a:t>Describes the time between events in a Poisson process.</a:t>
            </a:r>
          </a:p>
        </p:txBody>
      </p:sp>
      <p:sp>
        <p:nvSpPr>
          <p:cNvPr id="4" name="Slide Number Placeholder 3">
            <a:extLst>
              <a:ext uri="{FF2B5EF4-FFF2-40B4-BE49-F238E27FC236}">
                <a16:creationId xmlns:a16="http://schemas.microsoft.com/office/drawing/2014/main" id="{1F4D5597-74C8-E2BE-318D-39EF93569CBC}"/>
              </a:ext>
            </a:extLst>
          </p:cNvPr>
          <p:cNvSpPr>
            <a:spLocks noGrp="1"/>
          </p:cNvSpPr>
          <p:nvPr>
            <p:ph type="sldNum" sz="quarter" idx="12"/>
          </p:nvPr>
        </p:nvSpPr>
        <p:spPr/>
        <p:txBody>
          <a:bodyPr/>
          <a:lstStyle/>
          <a:p>
            <a:fld id="{A4DA0FD2-D456-4FC5-A587-87644C4EB2D1}" type="slidenum">
              <a:rPr lang="tr-TR" smtClean="0"/>
              <a:pPr/>
              <a:t>16</a:t>
            </a:fld>
            <a:endParaRPr lang="tr-TR"/>
          </a:p>
        </p:txBody>
      </p:sp>
      <p:pic>
        <p:nvPicPr>
          <p:cNvPr id="5" name="Picture 4" descr="Statistical Distributions: 7 Types with Practical Examples">
            <a:extLst>
              <a:ext uri="{FF2B5EF4-FFF2-40B4-BE49-F238E27FC236}">
                <a16:creationId xmlns:a16="http://schemas.microsoft.com/office/drawing/2014/main" id="{A4B898FC-608F-3F91-6B0C-0FE311A7FB40}"/>
              </a:ext>
            </a:extLst>
          </p:cNvPr>
          <p:cNvPicPr>
            <a:picLocks noChangeAspect="1" noChangeArrowheads="1"/>
          </p:cNvPicPr>
          <p:nvPr/>
        </p:nvPicPr>
        <p:blipFill rotWithShape="1">
          <a:blip r:embed="rId2">
            <a:duotone>
              <a:schemeClr val="accent6">
                <a:shade val="45000"/>
                <a:satMod val="135000"/>
              </a:schemeClr>
              <a:prstClr val="white"/>
            </a:duoton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a:stretch/>
        </p:blipFill>
        <p:spPr bwMode="auto">
          <a:xfrm>
            <a:off x="5638801" y="1797531"/>
            <a:ext cx="4703379" cy="398480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2344E98-7B0A-79B9-D6D7-CFBF288B5B58}"/>
              </a:ext>
            </a:extLst>
          </p:cNvPr>
          <p:cNvSpPr txBox="1"/>
          <p:nvPr/>
        </p:nvSpPr>
        <p:spPr>
          <a:xfrm>
            <a:off x="6118093" y="5858798"/>
            <a:ext cx="7953702" cy="215444"/>
          </a:xfrm>
          <a:prstGeom prst="rect">
            <a:avLst/>
          </a:prstGeom>
          <a:noFill/>
        </p:spPr>
        <p:txBody>
          <a:bodyPr wrap="square">
            <a:spAutoFit/>
          </a:bodyPr>
          <a:lstStyle/>
          <a:p>
            <a:r>
              <a:rPr lang="en-US" sz="800" dirty="0"/>
              <a:t>https://</a:t>
            </a:r>
            <a:r>
              <a:rPr lang="en-US" sz="800" dirty="0" err="1"/>
              <a:t>datasciencedojo.com</a:t>
            </a:r>
            <a:r>
              <a:rPr lang="en-US" sz="800" dirty="0"/>
              <a:t>/blog/types-of-statistical-distributions-in-ml/</a:t>
            </a:r>
          </a:p>
        </p:txBody>
      </p:sp>
    </p:spTree>
    <p:extLst>
      <p:ext uri="{BB962C8B-B14F-4D97-AF65-F5344CB8AC3E}">
        <p14:creationId xmlns:p14="http://schemas.microsoft.com/office/powerpoint/2010/main" val="2608688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60710-49C6-373E-D3B7-A21E2BC53CE1}"/>
              </a:ext>
            </a:extLst>
          </p:cNvPr>
          <p:cNvSpPr>
            <a:spLocks noGrp="1"/>
          </p:cNvSpPr>
          <p:nvPr>
            <p:ph type="title"/>
          </p:nvPr>
        </p:nvSpPr>
        <p:spPr/>
        <p:txBody>
          <a:bodyPr/>
          <a:lstStyle/>
          <a:p>
            <a:r>
              <a:rPr lang="en-US" dirty="0"/>
              <a:t>Types of Probability Distributions</a:t>
            </a:r>
          </a:p>
        </p:txBody>
      </p:sp>
      <p:sp>
        <p:nvSpPr>
          <p:cNvPr id="3" name="Content Placeholder 2">
            <a:extLst>
              <a:ext uri="{FF2B5EF4-FFF2-40B4-BE49-F238E27FC236}">
                <a16:creationId xmlns:a16="http://schemas.microsoft.com/office/drawing/2014/main" id="{2B36A141-B59B-49AA-90C7-B0EC875FE3C7}"/>
              </a:ext>
            </a:extLst>
          </p:cNvPr>
          <p:cNvSpPr>
            <a:spLocks noGrp="1"/>
          </p:cNvSpPr>
          <p:nvPr>
            <p:ph idx="1"/>
          </p:nvPr>
        </p:nvSpPr>
        <p:spPr>
          <a:xfrm>
            <a:off x="2105192" y="2228004"/>
            <a:ext cx="3381208" cy="3630795"/>
          </a:xfrm>
        </p:spPr>
        <p:txBody>
          <a:bodyPr/>
          <a:lstStyle/>
          <a:p>
            <a:r>
              <a:rPr lang="en-US" dirty="0"/>
              <a:t>Continuous Distributions:</a:t>
            </a:r>
          </a:p>
          <a:p>
            <a:pPr lvl="1">
              <a:buFont typeface="Courier New" panose="02070309020205020404" pitchFamily="49" charset="0"/>
              <a:buChar char="o"/>
            </a:pPr>
            <a:r>
              <a:rPr lang="en-US" sz="1400" dirty="0"/>
              <a:t>Example: Normal, Exponential, Uniform.</a:t>
            </a:r>
          </a:p>
          <a:p>
            <a:pPr lvl="1">
              <a:buFont typeface="Courier New" panose="02070309020205020404" pitchFamily="49" charset="0"/>
              <a:buChar char="o"/>
            </a:pPr>
            <a:endParaRPr lang="en-US" dirty="0"/>
          </a:p>
          <a:p>
            <a:r>
              <a:rPr lang="en-US" dirty="0"/>
              <a:t>Discrete Distributions:</a:t>
            </a:r>
          </a:p>
          <a:p>
            <a:pPr lvl="1">
              <a:buFont typeface="Courier New" panose="02070309020205020404" pitchFamily="49" charset="0"/>
              <a:buChar char="o"/>
            </a:pPr>
            <a:r>
              <a:rPr lang="en-US" sz="1400" dirty="0"/>
              <a:t>Example: Binomial, Poisson, Geometric.</a:t>
            </a:r>
          </a:p>
          <a:p>
            <a:pPr lvl="1">
              <a:buFont typeface="Courier New" panose="02070309020205020404" pitchFamily="49" charset="0"/>
              <a:buChar char="o"/>
            </a:pPr>
            <a:endParaRPr lang="en-US" dirty="0"/>
          </a:p>
        </p:txBody>
      </p:sp>
      <p:sp>
        <p:nvSpPr>
          <p:cNvPr id="4" name="Slide Number Placeholder 3">
            <a:extLst>
              <a:ext uri="{FF2B5EF4-FFF2-40B4-BE49-F238E27FC236}">
                <a16:creationId xmlns:a16="http://schemas.microsoft.com/office/drawing/2014/main" id="{4D19CAE9-3D82-7768-B2F2-9129EA8700D6}"/>
              </a:ext>
            </a:extLst>
          </p:cNvPr>
          <p:cNvSpPr>
            <a:spLocks noGrp="1"/>
          </p:cNvSpPr>
          <p:nvPr>
            <p:ph type="sldNum" sz="quarter" idx="12"/>
          </p:nvPr>
        </p:nvSpPr>
        <p:spPr/>
        <p:txBody>
          <a:bodyPr/>
          <a:lstStyle/>
          <a:p>
            <a:fld id="{A4DA0FD2-D456-4FC5-A587-87644C4EB2D1}" type="slidenum">
              <a:rPr lang="tr-TR" smtClean="0"/>
              <a:pPr/>
              <a:t>17</a:t>
            </a:fld>
            <a:endParaRPr lang="tr-TR"/>
          </a:p>
        </p:txBody>
      </p:sp>
      <p:pic>
        <p:nvPicPr>
          <p:cNvPr id="5" name="Picture 2" descr="What is Probability Distribution | Function, Formula, Table">
            <a:extLst>
              <a:ext uri="{FF2B5EF4-FFF2-40B4-BE49-F238E27FC236}">
                <a16:creationId xmlns:a16="http://schemas.microsoft.com/office/drawing/2014/main" id="{463EB430-C270-F24E-FA35-3204D6466B57}"/>
              </a:ext>
            </a:extLst>
          </p:cNvPr>
          <p:cNvPicPr>
            <a:picLocks noChangeAspect="1" noChangeArrowheads="1"/>
          </p:cNvPicPr>
          <p:nvPr/>
        </p:nvPicPr>
        <p:blipFill rotWithShape="1">
          <a:blip r:embed="rId2">
            <a:duotone>
              <a:schemeClr val="accent6">
                <a:shade val="45000"/>
                <a:satMod val="135000"/>
              </a:schemeClr>
              <a:prstClr val="white"/>
            </a:duoton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a:ext>
            </a:extLst>
          </a:blip>
          <a:srcRect l="-1" r="-17"/>
          <a:stretch/>
        </p:blipFill>
        <p:spPr bwMode="auto">
          <a:xfrm>
            <a:off x="5181600" y="2133600"/>
            <a:ext cx="5126182" cy="304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E710E95-1A96-2448-DB5C-1E9D9FBCC447}"/>
              </a:ext>
            </a:extLst>
          </p:cNvPr>
          <p:cNvSpPr txBox="1"/>
          <p:nvPr/>
        </p:nvSpPr>
        <p:spPr>
          <a:xfrm>
            <a:off x="5414613" y="5084262"/>
            <a:ext cx="3084499" cy="215444"/>
          </a:xfrm>
          <a:prstGeom prst="rect">
            <a:avLst/>
          </a:prstGeom>
          <a:noFill/>
        </p:spPr>
        <p:txBody>
          <a:bodyPr wrap="none" rtlCol="0">
            <a:spAutoFit/>
          </a:bodyPr>
          <a:lstStyle/>
          <a:p>
            <a:r>
              <a:rPr lang="en-US" sz="800" dirty="0"/>
              <a:t>Image Source: https://</a:t>
            </a:r>
            <a:r>
              <a:rPr lang="en-US" sz="800" dirty="0" err="1"/>
              <a:t>www.geeksforgeeks.org</a:t>
            </a:r>
            <a:r>
              <a:rPr lang="en-US" sz="800" dirty="0"/>
              <a:t>/probability-distribution/</a:t>
            </a:r>
          </a:p>
        </p:txBody>
      </p:sp>
    </p:spTree>
    <p:extLst>
      <p:ext uri="{BB962C8B-B14F-4D97-AF65-F5344CB8AC3E}">
        <p14:creationId xmlns:p14="http://schemas.microsoft.com/office/powerpoint/2010/main" val="4244861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70AC2-A5AA-8BBE-27BA-3D7CC8693B21}"/>
              </a:ext>
            </a:extLst>
          </p:cNvPr>
          <p:cNvSpPr>
            <a:spLocks noGrp="1"/>
          </p:cNvSpPr>
          <p:nvPr>
            <p:ph type="title"/>
          </p:nvPr>
        </p:nvSpPr>
        <p:spPr/>
        <p:txBody>
          <a:bodyPr/>
          <a:lstStyle/>
          <a:p>
            <a:r>
              <a:rPr lang="en-US" dirty="0"/>
              <a:t>Types of Probability Distributions</a:t>
            </a:r>
          </a:p>
        </p:txBody>
      </p:sp>
      <p:sp>
        <p:nvSpPr>
          <p:cNvPr id="3" name="Content Placeholder 2">
            <a:extLst>
              <a:ext uri="{FF2B5EF4-FFF2-40B4-BE49-F238E27FC236}">
                <a16:creationId xmlns:a16="http://schemas.microsoft.com/office/drawing/2014/main" id="{A4E766A9-5D96-C5FC-B577-56239D3887DF}"/>
              </a:ext>
            </a:extLst>
          </p:cNvPr>
          <p:cNvSpPr>
            <a:spLocks noGrp="1"/>
          </p:cNvSpPr>
          <p:nvPr>
            <p:ph idx="1"/>
          </p:nvPr>
        </p:nvSpPr>
        <p:spPr>
          <a:xfrm>
            <a:off x="2105192" y="2228004"/>
            <a:ext cx="3517566" cy="3630795"/>
          </a:xfrm>
        </p:spPr>
        <p:txBody>
          <a:bodyPr/>
          <a:lstStyle/>
          <a:p>
            <a:r>
              <a:rPr lang="en-US" b="1" dirty="0">
                <a:solidFill>
                  <a:srgbClr val="7030A0"/>
                </a:solidFill>
              </a:rPr>
              <a:t>Skewness: </a:t>
            </a:r>
            <a:r>
              <a:rPr lang="en-US" dirty="0"/>
              <a:t>In probability theory and statistics, skewness is a measure of the asymmetry of the probability distribution of a real-valued random variable about its mean. </a:t>
            </a:r>
          </a:p>
          <a:p>
            <a:pPr lvl="1">
              <a:buFont typeface="Courier New" panose="02070309020205020404" pitchFamily="49" charset="0"/>
              <a:buChar char="o"/>
            </a:pPr>
            <a:r>
              <a:rPr lang="en-US" dirty="0"/>
              <a:t>can be positive, zero, negative, or undefined.</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85F75A81-8825-2B2E-2D88-5B6D131524CB}"/>
              </a:ext>
            </a:extLst>
          </p:cNvPr>
          <p:cNvSpPr>
            <a:spLocks noGrp="1"/>
          </p:cNvSpPr>
          <p:nvPr>
            <p:ph type="sldNum" sz="quarter" idx="12"/>
          </p:nvPr>
        </p:nvSpPr>
        <p:spPr/>
        <p:txBody>
          <a:bodyPr/>
          <a:lstStyle/>
          <a:p>
            <a:fld id="{A4DA0FD2-D456-4FC5-A587-87644C4EB2D1}" type="slidenum">
              <a:rPr lang="tr-TR" smtClean="0"/>
              <a:pPr/>
              <a:t>18</a:t>
            </a:fld>
            <a:endParaRPr lang="tr-TR"/>
          </a:p>
        </p:txBody>
      </p:sp>
      <p:pic>
        <p:nvPicPr>
          <p:cNvPr id="2058" name="Picture 10" descr="undefined">
            <a:extLst>
              <a:ext uri="{FF2B5EF4-FFF2-40B4-BE49-F238E27FC236}">
                <a16:creationId xmlns:a16="http://schemas.microsoft.com/office/drawing/2014/main" id="{A0E2E603-9EE8-49A0-E1C6-0088DEF764D3}"/>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131892" y="2295176"/>
            <a:ext cx="3848100" cy="136955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undefined">
            <a:extLst>
              <a:ext uri="{FF2B5EF4-FFF2-40B4-BE49-F238E27FC236}">
                <a16:creationId xmlns:a16="http://schemas.microsoft.com/office/drawing/2014/main" id="{359B0AB7-E4C5-D0EF-D9A6-8D47DDA6580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010975" y="3901441"/>
            <a:ext cx="4103220" cy="154796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5DF54D8-C477-30F2-9C18-3394EE102E35}"/>
              </a:ext>
            </a:extLst>
          </p:cNvPr>
          <p:cNvSpPr txBox="1"/>
          <p:nvPr/>
        </p:nvSpPr>
        <p:spPr>
          <a:xfrm>
            <a:off x="6762280" y="5634961"/>
            <a:ext cx="2377574" cy="215444"/>
          </a:xfrm>
          <a:prstGeom prst="rect">
            <a:avLst/>
          </a:prstGeom>
          <a:noFill/>
        </p:spPr>
        <p:txBody>
          <a:bodyPr wrap="none" rtlCol="0">
            <a:spAutoFit/>
          </a:bodyPr>
          <a:lstStyle/>
          <a:p>
            <a:r>
              <a:rPr lang="en-US" sz="800" dirty="0"/>
              <a:t>Image source: https://</a:t>
            </a:r>
            <a:r>
              <a:rPr lang="en-US" sz="800" dirty="0" err="1"/>
              <a:t>en.wikipedia.org</a:t>
            </a:r>
            <a:r>
              <a:rPr lang="en-US" sz="800" dirty="0"/>
              <a:t>/wiki/Skewness</a:t>
            </a:r>
          </a:p>
        </p:txBody>
      </p:sp>
    </p:spTree>
    <p:extLst>
      <p:ext uri="{BB962C8B-B14F-4D97-AF65-F5344CB8AC3E}">
        <p14:creationId xmlns:p14="http://schemas.microsoft.com/office/powerpoint/2010/main" val="2802623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Bayes' Theorem</a:t>
            </a:r>
          </a:p>
        </p:txBody>
      </p:sp>
      <p:sp>
        <p:nvSpPr>
          <p:cNvPr id="3" name="Content Placeholder 2"/>
          <p:cNvSpPr>
            <a:spLocks noGrp="1"/>
          </p:cNvSpPr>
          <p:nvPr>
            <p:ph idx="1"/>
          </p:nvPr>
        </p:nvSpPr>
        <p:spPr/>
        <p:txBody>
          <a:bodyPr/>
          <a:lstStyle/>
          <a:p>
            <a:r>
              <a:rPr lang="en-US" dirty="0"/>
              <a:t>It is fundamental in statistics, machine learning, and decision-making under uncertainty, allowing us to </a:t>
            </a:r>
            <a:r>
              <a:rPr lang="en-US" dirty="0">
                <a:solidFill>
                  <a:srgbClr val="7030A0"/>
                </a:solidFill>
              </a:rPr>
              <a:t>update probabilities based on new informatio</a:t>
            </a:r>
            <a:r>
              <a:rPr lang="en-US" dirty="0"/>
              <a:t>n.</a:t>
            </a:r>
          </a:p>
          <a:p>
            <a:r>
              <a:rPr dirty="0"/>
              <a:t>Bayes' Theorem describes the probability of an event </a:t>
            </a:r>
            <a:r>
              <a:rPr b="1" dirty="0">
                <a:solidFill>
                  <a:srgbClr val="7030A0"/>
                </a:solidFill>
              </a:rPr>
              <a:t>based on prior knowledge </a:t>
            </a:r>
            <a:r>
              <a:rPr dirty="0"/>
              <a:t>of related conditions.</a:t>
            </a:r>
          </a:p>
          <a:p>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1CE95-C7A6-D4CC-9879-53D06C3E3499}"/>
              </a:ext>
            </a:extLst>
          </p:cNvPr>
          <p:cNvSpPr>
            <a:spLocks noGrp="1"/>
          </p:cNvSpPr>
          <p:nvPr>
            <p:ph type="title"/>
          </p:nvPr>
        </p:nvSpPr>
        <p:spPr/>
        <p:txBody>
          <a:bodyPr/>
          <a:lstStyle/>
          <a:p>
            <a:r>
              <a:rPr lang="en-US" dirty="0"/>
              <a:t>Bayesian Decision Theory</a:t>
            </a:r>
          </a:p>
        </p:txBody>
      </p:sp>
      <p:sp>
        <p:nvSpPr>
          <p:cNvPr id="3" name="Content Placeholder 2">
            <a:extLst>
              <a:ext uri="{FF2B5EF4-FFF2-40B4-BE49-F238E27FC236}">
                <a16:creationId xmlns:a16="http://schemas.microsoft.com/office/drawing/2014/main" id="{3176336A-FB53-F1F9-6F03-A9E362929F28}"/>
              </a:ext>
            </a:extLst>
          </p:cNvPr>
          <p:cNvSpPr>
            <a:spLocks noGrp="1"/>
          </p:cNvSpPr>
          <p:nvPr>
            <p:ph idx="1"/>
          </p:nvPr>
        </p:nvSpPr>
        <p:spPr/>
        <p:txBody>
          <a:bodyPr>
            <a:normAutofit/>
          </a:bodyPr>
          <a:lstStyle/>
          <a:p>
            <a:r>
              <a:rPr lang="en-US" dirty="0"/>
              <a:t>Bayesian Decision Theory is a statistical approach to decision-making </a:t>
            </a:r>
            <a:r>
              <a:rPr lang="en-US" dirty="0">
                <a:solidFill>
                  <a:srgbClr val="7030A0"/>
                </a:solidFill>
              </a:rPr>
              <a:t>under uncertainty. </a:t>
            </a:r>
          </a:p>
          <a:p>
            <a:r>
              <a:rPr lang="en-US" dirty="0"/>
              <a:t>It integrates Bayesian probability, which interprets probability as </a:t>
            </a:r>
            <a:r>
              <a:rPr lang="en-US" dirty="0">
                <a:solidFill>
                  <a:srgbClr val="7030A0"/>
                </a:solidFill>
              </a:rPr>
              <a:t>a degree of belief or subjective probability</a:t>
            </a:r>
            <a:r>
              <a:rPr lang="en-US" dirty="0"/>
              <a:t>, into the decision-making process. </a:t>
            </a:r>
          </a:p>
          <a:p>
            <a:r>
              <a:rPr lang="en-US" dirty="0"/>
              <a:t>This theory </a:t>
            </a:r>
            <a:r>
              <a:rPr lang="en-US" dirty="0">
                <a:solidFill>
                  <a:srgbClr val="7030A0"/>
                </a:solidFill>
              </a:rPr>
              <a:t>uses Bayes' Theorem </a:t>
            </a:r>
            <a:r>
              <a:rPr lang="en-US" dirty="0"/>
              <a:t>to update the probability estimate for a hypothesis as more evidence or information becomes available.</a:t>
            </a:r>
          </a:p>
        </p:txBody>
      </p:sp>
      <p:sp>
        <p:nvSpPr>
          <p:cNvPr id="4" name="Slide Number Placeholder 3">
            <a:extLst>
              <a:ext uri="{FF2B5EF4-FFF2-40B4-BE49-F238E27FC236}">
                <a16:creationId xmlns:a16="http://schemas.microsoft.com/office/drawing/2014/main" id="{9E9F5079-9407-4031-FFE4-164B407E768D}"/>
              </a:ext>
            </a:extLst>
          </p:cNvPr>
          <p:cNvSpPr>
            <a:spLocks noGrp="1"/>
          </p:cNvSpPr>
          <p:nvPr>
            <p:ph type="sldNum" sz="quarter" idx="12"/>
          </p:nvPr>
        </p:nvSpPr>
        <p:spPr/>
        <p:txBody>
          <a:bodyPr/>
          <a:lstStyle/>
          <a:p>
            <a:fld id="{A4DA0FD2-D456-4FC5-A587-87644C4EB2D1}" type="slidenum">
              <a:rPr lang="tr-TR" smtClean="0"/>
              <a:pPr/>
              <a:t>20</a:t>
            </a:fld>
            <a:endParaRPr lang="tr-TR"/>
          </a:p>
        </p:txBody>
      </p:sp>
    </p:spTree>
    <p:extLst>
      <p:ext uri="{BB962C8B-B14F-4D97-AF65-F5344CB8AC3E}">
        <p14:creationId xmlns:p14="http://schemas.microsoft.com/office/powerpoint/2010/main" val="2849225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1CE95-C7A6-D4CC-9879-53D06C3E3499}"/>
              </a:ext>
            </a:extLst>
          </p:cNvPr>
          <p:cNvSpPr>
            <a:spLocks noGrp="1"/>
          </p:cNvSpPr>
          <p:nvPr>
            <p:ph type="title"/>
          </p:nvPr>
        </p:nvSpPr>
        <p:spPr/>
        <p:txBody>
          <a:bodyPr/>
          <a:lstStyle/>
          <a:p>
            <a:r>
              <a:rPr lang="en-US" dirty="0"/>
              <a:t>Bayesian Decision Theory</a:t>
            </a:r>
          </a:p>
        </p:txBody>
      </p:sp>
      <p:sp>
        <p:nvSpPr>
          <p:cNvPr id="3" name="Content Placeholder 2">
            <a:extLst>
              <a:ext uri="{FF2B5EF4-FFF2-40B4-BE49-F238E27FC236}">
                <a16:creationId xmlns:a16="http://schemas.microsoft.com/office/drawing/2014/main" id="{3176336A-FB53-F1F9-6F03-A9E362929F28}"/>
              </a:ext>
            </a:extLst>
          </p:cNvPr>
          <p:cNvSpPr>
            <a:spLocks noGrp="1"/>
          </p:cNvSpPr>
          <p:nvPr>
            <p:ph idx="1"/>
          </p:nvPr>
        </p:nvSpPr>
        <p:spPr/>
        <p:txBody>
          <a:bodyPr>
            <a:normAutofit/>
          </a:bodyPr>
          <a:lstStyle/>
          <a:p>
            <a:r>
              <a:rPr lang="en-US" dirty="0"/>
              <a:t>Bayesian Decision Theory is a statistical approach to decision-making </a:t>
            </a:r>
            <a:r>
              <a:rPr lang="en-US" dirty="0">
                <a:solidFill>
                  <a:srgbClr val="7030A0"/>
                </a:solidFill>
              </a:rPr>
              <a:t>under uncertainty</a:t>
            </a:r>
            <a:r>
              <a:rPr lang="en-US" dirty="0"/>
              <a:t>. </a:t>
            </a:r>
          </a:p>
          <a:p>
            <a:r>
              <a:rPr lang="en-US" dirty="0"/>
              <a:t>It integrates Bayesian probability, which interprets probability as </a:t>
            </a:r>
            <a:r>
              <a:rPr lang="en-US" dirty="0">
                <a:solidFill>
                  <a:srgbClr val="7030A0"/>
                </a:solidFill>
              </a:rPr>
              <a:t>a degree of belief or subjective probability</a:t>
            </a:r>
            <a:r>
              <a:rPr lang="en-US" dirty="0"/>
              <a:t>, into the decision-making process. </a:t>
            </a:r>
          </a:p>
          <a:p>
            <a:r>
              <a:rPr lang="en-US" dirty="0"/>
              <a:t>This theory </a:t>
            </a:r>
            <a:r>
              <a:rPr lang="en-US" dirty="0">
                <a:solidFill>
                  <a:srgbClr val="7030A0"/>
                </a:solidFill>
              </a:rPr>
              <a:t>uses Bayes' Theorem </a:t>
            </a:r>
            <a:r>
              <a:rPr lang="en-US" dirty="0"/>
              <a:t>to update the probability estimate for a hypothesis as more evidence or information becomes available.</a:t>
            </a:r>
          </a:p>
        </p:txBody>
      </p:sp>
      <p:sp>
        <p:nvSpPr>
          <p:cNvPr id="4" name="Slide Number Placeholder 3">
            <a:extLst>
              <a:ext uri="{FF2B5EF4-FFF2-40B4-BE49-F238E27FC236}">
                <a16:creationId xmlns:a16="http://schemas.microsoft.com/office/drawing/2014/main" id="{9E9F5079-9407-4031-FFE4-164B407E768D}"/>
              </a:ext>
            </a:extLst>
          </p:cNvPr>
          <p:cNvSpPr>
            <a:spLocks noGrp="1"/>
          </p:cNvSpPr>
          <p:nvPr>
            <p:ph type="sldNum" sz="quarter" idx="12"/>
          </p:nvPr>
        </p:nvSpPr>
        <p:spPr/>
        <p:txBody>
          <a:bodyPr/>
          <a:lstStyle/>
          <a:p>
            <a:fld id="{A4DA0FD2-D456-4FC5-A587-87644C4EB2D1}" type="slidenum">
              <a:rPr lang="tr-TR" smtClean="0"/>
              <a:pPr/>
              <a:t>21</a:t>
            </a:fld>
            <a:endParaRPr lang="tr-TR"/>
          </a:p>
        </p:txBody>
      </p:sp>
      <p:sp>
        <p:nvSpPr>
          <p:cNvPr id="6" name="TextBox 5">
            <a:extLst>
              <a:ext uri="{FF2B5EF4-FFF2-40B4-BE49-F238E27FC236}">
                <a16:creationId xmlns:a16="http://schemas.microsoft.com/office/drawing/2014/main" id="{51133CEA-4A23-96F6-6546-C15785D65D9B}"/>
              </a:ext>
            </a:extLst>
          </p:cNvPr>
          <p:cNvSpPr txBox="1"/>
          <p:nvPr/>
        </p:nvSpPr>
        <p:spPr>
          <a:xfrm>
            <a:off x="2286000" y="4416200"/>
            <a:ext cx="7198502" cy="1754326"/>
          </a:xfrm>
          <a:prstGeom prst="rect">
            <a:avLst/>
          </a:prstGeom>
          <a:noFill/>
          <a:ln>
            <a:solidFill>
              <a:srgbClr val="A54EF3"/>
            </a:solidFill>
          </a:ln>
        </p:spPr>
        <p:txBody>
          <a:bodyPr wrap="square">
            <a:spAutoFit/>
          </a:bodyPr>
          <a:lstStyle/>
          <a:p>
            <a:r>
              <a:rPr lang="en-US" b="1" dirty="0">
                <a:solidFill>
                  <a:srgbClr val="7030A0"/>
                </a:solidFill>
              </a:rPr>
              <a:t>Example: </a:t>
            </a:r>
            <a:r>
              <a:rPr lang="en-US" dirty="0"/>
              <a:t>Imagine you have a hunch about who is likely to buy ice cream. You think kids love ice cream more than adults. In the Bayesian approach, you start with this hunch. Then, as you see who actually buys ice cream (your data), you update your belief. In the end, you have a new, informed opinion that blends your original thought with the actual ice cream buying patterns you observed.</a:t>
            </a:r>
          </a:p>
        </p:txBody>
      </p:sp>
    </p:spTree>
    <p:extLst>
      <p:ext uri="{BB962C8B-B14F-4D97-AF65-F5344CB8AC3E}">
        <p14:creationId xmlns:p14="http://schemas.microsoft.com/office/powerpoint/2010/main" val="1867528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7C3D9-FD36-AB87-032F-90CDC2EA29BB}"/>
              </a:ext>
            </a:extLst>
          </p:cNvPr>
          <p:cNvSpPr>
            <a:spLocks noGrp="1"/>
          </p:cNvSpPr>
          <p:nvPr>
            <p:ph type="title"/>
          </p:nvPr>
        </p:nvSpPr>
        <p:spPr/>
        <p:txBody>
          <a:bodyPr/>
          <a:lstStyle/>
          <a:p>
            <a:r>
              <a:rPr lang="en-US" dirty="0"/>
              <a:t>Bayes’ Rule</a:t>
            </a:r>
          </a:p>
        </p:txBody>
      </p:sp>
      <p:sp>
        <p:nvSpPr>
          <p:cNvPr id="3" name="Content Placeholder 2">
            <a:extLst>
              <a:ext uri="{FF2B5EF4-FFF2-40B4-BE49-F238E27FC236}">
                <a16:creationId xmlns:a16="http://schemas.microsoft.com/office/drawing/2014/main" id="{6BB39E52-8E64-A4ED-5F1D-248E0F155F79}"/>
              </a:ext>
            </a:extLst>
          </p:cNvPr>
          <p:cNvSpPr>
            <a:spLocks noGrp="1"/>
          </p:cNvSpPr>
          <p:nvPr>
            <p:ph idx="1"/>
          </p:nvPr>
        </p:nvSpPr>
        <p:spPr/>
        <p:txBody>
          <a:bodyPr/>
          <a:lstStyle/>
          <a:p>
            <a:r>
              <a:rPr lang="en-US" b="0" i="0" dirty="0">
                <a:effectLst/>
              </a:rPr>
              <a:t>formula </a:t>
            </a:r>
            <a:endParaRPr lang="en-US" dirty="0"/>
          </a:p>
        </p:txBody>
      </p:sp>
      <p:sp>
        <p:nvSpPr>
          <p:cNvPr id="4" name="Slide Number Placeholder 3">
            <a:extLst>
              <a:ext uri="{FF2B5EF4-FFF2-40B4-BE49-F238E27FC236}">
                <a16:creationId xmlns:a16="http://schemas.microsoft.com/office/drawing/2014/main" id="{57936F2B-CD1A-490F-DBCB-A3FEB914D308}"/>
              </a:ext>
            </a:extLst>
          </p:cNvPr>
          <p:cNvSpPr>
            <a:spLocks noGrp="1"/>
          </p:cNvSpPr>
          <p:nvPr>
            <p:ph type="sldNum" sz="quarter" idx="12"/>
          </p:nvPr>
        </p:nvSpPr>
        <p:spPr/>
        <p:txBody>
          <a:bodyPr/>
          <a:lstStyle/>
          <a:p>
            <a:fld id="{A4DA0FD2-D456-4FC5-A587-87644C4EB2D1}" type="slidenum">
              <a:rPr lang="tr-TR" smtClean="0"/>
              <a:pPr/>
              <a:t>22</a:t>
            </a:fld>
            <a:endParaRPr lang="tr-TR"/>
          </a:p>
        </p:txBody>
      </p:sp>
      <p:sp>
        <p:nvSpPr>
          <p:cNvPr id="13" name="TextBox 12">
            <a:extLst>
              <a:ext uri="{FF2B5EF4-FFF2-40B4-BE49-F238E27FC236}">
                <a16:creationId xmlns:a16="http://schemas.microsoft.com/office/drawing/2014/main" id="{3FCAFD65-C919-DDCA-62C0-82F93B6830A7}"/>
              </a:ext>
            </a:extLst>
          </p:cNvPr>
          <p:cNvSpPr txBox="1"/>
          <p:nvPr/>
        </p:nvSpPr>
        <p:spPr>
          <a:xfrm>
            <a:off x="2265829" y="4572001"/>
            <a:ext cx="7076576" cy="954107"/>
          </a:xfrm>
          <a:prstGeom prst="rect">
            <a:avLst/>
          </a:prstGeom>
          <a:noFill/>
        </p:spPr>
        <p:txBody>
          <a:bodyPr wrap="square">
            <a:spAutoFit/>
          </a:bodyPr>
          <a:lstStyle/>
          <a:p>
            <a:pPr marL="285750" indent="-285750">
              <a:buFont typeface="Arial" panose="020B0604020202020204" pitchFamily="34" charset="0"/>
              <a:buChar char="•"/>
            </a:pPr>
            <a:r>
              <a:rPr lang="en-US" sz="1400" dirty="0"/>
              <a:t>Where </a:t>
            </a:r>
            <a:r>
              <a:rPr lang="en-US" sz="1400" i="1" dirty="0"/>
              <a:t>P</a:t>
            </a:r>
            <a:r>
              <a:rPr lang="en-US" sz="1400" dirty="0"/>
              <a:t>(</a:t>
            </a:r>
            <a:r>
              <a:rPr lang="en-US" sz="1400" i="1" dirty="0" err="1"/>
              <a:t>C</a:t>
            </a:r>
            <a:r>
              <a:rPr lang="en-US" sz="1400" dirty="0" err="1"/>
              <a:t>∣</a:t>
            </a:r>
            <a:r>
              <a:rPr lang="en-US" sz="1400" i="1" dirty="0" err="1"/>
              <a:t>x</a:t>
            </a:r>
            <a:r>
              <a:rPr lang="en-US" sz="1400" dirty="0"/>
              <a:t>) is the posterior probability of class </a:t>
            </a:r>
            <a:r>
              <a:rPr lang="en-US" sz="1400" i="1" dirty="0"/>
              <a:t>C</a:t>
            </a:r>
            <a:r>
              <a:rPr lang="en-US" sz="1400" dirty="0"/>
              <a:t> given predictor </a:t>
            </a:r>
            <a:r>
              <a:rPr lang="en-US" sz="1400" i="1" dirty="0"/>
              <a:t>x</a:t>
            </a:r>
            <a:r>
              <a:rPr lang="en-US" sz="1400" dirty="0"/>
              <a:t>.</a:t>
            </a:r>
          </a:p>
          <a:p>
            <a:pPr marL="285750" indent="-285750">
              <a:buFont typeface="Arial" panose="020B0604020202020204" pitchFamily="34" charset="0"/>
              <a:buChar char="•"/>
            </a:pPr>
            <a:r>
              <a:rPr lang="en-US" sz="1400" i="1" dirty="0"/>
              <a:t>P</a:t>
            </a:r>
            <a:r>
              <a:rPr lang="en-US" sz="1400" dirty="0"/>
              <a:t>(</a:t>
            </a:r>
            <a:r>
              <a:rPr lang="en-US" sz="1400" i="1" dirty="0"/>
              <a:t>C</a:t>
            </a:r>
            <a:r>
              <a:rPr lang="en-US" sz="1400" dirty="0"/>
              <a:t>) is the prior probability of class </a:t>
            </a:r>
            <a:r>
              <a:rPr lang="en-US" sz="1400" i="1" dirty="0"/>
              <a:t>C</a:t>
            </a:r>
            <a:r>
              <a:rPr lang="en-US" sz="1400" dirty="0"/>
              <a:t>.</a:t>
            </a:r>
          </a:p>
          <a:p>
            <a:pPr marL="285750" indent="-285750">
              <a:buFont typeface="Arial" panose="020B0604020202020204" pitchFamily="34" charset="0"/>
              <a:buChar char="•"/>
            </a:pPr>
            <a:r>
              <a:rPr lang="en-US" sz="1400" i="1" dirty="0"/>
              <a:t>P</a:t>
            </a:r>
            <a:r>
              <a:rPr lang="en-US" sz="1400" dirty="0"/>
              <a:t>(</a:t>
            </a:r>
            <a:r>
              <a:rPr lang="en-US" sz="1400" i="1" dirty="0" err="1"/>
              <a:t>x</a:t>
            </a:r>
            <a:r>
              <a:rPr lang="en-US" sz="1400" dirty="0" err="1"/>
              <a:t>∣</a:t>
            </a:r>
            <a:r>
              <a:rPr lang="en-US" sz="1400" i="1" dirty="0" err="1"/>
              <a:t>C</a:t>
            </a:r>
            <a:r>
              <a:rPr lang="en-US" sz="1400" dirty="0"/>
              <a:t>) is the likelihood which is the probability of predictor </a:t>
            </a:r>
            <a:r>
              <a:rPr lang="en-US" sz="1400" i="1" dirty="0"/>
              <a:t>x</a:t>
            </a:r>
            <a:r>
              <a:rPr lang="en-US" sz="1400" dirty="0"/>
              <a:t> given class </a:t>
            </a:r>
            <a:r>
              <a:rPr lang="en-US" sz="1400" i="1" dirty="0"/>
              <a:t>C</a:t>
            </a:r>
            <a:r>
              <a:rPr lang="en-US" sz="1400" dirty="0"/>
              <a:t>.</a:t>
            </a:r>
          </a:p>
          <a:p>
            <a:pPr marL="285750" indent="-285750">
              <a:buFont typeface="Arial" panose="020B0604020202020204" pitchFamily="34" charset="0"/>
              <a:buChar char="•"/>
            </a:pPr>
            <a:r>
              <a:rPr lang="en-US" sz="1400" i="1" dirty="0"/>
              <a:t>P</a:t>
            </a:r>
            <a:r>
              <a:rPr lang="en-US" sz="1400" dirty="0"/>
              <a:t>(</a:t>
            </a:r>
            <a:r>
              <a:rPr lang="en-US" sz="1400" i="1" dirty="0"/>
              <a:t>x</a:t>
            </a:r>
            <a:r>
              <a:rPr lang="en-US" sz="1400" dirty="0"/>
              <a:t>) is the prior probability of predictor.</a:t>
            </a:r>
          </a:p>
        </p:txBody>
      </p:sp>
      <p:graphicFrame>
        <p:nvGraphicFramePr>
          <p:cNvPr id="14" name="Object 25">
            <a:extLst>
              <a:ext uri="{FF2B5EF4-FFF2-40B4-BE49-F238E27FC236}">
                <a16:creationId xmlns:a16="http://schemas.microsoft.com/office/drawing/2014/main" id="{2249370A-29AF-09FD-DC18-6EFF3A69CE90}"/>
              </a:ext>
            </a:extLst>
          </p:cNvPr>
          <p:cNvGraphicFramePr>
            <a:graphicFrameLocks noChangeAspect="1"/>
          </p:cNvGraphicFramePr>
          <p:nvPr/>
        </p:nvGraphicFramePr>
        <p:xfrm>
          <a:off x="5941238" y="2535325"/>
          <a:ext cx="3284537" cy="976313"/>
        </p:xfrm>
        <a:graphic>
          <a:graphicData uri="http://schemas.openxmlformats.org/presentationml/2006/ole">
            <mc:AlternateContent xmlns:mc="http://schemas.openxmlformats.org/markup-compatibility/2006">
              <mc:Choice xmlns:v="urn:schemas-microsoft-com:vml" Requires="v">
                <p:oleObj name="Equation" r:id="rId2" imgW="1409400" imgH="419040" progId="Equation.3">
                  <p:embed/>
                </p:oleObj>
              </mc:Choice>
              <mc:Fallback>
                <p:oleObj name="Equation" r:id="rId2" imgW="1409400" imgH="419040" progId="Equation.3">
                  <p:embed/>
                  <p:pic>
                    <p:nvPicPr>
                      <p:cNvPr id="14" name="Object 25">
                        <a:extLst>
                          <a:ext uri="{FF2B5EF4-FFF2-40B4-BE49-F238E27FC236}">
                            <a16:creationId xmlns:a16="http://schemas.microsoft.com/office/drawing/2014/main" id="{2249370A-29AF-09FD-DC18-6EFF3A69CE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1238" y="2535325"/>
                        <a:ext cx="3284537"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 Box 5">
            <a:extLst>
              <a:ext uri="{FF2B5EF4-FFF2-40B4-BE49-F238E27FC236}">
                <a16:creationId xmlns:a16="http://schemas.microsoft.com/office/drawing/2014/main" id="{FBCB6D7D-B40F-8141-0420-21E0EFD665F3}"/>
              </a:ext>
            </a:extLst>
          </p:cNvPr>
          <p:cNvSpPr txBox="1">
            <a:spLocks noChangeArrowheads="1"/>
          </p:cNvSpPr>
          <p:nvPr/>
        </p:nvSpPr>
        <p:spPr bwMode="auto">
          <a:xfrm>
            <a:off x="4380725" y="2103525"/>
            <a:ext cx="1368425" cy="396875"/>
          </a:xfrm>
          <a:prstGeom prst="rect">
            <a:avLst/>
          </a:prstGeom>
          <a:noFill/>
          <a:ln w="9525">
            <a:noFill/>
            <a:miter lim="800000"/>
            <a:headEnd/>
            <a:tailEnd/>
          </a:ln>
          <a:effectLst/>
        </p:spPr>
        <p:txBody>
          <a:bodyPr>
            <a:spAutoFit/>
          </a:bodyPr>
          <a:lstStyle/>
          <a:p>
            <a:r>
              <a:rPr lang="tr-TR" sz="2000" i="1">
                <a:solidFill>
                  <a:schemeClr val="tx2"/>
                </a:solidFill>
                <a:latin typeface="+mj-lt"/>
              </a:rPr>
              <a:t>posterior</a:t>
            </a:r>
          </a:p>
        </p:txBody>
      </p:sp>
      <p:cxnSp>
        <p:nvCxnSpPr>
          <p:cNvPr id="16" name="AutoShape 7">
            <a:extLst>
              <a:ext uri="{FF2B5EF4-FFF2-40B4-BE49-F238E27FC236}">
                <a16:creationId xmlns:a16="http://schemas.microsoft.com/office/drawing/2014/main" id="{950171BF-EE7C-2771-0E39-B5AA2CF8F9F7}"/>
              </a:ext>
            </a:extLst>
          </p:cNvPr>
          <p:cNvCxnSpPr>
            <a:cxnSpLocks noChangeShapeType="1"/>
          </p:cNvCxnSpPr>
          <p:nvPr/>
        </p:nvCxnSpPr>
        <p:spPr bwMode="auto">
          <a:xfrm rot="16200000" flipH="1">
            <a:off x="5272900" y="2579775"/>
            <a:ext cx="409575" cy="466725"/>
          </a:xfrm>
          <a:prstGeom prst="curvedConnector2">
            <a:avLst/>
          </a:prstGeom>
          <a:noFill/>
          <a:ln w="9525">
            <a:solidFill>
              <a:schemeClr val="tx1"/>
            </a:solidFill>
            <a:round/>
            <a:headEnd/>
            <a:tailEnd type="triangle" w="med" len="med"/>
          </a:ln>
          <a:effectLst/>
        </p:spPr>
      </p:cxnSp>
      <p:sp>
        <p:nvSpPr>
          <p:cNvPr id="17" name="Text Box 8">
            <a:extLst>
              <a:ext uri="{FF2B5EF4-FFF2-40B4-BE49-F238E27FC236}">
                <a16:creationId xmlns:a16="http://schemas.microsoft.com/office/drawing/2014/main" id="{21B5C455-6760-F4B3-0E95-4CDF3E110461}"/>
              </a:ext>
            </a:extLst>
          </p:cNvPr>
          <p:cNvSpPr txBox="1">
            <a:spLocks noChangeArrowheads="1"/>
          </p:cNvSpPr>
          <p:nvPr/>
        </p:nvSpPr>
        <p:spPr bwMode="auto">
          <a:xfrm>
            <a:off x="8124050" y="1708237"/>
            <a:ext cx="1064779" cy="400110"/>
          </a:xfrm>
          <a:prstGeom prst="rect">
            <a:avLst/>
          </a:prstGeom>
          <a:noFill/>
          <a:ln w="9525">
            <a:noFill/>
            <a:miter lim="800000"/>
            <a:headEnd/>
            <a:tailEnd/>
          </a:ln>
          <a:effectLst/>
        </p:spPr>
        <p:txBody>
          <a:bodyPr wrap="none">
            <a:spAutoFit/>
          </a:bodyPr>
          <a:lstStyle/>
          <a:p>
            <a:r>
              <a:rPr lang="tr-TR" sz="2000" i="1" dirty="0">
                <a:solidFill>
                  <a:schemeClr val="tx2"/>
                </a:solidFill>
                <a:latin typeface="+mj-lt"/>
              </a:rPr>
              <a:t>likelihood</a:t>
            </a:r>
          </a:p>
        </p:txBody>
      </p:sp>
      <p:sp>
        <p:nvSpPr>
          <p:cNvPr id="18" name="Text Box 9">
            <a:extLst>
              <a:ext uri="{FF2B5EF4-FFF2-40B4-BE49-F238E27FC236}">
                <a16:creationId xmlns:a16="http://schemas.microsoft.com/office/drawing/2014/main" id="{91BFE66E-C203-3079-783D-DF8A36D2ECB7}"/>
              </a:ext>
            </a:extLst>
          </p:cNvPr>
          <p:cNvSpPr txBox="1">
            <a:spLocks noChangeArrowheads="1"/>
          </p:cNvSpPr>
          <p:nvPr/>
        </p:nvSpPr>
        <p:spPr bwMode="auto">
          <a:xfrm>
            <a:off x="6900087" y="1708237"/>
            <a:ext cx="638636" cy="400110"/>
          </a:xfrm>
          <a:prstGeom prst="rect">
            <a:avLst/>
          </a:prstGeom>
          <a:noFill/>
          <a:ln w="9525">
            <a:noFill/>
            <a:miter lim="800000"/>
            <a:headEnd/>
            <a:tailEnd/>
          </a:ln>
          <a:effectLst/>
        </p:spPr>
        <p:txBody>
          <a:bodyPr wrap="none">
            <a:spAutoFit/>
          </a:bodyPr>
          <a:lstStyle/>
          <a:p>
            <a:r>
              <a:rPr lang="tr-TR" sz="2000" i="1">
                <a:solidFill>
                  <a:schemeClr val="tx2"/>
                </a:solidFill>
                <a:latin typeface="+mj-lt"/>
              </a:rPr>
              <a:t>prior</a:t>
            </a:r>
          </a:p>
        </p:txBody>
      </p:sp>
      <p:sp>
        <p:nvSpPr>
          <p:cNvPr id="19" name="Text Box 10">
            <a:extLst>
              <a:ext uri="{FF2B5EF4-FFF2-40B4-BE49-F238E27FC236}">
                <a16:creationId xmlns:a16="http://schemas.microsoft.com/office/drawing/2014/main" id="{E1D91550-5102-2B6B-5D53-F3151A8F9D31}"/>
              </a:ext>
            </a:extLst>
          </p:cNvPr>
          <p:cNvSpPr txBox="1">
            <a:spLocks noChangeArrowheads="1"/>
          </p:cNvSpPr>
          <p:nvPr/>
        </p:nvSpPr>
        <p:spPr bwMode="auto">
          <a:xfrm>
            <a:off x="8052613" y="3903749"/>
            <a:ext cx="1001493" cy="400110"/>
          </a:xfrm>
          <a:prstGeom prst="rect">
            <a:avLst/>
          </a:prstGeom>
          <a:noFill/>
          <a:ln w="9525">
            <a:noFill/>
            <a:miter lim="800000"/>
            <a:headEnd/>
            <a:tailEnd/>
          </a:ln>
          <a:effectLst/>
        </p:spPr>
        <p:txBody>
          <a:bodyPr wrap="none">
            <a:spAutoFit/>
          </a:bodyPr>
          <a:lstStyle/>
          <a:p>
            <a:r>
              <a:rPr lang="tr-TR" sz="2000" i="1">
                <a:solidFill>
                  <a:schemeClr val="tx2"/>
                </a:solidFill>
                <a:latin typeface="+mj-lt"/>
              </a:rPr>
              <a:t>evidence</a:t>
            </a:r>
          </a:p>
        </p:txBody>
      </p:sp>
      <p:sp>
        <p:nvSpPr>
          <p:cNvPr id="20" name="Line 13">
            <a:extLst>
              <a:ext uri="{FF2B5EF4-FFF2-40B4-BE49-F238E27FC236}">
                <a16:creationId xmlns:a16="http://schemas.microsoft.com/office/drawing/2014/main" id="{C3AB3A31-BA67-EE26-1C22-AB7B9BA2681B}"/>
              </a:ext>
            </a:extLst>
          </p:cNvPr>
          <p:cNvSpPr>
            <a:spLocks noChangeShapeType="1"/>
          </p:cNvSpPr>
          <p:nvPr/>
        </p:nvSpPr>
        <p:spPr bwMode="auto">
          <a:xfrm flipH="1" flipV="1">
            <a:off x="8339949" y="3543387"/>
            <a:ext cx="215900" cy="360362"/>
          </a:xfrm>
          <a:prstGeom prst="line">
            <a:avLst/>
          </a:prstGeom>
          <a:noFill/>
          <a:ln w="9525">
            <a:solidFill>
              <a:schemeClr val="tx1"/>
            </a:solidFill>
            <a:round/>
            <a:headEnd/>
            <a:tailEnd type="triangle" w="med" len="med"/>
          </a:ln>
          <a:effectLst/>
        </p:spPr>
        <p:txBody>
          <a:bodyPr/>
          <a:lstStyle/>
          <a:p>
            <a:endParaRPr lang="tr-TR">
              <a:solidFill>
                <a:schemeClr val="tx2"/>
              </a:solidFill>
              <a:latin typeface="+mj-lt"/>
            </a:endParaRPr>
          </a:p>
        </p:txBody>
      </p:sp>
      <p:sp>
        <p:nvSpPr>
          <p:cNvPr id="21" name="Line 14">
            <a:extLst>
              <a:ext uri="{FF2B5EF4-FFF2-40B4-BE49-F238E27FC236}">
                <a16:creationId xmlns:a16="http://schemas.microsoft.com/office/drawing/2014/main" id="{422C15AA-2AF5-2BEB-7DC7-4310B9B12204}"/>
              </a:ext>
            </a:extLst>
          </p:cNvPr>
          <p:cNvSpPr>
            <a:spLocks noChangeShapeType="1"/>
          </p:cNvSpPr>
          <p:nvPr/>
        </p:nvSpPr>
        <p:spPr bwMode="auto">
          <a:xfrm>
            <a:off x="7404912" y="2176550"/>
            <a:ext cx="215900" cy="360363"/>
          </a:xfrm>
          <a:prstGeom prst="line">
            <a:avLst/>
          </a:prstGeom>
          <a:noFill/>
          <a:ln w="9525">
            <a:solidFill>
              <a:schemeClr val="tx1"/>
            </a:solidFill>
            <a:round/>
            <a:headEnd/>
            <a:tailEnd type="triangle" w="med" len="med"/>
          </a:ln>
          <a:effectLst/>
        </p:spPr>
        <p:txBody>
          <a:bodyPr/>
          <a:lstStyle/>
          <a:p>
            <a:endParaRPr lang="tr-TR">
              <a:solidFill>
                <a:schemeClr val="tx2"/>
              </a:solidFill>
              <a:latin typeface="+mj-lt"/>
            </a:endParaRPr>
          </a:p>
        </p:txBody>
      </p:sp>
      <p:sp>
        <p:nvSpPr>
          <p:cNvPr id="22" name="Line 15">
            <a:extLst>
              <a:ext uri="{FF2B5EF4-FFF2-40B4-BE49-F238E27FC236}">
                <a16:creationId xmlns:a16="http://schemas.microsoft.com/office/drawing/2014/main" id="{16F63DA3-89AA-2249-B9E2-2EBDA636E9EB}"/>
              </a:ext>
            </a:extLst>
          </p:cNvPr>
          <p:cNvSpPr>
            <a:spLocks noChangeShapeType="1"/>
          </p:cNvSpPr>
          <p:nvPr/>
        </p:nvSpPr>
        <p:spPr bwMode="auto">
          <a:xfrm flipH="1">
            <a:off x="8700312" y="2176550"/>
            <a:ext cx="144462" cy="358775"/>
          </a:xfrm>
          <a:prstGeom prst="line">
            <a:avLst/>
          </a:prstGeom>
          <a:noFill/>
          <a:ln w="9525">
            <a:solidFill>
              <a:schemeClr val="tx1"/>
            </a:solidFill>
            <a:round/>
            <a:headEnd/>
            <a:tailEnd type="triangle" w="med" len="med"/>
          </a:ln>
          <a:effectLst/>
        </p:spPr>
        <p:txBody>
          <a:bodyPr/>
          <a:lstStyle/>
          <a:p>
            <a:endParaRPr lang="tr-TR">
              <a:solidFill>
                <a:schemeClr val="tx2"/>
              </a:solidFill>
              <a:latin typeface="+mj-lt"/>
            </a:endParaRPr>
          </a:p>
        </p:txBody>
      </p:sp>
    </p:spTree>
    <p:extLst>
      <p:ext uri="{BB962C8B-B14F-4D97-AF65-F5344CB8AC3E}">
        <p14:creationId xmlns:p14="http://schemas.microsoft.com/office/powerpoint/2010/main" val="89543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20F59-9208-2398-DAB3-4DABB3CED4E2}"/>
              </a:ext>
            </a:extLst>
          </p:cNvPr>
          <p:cNvSpPr>
            <a:spLocks noGrp="1"/>
          </p:cNvSpPr>
          <p:nvPr>
            <p:ph type="title"/>
          </p:nvPr>
        </p:nvSpPr>
        <p:spPr/>
        <p:txBody>
          <a:bodyPr/>
          <a:lstStyle/>
          <a:p>
            <a:r>
              <a:rPr lang="en-US" dirty="0"/>
              <a:t>p-value</a:t>
            </a:r>
          </a:p>
        </p:txBody>
      </p:sp>
      <p:sp>
        <p:nvSpPr>
          <p:cNvPr id="3" name="Content Placeholder 2">
            <a:extLst>
              <a:ext uri="{FF2B5EF4-FFF2-40B4-BE49-F238E27FC236}">
                <a16:creationId xmlns:a16="http://schemas.microsoft.com/office/drawing/2014/main" id="{28E895F8-9795-5CB9-DAE2-FBF2E17D1DE6}"/>
              </a:ext>
            </a:extLst>
          </p:cNvPr>
          <p:cNvSpPr>
            <a:spLocks noGrp="1"/>
          </p:cNvSpPr>
          <p:nvPr>
            <p:ph idx="1"/>
          </p:nvPr>
        </p:nvSpPr>
        <p:spPr/>
        <p:txBody>
          <a:bodyPr/>
          <a:lstStyle/>
          <a:p>
            <a:r>
              <a:rPr lang="en-US" dirty="0"/>
              <a:t>A p-value, short for "</a:t>
            </a:r>
            <a:r>
              <a:rPr lang="en-US" b="1" dirty="0">
                <a:solidFill>
                  <a:srgbClr val="7030A0"/>
                </a:solidFill>
              </a:rPr>
              <a:t>probability value</a:t>
            </a:r>
            <a:r>
              <a:rPr lang="en-US" dirty="0"/>
              <a:t>," is a statistical measure used in </a:t>
            </a:r>
            <a:r>
              <a:rPr lang="en-US" b="1" dirty="0">
                <a:solidFill>
                  <a:srgbClr val="7030A0"/>
                </a:solidFill>
              </a:rPr>
              <a:t>hypothesis testing </a:t>
            </a:r>
            <a:r>
              <a:rPr lang="en-US" dirty="0"/>
              <a:t>to assess the strength of evidence against a null hypothesis. </a:t>
            </a:r>
          </a:p>
          <a:p>
            <a:r>
              <a:rPr lang="en-US" dirty="0"/>
              <a:t>It helps you determine whether the results of a statistical test are statistically significant or if they could have occurred by random chance.</a:t>
            </a:r>
          </a:p>
          <a:p>
            <a:endParaRPr lang="en-US" dirty="0"/>
          </a:p>
          <a:p>
            <a:pPr marL="0" indent="0">
              <a:buNone/>
            </a:pPr>
            <a:r>
              <a:rPr lang="en-US" b="1" dirty="0">
                <a:solidFill>
                  <a:srgbClr val="7030A0"/>
                </a:solidFill>
              </a:rPr>
              <a:t>How to interpret it:</a:t>
            </a:r>
          </a:p>
          <a:p>
            <a:r>
              <a:rPr lang="en-US" b="1" dirty="0">
                <a:solidFill>
                  <a:srgbClr val="9344D1"/>
                </a:solidFill>
              </a:rPr>
              <a:t>Low p-value (e.g., ≤ 0.05): </a:t>
            </a:r>
            <a:r>
              <a:rPr lang="en-US" dirty="0"/>
              <a:t>If the p-value is small, it means your results are probably not due to chance. You might have found something significant.</a:t>
            </a:r>
          </a:p>
          <a:p>
            <a:r>
              <a:rPr lang="en-US" b="1" dirty="0">
                <a:solidFill>
                  <a:srgbClr val="9344D1"/>
                </a:solidFill>
              </a:rPr>
              <a:t>High p-value (e.g., &gt; 0.05): </a:t>
            </a:r>
            <a:r>
              <a:rPr lang="en-US" dirty="0"/>
              <a:t>If the p-value is large, it suggests your results could be due to chance. You might not have found something significant.</a:t>
            </a:r>
          </a:p>
          <a:p>
            <a:endParaRPr lang="en-US" dirty="0"/>
          </a:p>
        </p:txBody>
      </p:sp>
      <p:sp>
        <p:nvSpPr>
          <p:cNvPr id="4" name="Slide Number Placeholder 3">
            <a:extLst>
              <a:ext uri="{FF2B5EF4-FFF2-40B4-BE49-F238E27FC236}">
                <a16:creationId xmlns:a16="http://schemas.microsoft.com/office/drawing/2014/main" id="{E7375F3B-B52F-0F1A-BE89-542027AC8049}"/>
              </a:ext>
            </a:extLst>
          </p:cNvPr>
          <p:cNvSpPr>
            <a:spLocks noGrp="1"/>
          </p:cNvSpPr>
          <p:nvPr>
            <p:ph type="sldNum" sz="quarter" idx="12"/>
          </p:nvPr>
        </p:nvSpPr>
        <p:spPr/>
        <p:txBody>
          <a:bodyPr/>
          <a:lstStyle/>
          <a:p>
            <a:fld id="{A4DA0FD2-D456-4FC5-A587-87644C4EB2D1}" type="slidenum">
              <a:rPr lang="tr-TR" smtClean="0"/>
              <a:pPr/>
              <a:t>23</a:t>
            </a:fld>
            <a:endParaRPr lang="tr-TR"/>
          </a:p>
        </p:txBody>
      </p:sp>
    </p:spTree>
    <p:extLst>
      <p:ext uri="{BB962C8B-B14F-4D97-AF65-F5344CB8AC3E}">
        <p14:creationId xmlns:p14="http://schemas.microsoft.com/office/powerpoint/2010/main" val="41958827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E1D4C-15DD-2895-7C7B-CEFBD6F9A83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771D53DB-60B5-A54B-B701-C5F67E0B325F}"/>
              </a:ext>
            </a:extLst>
          </p:cNvPr>
          <p:cNvSpPr>
            <a:spLocks noGrp="1"/>
          </p:cNvSpPr>
          <p:nvPr>
            <p:ph idx="1"/>
          </p:nvPr>
        </p:nvSpPr>
        <p:spPr/>
        <p:txBody>
          <a:bodyPr/>
          <a:lstStyle/>
          <a:p>
            <a:r>
              <a:rPr lang="en-US" dirty="0"/>
              <a:t>Exploratory Data Analysis (EDA): Understanding patterns and anomalies in data.</a:t>
            </a:r>
          </a:p>
          <a:p>
            <a:r>
              <a:rPr lang="en-US" dirty="0"/>
              <a:t>Pandas </a:t>
            </a:r>
            <a:r>
              <a:rPr lang="en-US" dirty="0" err="1"/>
              <a:t>DataFrames</a:t>
            </a:r>
            <a:r>
              <a:rPr lang="en-US" dirty="0"/>
              <a:t>: Practical and efficient data manipulation and analysis.</a:t>
            </a:r>
          </a:p>
          <a:p>
            <a:r>
              <a:rPr lang="en-US" dirty="0"/>
              <a:t>Data Cleaning, and Preparation: Ensuring data accuracy and readiness.</a:t>
            </a:r>
          </a:p>
          <a:p>
            <a:r>
              <a:rPr lang="en-US" dirty="0"/>
              <a:t>Data Visualization: Uncovering trends and communicating insights.</a:t>
            </a:r>
          </a:p>
          <a:p>
            <a:r>
              <a:rPr lang="en-US" dirty="0"/>
              <a:t>Key Statistical Concepts: Interpreting data with foundational statistics.</a:t>
            </a:r>
          </a:p>
          <a:p>
            <a:r>
              <a:rPr lang="en-US" dirty="0"/>
              <a:t>Correlation: Identifying relationships between variables.</a:t>
            </a:r>
          </a:p>
          <a:p>
            <a:r>
              <a:rPr lang="en-US" dirty="0"/>
              <a:t>Probability: Measuring of the likelihood that an event will occur</a:t>
            </a:r>
          </a:p>
        </p:txBody>
      </p:sp>
      <p:sp>
        <p:nvSpPr>
          <p:cNvPr id="4" name="Slide Number Placeholder 3">
            <a:extLst>
              <a:ext uri="{FF2B5EF4-FFF2-40B4-BE49-F238E27FC236}">
                <a16:creationId xmlns:a16="http://schemas.microsoft.com/office/drawing/2014/main" id="{1E8B9AF8-70C8-CA78-A894-AA52958055FB}"/>
              </a:ext>
            </a:extLst>
          </p:cNvPr>
          <p:cNvSpPr>
            <a:spLocks noGrp="1"/>
          </p:cNvSpPr>
          <p:nvPr>
            <p:ph type="sldNum" sz="quarter" idx="12"/>
          </p:nvPr>
        </p:nvSpPr>
        <p:spPr/>
        <p:txBody>
          <a:bodyPr/>
          <a:lstStyle/>
          <a:p>
            <a:fld id="{A4DA0FD2-D456-4FC5-A587-87644C4EB2D1}" type="slidenum">
              <a:rPr lang="tr-TR" smtClean="0"/>
              <a:pPr/>
              <a:t>24</a:t>
            </a:fld>
            <a:endParaRPr lang="tr-TR"/>
          </a:p>
        </p:txBody>
      </p:sp>
    </p:spTree>
    <p:extLst>
      <p:ext uri="{BB962C8B-B14F-4D97-AF65-F5344CB8AC3E}">
        <p14:creationId xmlns:p14="http://schemas.microsoft.com/office/powerpoint/2010/main" val="1993291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nchor="ctr" anchorCtr="0"/>
          <a:lstStyle/>
          <a:p>
            <a:r>
              <a:rPr lang="en-US" dirty="0"/>
              <a:t>Main T</a:t>
            </a:r>
            <a:r>
              <a:rPr lang="en-US" b="1" dirty="0"/>
              <a:t>extbooks</a:t>
            </a:r>
          </a:p>
        </p:txBody>
      </p:sp>
      <p:sp>
        <p:nvSpPr>
          <p:cNvPr id="94211" name="Rectangle 3"/>
          <p:cNvSpPr>
            <a:spLocks noGrp="1" noChangeArrowheads="1"/>
          </p:cNvSpPr>
          <p:nvPr>
            <p:ph idx="1"/>
          </p:nvPr>
        </p:nvSpPr>
        <p:spPr/>
        <p:txBody>
          <a:bodyPr>
            <a:normAutofit/>
          </a:bodyPr>
          <a:lstStyle/>
          <a:p>
            <a:r>
              <a:rPr lang="en-US" sz="1600" dirty="0" err="1"/>
              <a:t>Abbasabadi</a:t>
            </a:r>
            <a:r>
              <a:rPr lang="en-US" sz="1600" dirty="0"/>
              <a:t>, N., </a:t>
            </a:r>
            <a:r>
              <a:rPr lang="en-US" sz="1600" dirty="0" err="1"/>
              <a:t>Ashayeri</a:t>
            </a:r>
            <a:r>
              <a:rPr lang="en-US" sz="1600" dirty="0"/>
              <a:t>, M,. (Eds). (2024). Artificial Intelligence in Performance-driven Design: Theories, Methods and Tools, Wiley.</a:t>
            </a:r>
          </a:p>
          <a:p>
            <a:r>
              <a:rPr lang="en-US" sz="1600" dirty="0" err="1"/>
              <a:t>Alpaydin</a:t>
            </a:r>
            <a:r>
              <a:rPr lang="en-US" sz="1600" dirty="0"/>
              <a:t>, E., (2020). Introduction to Machine Learning, 4th Edition, The MIT Press</a:t>
            </a:r>
          </a:p>
          <a:p>
            <a:endParaRPr lang="en-US" sz="1600" dirty="0"/>
          </a:p>
          <a:p>
            <a:endParaRPr lang="en-US" sz="1600" dirty="0"/>
          </a:p>
          <a:p>
            <a:endParaRPr lang="en-US" sz="1600" dirty="0"/>
          </a:p>
          <a:p>
            <a:endParaRPr lang="en-US" sz="1600" dirty="0"/>
          </a:p>
        </p:txBody>
      </p:sp>
      <p:sp>
        <p:nvSpPr>
          <p:cNvPr id="9" name="Slide Number Placeholder 8"/>
          <p:cNvSpPr>
            <a:spLocks noGrp="1"/>
          </p:cNvSpPr>
          <p:nvPr>
            <p:ph type="sldNum" sz="quarter" idx="12"/>
          </p:nvPr>
        </p:nvSpPr>
        <p:spPr/>
        <p:txBody>
          <a:bodyPr>
            <a:normAutofit/>
          </a:bodyPr>
          <a:lstStyle/>
          <a:p>
            <a:fld id="{6DF4C409-C017-451C-B236-E185BBA6E0E4}" type="slidenum">
              <a:rPr lang="tr-TR" smtClean="0"/>
              <a:pPr/>
              <a:t>25</a:t>
            </a:fld>
            <a:endParaRPr lang="tr-TR"/>
          </a:p>
        </p:txBody>
      </p:sp>
      <p:pic>
        <p:nvPicPr>
          <p:cNvPr id="33794" name="Picture 2">
            <a:extLst>
              <a:ext uri="{FF2B5EF4-FFF2-40B4-BE49-F238E27FC236}">
                <a16:creationId xmlns:a16="http://schemas.microsoft.com/office/drawing/2014/main" id="{3F2104F2-BFF2-6A99-6E81-51C5C7BE2A5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608168" y="3429001"/>
            <a:ext cx="2232248" cy="254974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30ED711-4738-9724-1CFE-DFABE06E688C}"/>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532364" y="3429000"/>
            <a:ext cx="1787772" cy="2549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7585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06652-2001-018C-839E-DB0B5808692F}"/>
              </a:ext>
            </a:extLst>
          </p:cNvPr>
          <p:cNvSpPr>
            <a:spLocks noGrp="1"/>
          </p:cNvSpPr>
          <p:nvPr>
            <p:ph type="title"/>
          </p:nvPr>
        </p:nvSpPr>
        <p:spPr/>
        <p:txBody>
          <a:bodyPr/>
          <a:lstStyle/>
          <a:p>
            <a:r>
              <a:rPr lang="en-US" dirty="0"/>
              <a:t>Readings</a:t>
            </a:r>
          </a:p>
        </p:txBody>
      </p:sp>
      <p:sp>
        <p:nvSpPr>
          <p:cNvPr id="3" name="Content Placeholder 2">
            <a:extLst>
              <a:ext uri="{FF2B5EF4-FFF2-40B4-BE49-F238E27FC236}">
                <a16:creationId xmlns:a16="http://schemas.microsoft.com/office/drawing/2014/main" id="{7166463F-C0AA-1660-E3D6-0262018C4CF5}"/>
              </a:ext>
            </a:extLst>
          </p:cNvPr>
          <p:cNvSpPr>
            <a:spLocks noGrp="1"/>
          </p:cNvSpPr>
          <p:nvPr>
            <p:ph idx="1"/>
          </p:nvPr>
        </p:nvSpPr>
        <p:spPr/>
        <p:txBody>
          <a:bodyPr/>
          <a:lstStyle/>
          <a:p>
            <a:r>
              <a:rPr lang="en-US" dirty="0" err="1"/>
              <a:t>Alpaydin</a:t>
            </a:r>
            <a:r>
              <a:rPr lang="en-US" dirty="0"/>
              <a:t>, E., (2020). Introduction to Machine Learning. 4th Edition, The MIT Press. </a:t>
            </a:r>
            <a:r>
              <a:rPr lang="en-US" b="1" dirty="0">
                <a:solidFill>
                  <a:srgbClr val="A54EF3"/>
                </a:solidFill>
              </a:rPr>
              <a:t>– Chapter 3 / Bayesian Decision Theory</a:t>
            </a:r>
          </a:p>
          <a:p>
            <a:endParaRPr lang="en-US" b="1" dirty="0">
              <a:solidFill>
                <a:srgbClr val="A54EF3"/>
              </a:solidFill>
            </a:endParaRPr>
          </a:p>
          <a:p>
            <a:pPr marL="0" indent="0">
              <a:buNone/>
            </a:pPr>
            <a:endParaRPr lang="en-US" b="1" dirty="0">
              <a:solidFill>
                <a:srgbClr val="A54EF3"/>
              </a:solidFill>
            </a:endParaRP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D79BE04A-E4DC-B8B4-D243-F236FCC8D28F}"/>
              </a:ext>
            </a:extLst>
          </p:cNvPr>
          <p:cNvSpPr>
            <a:spLocks noGrp="1"/>
          </p:cNvSpPr>
          <p:nvPr>
            <p:ph type="sldNum" sz="quarter" idx="12"/>
          </p:nvPr>
        </p:nvSpPr>
        <p:spPr/>
        <p:txBody>
          <a:bodyPr/>
          <a:lstStyle/>
          <a:p>
            <a:fld id="{A4DA0FD2-D456-4FC5-A587-87644C4EB2D1}" type="slidenum">
              <a:rPr lang="tr-TR" smtClean="0"/>
              <a:pPr/>
              <a:t>26</a:t>
            </a:fld>
            <a:endParaRPr lang="tr-TR"/>
          </a:p>
        </p:txBody>
      </p:sp>
    </p:spTree>
    <p:extLst>
      <p:ext uri="{BB962C8B-B14F-4D97-AF65-F5344CB8AC3E}">
        <p14:creationId xmlns:p14="http://schemas.microsoft.com/office/powerpoint/2010/main" val="125272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F257E-DE4B-E04B-8591-F2DC6DD1A61A}"/>
              </a:ext>
            </a:extLst>
          </p:cNvPr>
          <p:cNvSpPr>
            <a:spLocks noGrp="1"/>
          </p:cNvSpPr>
          <p:nvPr>
            <p:ph type="title"/>
          </p:nvPr>
        </p:nvSpPr>
        <p:spPr/>
        <p:txBody>
          <a:bodyPr/>
          <a:lstStyle/>
          <a:p>
            <a:r>
              <a:rPr lang="en-US" dirty="0"/>
              <a:t>Next Class</a:t>
            </a:r>
          </a:p>
        </p:txBody>
      </p:sp>
      <p:sp>
        <p:nvSpPr>
          <p:cNvPr id="4" name="Rectangle 21">
            <a:extLst>
              <a:ext uri="{FF2B5EF4-FFF2-40B4-BE49-F238E27FC236}">
                <a16:creationId xmlns:a16="http://schemas.microsoft.com/office/drawing/2014/main" id="{E2CD8A25-F963-5A48-A13C-8FDFBE85E252}"/>
              </a:ext>
            </a:extLst>
          </p:cNvPr>
          <p:cNvSpPr txBox="1">
            <a:spLocks noChangeArrowheads="1"/>
          </p:cNvSpPr>
          <p:nvPr/>
        </p:nvSpPr>
        <p:spPr bwMode="auto">
          <a:xfrm>
            <a:off x="1055440" y="1943100"/>
            <a:ext cx="8126660" cy="3574132"/>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lvl="1" indent="0">
              <a:buNone/>
            </a:pPr>
            <a:endParaRPr lang="en-US" sz="1350" dirty="0">
              <a:latin typeface="Helvetica" pitchFamily="2" charset="0"/>
              <a:ea typeface="Calibri" panose="020F0502020204030204" pitchFamily="34" charset="0"/>
            </a:endParaRPr>
          </a:p>
          <a:p>
            <a:pPr marL="214313" lvl="1"/>
            <a:r>
              <a:rPr lang="en-US" sz="1800" dirty="0"/>
              <a:t>Machine Learning: Regression</a:t>
            </a:r>
          </a:p>
          <a:p>
            <a:pPr marL="0" lvl="1" indent="0">
              <a:buNone/>
            </a:pPr>
            <a:endParaRPr lang="en-US" sz="1350" dirty="0">
              <a:latin typeface="Helvetica" pitchFamily="2" charset="0"/>
              <a:ea typeface="Calibri" panose="020F0502020204030204" pitchFamily="34" charset="0"/>
            </a:endParaRPr>
          </a:p>
          <a:p>
            <a:pPr marL="0" lvl="1" indent="0">
              <a:buNone/>
            </a:pPr>
            <a:endParaRPr lang="en-US" sz="1350" b="1" dirty="0">
              <a:latin typeface="Calibri" panose="020F0502020204030204" pitchFamily="34" charset="0"/>
            </a:endParaRPr>
          </a:p>
        </p:txBody>
      </p:sp>
    </p:spTree>
    <p:extLst>
      <p:ext uri="{BB962C8B-B14F-4D97-AF65-F5344CB8AC3E}">
        <p14:creationId xmlns:p14="http://schemas.microsoft.com/office/powerpoint/2010/main" val="1520815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46938E-2735-E543-9840-0DCE71799732}"/>
              </a:ext>
            </a:extLst>
          </p:cNvPr>
          <p:cNvSpPr>
            <a:spLocks noGrp="1"/>
          </p:cNvSpPr>
          <p:nvPr>
            <p:ph type="sldNum" sz="quarter" idx="12"/>
          </p:nvPr>
        </p:nvSpPr>
        <p:spPr/>
        <p:txBody>
          <a:bodyPr/>
          <a:lstStyle/>
          <a:p>
            <a:fld id="{4F76C18F-78ED-364E-868B-B1136D5278E5}" type="slidenum">
              <a:rPr lang="en-US" smtClean="0"/>
              <a:t>28</a:t>
            </a:fld>
            <a:endParaRPr lang="en-US"/>
          </a:p>
        </p:txBody>
      </p:sp>
      <p:sp>
        <p:nvSpPr>
          <p:cNvPr id="2" name="Title 1">
            <a:extLst>
              <a:ext uri="{FF2B5EF4-FFF2-40B4-BE49-F238E27FC236}">
                <a16:creationId xmlns:a16="http://schemas.microsoft.com/office/drawing/2014/main" id="{C744430A-41E7-1F1D-9809-AEC51915F29B}"/>
              </a:ext>
            </a:extLst>
          </p:cNvPr>
          <p:cNvSpPr>
            <a:spLocks noGrp="1"/>
          </p:cNvSpPr>
          <p:nvPr>
            <p:ph type="title"/>
          </p:nvPr>
        </p:nvSpPr>
        <p:spPr>
          <a:xfrm>
            <a:off x="4583832" y="2780928"/>
            <a:ext cx="2656782" cy="941325"/>
          </a:xfrm>
        </p:spPr>
        <p:txBody>
          <a:bodyPr/>
          <a:lstStyle/>
          <a:p>
            <a:r>
              <a:rPr lang="en-US" dirty="0"/>
              <a:t>QUESTIONS?</a:t>
            </a:r>
          </a:p>
        </p:txBody>
      </p:sp>
    </p:spTree>
    <p:extLst>
      <p:ext uri="{BB962C8B-B14F-4D97-AF65-F5344CB8AC3E}">
        <p14:creationId xmlns:p14="http://schemas.microsoft.com/office/powerpoint/2010/main" val="248126148"/>
      </p:ext>
    </p:extLst>
  </p:cSld>
  <p:clrMapOvr>
    <a:masterClrMapping/>
  </p:clrMapOvr>
  <mc:AlternateContent xmlns:mc="http://schemas.openxmlformats.org/markup-compatibility/2006" xmlns:p14="http://schemas.microsoft.com/office/powerpoint/2010/main">
    <mc:Choice Requires="p14">
      <p:transition spd="slow" p14:dur="2000" advTm="5592"/>
    </mc:Choice>
    <mc:Fallback xmlns="">
      <p:transition spd="slow" advTm="5592"/>
    </mc:Fallback>
  </mc:AlternateContent>
</p:sld>
</file>

<file path=ppt/theme/theme1.xml><?xml version="1.0" encoding="utf-8"?>
<a:theme xmlns:a="http://schemas.openxmlformats.org/drawingml/2006/main" name="UW Lecture Notes ">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UW Lecture Notes " id="{31995CA2-4DBD-4346-9BC1-E487B60AE287}" vid="{DB318C28-8647-D64A-887A-E07051A7D92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UW Lecture Notes </Template>
  <TotalTime>32587</TotalTime>
  <Words>1703</Words>
  <Application>Microsoft Macintosh PowerPoint</Application>
  <PresentationFormat>Widescreen</PresentationFormat>
  <Paragraphs>194</Paragraphs>
  <Slides>28</Slides>
  <Notes>9</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8" baseType="lpstr">
      <vt:lpstr>Arial</vt:lpstr>
      <vt:lpstr>Calibri</vt:lpstr>
      <vt:lpstr>Courier New</vt:lpstr>
      <vt:lpstr>Gill Sans MT</vt:lpstr>
      <vt:lpstr>Helvetica</vt:lpstr>
      <vt:lpstr>Times New Roman</vt:lpstr>
      <vt:lpstr>Wingdings</vt:lpstr>
      <vt:lpstr>Wingdings 2</vt:lpstr>
      <vt:lpstr>UW Lecture Notes </vt:lpstr>
      <vt:lpstr>Equation</vt:lpstr>
      <vt:lpstr>PowerPoint Presentation</vt:lpstr>
      <vt:lpstr>Today's Agenda</vt:lpstr>
      <vt:lpstr>Review  Exploratory Data Analysis (EDA)</vt:lpstr>
      <vt:lpstr>Review  Statistics</vt:lpstr>
      <vt:lpstr>Review  Descriptive Statistics</vt:lpstr>
      <vt:lpstr>Review  Correlation</vt:lpstr>
      <vt:lpstr>Review  Correlation</vt:lpstr>
      <vt:lpstr>Review  Correlation</vt:lpstr>
      <vt:lpstr>Introduction to Probability</vt:lpstr>
      <vt:lpstr>Why Are Probability Important?</vt:lpstr>
      <vt:lpstr>Introduction to Probability</vt:lpstr>
      <vt:lpstr>Conditional Probability</vt:lpstr>
      <vt:lpstr>Learning Associations</vt:lpstr>
      <vt:lpstr>Random Variables</vt:lpstr>
      <vt:lpstr>Probability Distributions</vt:lpstr>
      <vt:lpstr>Other Key Distributions</vt:lpstr>
      <vt:lpstr>Types of Probability Distributions</vt:lpstr>
      <vt:lpstr>Types of Probability Distributions</vt:lpstr>
      <vt:lpstr>Bayes' Theorem</vt:lpstr>
      <vt:lpstr>Bayesian Decision Theory</vt:lpstr>
      <vt:lpstr>Bayesian Decision Theory</vt:lpstr>
      <vt:lpstr>Bayes’ Rule</vt:lpstr>
      <vt:lpstr>p-value</vt:lpstr>
      <vt:lpstr>Conclusion</vt:lpstr>
      <vt:lpstr>Main Textbooks</vt:lpstr>
      <vt:lpstr>Readings</vt:lpstr>
      <vt:lpstr>Next Class</vt:lpstr>
      <vt:lpstr>QUESTIONS?</vt:lpstr>
    </vt:vector>
  </TitlesOfParts>
  <Company>BOGAZICI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dc:title>
  <dc:creator>ethem</dc:creator>
  <cp:lastModifiedBy>narjes abbasabadi</cp:lastModifiedBy>
  <cp:revision>388</cp:revision>
  <dcterms:created xsi:type="dcterms:W3CDTF">2005-01-24T14:46:28Z</dcterms:created>
  <dcterms:modified xsi:type="dcterms:W3CDTF">2026-04-21T20:28:26Z</dcterms:modified>
</cp:coreProperties>
</file>