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79" r:id="rId1"/>
  </p:sldMasterIdLst>
  <p:notesMasterIdLst>
    <p:notesMasterId r:id="rId59"/>
  </p:notesMasterIdLst>
  <p:handoutMasterIdLst>
    <p:handoutMasterId r:id="rId60"/>
  </p:handoutMasterIdLst>
  <p:sldIdLst>
    <p:sldId id="2732" r:id="rId2"/>
    <p:sldId id="2539" r:id="rId3"/>
    <p:sldId id="2856" r:id="rId4"/>
    <p:sldId id="2548" r:id="rId5"/>
    <p:sldId id="2660" r:id="rId6"/>
    <p:sldId id="2661" r:id="rId7"/>
    <p:sldId id="2457" r:id="rId8"/>
    <p:sldId id="2536" r:id="rId9"/>
    <p:sldId id="2514" r:id="rId10"/>
    <p:sldId id="2459" r:id="rId11"/>
    <p:sldId id="271" r:id="rId12"/>
    <p:sldId id="2663" r:id="rId13"/>
    <p:sldId id="424" r:id="rId14"/>
    <p:sldId id="2482" r:id="rId15"/>
    <p:sldId id="2485" r:id="rId16"/>
    <p:sldId id="2474" r:id="rId17"/>
    <p:sldId id="2540" r:id="rId18"/>
    <p:sldId id="2541" r:id="rId19"/>
    <p:sldId id="426" r:id="rId20"/>
    <p:sldId id="2461" r:id="rId21"/>
    <p:sldId id="2857" r:id="rId22"/>
    <p:sldId id="268" r:id="rId23"/>
    <p:sldId id="2551" r:id="rId24"/>
    <p:sldId id="2664" r:id="rId25"/>
    <p:sldId id="2665" r:id="rId26"/>
    <p:sldId id="2666" r:id="rId27"/>
    <p:sldId id="2500" r:id="rId28"/>
    <p:sldId id="2460" r:id="rId29"/>
    <p:sldId id="2502" r:id="rId30"/>
    <p:sldId id="2518" r:id="rId31"/>
    <p:sldId id="2519" r:id="rId32"/>
    <p:sldId id="2517" r:id="rId33"/>
    <p:sldId id="2667" r:id="rId34"/>
    <p:sldId id="2591" r:id="rId35"/>
    <p:sldId id="2592" r:id="rId36"/>
    <p:sldId id="2599" r:id="rId37"/>
    <p:sldId id="2600" r:id="rId38"/>
    <p:sldId id="2597" r:id="rId39"/>
    <p:sldId id="2544" r:id="rId40"/>
    <p:sldId id="2734" r:id="rId41"/>
    <p:sldId id="2554" r:id="rId42"/>
    <p:sldId id="2735" r:id="rId43"/>
    <p:sldId id="2555" r:id="rId44"/>
    <p:sldId id="2736" r:id="rId45"/>
    <p:sldId id="310" r:id="rId46"/>
    <p:sldId id="2557" r:id="rId47"/>
    <p:sldId id="2507" r:id="rId48"/>
    <p:sldId id="2575" r:id="rId49"/>
    <p:sldId id="2580" r:id="rId50"/>
    <p:sldId id="2737" r:id="rId51"/>
    <p:sldId id="2738" r:id="rId52"/>
    <p:sldId id="2642" r:id="rId53"/>
    <p:sldId id="2656" r:id="rId54"/>
    <p:sldId id="2739" r:id="rId55"/>
    <p:sldId id="2546" r:id="rId56"/>
    <p:sldId id="2643" r:id="rId57"/>
    <p:sldId id="1180" r:id="rId58"/>
  </p:sldIdLst>
  <p:sldSz cx="12192000" cy="6858000"/>
  <p:notesSz cx="10234613" cy="70993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236">
          <p15:clr>
            <a:srgbClr val="A4A3A4"/>
          </p15:clr>
        </p15:guide>
        <p15:guide id="2" pos="322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B2D83"/>
    <a:srgbClr val="A54EF3"/>
    <a:srgbClr val="876DAC"/>
    <a:srgbClr val="A756B2"/>
    <a:srgbClr val="9344D1"/>
    <a:srgbClr val="7030A0"/>
    <a:srgbClr val="000000"/>
    <a:srgbClr val="FF0000"/>
    <a:srgbClr val="B0304A"/>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81" autoAdjust="0"/>
    <p:restoredTop sz="46784" autoAdjust="0"/>
  </p:normalViewPr>
  <p:slideViewPr>
    <p:cSldViewPr>
      <p:cViewPr varScale="1">
        <p:scale>
          <a:sx n="78" d="100"/>
          <a:sy n="78" d="100"/>
        </p:scale>
        <p:origin x="2504" y="176"/>
      </p:cViewPr>
      <p:guideLst>
        <p:guide orient="horz" pos="2160"/>
        <p:guide pos="3840"/>
      </p:guideLst>
    </p:cSldViewPr>
  </p:slideViewPr>
  <p:outlineViewPr>
    <p:cViewPr>
      <p:scale>
        <a:sx n="33" d="100"/>
        <a:sy n="33" d="100"/>
      </p:scale>
      <p:origin x="0" y="0"/>
    </p:cViewPr>
  </p:outlineViewPr>
  <p:notesTextViewPr>
    <p:cViewPr>
      <p:scale>
        <a:sx n="110" d="100"/>
        <a:sy n="110" d="100"/>
      </p:scale>
      <p:origin x="0" y="0"/>
    </p:cViewPr>
  </p:notesTextViewPr>
  <p:sorterViewPr>
    <p:cViewPr>
      <p:scale>
        <a:sx n="66" d="100"/>
        <a:sy n="66" d="100"/>
      </p:scale>
      <p:origin x="0" y="0"/>
    </p:cViewPr>
  </p:sorterViewPr>
  <p:notesViewPr>
    <p:cSldViewPr>
      <p:cViewPr varScale="1">
        <p:scale>
          <a:sx n="80" d="100"/>
          <a:sy n="80" d="100"/>
        </p:scale>
        <p:origin x="-1254" y="-84"/>
      </p:cViewPr>
      <p:guideLst>
        <p:guide orient="horz" pos="2236"/>
        <p:guide pos="322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s>
</file>

<file path=ppt/diagrams/_rels/data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ata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7.svg"/></Relationships>
</file>

<file path=ppt/diagrams/_rels/data3.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image" Target="../media/image19.png"/></Relationships>
</file>

<file path=ppt/diagrams/_rels/data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7.svg"/></Relationships>
</file>

<file path=ppt/diagrams/_rels/data5.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image" Target="../media/image19.png"/></Relationships>
</file>

<file path=ppt/diagrams/_rels/data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0.svg"/><Relationship Id="rId1" Type="http://schemas.openxmlformats.org/officeDocument/2006/relationships/image" Target="../media/image19.png"/><Relationship Id="rId4" Type="http://schemas.openxmlformats.org/officeDocument/2006/relationships/image" Target="../media/image1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7.svg"/></Relationships>
</file>

<file path=ppt/diagrams/_rels/drawing3.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image" Target="../media/image19.png"/></Relationships>
</file>

<file path=ppt/diagrams/_rels/drawing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svg"/><Relationship Id="rId1" Type="http://schemas.openxmlformats.org/officeDocument/2006/relationships/image" Target="../media/image14.png"/><Relationship Id="rId4" Type="http://schemas.openxmlformats.org/officeDocument/2006/relationships/image" Target="../media/image17.svg"/></Relationships>
</file>

<file path=ppt/diagrams/_rels/drawing5.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image" Target="../media/image19.png"/></Relationships>
</file>

<file path=ppt/diagrams/_rels/drawing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0.svg"/><Relationship Id="rId1" Type="http://schemas.openxmlformats.org/officeDocument/2006/relationships/image" Target="../media/image19.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30801C5-6E1D-408B-9CD5-AD4B4997C750}" type="doc">
      <dgm:prSet loTypeId="urn:microsoft.com/office/officeart/2018/5/layout/IconCircleLabelList" loCatId="icon" qsTypeId="urn:microsoft.com/office/officeart/2005/8/quickstyle/simple1" qsCatId="simple" csTypeId="urn:microsoft.com/office/officeart/2005/8/colors/accent2_2" csCatId="accent2" phldr="1"/>
      <dgm:spPr/>
      <dgm:t>
        <a:bodyPr/>
        <a:lstStyle/>
        <a:p>
          <a:endParaRPr lang="en-US"/>
        </a:p>
      </dgm:t>
    </dgm:pt>
    <dgm:pt modelId="{1D982062-3D81-48B2-80C0-E1652259A9E3}">
      <dgm:prSet custT="1"/>
      <dgm:spPr/>
      <dgm:t>
        <a:bodyPr/>
        <a:lstStyle/>
        <a:p>
          <a:pPr>
            <a:defRPr cap="all"/>
          </a:pPr>
          <a:r>
            <a:rPr lang="en-US" sz="1800" b="1" cap="none" dirty="0">
              <a:solidFill>
                <a:schemeClr val="bg1"/>
              </a:solidFill>
            </a:rPr>
            <a:t>Data: </a:t>
          </a:r>
        </a:p>
        <a:p>
          <a:pPr>
            <a:defRPr cap="all"/>
          </a:pPr>
          <a:r>
            <a:rPr lang="en-US" sz="1600" cap="none" dirty="0"/>
            <a:t>past/historical observations</a:t>
          </a:r>
        </a:p>
      </dgm:t>
    </dgm:pt>
    <dgm:pt modelId="{DAF6A67B-21DC-4326-A0DB-EC51BC3B70A2}" type="parTrans" cxnId="{90EBE788-2F14-4097-AD79-B7A2149E00E7}">
      <dgm:prSet/>
      <dgm:spPr/>
      <dgm:t>
        <a:bodyPr/>
        <a:lstStyle/>
        <a:p>
          <a:endParaRPr lang="en-US"/>
        </a:p>
      </dgm:t>
    </dgm:pt>
    <dgm:pt modelId="{9F1C0D76-134B-47F3-A219-15A522958B7A}" type="sibTrans" cxnId="{90EBE788-2F14-4097-AD79-B7A2149E00E7}">
      <dgm:prSet/>
      <dgm:spPr/>
      <dgm:t>
        <a:bodyPr/>
        <a:lstStyle/>
        <a:p>
          <a:endParaRPr lang="en-US"/>
        </a:p>
      </dgm:t>
    </dgm:pt>
    <dgm:pt modelId="{39BDD99A-F88D-4BAE-8350-877C3C47E15E}">
      <dgm:prSet custT="1"/>
      <dgm:spPr/>
      <dgm:t>
        <a:bodyPr/>
        <a:lstStyle/>
        <a:p>
          <a:pPr>
            <a:defRPr cap="all"/>
          </a:pPr>
          <a:r>
            <a:rPr lang="en-US" sz="1800" b="1" cap="none" dirty="0">
              <a:solidFill>
                <a:schemeClr val="bg1"/>
              </a:solidFill>
            </a:rPr>
            <a:t>Hypotheses/models:</a:t>
          </a:r>
        </a:p>
        <a:p>
          <a:pPr>
            <a:defRPr cap="all"/>
          </a:pPr>
          <a:r>
            <a:rPr lang="en-US" sz="1500" b="1" cap="none" dirty="0"/>
            <a:t> </a:t>
          </a:r>
          <a:r>
            <a:rPr lang="en-US" sz="1500" cap="none" dirty="0"/>
            <a:t>created to capture and represent the patterns in data </a:t>
          </a:r>
        </a:p>
      </dgm:t>
    </dgm:pt>
    <dgm:pt modelId="{CA8F7F72-5F43-4280-9F62-47CD38727BE3}" type="parTrans" cxnId="{F073483B-71BE-4646-9AF3-A05F888EA6E7}">
      <dgm:prSet/>
      <dgm:spPr/>
      <dgm:t>
        <a:bodyPr/>
        <a:lstStyle/>
        <a:p>
          <a:endParaRPr lang="en-US"/>
        </a:p>
      </dgm:t>
    </dgm:pt>
    <dgm:pt modelId="{AC7436EF-93AC-4064-9C96-CA6A105B8DCA}" type="sibTrans" cxnId="{F073483B-71BE-4646-9AF3-A05F888EA6E7}">
      <dgm:prSet/>
      <dgm:spPr/>
      <dgm:t>
        <a:bodyPr/>
        <a:lstStyle/>
        <a:p>
          <a:endParaRPr lang="en-US"/>
        </a:p>
      </dgm:t>
    </dgm:pt>
    <dgm:pt modelId="{81186A76-2C0A-4A8C-A4AE-D0471A4511C4}">
      <dgm:prSet custT="1"/>
      <dgm:spPr/>
      <dgm:t>
        <a:bodyPr/>
        <a:lstStyle/>
        <a:p>
          <a:pPr>
            <a:defRPr cap="all"/>
          </a:pPr>
          <a:r>
            <a:rPr lang="en-US" sz="1800" b="1" cap="none" dirty="0">
              <a:solidFill>
                <a:schemeClr val="bg1"/>
              </a:solidFill>
            </a:rPr>
            <a:t>Prediction: </a:t>
          </a:r>
        </a:p>
        <a:p>
          <a:pPr>
            <a:defRPr cap="all"/>
          </a:pPr>
          <a:r>
            <a:rPr lang="en-US" sz="1400" cap="none" dirty="0"/>
            <a:t>employing models to anticipate/forecast future observations </a:t>
          </a:r>
        </a:p>
      </dgm:t>
    </dgm:pt>
    <dgm:pt modelId="{D84DF3E1-8898-49CB-B5F6-F48CD4CB5491}" type="parTrans" cxnId="{49EA4A0F-8196-4B2A-9E23-09337FA700B8}">
      <dgm:prSet/>
      <dgm:spPr/>
      <dgm:t>
        <a:bodyPr/>
        <a:lstStyle/>
        <a:p>
          <a:endParaRPr lang="en-US"/>
        </a:p>
      </dgm:t>
    </dgm:pt>
    <dgm:pt modelId="{4F95AC97-21E7-490C-BFF7-88758899A8D3}" type="sibTrans" cxnId="{49EA4A0F-8196-4B2A-9E23-09337FA700B8}">
      <dgm:prSet/>
      <dgm:spPr/>
      <dgm:t>
        <a:bodyPr/>
        <a:lstStyle/>
        <a:p>
          <a:endParaRPr lang="en-US"/>
        </a:p>
      </dgm:t>
    </dgm:pt>
    <dgm:pt modelId="{42D794DB-1686-473D-A9F3-56E9581A815F}" type="pres">
      <dgm:prSet presAssocID="{C30801C5-6E1D-408B-9CD5-AD4B4997C750}" presName="root" presStyleCnt="0">
        <dgm:presLayoutVars>
          <dgm:dir/>
          <dgm:resizeHandles val="exact"/>
        </dgm:presLayoutVars>
      </dgm:prSet>
      <dgm:spPr/>
    </dgm:pt>
    <dgm:pt modelId="{CC9B65D4-76E0-4E74-9AA3-CE4F505E47F8}" type="pres">
      <dgm:prSet presAssocID="{1D982062-3D81-48B2-80C0-E1652259A9E3}" presName="compNode" presStyleCnt="0"/>
      <dgm:spPr/>
    </dgm:pt>
    <dgm:pt modelId="{EE8DDE1B-267B-47FE-8D75-96807D976806}" type="pres">
      <dgm:prSet presAssocID="{1D982062-3D81-48B2-80C0-E1652259A9E3}" presName="iconBgRect" presStyleLbl="bgShp" presStyleIdx="0" presStyleCnt="3"/>
      <dgm:spPr>
        <a:solidFill>
          <a:schemeClr val="bg1"/>
        </a:solidFill>
      </dgm:spPr>
    </dgm:pt>
    <dgm:pt modelId="{C8A16931-6CA3-4F14-8586-391D8EC46A93}" type="pres">
      <dgm:prSet presAssocID="{1D982062-3D81-48B2-80C0-E1652259A9E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r chart"/>
        </a:ext>
      </dgm:extLst>
    </dgm:pt>
    <dgm:pt modelId="{6FCE1BDE-320D-42DA-AFA1-07801E4BADD4}" type="pres">
      <dgm:prSet presAssocID="{1D982062-3D81-48B2-80C0-E1652259A9E3}" presName="spaceRect" presStyleCnt="0"/>
      <dgm:spPr/>
    </dgm:pt>
    <dgm:pt modelId="{C60082A6-6495-48BA-9C44-ACA491AF4B22}" type="pres">
      <dgm:prSet presAssocID="{1D982062-3D81-48B2-80C0-E1652259A9E3}" presName="textRect" presStyleLbl="revTx" presStyleIdx="0" presStyleCnt="3">
        <dgm:presLayoutVars>
          <dgm:chMax val="1"/>
          <dgm:chPref val="1"/>
        </dgm:presLayoutVars>
      </dgm:prSet>
      <dgm:spPr/>
    </dgm:pt>
    <dgm:pt modelId="{70A924B7-2DF2-4F73-87F4-E72ECE9F77FA}" type="pres">
      <dgm:prSet presAssocID="{9F1C0D76-134B-47F3-A219-15A522958B7A}" presName="sibTrans" presStyleCnt="0"/>
      <dgm:spPr/>
    </dgm:pt>
    <dgm:pt modelId="{EFE24D0E-4D45-4D48-9BE4-332440F75E7D}" type="pres">
      <dgm:prSet presAssocID="{39BDD99A-F88D-4BAE-8350-877C3C47E15E}" presName="compNode" presStyleCnt="0"/>
      <dgm:spPr/>
    </dgm:pt>
    <dgm:pt modelId="{DE830847-71DB-45C4-9134-FD2F1C1D09AE}" type="pres">
      <dgm:prSet presAssocID="{39BDD99A-F88D-4BAE-8350-877C3C47E15E}" presName="iconBgRect" presStyleLbl="bgShp" presStyleIdx="1" presStyleCnt="3"/>
      <dgm:spPr>
        <a:solidFill>
          <a:schemeClr val="bg1"/>
        </a:solidFill>
      </dgm:spPr>
    </dgm:pt>
    <dgm:pt modelId="{F73A5FA1-09DE-4B63-AE26-042E0C1CAF55}" type="pres">
      <dgm:prSet presAssocID="{39BDD99A-F88D-4BAE-8350-877C3C47E15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tistics"/>
        </a:ext>
      </dgm:extLst>
    </dgm:pt>
    <dgm:pt modelId="{889D3E99-A580-4E4E-8682-6765C9E25DE0}" type="pres">
      <dgm:prSet presAssocID="{39BDD99A-F88D-4BAE-8350-877C3C47E15E}" presName="spaceRect" presStyleCnt="0"/>
      <dgm:spPr/>
    </dgm:pt>
    <dgm:pt modelId="{6320C8E1-AE95-43C7-9D2E-A2195A0EB96B}" type="pres">
      <dgm:prSet presAssocID="{39BDD99A-F88D-4BAE-8350-877C3C47E15E}" presName="textRect" presStyleLbl="revTx" presStyleIdx="1" presStyleCnt="3">
        <dgm:presLayoutVars>
          <dgm:chMax val="1"/>
          <dgm:chPref val="1"/>
        </dgm:presLayoutVars>
      </dgm:prSet>
      <dgm:spPr/>
    </dgm:pt>
    <dgm:pt modelId="{2300ABF1-269F-41D5-9056-1AEC7F3E39F6}" type="pres">
      <dgm:prSet presAssocID="{AC7436EF-93AC-4064-9C96-CA6A105B8DCA}" presName="sibTrans" presStyleCnt="0"/>
      <dgm:spPr/>
    </dgm:pt>
    <dgm:pt modelId="{A5C90510-9D94-477D-9B82-B6D3392C929C}" type="pres">
      <dgm:prSet presAssocID="{81186A76-2C0A-4A8C-A4AE-D0471A4511C4}" presName="compNode" presStyleCnt="0"/>
      <dgm:spPr/>
    </dgm:pt>
    <dgm:pt modelId="{891619FF-CE44-470C-8F92-A751C2A3C90E}" type="pres">
      <dgm:prSet presAssocID="{81186A76-2C0A-4A8C-A4AE-D0471A4511C4}" presName="iconBgRect" presStyleLbl="bgShp" presStyleIdx="2" presStyleCnt="3"/>
      <dgm:spPr>
        <a:solidFill>
          <a:schemeClr val="bg1"/>
        </a:solidFill>
      </dgm:spPr>
    </dgm:pt>
    <dgm:pt modelId="{CF7AA540-392B-46C0-BE23-852B480CA956}" type="pres">
      <dgm:prSet presAssocID="{81186A76-2C0A-4A8C-A4AE-D0471A4511C4}" presName="iconRect" presStyleLbl="node1" presStyleIdx="2" presStyleCnt="3"/>
      <dgm:spPr>
        <a:blipFill dpi="0" rotWithShape="1">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Binoculars"/>
        </a:ext>
      </dgm:extLst>
    </dgm:pt>
    <dgm:pt modelId="{0D62CDFD-5BF2-455E-A63C-BE7ADABD5C58}" type="pres">
      <dgm:prSet presAssocID="{81186A76-2C0A-4A8C-A4AE-D0471A4511C4}" presName="spaceRect" presStyleCnt="0"/>
      <dgm:spPr/>
    </dgm:pt>
    <dgm:pt modelId="{7890DE4D-9CE8-4DEE-B519-F87C2254D97C}" type="pres">
      <dgm:prSet presAssocID="{81186A76-2C0A-4A8C-A4AE-D0471A4511C4}" presName="textRect" presStyleLbl="revTx" presStyleIdx="2" presStyleCnt="3">
        <dgm:presLayoutVars>
          <dgm:chMax val="1"/>
          <dgm:chPref val="1"/>
        </dgm:presLayoutVars>
      </dgm:prSet>
      <dgm:spPr/>
    </dgm:pt>
  </dgm:ptLst>
  <dgm:cxnLst>
    <dgm:cxn modelId="{49EA4A0F-8196-4B2A-9E23-09337FA700B8}" srcId="{C30801C5-6E1D-408B-9CD5-AD4B4997C750}" destId="{81186A76-2C0A-4A8C-A4AE-D0471A4511C4}" srcOrd="2" destOrd="0" parTransId="{D84DF3E1-8898-49CB-B5F6-F48CD4CB5491}" sibTransId="{4F95AC97-21E7-490C-BFF7-88758899A8D3}"/>
    <dgm:cxn modelId="{B6171223-59BD-40C6-BDD9-55902A195438}" type="presOf" srcId="{39BDD99A-F88D-4BAE-8350-877C3C47E15E}" destId="{6320C8E1-AE95-43C7-9D2E-A2195A0EB96B}" srcOrd="0" destOrd="0" presId="urn:microsoft.com/office/officeart/2018/5/layout/IconCircleLabelList"/>
    <dgm:cxn modelId="{F073483B-71BE-4646-9AF3-A05F888EA6E7}" srcId="{C30801C5-6E1D-408B-9CD5-AD4B4997C750}" destId="{39BDD99A-F88D-4BAE-8350-877C3C47E15E}" srcOrd="1" destOrd="0" parTransId="{CA8F7F72-5F43-4280-9F62-47CD38727BE3}" sibTransId="{AC7436EF-93AC-4064-9C96-CA6A105B8DCA}"/>
    <dgm:cxn modelId="{1CC78448-187B-4F74-88D4-6FC4ADC057C3}" type="presOf" srcId="{C30801C5-6E1D-408B-9CD5-AD4B4997C750}" destId="{42D794DB-1686-473D-A9F3-56E9581A815F}" srcOrd="0" destOrd="0" presId="urn:microsoft.com/office/officeart/2018/5/layout/IconCircleLabelList"/>
    <dgm:cxn modelId="{90EBE788-2F14-4097-AD79-B7A2149E00E7}" srcId="{C30801C5-6E1D-408B-9CD5-AD4B4997C750}" destId="{1D982062-3D81-48B2-80C0-E1652259A9E3}" srcOrd="0" destOrd="0" parTransId="{DAF6A67B-21DC-4326-A0DB-EC51BC3B70A2}" sibTransId="{9F1C0D76-134B-47F3-A219-15A522958B7A}"/>
    <dgm:cxn modelId="{AA0977BA-BC74-4E08-9A67-B65A6587BA3C}" type="presOf" srcId="{81186A76-2C0A-4A8C-A4AE-D0471A4511C4}" destId="{7890DE4D-9CE8-4DEE-B519-F87C2254D97C}" srcOrd="0" destOrd="0" presId="urn:microsoft.com/office/officeart/2018/5/layout/IconCircleLabelList"/>
    <dgm:cxn modelId="{4124CCF1-7530-487D-B42B-A6F9DF67BFA6}" type="presOf" srcId="{1D982062-3D81-48B2-80C0-E1652259A9E3}" destId="{C60082A6-6495-48BA-9C44-ACA491AF4B22}" srcOrd="0" destOrd="0" presId="urn:microsoft.com/office/officeart/2018/5/layout/IconCircleLabelList"/>
    <dgm:cxn modelId="{7B4FC654-BCDC-4502-A373-A21A9CF6A1CB}" type="presParOf" srcId="{42D794DB-1686-473D-A9F3-56E9581A815F}" destId="{CC9B65D4-76E0-4E74-9AA3-CE4F505E47F8}" srcOrd="0" destOrd="0" presId="urn:microsoft.com/office/officeart/2018/5/layout/IconCircleLabelList"/>
    <dgm:cxn modelId="{9E6CFABF-1945-4F37-B2BC-E4A0A46BFFF5}" type="presParOf" srcId="{CC9B65D4-76E0-4E74-9AA3-CE4F505E47F8}" destId="{EE8DDE1B-267B-47FE-8D75-96807D976806}" srcOrd="0" destOrd="0" presId="urn:microsoft.com/office/officeart/2018/5/layout/IconCircleLabelList"/>
    <dgm:cxn modelId="{8F295FBD-CDED-4B92-8D32-55082458E026}" type="presParOf" srcId="{CC9B65D4-76E0-4E74-9AA3-CE4F505E47F8}" destId="{C8A16931-6CA3-4F14-8586-391D8EC46A93}" srcOrd="1" destOrd="0" presId="urn:microsoft.com/office/officeart/2018/5/layout/IconCircleLabelList"/>
    <dgm:cxn modelId="{BBEC3E75-BAEB-43E0-B692-753FA1F34586}" type="presParOf" srcId="{CC9B65D4-76E0-4E74-9AA3-CE4F505E47F8}" destId="{6FCE1BDE-320D-42DA-AFA1-07801E4BADD4}" srcOrd="2" destOrd="0" presId="urn:microsoft.com/office/officeart/2018/5/layout/IconCircleLabelList"/>
    <dgm:cxn modelId="{EFA566C8-87CC-42AC-81B5-872604C7CB17}" type="presParOf" srcId="{CC9B65D4-76E0-4E74-9AA3-CE4F505E47F8}" destId="{C60082A6-6495-48BA-9C44-ACA491AF4B22}" srcOrd="3" destOrd="0" presId="urn:microsoft.com/office/officeart/2018/5/layout/IconCircleLabelList"/>
    <dgm:cxn modelId="{3F77C545-FC02-4AAB-9D8D-DFAC28CEC0F4}" type="presParOf" srcId="{42D794DB-1686-473D-A9F3-56E9581A815F}" destId="{70A924B7-2DF2-4F73-87F4-E72ECE9F77FA}" srcOrd="1" destOrd="0" presId="urn:microsoft.com/office/officeart/2018/5/layout/IconCircleLabelList"/>
    <dgm:cxn modelId="{71AF49D5-EBF4-4818-A032-906E615948D8}" type="presParOf" srcId="{42D794DB-1686-473D-A9F3-56E9581A815F}" destId="{EFE24D0E-4D45-4D48-9BE4-332440F75E7D}" srcOrd="2" destOrd="0" presId="urn:microsoft.com/office/officeart/2018/5/layout/IconCircleLabelList"/>
    <dgm:cxn modelId="{D6EE245B-FD4E-4C08-A1FF-85A9B8537B74}" type="presParOf" srcId="{EFE24D0E-4D45-4D48-9BE4-332440F75E7D}" destId="{DE830847-71DB-45C4-9134-FD2F1C1D09AE}" srcOrd="0" destOrd="0" presId="urn:microsoft.com/office/officeart/2018/5/layout/IconCircleLabelList"/>
    <dgm:cxn modelId="{A20A6075-F428-4E76-9D0A-E5895E8C91A6}" type="presParOf" srcId="{EFE24D0E-4D45-4D48-9BE4-332440F75E7D}" destId="{F73A5FA1-09DE-4B63-AE26-042E0C1CAF55}" srcOrd="1" destOrd="0" presId="urn:microsoft.com/office/officeart/2018/5/layout/IconCircleLabelList"/>
    <dgm:cxn modelId="{58A8ACA6-6FBF-4839-BF20-21F8B9429755}" type="presParOf" srcId="{EFE24D0E-4D45-4D48-9BE4-332440F75E7D}" destId="{889D3E99-A580-4E4E-8682-6765C9E25DE0}" srcOrd="2" destOrd="0" presId="urn:microsoft.com/office/officeart/2018/5/layout/IconCircleLabelList"/>
    <dgm:cxn modelId="{5285BA7E-130A-4297-9E4C-8A04B395EA33}" type="presParOf" srcId="{EFE24D0E-4D45-4D48-9BE4-332440F75E7D}" destId="{6320C8E1-AE95-43C7-9D2E-A2195A0EB96B}" srcOrd="3" destOrd="0" presId="urn:microsoft.com/office/officeart/2018/5/layout/IconCircleLabelList"/>
    <dgm:cxn modelId="{A4378A89-B3ED-413A-9200-DFDF5707B4F4}" type="presParOf" srcId="{42D794DB-1686-473D-A9F3-56E9581A815F}" destId="{2300ABF1-269F-41D5-9056-1AEC7F3E39F6}" srcOrd="3" destOrd="0" presId="urn:microsoft.com/office/officeart/2018/5/layout/IconCircleLabelList"/>
    <dgm:cxn modelId="{B66A550C-61A9-4A67-9720-D8D9D20E3425}" type="presParOf" srcId="{42D794DB-1686-473D-A9F3-56E9581A815F}" destId="{A5C90510-9D94-477D-9B82-B6D3392C929C}" srcOrd="4" destOrd="0" presId="urn:microsoft.com/office/officeart/2018/5/layout/IconCircleLabelList"/>
    <dgm:cxn modelId="{E288C551-59C9-485A-9F25-157AF7040830}" type="presParOf" srcId="{A5C90510-9D94-477D-9B82-B6D3392C929C}" destId="{891619FF-CE44-470C-8F92-A751C2A3C90E}" srcOrd="0" destOrd="0" presId="urn:microsoft.com/office/officeart/2018/5/layout/IconCircleLabelList"/>
    <dgm:cxn modelId="{0D8D65A5-78D3-43B5-A049-689CAB8B67C5}" type="presParOf" srcId="{A5C90510-9D94-477D-9B82-B6D3392C929C}" destId="{CF7AA540-392B-46C0-BE23-852B480CA956}" srcOrd="1" destOrd="0" presId="urn:microsoft.com/office/officeart/2018/5/layout/IconCircleLabelList"/>
    <dgm:cxn modelId="{BC4EDB73-39E4-45B0-B605-99A6B8002E34}" type="presParOf" srcId="{A5C90510-9D94-477D-9B82-B6D3392C929C}" destId="{0D62CDFD-5BF2-455E-A63C-BE7ADABD5C58}" srcOrd="2" destOrd="0" presId="urn:microsoft.com/office/officeart/2018/5/layout/IconCircleLabelList"/>
    <dgm:cxn modelId="{B9921023-C965-455C-A966-0E3B75016850}" type="presParOf" srcId="{A5C90510-9D94-477D-9B82-B6D3392C929C}" destId="{7890DE4D-9CE8-4DEE-B519-F87C2254D97C}" srcOrd="3" destOrd="0" presId="urn:microsoft.com/office/officeart/2018/5/layout/IconCircleLabelList"/>
  </dgm:cxnLst>
  <dgm:bg>
    <a:solidFill>
      <a:srgbClr val="A54EF3">
        <a:alpha val="60000"/>
      </a:srgbClr>
    </a:solidFill>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9C52CB1-8593-4063-A733-95CFAF7493BA}"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1A557644-39B8-4205-A4FF-72A6DCFB1B17}">
      <dgm:prSet/>
      <dgm:spPr/>
      <dgm:t>
        <a:bodyPr/>
        <a:lstStyle/>
        <a:p>
          <a:r>
            <a:rPr lang="en-US" dirty="0"/>
            <a:t>Machine learning involves predicting outcomes using features.</a:t>
          </a:r>
        </a:p>
      </dgm:t>
    </dgm:pt>
    <dgm:pt modelId="{A7AC0FB9-AD9B-4FF6-B228-33B0AF5E93BC}" type="parTrans" cxnId="{AA4FAF46-CE01-4CCB-A832-E61E280A44FF}">
      <dgm:prSet/>
      <dgm:spPr/>
      <dgm:t>
        <a:bodyPr/>
        <a:lstStyle/>
        <a:p>
          <a:endParaRPr lang="en-US"/>
        </a:p>
      </dgm:t>
    </dgm:pt>
    <dgm:pt modelId="{EAEC0A25-9B77-407D-8C99-C0927C6D4FF1}" type="sibTrans" cxnId="{AA4FAF46-CE01-4CCB-A832-E61E280A44FF}">
      <dgm:prSet/>
      <dgm:spPr/>
      <dgm:t>
        <a:bodyPr/>
        <a:lstStyle/>
        <a:p>
          <a:endParaRPr lang="en-US"/>
        </a:p>
      </dgm:t>
    </dgm:pt>
    <dgm:pt modelId="{1404DEBA-9B1D-4CC7-9E80-C844BAA0B09D}">
      <dgm:prSet custT="1"/>
      <dgm:spPr/>
      <dgm:t>
        <a:bodyPr/>
        <a:lstStyle/>
        <a:p>
          <a:r>
            <a:rPr lang="en-US" sz="2000" b="1" dirty="0"/>
            <a:t>Two main components: </a:t>
          </a:r>
          <a:endParaRPr lang="en-US" sz="2000" dirty="0"/>
        </a:p>
      </dgm:t>
    </dgm:pt>
    <dgm:pt modelId="{1F3C5849-3FC4-4E0A-9282-8B1C695BFFFF}" type="parTrans" cxnId="{2B715602-B24D-4B5E-9A7E-995C1395F9F7}">
      <dgm:prSet/>
      <dgm:spPr/>
      <dgm:t>
        <a:bodyPr/>
        <a:lstStyle/>
        <a:p>
          <a:endParaRPr lang="en-US"/>
        </a:p>
      </dgm:t>
    </dgm:pt>
    <dgm:pt modelId="{A6769412-22ED-429D-ABB9-D3227C7E2F77}" type="sibTrans" cxnId="{2B715602-B24D-4B5E-9A7E-995C1395F9F7}">
      <dgm:prSet/>
      <dgm:spPr/>
      <dgm:t>
        <a:bodyPr/>
        <a:lstStyle/>
        <a:p>
          <a:endParaRPr lang="en-US"/>
        </a:p>
      </dgm:t>
    </dgm:pt>
    <dgm:pt modelId="{D8BEF5C4-FDC7-43E1-BF60-4EF6C5B8DA26}">
      <dgm:prSet custT="1"/>
      <dgm:spPr/>
      <dgm:t>
        <a:bodyPr/>
        <a:lstStyle/>
        <a:p>
          <a:r>
            <a:rPr lang="en-US" sz="2200" b="1" dirty="0">
              <a:solidFill>
                <a:srgbClr val="7030A0"/>
              </a:solidFill>
            </a:rPr>
            <a:t>Outcome</a:t>
          </a:r>
          <a:r>
            <a:rPr lang="en-US" sz="1800" dirty="0"/>
            <a:t> (what we predict) </a:t>
          </a:r>
        </a:p>
      </dgm:t>
    </dgm:pt>
    <dgm:pt modelId="{405604CC-637B-48B8-A74A-DE1293E033AA}" type="parTrans" cxnId="{A0304FEE-8139-4F9E-AAC5-3AE7B9CF3569}">
      <dgm:prSet/>
      <dgm:spPr/>
      <dgm:t>
        <a:bodyPr/>
        <a:lstStyle/>
        <a:p>
          <a:endParaRPr lang="en-US"/>
        </a:p>
      </dgm:t>
    </dgm:pt>
    <dgm:pt modelId="{97E3841E-264D-4323-867D-084DE25F4FBC}" type="sibTrans" cxnId="{A0304FEE-8139-4F9E-AAC5-3AE7B9CF3569}">
      <dgm:prSet/>
      <dgm:spPr/>
      <dgm:t>
        <a:bodyPr/>
        <a:lstStyle/>
        <a:p>
          <a:endParaRPr lang="en-US"/>
        </a:p>
      </dgm:t>
    </dgm:pt>
    <dgm:pt modelId="{68566505-0CBD-44D7-B132-273A745E5269}">
      <dgm:prSet custT="1"/>
      <dgm:spPr/>
      <dgm:t>
        <a:bodyPr/>
        <a:lstStyle/>
        <a:p>
          <a:r>
            <a:rPr lang="en-US" sz="2200" b="1" dirty="0">
              <a:solidFill>
                <a:srgbClr val="7030A0"/>
              </a:solidFill>
            </a:rPr>
            <a:t>Features</a:t>
          </a:r>
          <a:r>
            <a:rPr lang="en-US" sz="1800" dirty="0"/>
            <a:t> (used to make those predictions).</a:t>
          </a:r>
        </a:p>
      </dgm:t>
    </dgm:pt>
    <dgm:pt modelId="{7AE46C41-730B-49AA-9AD2-9C4E7E70AABF}" type="parTrans" cxnId="{6D707C05-AD23-4D1E-864A-D60181A25281}">
      <dgm:prSet/>
      <dgm:spPr/>
      <dgm:t>
        <a:bodyPr/>
        <a:lstStyle/>
        <a:p>
          <a:endParaRPr lang="en-US"/>
        </a:p>
      </dgm:t>
    </dgm:pt>
    <dgm:pt modelId="{0797FF77-0405-4958-B2E2-B3B1D6B2745E}" type="sibTrans" cxnId="{6D707C05-AD23-4D1E-864A-D60181A25281}">
      <dgm:prSet/>
      <dgm:spPr/>
      <dgm:t>
        <a:bodyPr/>
        <a:lstStyle/>
        <a:p>
          <a:endParaRPr lang="en-US"/>
        </a:p>
      </dgm:t>
    </dgm:pt>
    <dgm:pt modelId="{0B9FCCA2-3000-4093-B252-92487652025C}" type="pres">
      <dgm:prSet presAssocID="{99C52CB1-8593-4063-A733-95CFAF7493BA}" presName="root" presStyleCnt="0">
        <dgm:presLayoutVars>
          <dgm:dir/>
          <dgm:resizeHandles val="exact"/>
        </dgm:presLayoutVars>
      </dgm:prSet>
      <dgm:spPr/>
    </dgm:pt>
    <dgm:pt modelId="{5952943D-A358-463F-908C-68CC3435D627}" type="pres">
      <dgm:prSet presAssocID="{1A557644-39B8-4205-A4FF-72A6DCFB1B17}" presName="compNode" presStyleCnt="0"/>
      <dgm:spPr/>
    </dgm:pt>
    <dgm:pt modelId="{F697A1CE-23E9-4290-96A2-A894E836D1ED}" type="pres">
      <dgm:prSet presAssocID="{1A557644-39B8-4205-A4FF-72A6DCFB1B17}" presName="bgRect" presStyleLbl="bgShp" presStyleIdx="0" presStyleCnt="2"/>
      <dgm:spPr>
        <a:solidFill>
          <a:srgbClr val="A54EF3">
            <a:alpha val="30000"/>
          </a:srgbClr>
        </a:solidFill>
      </dgm:spPr>
    </dgm:pt>
    <dgm:pt modelId="{78C0DD5D-C138-4386-9F5A-8A684267147E}" type="pres">
      <dgm:prSet presAssocID="{1A557644-39B8-4205-A4FF-72A6DCFB1B17}"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F899F383-B18B-468F-99DC-C66B46D7E596}" type="pres">
      <dgm:prSet presAssocID="{1A557644-39B8-4205-A4FF-72A6DCFB1B17}" presName="spaceRect" presStyleCnt="0"/>
      <dgm:spPr/>
    </dgm:pt>
    <dgm:pt modelId="{988D1B83-D3A6-4A42-AFCF-B4F69CA73D05}" type="pres">
      <dgm:prSet presAssocID="{1A557644-39B8-4205-A4FF-72A6DCFB1B17}" presName="parTx" presStyleLbl="revTx" presStyleIdx="0" presStyleCnt="3">
        <dgm:presLayoutVars>
          <dgm:chMax val="0"/>
          <dgm:chPref val="0"/>
        </dgm:presLayoutVars>
      </dgm:prSet>
      <dgm:spPr/>
    </dgm:pt>
    <dgm:pt modelId="{697B1CA3-866D-4802-8B0B-7ED7E19BB77D}" type="pres">
      <dgm:prSet presAssocID="{EAEC0A25-9B77-407D-8C99-C0927C6D4FF1}" presName="sibTrans" presStyleCnt="0"/>
      <dgm:spPr/>
    </dgm:pt>
    <dgm:pt modelId="{9FD60587-11EA-480F-8383-F2467497ADED}" type="pres">
      <dgm:prSet presAssocID="{1404DEBA-9B1D-4CC7-9E80-C844BAA0B09D}" presName="compNode" presStyleCnt="0"/>
      <dgm:spPr/>
    </dgm:pt>
    <dgm:pt modelId="{347E9CC6-565D-43E3-90F8-31B53D8D9B72}" type="pres">
      <dgm:prSet presAssocID="{1404DEBA-9B1D-4CC7-9E80-C844BAA0B09D}" presName="bgRect" presStyleLbl="bgShp" presStyleIdx="1" presStyleCnt="2"/>
      <dgm:spPr>
        <a:solidFill>
          <a:srgbClr val="A54EF3">
            <a:alpha val="30000"/>
          </a:srgbClr>
        </a:solidFill>
      </dgm:spPr>
    </dgm:pt>
    <dgm:pt modelId="{F6FEB34A-0119-4112-AB2B-B7C5DBC9AE8D}" type="pres">
      <dgm:prSet presAssocID="{1404DEBA-9B1D-4CC7-9E80-C844BAA0B09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Key"/>
        </a:ext>
      </dgm:extLst>
    </dgm:pt>
    <dgm:pt modelId="{EF45BE32-7513-466E-9D5B-BF44BCEA0BD1}" type="pres">
      <dgm:prSet presAssocID="{1404DEBA-9B1D-4CC7-9E80-C844BAA0B09D}" presName="spaceRect" presStyleCnt="0"/>
      <dgm:spPr/>
    </dgm:pt>
    <dgm:pt modelId="{0B03A86C-8704-415F-BB73-A109A7420340}" type="pres">
      <dgm:prSet presAssocID="{1404DEBA-9B1D-4CC7-9E80-C844BAA0B09D}" presName="parTx" presStyleLbl="revTx" presStyleIdx="1" presStyleCnt="3">
        <dgm:presLayoutVars>
          <dgm:chMax val="0"/>
          <dgm:chPref val="0"/>
        </dgm:presLayoutVars>
      </dgm:prSet>
      <dgm:spPr/>
    </dgm:pt>
    <dgm:pt modelId="{46B96663-8748-4341-A096-E40C423127AD}" type="pres">
      <dgm:prSet presAssocID="{1404DEBA-9B1D-4CC7-9E80-C844BAA0B09D}" presName="desTx" presStyleLbl="revTx" presStyleIdx="2" presStyleCnt="3">
        <dgm:presLayoutVars/>
      </dgm:prSet>
      <dgm:spPr/>
    </dgm:pt>
  </dgm:ptLst>
  <dgm:cxnLst>
    <dgm:cxn modelId="{2B715602-B24D-4B5E-9A7E-995C1395F9F7}" srcId="{99C52CB1-8593-4063-A733-95CFAF7493BA}" destId="{1404DEBA-9B1D-4CC7-9E80-C844BAA0B09D}" srcOrd="1" destOrd="0" parTransId="{1F3C5849-3FC4-4E0A-9282-8B1C695BFFFF}" sibTransId="{A6769412-22ED-429D-ABB9-D3227C7E2F77}"/>
    <dgm:cxn modelId="{6D707C05-AD23-4D1E-864A-D60181A25281}" srcId="{1404DEBA-9B1D-4CC7-9E80-C844BAA0B09D}" destId="{68566505-0CBD-44D7-B132-273A745E5269}" srcOrd="1" destOrd="0" parTransId="{7AE46C41-730B-49AA-9AD2-9C4E7E70AABF}" sibTransId="{0797FF77-0405-4958-B2E2-B3B1D6B2745E}"/>
    <dgm:cxn modelId="{2E450621-AA7B-4647-9282-68AB7852E874}" type="presOf" srcId="{1404DEBA-9B1D-4CC7-9E80-C844BAA0B09D}" destId="{0B03A86C-8704-415F-BB73-A109A7420340}" srcOrd="0" destOrd="0" presId="urn:microsoft.com/office/officeart/2018/2/layout/IconVerticalSolidList"/>
    <dgm:cxn modelId="{95891F46-C127-44F4-B3E8-FE4C40731BB3}" type="presOf" srcId="{68566505-0CBD-44D7-B132-273A745E5269}" destId="{46B96663-8748-4341-A096-E40C423127AD}" srcOrd="0" destOrd="1" presId="urn:microsoft.com/office/officeart/2018/2/layout/IconVerticalSolidList"/>
    <dgm:cxn modelId="{AA4FAF46-CE01-4CCB-A832-E61E280A44FF}" srcId="{99C52CB1-8593-4063-A733-95CFAF7493BA}" destId="{1A557644-39B8-4205-A4FF-72A6DCFB1B17}" srcOrd="0" destOrd="0" parTransId="{A7AC0FB9-AD9B-4FF6-B228-33B0AF5E93BC}" sibTransId="{EAEC0A25-9B77-407D-8C99-C0927C6D4FF1}"/>
    <dgm:cxn modelId="{92EDF24A-9BB8-4A57-84C1-E34FC84A0AD7}" type="presOf" srcId="{1A557644-39B8-4205-A4FF-72A6DCFB1B17}" destId="{988D1B83-D3A6-4A42-AFCF-B4F69CA73D05}" srcOrd="0" destOrd="0" presId="urn:microsoft.com/office/officeart/2018/2/layout/IconVerticalSolidList"/>
    <dgm:cxn modelId="{31B18466-4311-4D37-8AFA-1C86A654A448}" type="presOf" srcId="{99C52CB1-8593-4063-A733-95CFAF7493BA}" destId="{0B9FCCA2-3000-4093-B252-92487652025C}" srcOrd="0" destOrd="0" presId="urn:microsoft.com/office/officeart/2018/2/layout/IconVerticalSolidList"/>
    <dgm:cxn modelId="{38B99C83-7D32-492F-BF71-2187E3765C9D}" type="presOf" srcId="{D8BEF5C4-FDC7-43E1-BF60-4EF6C5B8DA26}" destId="{46B96663-8748-4341-A096-E40C423127AD}" srcOrd="0" destOrd="0" presId="urn:microsoft.com/office/officeart/2018/2/layout/IconVerticalSolidList"/>
    <dgm:cxn modelId="{A0304FEE-8139-4F9E-AAC5-3AE7B9CF3569}" srcId="{1404DEBA-9B1D-4CC7-9E80-C844BAA0B09D}" destId="{D8BEF5C4-FDC7-43E1-BF60-4EF6C5B8DA26}" srcOrd="0" destOrd="0" parTransId="{405604CC-637B-48B8-A74A-DE1293E033AA}" sibTransId="{97E3841E-264D-4323-867D-084DE25F4FBC}"/>
    <dgm:cxn modelId="{7B9ED924-1FA6-44F7-81A6-5BE4C29D1323}" type="presParOf" srcId="{0B9FCCA2-3000-4093-B252-92487652025C}" destId="{5952943D-A358-463F-908C-68CC3435D627}" srcOrd="0" destOrd="0" presId="urn:microsoft.com/office/officeart/2018/2/layout/IconVerticalSolidList"/>
    <dgm:cxn modelId="{95D1B925-ECE8-4C33-A459-FA731A7BF0B0}" type="presParOf" srcId="{5952943D-A358-463F-908C-68CC3435D627}" destId="{F697A1CE-23E9-4290-96A2-A894E836D1ED}" srcOrd="0" destOrd="0" presId="urn:microsoft.com/office/officeart/2018/2/layout/IconVerticalSolidList"/>
    <dgm:cxn modelId="{74E69DF5-6720-46BA-AC43-38F74895CB61}" type="presParOf" srcId="{5952943D-A358-463F-908C-68CC3435D627}" destId="{78C0DD5D-C138-4386-9F5A-8A684267147E}" srcOrd="1" destOrd="0" presId="urn:microsoft.com/office/officeart/2018/2/layout/IconVerticalSolidList"/>
    <dgm:cxn modelId="{EAF920EE-DA61-4B84-BE92-004909C91676}" type="presParOf" srcId="{5952943D-A358-463F-908C-68CC3435D627}" destId="{F899F383-B18B-468F-99DC-C66B46D7E596}" srcOrd="2" destOrd="0" presId="urn:microsoft.com/office/officeart/2018/2/layout/IconVerticalSolidList"/>
    <dgm:cxn modelId="{D4186170-DB60-4AE7-BC3A-4DD00C33D030}" type="presParOf" srcId="{5952943D-A358-463F-908C-68CC3435D627}" destId="{988D1B83-D3A6-4A42-AFCF-B4F69CA73D05}" srcOrd="3" destOrd="0" presId="urn:microsoft.com/office/officeart/2018/2/layout/IconVerticalSolidList"/>
    <dgm:cxn modelId="{922F793C-96B5-4A32-9890-554B801C5C53}" type="presParOf" srcId="{0B9FCCA2-3000-4093-B252-92487652025C}" destId="{697B1CA3-866D-4802-8B0B-7ED7E19BB77D}" srcOrd="1" destOrd="0" presId="urn:microsoft.com/office/officeart/2018/2/layout/IconVerticalSolidList"/>
    <dgm:cxn modelId="{11BC7B3E-6774-43EA-A128-E1CF092B75BC}" type="presParOf" srcId="{0B9FCCA2-3000-4093-B252-92487652025C}" destId="{9FD60587-11EA-480F-8383-F2467497ADED}" srcOrd="2" destOrd="0" presId="urn:microsoft.com/office/officeart/2018/2/layout/IconVerticalSolidList"/>
    <dgm:cxn modelId="{B2561871-3B20-4441-B328-65A4DB8B4302}" type="presParOf" srcId="{9FD60587-11EA-480F-8383-F2467497ADED}" destId="{347E9CC6-565D-43E3-90F8-31B53D8D9B72}" srcOrd="0" destOrd="0" presId="urn:microsoft.com/office/officeart/2018/2/layout/IconVerticalSolidList"/>
    <dgm:cxn modelId="{E9A62B36-D804-4893-AD78-A1F0F05F5C16}" type="presParOf" srcId="{9FD60587-11EA-480F-8383-F2467497ADED}" destId="{F6FEB34A-0119-4112-AB2B-B7C5DBC9AE8D}" srcOrd="1" destOrd="0" presId="urn:microsoft.com/office/officeart/2018/2/layout/IconVerticalSolidList"/>
    <dgm:cxn modelId="{944DCCBA-FFCB-4D18-B3D5-B5DBC8D2BF65}" type="presParOf" srcId="{9FD60587-11EA-480F-8383-F2467497ADED}" destId="{EF45BE32-7513-466E-9D5B-BF44BCEA0BD1}" srcOrd="2" destOrd="0" presId="urn:microsoft.com/office/officeart/2018/2/layout/IconVerticalSolidList"/>
    <dgm:cxn modelId="{4791285C-90B9-472C-A206-55B251608820}" type="presParOf" srcId="{9FD60587-11EA-480F-8383-F2467497ADED}" destId="{0B03A86C-8704-415F-BB73-A109A7420340}" srcOrd="3" destOrd="0" presId="urn:microsoft.com/office/officeart/2018/2/layout/IconVerticalSolidList"/>
    <dgm:cxn modelId="{A4A463F6-ABFE-4776-BF4C-5A51C87F9422}" type="presParOf" srcId="{9FD60587-11EA-480F-8383-F2467497ADED}" destId="{46B96663-8748-4341-A096-E40C423127AD}"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D272062-F500-4AD5-964F-725B9359915E}"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B89C67C5-265E-443E-94A6-E5034BBBC0D1}">
      <dgm:prSet/>
      <dgm:spPr/>
      <dgm:t>
        <a:bodyPr/>
        <a:lstStyle/>
        <a:p>
          <a:pPr>
            <a:lnSpc>
              <a:spcPct val="100000"/>
            </a:lnSpc>
          </a:pPr>
          <a:r>
            <a:rPr lang="en-US" b="1" dirty="0">
              <a:solidFill>
                <a:schemeClr val="tx1"/>
              </a:solidFill>
            </a:rPr>
            <a:t>Algorithm: </a:t>
          </a:r>
          <a:r>
            <a:rPr lang="en-US" dirty="0">
              <a:solidFill>
                <a:schemeClr val="tx1"/>
              </a:solidFill>
            </a:rPr>
            <a:t>Take feature values as input and predict the outcome.</a:t>
          </a:r>
        </a:p>
      </dgm:t>
    </dgm:pt>
    <dgm:pt modelId="{7BDFBE31-FD0B-4047-9AF6-DE4EB7B2EA50}" type="parTrans" cxnId="{42076E39-39CE-4239-AD0C-3ADDC53223D3}">
      <dgm:prSet/>
      <dgm:spPr/>
      <dgm:t>
        <a:bodyPr/>
        <a:lstStyle/>
        <a:p>
          <a:endParaRPr lang="en-US"/>
        </a:p>
      </dgm:t>
    </dgm:pt>
    <dgm:pt modelId="{F5708D6B-495D-4A13-AB28-2C52C33865CA}" type="sibTrans" cxnId="{42076E39-39CE-4239-AD0C-3ADDC53223D3}">
      <dgm:prSet/>
      <dgm:spPr/>
      <dgm:t>
        <a:bodyPr/>
        <a:lstStyle/>
        <a:p>
          <a:endParaRPr lang="en-US"/>
        </a:p>
      </dgm:t>
    </dgm:pt>
    <dgm:pt modelId="{E8C3BB2C-C655-4758-94F5-D906544D9DD2}" type="pres">
      <dgm:prSet presAssocID="{ED272062-F500-4AD5-964F-725B9359915E}" presName="root" presStyleCnt="0">
        <dgm:presLayoutVars>
          <dgm:dir/>
          <dgm:resizeHandles val="exact"/>
        </dgm:presLayoutVars>
      </dgm:prSet>
      <dgm:spPr/>
    </dgm:pt>
    <dgm:pt modelId="{C3CE579D-2571-45D7-B005-047FCDD796B9}" type="pres">
      <dgm:prSet presAssocID="{B89C67C5-265E-443E-94A6-E5034BBBC0D1}" presName="compNode" presStyleCnt="0"/>
      <dgm:spPr/>
    </dgm:pt>
    <dgm:pt modelId="{493DED0E-8764-4DF2-9DD3-359EB20EF2DD}" type="pres">
      <dgm:prSet presAssocID="{B89C67C5-265E-443E-94A6-E5034BBBC0D1}" presName="bgRect" presStyleLbl="bgShp" presStyleIdx="0" presStyleCnt="1" custLinFactNeighborX="284" custLinFactNeighborY="-51372"/>
      <dgm:spPr>
        <a:solidFill>
          <a:srgbClr val="A54EF3">
            <a:alpha val="29875"/>
          </a:srgbClr>
        </a:solidFill>
      </dgm:spPr>
    </dgm:pt>
    <dgm:pt modelId="{AF9BE9EA-905B-4714-BC50-DB0310C30F92}" type="pres">
      <dgm:prSet presAssocID="{B89C67C5-265E-443E-94A6-E5034BBBC0D1}" presName="iconRect" presStyleLbl="node1" presStyleIdx="0" presStyleCnt="1" custLinFactNeighborX="0" custLinFactNeighborY="-80861"/>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grammer"/>
        </a:ext>
      </dgm:extLst>
    </dgm:pt>
    <dgm:pt modelId="{DCFCC901-9F00-4F44-B745-8FA0B36AFC96}" type="pres">
      <dgm:prSet presAssocID="{B89C67C5-265E-443E-94A6-E5034BBBC0D1}" presName="spaceRect" presStyleCnt="0"/>
      <dgm:spPr/>
    </dgm:pt>
    <dgm:pt modelId="{C2016278-ADA7-40A7-A7F4-55EF2053F1F7}" type="pres">
      <dgm:prSet presAssocID="{B89C67C5-265E-443E-94A6-E5034BBBC0D1}" presName="parTx" presStyleLbl="revTx" presStyleIdx="0" presStyleCnt="1" custLinFactNeighborX="-184" custLinFactNeighborY="-50000">
        <dgm:presLayoutVars>
          <dgm:chMax val="0"/>
          <dgm:chPref val="0"/>
        </dgm:presLayoutVars>
      </dgm:prSet>
      <dgm:spPr/>
    </dgm:pt>
  </dgm:ptLst>
  <dgm:cxnLst>
    <dgm:cxn modelId="{A3DDE72F-EFDB-48AA-B1A5-415788209402}" type="presOf" srcId="{B89C67C5-265E-443E-94A6-E5034BBBC0D1}" destId="{C2016278-ADA7-40A7-A7F4-55EF2053F1F7}" srcOrd="0" destOrd="0" presId="urn:microsoft.com/office/officeart/2018/2/layout/IconVerticalSolidList"/>
    <dgm:cxn modelId="{42076E39-39CE-4239-AD0C-3ADDC53223D3}" srcId="{ED272062-F500-4AD5-964F-725B9359915E}" destId="{B89C67C5-265E-443E-94A6-E5034BBBC0D1}" srcOrd="0" destOrd="0" parTransId="{7BDFBE31-FD0B-4047-9AF6-DE4EB7B2EA50}" sibTransId="{F5708D6B-495D-4A13-AB28-2C52C33865CA}"/>
    <dgm:cxn modelId="{DCD73FC5-BB73-4AEC-8541-92C91313B297}" type="presOf" srcId="{ED272062-F500-4AD5-964F-725B9359915E}" destId="{E8C3BB2C-C655-4758-94F5-D906544D9DD2}" srcOrd="0" destOrd="0" presId="urn:microsoft.com/office/officeart/2018/2/layout/IconVerticalSolidList"/>
    <dgm:cxn modelId="{D65CAF21-B403-43A2-9AB2-E32B1BF76C89}" type="presParOf" srcId="{E8C3BB2C-C655-4758-94F5-D906544D9DD2}" destId="{C3CE579D-2571-45D7-B005-047FCDD796B9}" srcOrd="0" destOrd="0" presId="urn:microsoft.com/office/officeart/2018/2/layout/IconVerticalSolidList"/>
    <dgm:cxn modelId="{A94C602F-553A-4A73-B68A-96DAFBFB2D25}" type="presParOf" srcId="{C3CE579D-2571-45D7-B005-047FCDD796B9}" destId="{493DED0E-8764-4DF2-9DD3-359EB20EF2DD}" srcOrd="0" destOrd="0" presId="urn:microsoft.com/office/officeart/2018/2/layout/IconVerticalSolidList"/>
    <dgm:cxn modelId="{B7A52BFF-40FE-44C0-B494-1D80F4D1338C}" type="presParOf" srcId="{C3CE579D-2571-45D7-B005-047FCDD796B9}" destId="{AF9BE9EA-905B-4714-BC50-DB0310C30F92}" srcOrd="1" destOrd="0" presId="urn:microsoft.com/office/officeart/2018/2/layout/IconVerticalSolidList"/>
    <dgm:cxn modelId="{90E93FDE-C68B-4FDA-9683-A69DCC2AB350}" type="presParOf" srcId="{C3CE579D-2571-45D7-B005-047FCDD796B9}" destId="{DCFCC901-9F00-4F44-B745-8FA0B36AFC96}" srcOrd="2" destOrd="0" presId="urn:microsoft.com/office/officeart/2018/2/layout/IconVerticalSolidList"/>
    <dgm:cxn modelId="{6CC82322-2D6F-4716-934B-EC32DCAFAFB6}" type="presParOf" srcId="{C3CE579D-2571-45D7-B005-047FCDD796B9}" destId="{C2016278-ADA7-40A7-A7F4-55EF2053F1F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9C52CB1-8593-4063-A733-95CFAF7493BA}"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1A557644-39B8-4205-A4FF-72A6DCFB1B17}">
      <dgm:prSet/>
      <dgm:spPr/>
      <dgm:t>
        <a:bodyPr/>
        <a:lstStyle/>
        <a:p>
          <a:r>
            <a:rPr lang="en-US" dirty="0"/>
            <a:t>Machine learning involves predicting outcomes using features.</a:t>
          </a:r>
        </a:p>
      </dgm:t>
    </dgm:pt>
    <dgm:pt modelId="{A7AC0FB9-AD9B-4FF6-B228-33B0AF5E93BC}" type="parTrans" cxnId="{AA4FAF46-CE01-4CCB-A832-E61E280A44FF}">
      <dgm:prSet/>
      <dgm:spPr/>
      <dgm:t>
        <a:bodyPr/>
        <a:lstStyle/>
        <a:p>
          <a:endParaRPr lang="en-US"/>
        </a:p>
      </dgm:t>
    </dgm:pt>
    <dgm:pt modelId="{EAEC0A25-9B77-407D-8C99-C0927C6D4FF1}" type="sibTrans" cxnId="{AA4FAF46-CE01-4CCB-A832-E61E280A44FF}">
      <dgm:prSet/>
      <dgm:spPr/>
      <dgm:t>
        <a:bodyPr/>
        <a:lstStyle/>
        <a:p>
          <a:endParaRPr lang="en-US"/>
        </a:p>
      </dgm:t>
    </dgm:pt>
    <dgm:pt modelId="{1404DEBA-9B1D-4CC7-9E80-C844BAA0B09D}">
      <dgm:prSet custT="1"/>
      <dgm:spPr/>
      <dgm:t>
        <a:bodyPr/>
        <a:lstStyle/>
        <a:p>
          <a:r>
            <a:rPr lang="en-US" sz="2000" b="1" dirty="0"/>
            <a:t>Two main components: </a:t>
          </a:r>
          <a:endParaRPr lang="en-US" sz="2000" dirty="0"/>
        </a:p>
      </dgm:t>
    </dgm:pt>
    <dgm:pt modelId="{1F3C5849-3FC4-4E0A-9282-8B1C695BFFFF}" type="parTrans" cxnId="{2B715602-B24D-4B5E-9A7E-995C1395F9F7}">
      <dgm:prSet/>
      <dgm:spPr/>
      <dgm:t>
        <a:bodyPr/>
        <a:lstStyle/>
        <a:p>
          <a:endParaRPr lang="en-US"/>
        </a:p>
      </dgm:t>
    </dgm:pt>
    <dgm:pt modelId="{A6769412-22ED-429D-ABB9-D3227C7E2F77}" type="sibTrans" cxnId="{2B715602-B24D-4B5E-9A7E-995C1395F9F7}">
      <dgm:prSet/>
      <dgm:spPr/>
      <dgm:t>
        <a:bodyPr/>
        <a:lstStyle/>
        <a:p>
          <a:endParaRPr lang="en-US"/>
        </a:p>
      </dgm:t>
    </dgm:pt>
    <dgm:pt modelId="{D8BEF5C4-FDC7-43E1-BF60-4EF6C5B8DA26}">
      <dgm:prSet custT="1"/>
      <dgm:spPr/>
      <dgm:t>
        <a:bodyPr/>
        <a:lstStyle/>
        <a:p>
          <a:r>
            <a:rPr lang="en-US" sz="2200" b="1" dirty="0">
              <a:solidFill>
                <a:srgbClr val="7030A0"/>
              </a:solidFill>
            </a:rPr>
            <a:t>Outcome</a:t>
          </a:r>
          <a:r>
            <a:rPr lang="en-US" sz="1800" dirty="0"/>
            <a:t> (what we predict) </a:t>
          </a:r>
        </a:p>
      </dgm:t>
    </dgm:pt>
    <dgm:pt modelId="{405604CC-637B-48B8-A74A-DE1293E033AA}" type="parTrans" cxnId="{A0304FEE-8139-4F9E-AAC5-3AE7B9CF3569}">
      <dgm:prSet/>
      <dgm:spPr/>
      <dgm:t>
        <a:bodyPr/>
        <a:lstStyle/>
        <a:p>
          <a:endParaRPr lang="en-US"/>
        </a:p>
      </dgm:t>
    </dgm:pt>
    <dgm:pt modelId="{97E3841E-264D-4323-867D-084DE25F4FBC}" type="sibTrans" cxnId="{A0304FEE-8139-4F9E-AAC5-3AE7B9CF3569}">
      <dgm:prSet/>
      <dgm:spPr/>
      <dgm:t>
        <a:bodyPr/>
        <a:lstStyle/>
        <a:p>
          <a:endParaRPr lang="en-US"/>
        </a:p>
      </dgm:t>
    </dgm:pt>
    <dgm:pt modelId="{68566505-0CBD-44D7-B132-273A745E5269}">
      <dgm:prSet custT="1"/>
      <dgm:spPr/>
      <dgm:t>
        <a:bodyPr/>
        <a:lstStyle/>
        <a:p>
          <a:r>
            <a:rPr lang="en-US" sz="2200" b="1" dirty="0">
              <a:solidFill>
                <a:srgbClr val="7030A0"/>
              </a:solidFill>
            </a:rPr>
            <a:t>Features</a:t>
          </a:r>
          <a:r>
            <a:rPr lang="en-US" sz="1800" dirty="0"/>
            <a:t> (used to make those predictions).</a:t>
          </a:r>
        </a:p>
      </dgm:t>
    </dgm:pt>
    <dgm:pt modelId="{7AE46C41-730B-49AA-9AD2-9C4E7E70AABF}" type="parTrans" cxnId="{6D707C05-AD23-4D1E-864A-D60181A25281}">
      <dgm:prSet/>
      <dgm:spPr/>
      <dgm:t>
        <a:bodyPr/>
        <a:lstStyle/>
        <a:p>
          <a:endParaRPr lang="en-US"/>
        </a:p>
      </dgm:t>
    </dgm:pt>
    <dgm:pt modelId="{0797FF77-0405-4958-B2E2-B3B1D6B2745E}" type="sibTrans" cxnId="{6D707C05-AD23-4D1E-864A-D60181A25281}">
      <dgm:prSet/>
      <dgm:spPr/>
      <dgm:t>
        <a:bodyPr/>
        <a:lstStyle/>
        <a:p>
          <a:endParaRPr lang="en-US"/>
        </a:p>
      </dgm:t>
    </dgm:pt>
    <dgm:pt modelId="{0B9FCCA2-3000-4093-B252-92487652025C}" type="pres">
      <dgm:prSet presAssocID="{99C52CB1-8593-4063-A733-95CFAF7493BA}" presName="root" presStyleCnt="0">
        <dgm:presLayoutVars>
          <dgm:dir/>
          <dgm:resizeHandles val="exact"/>
        </dgm:presLayoutVars>
      </dgm:prSet>
      <dgm:spPr/>
    </dgm:pt>
    <dgm:pt modelId="{5952943D-A358-463F-908C-68CC3435D627}" type="pres">
      <dgm:prSet presAssocID="{1A557644-39B8-4205-A4FF-72A6DCFB1B17}" presName="compNode" presStyleCnt="0"/>
      <dgm:spPr/>
    </dgm:pt>
    <dgm:pt modelId="{F697A1CE-23E9-4290-96A2-A894E836D1ED}" type="pres">
      <dgm:prSet presAssocID="{1A557644-39B8-4205-A4FF-72A6DCFB1B17}" presName="bgRect" presStyleLbl="bgShp" presStyleIdx="0" presStyleCnt="2"/>
      <dgm:spPr>
        <a:solidFill>
          <a:srgbClr val="A54EF3">
            <a:alpha val="30000"/>
          </a:srgbClr>
        </a:solidFill>
      </dgm:spPr>
    </dgm:pt>
    <dgm:pt modelId="{78C0DD5D-C138-4386-9F5A-8A684267147E}" type="pres">
      <dgm:prSet presAssocID="{1A557644-39B8-4205-A4FF-72A6DCFB1B17}"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F899F383-B18B-468F-99DC-C66B46D7E596}" type="pres">
      <dgm:prSet presAssocID="{1A557644-39B8-4205-A4FF-72A6DCFB1B17}" presName="spaceRect" presStyleCnt="0"/>
      <dgm:spPr/>
    </dgm:pt>
    <dgm:pt modelId="{988D1B83-D3A6-4A42-AFCF-B4F69CA73D05}" type="pres">
      <dgm:prSet presAssocID="{1A557644-39B8-4205-A4FF-72A6DCFB1B17}" presName="parTx" presStyleLbl="revTx" presStyleIdx="0" presStyleCnt="3">
        <dgm:presLayoutVars>
          <dgm:chMax val="0"/>
          <dgm:chPref val="0"/>
        </dgm:presLayoutVars>
      </dgm:prSet>
      <dgm:spPr/>
    </dgm:pt>
    <dgm:pt modelId="{697B1CA3-866D-4802-8B0B-7ED7E19BB77D}" type="pres">
      <dgm:prSet presAssocID="{EAEC0A25-9B77-407D-8C99-C0927C6D4FF1}" presName="sibTrans" presStyleCnt="0"/>
      <dgm:spPr/>
    </dgm:pt>
    <dgm:pt modelId="{9FD60587-11EA-480F-8383-F2467497ADED}" type="pres">
      <dgm:prSet presAssocID="{1404DEBA-9B1D-4CC7-9E80-C844BAA0B09D}" presName="compNode" presStyleCnt="0"/>
      <dgm:spPr/>
    </dgm:pt>
    <dgm:pt modelId="{347E9CC6-565D-43E3-90F8-31B53D8D9B72}" type="pres">
      <dgm:prSet presAssocID="{1404DEBA-9B1D-4CC7-9E80-C844BAA0B09D}" presName="bgRect" presStyleLbl="bgShp" presStyleIdx="1" presStyleCnt="2"/>
      <dgm:spPr>
        <a:solidFill>
          <a:srgbClr val="A54EF3">
            <a:alpha val="30000"/>
          </a:srgbClr>
        </a:solidFill>
      </dgm:spPr>
    </dgm:pt>
    <dgm:pt modelId="{F6FEB34A-0119-4112-AB2B-B7C5DBC9AE8D}" type="pres">
      <dgm:prSet presAssocID="{1404DEBA-9B1D-4CC7-9E80-C844BAA0B09D}"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Key"/>
        </a:ext>
      </dgm:extLst>
    </dgm:pt>
    <dgm:pt modelId="{EF45BE32-7513-466E-9D5B-BF44BCEA0BD1}" type="pres">
      <dgm:prSet presAssocID="{1404DEBA-9B1D-4CC7-9E80-C844BAA0B09D}" presName="spaceRect" presStyleCnt="0"/>
      <dgm:spPr/>
    </dgm:pt>
    <dgm:pt modelId="{0B03A86C-8704-415F-BB73-A109A7420340}" type="pres">
      <dgm:prSet presAssocID="{1404DEBA-9B1D-4CC7-9E80-C844BAA0B09D}" presName="parTx" presStyleLbl="revTx" presStyleIdx="1" presStyleCnt="3">
        <dgm:presLayoutVars>
          <dgm:chMax val="0"/>
          <dgm:chPref val="0"/>
        </dgm:presLayoutVars>
      </dgm:prSet>
      <dgm:spPr/>
    </dgm:pt>
    <dgm:pt modelId="{46B96663-8748-4341-A096-E40C423127AD}" type="pres">
      <dgm:prSet presAssocID="{1404DEBA-9B1D-4CC7-9E80-C844BAA0B09D}" presName="desTx" presStyleLbl="revTx" presStyleIdx="2" presStyleCnt="3">
        <dgm:presLayoutVars/>
      </dgm:prSet>
      <dgm:spPr/>
    </dgm:pt>
  </dgm:ptLst>
  <dgm:cxnLst>
    <dgm:cxn modelId="{2B715602-B24D-4B5E-9A7E-995C1395F9F7}" srcId="{99C52CB1-8593-4063-A733-95CFAF7493BA}" destId="{1404DEBA-9B1D-4CC7-9E80-C844BAA0B09D}" srcOrd="1" destOrd="0" parTransId="{1F3C5849-3FC4-4E0A-9282-8B1C695BFFFF}" sibTransId="{A6769412-22ED-429D-ABB9-D3227C7E2F77}"/>
    <dgm:cxn modelId="{6D707C05-AD23-4D1E-864A-D60181A25281}" srcId="{1404DEBA-9B1D-4CC7-9E80-C844BAA0B09D}" destId="{68566505-0CBD-44D7-B132-273A745E5269}" srcOrd="1" destOrd="0" parTransId="{7AE46C41-730B-49AA-9AD2-9C4E7E70AABF}" sibTransId="{0797FF77-0405-4958-B2E2-B3B1D6B2745E}"/>
    <dgm:cxn modelId="{2E450621-AA7B-4647-9282-68AB7852E874}" type="presOf" srcId="{1404DEBA-9B1D-4CC7-9E80-C844BAA0B09D}" destId="{0B03A86C-8704-415F-BB73-A109A7420340}" srcOrd="0" destOrd="0" presId="urn:microsoft.com/office/officeart/2018/2/layout/IconVerticalSolidList"/>
    <dgm:cxn modelId="{95891F46-C127-44F4-B3E8-FE4C40731BB3}" type="presOf" srcId="{68566505-0CBD-44D7-B132-273A745E5269}" destId="{46B96663-8748-4341-A096-E40C423127AD}" srcOrd="0" destOrd="1" presId="urn:microsoft.com/office/officeart/2018/2/layout/IconVerticalSolidList"/>
    <dgm:cxn modelId="{AA4FAF46-CE01-4CCB-A832-E61E280A44FF}" srcId="{99C52CB1-8593-4063-A733-95CFAF7493BA}" destId="{1A557644-39B8-4205-A4FF-72A6DCFB1B17}" srcOrd="0" destOrd="0" parTransId="{A7AC0FB9-AD9B-4FF6-B228-33B0AF5E93BC}" sibTransId="{EAEC0A25-9B77-407D-8C99-C0927C6D4FF1}"/>
    <dgm:cxn modelId="{92EDF24A-9BB8-4A57-84C1-E34FC84A0AD7}" type="presOf" srcId="{1A557644-39B8-4205-A4FF-72A6DCFB1B17}" destId="{988D1B83-D3A6-4A42-AFCF-B4F69CA73D05}" srcOrd="0" destOrd="0" presId="urn:microsoft.com/office/officeart/2018/2/layout/IconVerticalSolidList"/>
    <dgm:cxn modelId="{31B18466-4311-4D37-8AFA-1C86A654A448}" type="presOf" srcId="{99C52CB1-8593-4063-A733-95CFAF7493BA}" destId="{0B9FCCA2-3000-4093-B252-92487652025C}" srcOrd="0" destOrd="0" presId="urn:microsoft.com/office/officeart/2018/2/layout/IconVerticalSolidList"/>
    <dgm:cxn modelId="{38B99C83-7D32-492F-BF71-2187E3765C9D}" type="presOf" srcId="{D8BEF5C4-FDC7-43E1-BF60-4EF6C5B8DA26}" destId="{46B96663-8748-4341-A096-E40C423127AD}" srcOrd="0" destOrd="0" presId="urn:microsoft.com/office/officeart/2018/2/layout/IconVerticalSolidList"/>
    <dgm:cxn modelId="{A0304FEE-8139-4F9E-AAC5-3AE7B9CF3569}" srcId="{1404DEBA-9B1D-4CC7-9E80-C844BAA0B09D}" destId="{D8BEF5C4-FDC7-43E1-BF60-4EF6C5B8DA26}" srcOrd="0" destOrd="0" parTransId="{405604CC-637B-48B8-A74A-DE1293E033AA}" sibTransId="{97E3841E-264D-4323-867D-084DE25F4FBC}"/>
    <dgm:cxn modelId="{7B9ED924-1FA6-44F7-81A6-5BE4C29D1323}" type="presParOf" srcId="{0B9FCCA2-3000-4093-B252-92487652025C}" destId="{5952943D-A358-463F-908C-68CC3435D627}" srcOrd="0" destOrd="0" presId="urn:microsoft.com/office/officeart/2018/2/layout/IconVerticalSolidList"/>
    <dgm:cxn modelId="{95D1B925-ECE8-4C33-A459-FA731A7BF0B0}" type="presParOf" srcId="{5952943D-A358-463F-908C-68CC3435D627}" destId="{F697A1CE-23E9-4290-96A2-A894E836D1ED}" srcOrd="0" destOrd="0" presId="urn:microsoft.com/office/officeart/2018/2/layout/IconVerticalSolidList"/>
    <dgm:cxn modelId="{74E69DF5-6720-46BA-AC43-38F74895CB61}" type="presParOf" srcId="{5952943D-A358-463F-908C-68CC3435D627}" destId="{78C0DD5D-C138-4386-9F5A-8A684267147E}" srcOrd="1" destOrd="0" presId="urn:microsoft.com/office/officeart/2018/2/layout/IconVerticalSolidList"/>
    <dgm:cxn modelId="{EAF920EE-DA61-4B84-BE92-004909C91676}" type="presParOf" srcId="{5952943D-A358-463F-908C-68CC3435D627}" destId="{F899F383-B18B-468F-99DC-C66B46D7E596}" srcOrd="2" destOrd="0" presId="urn:microsoft.com/office/officeart/2018/2/layout/IconVerticalSolidList"/>
    <dgm:cxn modelId="{D4186170-DB60-4AE7-BC3A-4DD00C33D030}" type="presParOf" srcId="{5952943D-A358-463F-908C-68CC3435D627}" destId="{988D1B83-D3A6-4A42-AFCF-B4F69CA73D05}" srcOrd="3" destOrd="0" presId="urn:microsoft.com/office/officeart/2018/2/layout/IconVerticalSolidList"/>
    <dgm:cxn modelId="{922F793C-96B5-4A32-9890-554B801C5C53}" type="presParOf" srcId="{0B9FCCA2-3000-4093-B252-92487652025C}" destId="{697B1CA3-866D-4802-8B0B-7ED7E19BB77D}" srcOrd="1" destOrd="0" presId="urn:microsoft.com/office/officeart/2018/2/layout/IconVerticalSolidList"/>
    <dgm:cxn modelId="{11BC7B3E-6774-43EA-A128-E1CF092B75BC}" type="presParOf" srcId="{0B9FCCA2-3000-4093-B252-92487652025C}" destId="{9FD60587-11EA-480F-8383-F2467497ADED}" srcOrd="2" destOrd="0" presId="urn:microsoft.com/office/officeart/2018/2/layout/IconVerticalSolidList"/>
    <dgm:cxn modelId="{B2561871-3B20-4441-B328-65A4DB8B4302}" type="presParOf" srcId="{9FD60587-11EA-480F-8383-F2467497ADED}" destId="{347E9CC6-565D-43E3-90F8-31B53D8D9B72}" srcOrd="0" destOrd="0" presId="urn:microsoft.com/office/officeart/2018/2/layout/IconVerticalSolidList"/>
    <dgm:cxn modelId="{E9A62B36-D804-4893-AD78-A1F0F05F5C16}" type="presParOf" srcId="{9FD60587-11EA-480F-8383-F2467497ADED}" destId="{F6FEB34A-0119-4112-AB2B-B7C5DBC9AE8D}" srcOrd="1" destOrd="0" presId="urn:microsoft.com/office/officeart/2018/2/layout/IconVerticalSolidList"/>
    <dgm:cxn modelId="{944DCCBA-FFCB-4D18-B3D5-B5DBC8D2BF65}" type="presParOf" srcId="{9FD60587-11EA-480F-8383-F2467497ADED}" destId="{EF45BE32-7513-466E-9D5B-BF44BCEA0BD1}" srcOrd="2" destOrd="0" presId="urn:microsoft.com/office/officeart/2018/2/layout/IconVerticalSolidList"/>
    <dgm:cxn modelId="{4791285C-90B9-472C-A206-55B251608820}" type="presParOf" srcId="{9FD60587-11EA-480F-8383-F2467497ADED}" destId="{0B03A86C-8704-415F-BB73-A109A7420340}" srcOrd="3" destOrd="0" presId="urn:microsoft.com/office/officeart/2018/2/layout/IconVerticalSolidList"/>
    <dgm:cxn modelId="{A4A463F6-ABFE-4776-BF4C-5A51C87F9422}" type="presParOf" srcId="{9FD60587-11EA-480F-8383-F2467497ADED}" destId="{46B96663-8748-4341-A096-E40C423127AD}" srcOrd="4"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D272062-F500-4AD5-964F-725B9359915E}"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B89C67C5-265E-443E-94A6-E5034BBBC0D1}">
      <dgm:prSet/>
      <dgm:spPr/>
      <dgm:t>
        <a:bodyPr/>
        <a:lstStyle/>
        <a:p>
          <a:pPr>
            <a:lnSpc>
              <a:spcPct val="100000"/>
            </a:lnSpc>
          </a:pPr>
          <a:r>
            <a:rPr lang="en-US" b="1" dirty="0">
              <a:solidFill>
                <a:schemeClr val="tx1"/>
              </a:solidFill>
            </a:rPr>
            <a:t>Algorithm: </a:t>
          </a:r>
          <a:r>
            <a:rPr lang="en-US" dirty="0">
              <a:solidFill>
                <a:schemeClr val="tx1"/>
              </a:solidFill>
            </a:rPr>
            <a:t>Take feature values as input and predict the outcome.</a:t>
          </a:r>
        </a:p>
      </dgm:t>
    </dgm:pt>
    <dgm:pt modelId="{7BDFBE31-FD0B-4047-9AF6-DE4EB7B2EA50}" type="parTrans" cxnId="{42076E39-39CE-4239-AD0C-3ADDC53223D3}">
      <dgm:prSet/>
      <dgm:spPr/>
      <dgm:t>
        <a:bodyPr/>
        <a:lstStyle/>
        <a:p>
          <a:endParaRPr lang="en-US"/>
        </a:p>
      </dgm:t>
    </dgm:pt>
    <dgm:pt modelId="{F5708D6B-495D-4A13-AB28-2C52C33865CA}" type="sibTrans" cxnId="{42076E39-39CE-4239-AD0C-3ADDC53223D3}">
      <dgm:prSet/>
      <dgm:spPr/>
      <dgm:t>
        <a:bodyPr/>
        <a:lstStyle/>
        <a:p>
          <a:endParaRPr lang="en-US"/>
        </a:p>
      </dgm:t>
    </dgm:pt>
    <dgm:pt modelId="{E8C3BB2C-C655-4758-94F5-D906544D9DD2}" type="pres">
      <dgm:prSet presAssocID="{ED272062-F500-4AD5-964F-725B9359915E}" presName="root" presStyleCnt="0">
        <dgm:presLayoutVars>
          <dgm:dir/>
          <dgm:resizeHandles val="exact"/>
        </dgm:presLayoutVars>
      </dgm:prSet>
      <dgm:spPr/>
    </dgm:pt>
    <dgm:pt modelId="{C3CE579D-2571-45D7-B005-047FCDD796B9}" type="pres">
      <dgm:prSet presAssocID="{B89C67C5-265E-443E-94A6-E5034BBBC0D1}" presName="compNode" presStyleCnt="0"/>
      <dgm:spPr/>
    </dgm:pt>
    <dgm:pt modelId="{493DED0E-8764-4DF2-9DD3-359EB20EF2DD}" type="pres">
      <dgm:prSet presAssocID="{B89C67C5-265E-443E-94A6-E5034BBBC0D1}" presName="bgRect" presStyleLbl="bgShp" presStyleIdx="0" presStyleCnt="1" custLinFactNeighborX="284" custLinFactNeighborY="-51372"/>
      <dgm:spPr>
        <a:solidFill>
          <a:srgbClr val="A54EF3">
            <a:alpha val="29875"/>
          </a:srgbClr>
        </a:solidFill>
      </dgm:spPr>
    </dgm:pt>
    <dgm:pt modelId="{AF9BE9EA-905B-4714-BC50-DB0310C30F92}" type="pres">
      <dgm:prSet presAssocID="{B89C67C5-265E-443E-94A6-E5034BBBC0D1}" presName="iconRect" presStyleLbl="node1" presStyleIdx="0" presStyleCnt="1" custLinFactNeighborX="0" custLinFactNeighborY="-80861"/>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grammer"/>
        </a:ext>
      </dgm:extLst>
    </dgm:pt>
    <dgm:pt modelId="{DCFCC901-9F00-4F44-B745-8FA0B36AFC96}" type="pres">
      <dgm:prSet presAssocID="{B89C67C5-265E-443E-94A6-E5034BBBC0D1}" presName="spaceRect" presStyleCnt="0"/>
      <dgm:spPr/>
    </dgm:pt>
    <dgm:pt modelId="{C2016278-ADA7-40A7-A7F4-55EF2053F1F7}" type="pres">
      <dgm:prSet presAssocID="{B89C67C5-265E-443E-94A6-E5034BBBC0D1}" presName="parTx" presStyleLbl="revTx" presStyleIdx="0" presStyleCnt="1" custLinFactNeighborX="-184" custLinFactNeighborY="-50000">
        <dgm:presLayoutVars>
          <dgm:chMax val="0"/>
          <dgm:chPref val="0"/>
        </dgm:presLayoutVars>
      </dgm:prSet>
      <dgm:spPr/>
    </dgm:pt>
  </dgm:ptLst>
  <dgm:cxnLst>
    <dgm:cxn modelId="{A3DDE72F-EFDB-48AA-B1A5-415788209402}" type="presOf" srcId="{B89C67C5-265E-443E-94A6-E5034BBBC0D1}" destId="{C2016278-ADA7-40A7-A7F4-55EF2053F1F7}" srcOrd="0" destOrd="0" presId="urn:microsoft.com/office/officeart/2018/2/layout/IconVerticalSolidList"/>
    <dgm:cxn modelId="{42076E39-39CE-4239-AD0C-3ADDC53223D3}" srcId="{ED272062-F500-4AD5-964F-725B9359915E}" destId="{B89C67C5-265E-443E-94A6-E5034BBBC0D1}" srcOrd="0" destOrd="0" parTransId="{7BDFBE31-FD0B-4047-9AF6-DE4EB7B2EA50}" sibTransId="{F5708D6B-495D-4A13-AB28-2C52C33865CA}"/>
    <dgm:cxn modelId="{DCD73FC5-BB73-4AEC-8541-92C91313B297}" type="presOf" srcId="{ED272062-F500-4AD5-964F-725B9359915E}" destId="{E8C3BB2C-C655-4758-94F5-D906544D9DD2}" srcOrd="0" destOrd="0" presId="urn:microsoft.com/office/officeart/2018/2/layout/IconVerticalSolidList"/>
    <dgm:cxn modelId="{D65CAF21-B403-43A2-9AB2-E32B1BF76C89}" type="presParOf" srcId="{E8C3BB2C-C655-4758-94F5-D906544D9DD2}" destId="{C3CE579D-2571-45D7-B005-047FCDD796B9}" srcOrd="0" destOrd="0" presId="urn:microsoft.com/office/officeart/2018/2/layout/IconVerticalSolidList"/>
    <dgm:cxn modelId="{A94C602F-553A-4A73-B68A-96DAFBFB2D25}" type="presParOf" srcId="{C3CE579D-2571-45D7-B005-047FCDD796B9}" destId="{493DED0E-8764-4DF2-9DD3-359EB20EF2DD}" srcOrd="0" destOrd="0" presId="urn:microsoft.com/office/officeart/2018/2/layout/IconVerticalSolidList"/>
    <dgm:cxn modelId="{B7A52BFF-40FE-44C0-B494-1D80F4D1338C}" type="presParOf" srcId="{C3CE579D-2571-45D7-B005-047FCDD796B9}" destId="{AF9BE9EA-905B-4714-BC50-DB0310C30F92}" srcOrd="1" destOrd="0" presId="urn:microsoft.com/office/officeart/2018/2/layout/IconVerticalSolidList"/>
    <dgm:cxn modelId="{90E93FDE-C68B-4FDA-9683-A69DCC2AB350}" type="presParOf" srcId="{C3CE579D-2571-45D7-B005-047FCDD796B9}" destId="{DCFCC901-9F00-4F44-B745-8FA0B36AFC96}" srcOrd="2" destOrd="0" presId="urn:microsoft.com/office/officeart/2018/2/layout/IconVerticalSolidList"/>
    <dgm:cxn modelId="{6CC82322-2D6F-4716-934B-EC32DCAFAFB6}" type="presParOf" srcId="{C3CE579D-2571-45D7-B005-047FCDD796B9}" destId="{C2016278-ADA7-40A7-A7F4-55EF2053F1F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D272062-F500-4AD5-964F-725B9359915E}"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B89C67C5-265E-443E-94A6-E5034BBBC0D1}">
      <dgm:prSet/>
      <dgm:spPr/>
      <dgm:t>
        <a:bodyPr/>
        <a:lstStyle/>
        <a:p>
          <a:r>
            <a:rPr lang="en-US" b="1" dirty="0"/>
            <a:t>Algorithm: </a:t>
          </a:r>
          <a:r>
            <a:rPr lang="en-US" dirty="0"/>
            <a:t>Take feature values as input and predict the outcome.</a:t>
          </a:r>
        </a:p>
      </dgm:t>
    </dgm:pt>
    <dgm:pt modelId="{7BDFBE31-FD0B-4047-9AF6-DE4EB7B2EA50}" type="parTrans" cxnId="{42076E39-39CE-4239-AD0C-3ADDC53223D3}">
      <dgm:prSet/>
      <dgm:spPr/>
      <dgm:t>
        <a:bodyPr/>
        <a:lstStyle/>
        <a:p>
          <a:endParaRPr lang="en-US"/>
        </a:p>
      </dgm:t>
    </dgm:pt>
    <dgm:pt modelId="{F5708D6B-495D-4A13-AB28-2C52C33865CA}" type="sibTrans" cxnId="{42076E39-39CE-4239-AD0C-3ADDC53223D3}">
      <dgm:prSet/>
      <dgm:spPr/>
      <dgm:t>
        <a:bodyPr/>
        <a:lstStyle/>
        <a:p>
          <a:endParaRPr lang="en-US"/>
        </a:p>
      </dgm:t>
    </dgm:pt>
    <dgm:pt modelId="{E3022D57-38B5-40C5-A09A-99108A427711}">
      <dgm:prSet/>
      <dgm:spPr/>
      <dgm:t>
        <a:bodyPr/>
        <a:lstStyle/>
        <a:p>
          <a:r>
            <a:rPr lang="en-US" b="1" dirty="0"/>
            <a:t>Approach: </a:t>
          </a:r>
          <a:r>
            <a:rPr lang="en-US" b="1" dirty="0">
              <a:solidFill>
                <a:srgbClr val="7030A0"/>
              </a:solidFill>
            </a:rPr>
            <a:t>Train the algorithm </a:t>
          </a:r>
          <a:r>
            <a:rPr lang="en-US" dirty="0"/>
            <a:t>with known outcome datasets for future predictions.</a:t>
          </a:r>
        </a:p>
      </dgm:t>
    </dgm:pt>
    <dgm:pt modelId="{42F10345-5EED-4194-9E65-B36DDB914954}" type="parTrans" cxnId="{B43BCC1C-8166-4D8C-8D8A-9D15C7C7CFF0}">
      <dgm:prSet/>
      <dgm:spPr/>
      <dgm:t>
        <a:bodyPr/>
        <a:lstStyle/>
        <a:p>
          <a:endParaRPr lang="en-US"/>
        </a:p>
      </dgm:t>
    </dgm:pt>
    <dgm:pt modelId="{D7497627-3D5F-4872-9484-5304C16C3740}" type="sibTrans" cxnId="{B43BCC1C-8166-4D8C-8D8A-9D15C7C7CFF0}">
      <dgm:prSet/>
      <dgm:spPr/>
      <dgm:t>
        <a:bodyPr/>
        <a:lstStyle/>
        <a:p>
          <a:endParaRPr lang="en-US"/>
        </a:p>
      </dgm:t>
    </dgm:pt>
    <dgm:pt modelId="{E8C3BB2C-C655-4758-94F5-D906544D9DD2}" type="pres">
      <dgm:prSet presAssocID="{ED272062-F500-4AD5-964F-725B9359915E}" presName="root" presStyleCnt="0">
        <dgm:presLayoutVars>
          <dgm:dir/>
          <dgm:resizeHandles val="exact"/>
        </dgm:presLayoutVars>
      </dgm:prSet>
      <dgm:spPr/>
    </dgm:pt>
    <dgm:pt modelId="{C3CE579D-2571-45D7-B005-047FCDD796B9}" type="pres">
      <dgm:prSet presAssocID="{B89C67C5-265E-443E-94A6-E5034BBBC0D1}" presName="compNode" presStyleCnt="0"/>
      <dgm:spPr/>
    </dgm:pt>
    <dgm:pt modelId="{493DED0E-8764-4DF2-9DD3-359EB20EF2DD}" type="pres">
      <dgm:prSet presAssocID="{B89C67C5-265E-443E-94A6-E5034BBBC0D1}" presName="bgRect" presStyleLbl="bgShp" presStyleIdx="0" presStyleCnt="2"/>
      <dgm:spPr>
        <a:solidFill>
          <a:srgbClr val="A54EF3">
            <a:alpha val="29875"/>
          </a:srgbClr>
        </a:solidFill>
      </dgm:spPr>
    </dgm:pt>
    <dgm:pt modelId="{AF9BE9EA-905B-4714-BC50-DB0310C30F92}" type="pres">
      <dgm:prSet presAssocID="{B89C67C5-265E-443E-94A6-E5034BBBC0D1}"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grammer"/>
        </a:ext>
      </dgm:extLst>
    </dgm:pt>
    <dgm:pt modelId="{DCFCC901-9F00-4F44-B745-8FA0B36AFC96}" type="pres">
      <dgm:prSet presAssocID="{B89C67C5-265E-443E-94A6-E5034BBBC0D1}" presName="spaceRect" presStyleCnt="0"/>
      <dgm:spPr/>
    </dgm:pt>
    <dgm:pt modelId="{C2016278-ADA7-40A7-A7F4-55EF2053F1F7}" type="pres">
      <dgm:prSet presAssocID="{B89C67C5-265E-443E-94A6-E5034BBBC0D1}" presName="parTx" presStyleLbl="revTx" presStyleIdx="0" presStyleCnt="2">
        <dgm:presLayoutVars>
          <dgm:chMax val="0"/>
          <dgm:chPref val="0"/>
        </dgm:presLayoutVars>
      </dgm:prSet>
      <dgm:spPr/>
    </dgm:pt>
    <dgm:pt modelId="{1DB54313-197D-4037-A653-0D125EA168C9}" type="pres">
      <dgm:prSet presAssocID="{F5708D6B-495D-4A13-AB28-2C52C33865CA}" presName="sibTrans" presStyleCnt="0"/>
      <dgm:spPr/>
    </dgm:pt>
    <dgm:pt modelId="{D3B288CC-6FF7-4E7D-96CB-36CAC721499F}" type="pres">
      <dgm:prSet presAssocID="{E3022D57-38B5-40C5-A09A-99108A427711}" presName="compNode" presStyleCnt="0"/>
      <dgm:spPr/>
    </dgm:pt>
    <dgm:pt modelId="{5FA6EBCB-367E-41DB-A738-35D3F6B20623}" type="pres">
      <dgm:prSet presAssocID="{E3022D57-38B5-40C5-A09A-99108A427711}" presName="bgRect" presStyleLbl="bgShp" presStyleIdx="1" presStyleCnt="2"/>
      <dgm:spPr>
        <a:solidFill>
          <a:srgbClr val="A54EF3">
            <a:alpha val="30000"/>
          </a:srgbClr>
        </a:solidFill>
      </dgm:spPr>
    </dgm:pt>
    <dgm:pt modelId="{82437B60-66BF-4708-BFFC-FF4B116FFE15}" type="pres">
      <dgm:prSet presAssocID="{E3022D57-38B5-40C5-A09A-99108A427711}"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62697474-F5B1-4BED-A020-316A9AF51EBD}" type="pres">
      <dgm:prSet presAssocID="{E3022D57-38B5-40C5-A09A-99108A427711}" presName="spaceRect" presStyleCnt="0"/>
      <dgm:spPr/>
    </dgm:pt>
    <dgm:pt modelId="{142FC495-5089-4F38-B12D-4D5050F5CF57}" type="pres">
      <dgm:prSet presAssocID="{E3022D57-38B5-40C5-A09A-99108A427711}" presName="parTx" presStyleLbl="revTx" presStyleIdx="1" presStyleCnt="2">
        <dgm:presLayoutVars>
          <dgm:chMax val="0"/>
          <dgm:chPref val="0"/>
        </dgm:presLayoutVars>
      </dgm:prSet>
      <dgm:spPr/>
    </dgm:pt>
  </dgm:ptLst>
  <dgm:cxnLst>
    <dgm:cxn modelId="{B43BCC1C-8166-4D8C-8D8A-9D15C7C7CFF0}" srcId="{ED272062-F500-4AD5-964F-725B9359915E}" destId="{E3022D57-38B5-40C5-A09A-99108A427711}" srcOrd="1" destOrd="0" parTransId="{42F10345-5EED-4194-9E65-B36DDB914954}" sibTransId="{D7497627-3D5F-4872-9484-5304C16C3740}"/>
    <dgm:cxn modelId="{A3DDE72F-EFDB-48AA-B1A5-415788209402}" type="presOf" srcId="{B89C67C5-265E-443E-94A6-E5034BBBC0D1}" destId="{C2016278-ADA7-40A7-A7F4-55EF2053F1F7}" srcOrd="0" destOrd="0" presId="urn:microsoft.com/office/officeart/2018/2/layout/IconVerticalSolidList"/>
    <dgm:cxn modelId="{1096F735-32A7-4E22-9CBF-1787D2C83C69}" type="presOf" srcId="{E3022D57-38B5-40C5-A09A-99108A427711}" destId="{142FC495-5089-4F38-B12D-4D5050F5CF57}" srcOrd="0" destOrd="0" presId="urn:microsoft.com/office/officeart/2018/2/layout/IconVerticalSolidList"/>
    <dgm:cxn modelId="{42076E39-39CE-4239-AD0C-3ADDC53223D3}" srcId="{ED272062-F500-4AD5-964F-725B9359915E}" destId="{B89C67C5-265E-443E-94A6-E5034BBBC0D1}" srcOrd="0" destOrd="0" parTransId="{7BDFBE31-FD0B-4047-9AF6-DE4EB7B2EA50}" sibTransId="{F5708D6B-495D-4A13-AB28-2C52C33865CA}"/>
    <dgm:cxn modelId="{DCD73FC5-BB73-4AEC-8541-92C91313B297}" type="presOf" srcId="{ED272062-F500-4AD5-964F-725B9359915E}" destId="{E8C3BB2C-C655-4758-94F5-D906544D9DD2}" srcOrd="0" destOrd="0" presId="urn:microsoft.com/office/officeart/2018/2/layout/IconVerticalSolidList"/>
    <dgm:cxn modelId="{D65CAF21-B403-43A2-9AB2-E32B1BF76C89}" type="presParOf" srcId="{E8C3BB2C-C655-4758-94F5-D906544D9DD2}" destId="{C3CE579D-2571-45D7-B005-047FCDD796B9}" srcOrd="0" destOrd="0" presId="urn:microsoft.com/office/officeart/2018/2/layout/IconVerticalSolidList"/>
    <dgm:cxn modelId="{A94C602F-553A-4A73-B68A-96DAFBFB2D25}" type="presParOf" srcId="{C3CE579D-2571-45D7-B005-047FCDD796B9}" destId="{493DED0E-8764-4DF2-9DD3-359EB20EF2DD}" srcOrd="0" destOrd="0" presId="urn:microsoft.com/office/officeart/2018/2/layout/IconVerticalSolidList"/>
    <dgm:cxn modelId="{B7A52BFF-40FE-44C0-B494-1D80F4D1338C}" type="presParOf" srcId="{C3CE579D-2571-45D7-B005-047FCDD796B9}" destId="{AF9BE9EA-905B-4714-BC50-DB0310C30F92}" srcOrd="1" destOrd="0" presId="urn:microsoft.com/office/officeart/2018/2/layout/IconVerticalSolidList"/>
    <dgm:cxn modelId="{90E93FDE-C68B-4FDA-9683-A69DCC2AB350}" type="presParOf" srcId="{C3CE579D-2571-45D7-B005-047FCDD796B9}" destId="{DCFCC901-9F00-4F44-B745-8FA0B36AFC96}" srcOrd="2" destOrd="0" presId="urn:microsoft.com/office/officeart/2018/2/layout/IconVerticalSolidList"/>
    <dgm:cxn modelId="{6CC82322-2D6F-4716-934B-EC32DCAFAFB6}" type="presParOf" srcId="{C3CE579D-2571-45D7-B005-047FCDD796B9}" destId="{C2016278-ADA7-40A7-A7F4-55EF2053F1F7}" srcOrd="3" destOrd="0" presId="urn:microsoft.com/office/officeart/2018/2/layout/IconVerticalSolidList"/>
    <dgm:cxn modelId="{548E6BD4-4C1E-420B-906F-BC5A6B3AE82F}" type="presParOf" srcId="{E8C3BB2C-C655-4758-94F5-D906544D9DD2}" destId="{1DB54313-197D-4037-A653-0D125EA168C9}" srcOrd="1" destOrd="0" presId="urn:microsoft.com/office/officeart/2018/2/layout/IconVerticalSolidList"/>
    <dgm:cxn modelId="{E6566681-A5EE-4404-9885-FEBD9A30ADC0}" type="presParOf" srcId="{E8C3BB2C-C655-4758-94F5-D906544D9DD2}" destId="{D3B288CC-6FF7-4E7D-96CB-36CAC721499F}" srcOrd="2" destOrd="0" presId="urn:microsoft.com/office/officeart/2018/2/layout/IconVerticalSolidList"/>
    <dgm:cxn modelId="{5AF62114-30D3-4137-8724-A1735FF552B7}" type="presParOf" srcId="{D3B288CC-6FF7-4E7D-96CB-36CAC721499F}" destId="{5FA6EBCB-367E-41DB-A738-35D3F6B20623}" srcOrd="0" destOrd="0" presId="urn:microsoft.com/office/officeart/2018/2/layout/IconVerticalSolidList"/>
    <dgm:cxn modelId="{085FCF16-786E-4707-BF82-3F2DE44AED03}" type="presParOf" srcId="{D3B288CC-6FF7-4E7D-96CB-36CAC721499F}" destId="{82437B60-66BF-4708-BFFC-FF4B116FFE15}" srcOrd="1" destOrd="0" presId="urn:microsoft.com/office/officeart/2018/2/layout/IconVerticalSolidList"/>
    <dgm:cxn modelId="{CA129294-8F66-4854-B973-937E2B72CDDA}" type="presParOf" srcId="{D3B288CC-6FF7-4E7D-96CB-36CAC721499F}" destId="{62697474-F5B1-4BED-A020-316A9AF51EBD}" srcOrd="2" destOrd="0" presId="urn:microsoft.com/office/officeart/2018/2/layout/IconVerticalSolidList"/>
    <dgm:cxn modelId="{71795233-76EB-4D3A-803C-785FA486AC2C}" type="presParOf" srcId="{D3B288CC-6FF7-4E7D-96CB-36CAC721499F}" destId="{142FC495-5089-4F38-B12D-4D5050F5CF5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C4A3A5D-345A-4AC8-B117-2E673A72DA3F}" type="doc">
      <dgm:prSet loTypeId="urn:microsoft.com/office/officeart/2005/8/layout/default" loCatId="list" qsTypeId="urn:microsoft.com/office/officeart/2005/8/quickstyle/simple2" qsCatId="simple" csTypeId="urn:microsoft.com/office/officeart/2005/8/colors/accent1_2" csCatId="accent1" phldr="1"/>
      <dgm:spPr/>
      <dgm:t>
        <a:bodyPr/>
        <a:lstStyle/>
        <a:p>
          <a:endParaRPr lang="en-US"/>
        </a:p>
      </dgm:t>
    </dgm:pt>
    <dgm:pt modelId="{CBAF95A2-474E-4073-96D3-AC1622209EA4}">
      <dgm:prSet custT="1"/>
      <dgm:spPr>
        <a:solidFill>
          <a:srgbClr val="7030A0"/>
        </a:solidFill>
      </dgm:spPr>
      <dgm:t>
        <a:bodyPr/>
        <a:lstStyle/>
        <a:p>
          <a:r>
            <a:rPr lang="en-US" sz="3200" dirty="0"/>
            <a:t>Outcomes as Y</a:t>
          </a:r>
        </a:p>
      </dgm:t>
    </dgm:pt>
    <dgm:pt modelId="{2A29F396-54BF-470A-ABDC-6E6B330FF913}" type="parTrans" cxnId="{8DF967CE-E6C3-42DE-B6DC-A64A6F195432}">
      <dgm:prSet/>
      <dgm:spPr/>
      <dgm:t>
        <a:bodyPr/>
        <a:lstStyle/>
        <a:p>
          <a:endParaRPr lang="en-US"/>
        </a:p>
      </dgm:t>
    </dgm:pt>
    <dgm:pt modelId="{C32AED42-3FC8-431C-98BE-24B5BED6F2E7}" type="sibTrans" cxnId="{8DF967CE-E6C3-42DE-B6DC-A64A6F195432}">
      <dgm:prSet/>
      <dgm:spPr/>
      <dgm:t>
        <a:bodyPr/>
        <a:lstStyle/>
        <a:p>
          <a:endParaRPr lang="en-US"/>
        </a:p>
      </dgm:t>
    </dgm:pt>
    <dgm:pt modelId="{5AA703BB-E598-4BF0-8B9E-896F166E60BF}">
      <dgm:prSet custT="1"/>
      <dgm:spPr>
        <a:solidFill>
          <a:srgbClr val="7030A0"/>
        </a:solidFill>
      </dgm:spPr>
      <dgm:t>
        <a:bodyPr/>
        <a:lstStyle/>
        <a:p>
          <a:r>
            <a:rPr lang="en-US" sz="3200" dirty="0"/>
            <a:t>Features as X </a:t>
          </a:r>
        </a:p>
        <a:p>
          <a:r>
            <a:rPr lang="en-US" sz="3200" dirty="0"/>
            <a:t>(X</a:t>
          </a:r>
          <a:r>
            <a:rPr lang="en-US" sz="3200" baseline="-25000" dirty="0"/>
            <a:t>1</a:t>
          </a:r>
          <a:r>
            <a:rPr lang="en-US" sz="3200" dirty="0"/>
            <a:t> to </a:t>
          </a:r>
          <a:r>
            <a:rPr lang="en-US" sz="3200" dirty="0" err="1"/>
            <a:t>Xp</a:t>
          </a:r>
          <a:r>
            <a:rPr lang="en-US" sz="3200" dirty="0"/>
            <a:t>)</a:t>
          </a:r>
        </a:p>
      </dgm:t>
    </dgm:pt>
    <dgm:pt modelId="{4D76FD5E-7F62-465F-92ED-381FD87F4A8C}" type="parTrans" cxnId="{5915FCF9-FC3C-431B-9A17-3B32B549900E}">
      <dgm:prSet/>
      <dgm:spPr/>
      <dgm:t>
        <a:bodyPr/>
        <a:lstStyle/>
        <a:p>
          <a:endParaRPr lang="en-US"/>
        </a:p>
      </dgm:t>
    </dgm:pt>
    <dgm:pt modelId="{6DDBCF7A-EAE0-402A-AA33-01C50E8DE36A}" type="sibTrans" cxnId="{5915FCF9-FC3C-431B-9A17-3B32B549900E}">
      <dgm:prSet/>
      <dgm:spPr/>
      <dgm:t>
        <a:bodyPr/>
        <a:lstStyle/>
        <a:p>
          <a:endParaRPr lang="en-US"/>
        </a:p>
      </dgm:t>
    </dgm:pt>
    <dgm:pt modelId="{6DE18B08-B4A3-6242-B7F2-7DF495BF823F}" type="pres">
      <dgm:prSet presAssocID="{AC4A3A5D-345A-4AC8-B117-2E673A72DA3F}" presName="diagram" presStyleCnt="0">
        <dgm:presLayoutVars>
          <dgm:dir/>
          <dgm:resizeHandles val="exact"/>
        </dgm:presLayoutVars>
      </dgm:prSet>
      <dgm:spPr/>
    </dgm:pt>
    <dgm:pt modelId="{B7AFCE45-6F47-284E-BD2A-610E5E7901AB}" type="pres">
      <dgm:prSet presAssocID="{CBAF95A2-474E-4073-96D3-AC1622209EA4}" presName="node" presStyleLbl="node1" presStyleIdx="0" presStyleCnt="2">
        <dgm:presLayoutVars>
          <dgm:bulletEnabled val="1"/>
        </dgm:presLayoutVars>
      </dgm:prSet>
      <dgm:spPr/>
    </dgm:pt>
    <dgm:pt modelId="{5D4C01B5-4F3D-424C-93E4-BD13C1998AFF}" type="pres">
      <dgm:prSet presAssocID="{C32AED42-3FC8-431C-98BE-24B5BED6F2E7}" presName="sibTrans" presStyleCnt="0"/>
      <dgm:spPr/>
    </dgm:pt>
    <dgm:pt modelId="{A4F590C3-89C1-9E43-9EFD-CAEF75B70E68}" type="pres">
      <dgm:prSet presAssocID="{5AA703BB-E598-4BF0-8B9E-896F166E60BF}" presName="node" presStyleLbl="node1" presStyleIdx="1" presStyleCnt="2">
        <dgm:presLayoutVars>
          <dgm:bulletEnabled val="1"/>
        </dgm:presLayoutVars>
      </dgm:prSet>
      <dgm:spPr/>
    </dgm:pt>
  </dgm:ptLst>
  <dgm:cxnLst>
    <dgm:cxn modelId="{9BFAF702-5F35-E145-8AFD-FBB3C9438E9E}" type="presOf" srcId="{CBAF95A2-474E-4073-96D3-AC1622209EA4}" destId="{B7AFCE45-6F47-284E-BD2A-610E5E7901AB}" srcOrd="0" destOrd="0" presId="urn:microsoft.com/office/officeart/2005/8/layout/default"/>
    <dgm:cxn modelId="{B09BD19F-2B48-BE4C-8159-0E143FA8EA5A}" type="presOf" srcId="{5AA703BB-E598-4BF0-8B9E-896F166E60BF}" destId="{A4F590C3-89C1-9E43-9EFD-CAEF75B70E68}" srcOrd="0" destOrd="0" presId="urn:microsoft.com/office/officeart/2005/8/layout/default"/>
    <dgm:cxn modelId="{2B490FB9-E3AC-904A-A18A-16BAB55A5D37}" type="presOf" srcId="{AC4A3A5D-345A-4AC8-B117-2E673A72DA3F}" destId="{6DE18B08-B4A3-6242-B7F2-7DF495BF823F}" srcOrd="0" destOrd="0" presId="urn:microsoft.com/office/officeart/2005/8/layout/default"/>
    <dgm:cxn modelId="{8DF967CE-E6C3-42DE-B6DC-A64A6F195432}" srcId="{AC4A3A5D-345A-4AC8-B117-2E673A72DA3F}" destId="{CBAF95A2-474E-4073-96D3-AC1622209EA4}" srcOrd="0" destOrd="0" parTransId="{2A29F396-54BF-470A-ABDC-6E6B330FF913}" sibTransId="{C32AED42-3FC8-431C-98BE-24B5BED6F2E7}"/>
    <dgm:cxn modelId="{5915FCF9-FC3C-431B-9A17-3B32B549900E}" srcId="{AC4A3A5D-345A-4AC8-B117-2E673A72DA3F}" destId="{5AA703BB-E598-4BF0-8B9E-896F166E60BF}" srcOrd="1" destOrd="0" parTransId="{4D76FD5E-7F62-465F-92ED-381FD87F4A8C}" sibTransId="{6DDBCF7A-EAE0-402A-AA33-01C50E8DE36A}"/>
    <dgm:cxn modelId="{27891565-7B0A-DC49-AB22-DD9E699E4ECD}" type="presParOf" srcId="{6DE18B08-B4A3-6242-B7F2-7DF495BF823F}" destId="{B7AFCE45-6F47-284E-BD2A-610E5E7901AB}" srcOrd="0" destOrd="0" presId="urn:microsoft.com/office/officeart/2005/8/layout/default"/>
    <dgm:cxn modelId="{724CD3FB-3EDC-964E-A560-39A5C095152F}" type="presParOf" srcId="{6DE18B08-B4A3-6242-B7F2-7DF495BF823F}" destId="{5D4C01B5-4F3D-424C-93E4-BD13C1998AFF}" srcOrd="1" destOrd="0" presId="urn:microsoft.com/office/officeart/2005/8/layout/default"/>
    <dgm:cxn modelId="{233C59CB-FC66-1B4C-A4D7-B96F2ECBC3A6}" type="presParOf" srcId="{6DE18B08-B4A3-6242-B7F2-7DF495BF823F}" destId="{A4F590C3-89C1-9E43-9EFD-CAEF75B70E68}" srcOrd="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25A16C9-53DC-4EAF-90E4-047DB2456304}" type="doc">
      <dgm:prSet loTypeId="urn:microsoft.com/office/officeart/2005/8/layout/vList2" loCatId="list" qsTypeId="urn:microsoft.com/office/officeart/2005/8/quickstyle/simple1" qsCatId="simple" csTypeId="urn:microsoft.com/office/officeart/2005/8/colors/accent2_2" csCatId="accent2" phldr="1"/>
      <dgm:spPr/>
      <dgm:t>
        <a:bodyPr/>
        <a:lstStyle/>
        <a:p>
          <a:endParaRPr lang="en-US"/>
        </a:p>
      </dgm:t>
    </dgm:pt>
    <dgm:pt modelId="{A9BFD174-CF8A-454C-B713-B35D7F3AE654}">
      <dgm:prSet custT="1"/>
      <dgm:spPr>
        <a:solidFill>
          <a:srgbClr val="7030A0"/>
        </a:solidFill>
      </dgm:spPr>
      <dgm:t>
        <a:bodyPr/>
        <a:lstStyle/>
        <a:p>
          <a:r>
            <a:rPr lang="en-US" sz="2800" b="1" dirty="0"/>
            <a:t>Categorical outcomes: </a:t>
          </a:r>
          <a:r>
            <a:rPr lang="en-US" sz="2800" dirty="0"/>
            <a:t>Y with k classes </a:t>
          </a:r>
          <a:r>
            <a:rPr lang="en-US" sz="1800" dirty="0"/>
            <a:t>(e.g., digits, words, spam or not spam, building typology).</a:t>
          </a:r>
        </a:p>
      </dgm:t>
    </dgm:pt>
    <dgm:pt modelId="{7F7E95B2-CFF3-4564-BD23-D2EDE22C5A11}" type="parTrans" cxnId="{A2188D30-4E2A-4456-8229-43044CD70258}">
      <dgm:prSet/>
      <dgm:spPr/>
      <dgm:t>
        <a:bodyPr/>
        <a:lstStyle/>
        <a:p>
          <a:endParaRPr lang="en-US"/>
        </a:p>
      </dgm:t>
    </dgm:pt>
    <dgm:pt modelId="{41542673-B20A-444D-BF47-CCD0450270EF}" type="sibTrans" cxnId="{A2188D30-4E2A-4456-8229-43044CD70258}">
      <dgm:prSet/>
      <dgm:spPr/>
      <dgm:t>
        <a:bodyPr/>
        <a:lstStyle/>
        <a:p>
          <a:endParaRPr lang="en-US"/>
        </a:p>
      </dgm:t>
    </dgm:pt>
    <dgm:pt modelId="{2DE52355-E15D-47A2-878F-C824D7EF0F65}">
      <dgm:prSet custT="1"/>
      <dgm:spPr>
        <a:solidFill>
          <a:srgbClr val="7030A0"/>
        </a:solidFill>
      </dgm:spPr>
      <dgm:t>
        <a:bodyPr/>
        <a:lstStyle/>
        <a:p>
          <a:r>
            <a:rPr lang="en-US" sz="2800" b="1" dirty="0"/>
            <a:t>Continuous outcomes: </a:t>
          </a:r>
          <a:r>
            <a:rPr lang="en-US" sz="2800" dirty="0"/>
            <a:t>Prediction tasks where Y is continuous </a:t>
          </a:r>
          <a:r>
            <a:rPr lang="en-US" sz="1800" dirty="0"/>
            <a:t>(e.g., building energy use).</a:t>
          </a:r>
        </a:p>
      </dgm:t>
    </dgm:pt>
    <dgm:pt modelId="{B2577311-6CE5-4C96-8D40-CF09F2E7B7D0}" type="parTrans" cxnId="{C30F24C4-1B87-4D24-A4DA-7C36ED842AD1}">
      <dgm:prSet/>
      <dgm:spPr/>
      <dgm:t>
        <a:bodyPr/>
        <a:lstStyle/>
        <a:p>
          <a:endParaRPr lang="en-US"/>
        </a:p>
      </dgm:t>
    </dgm:pt>
    <dgm:pt modelId="{D7E2F161-BC47-42EB-A2C0-F022C1B2B888}" type="sibTrans" cxnId="{C30F24C4-1B87-4D24-A4DA-7C36ED842AD1}">
      <dgm:prSet/>
      <dgm:spPr/>
      <dgm:t>
        <a:bodyPr/>
        <a:lstStyle/>
        <a:p>
          <a:endParaRPr lang="en-US"/>
        </a:p>
      </dgm:t>
    </dgm:pt>
    <dgm:pt modelId="{6008B111-E9A2-3744-94E8-EBA24AD6EB62}" type="pres">
      <dgm:prSet presAssocID="{025A16C9-53DC-4EAF-90E4-047DB2456304}" presName="linear" presStyleCnt="0">
        <dgm:presLayoutVars>
          <dgm:animLvl val="lvl"/>
          <dgm:resizeHandles val="exact"/>
        </dgm:presLayoutVars>
      </dgm:prSet>
      <dgm:spPr/>
    </dgm:pt>
    <dgm:pt modelId="{D7BFE02B-5A10-334B-AC94-1C5910617116}" type="pres">
      <dgm:prSet presAssocID="{A9BFD174-CF8A-454C-B713-B35D7F3AE654}" presName="parentText" presStyleLbl="node1" presStyleIdx="0" presStyleCnt="2">
        <dgm:presLayoutVars>
          <dgm:chMax val="0"/>
          <dgm:bulletEnabled val="1"/>
        </dgm:presLayoutVars>
      </dgm:prSet>
      <dgm:spPr/>
    </dgm:pt>
    <dgm:pt modelId="{68159F78-EABA-C649-B8C2-5E5DD45ABB40}" type="pres">
      <dgm:prSet presAssocID="{41542673-B20A-444D-BF47-CCD0450270EF}" presName="spacer" presStyleCnt="0"/>
      <dgm:spPr/>
    </dgm:pt>
    <dgm:pt modelId="{F1B096C0-DC12-9A45-A6FE-A79070D0454B}" type="pres">
      <dgm:prSet presAssocID="{2DE52355-E15D-47A2-878F-C824D7EF0F65}" presName="parentText" presStyleLbl="node1" presStyleIdx="1" presStyleCnt="2">
        <dgm:presLayoutVars>
          <dgm:chMax val="0"/>
          <dgm:bulletEnabled val="1"/>
        </dgm:presLayoutVars>
      </dgm:prSet>
      <dgm:spPr/>
    </dgm:pt>
  </dgm:ptLst>
  <dgm:cxnLst>
    <dgm:cxn modelId="{8583A208-4385-204B-8146-01538784D83E}" type="presOf" srcId="{A9BFD174-CF8A-454C-B713-B35D7F3AE654}" destId="{D7BFE02B-5A10-334B-AC94-1C5910617116}" srcOrd="0" destOrd="0" presId="urn:microsoft.com/office/officeart/2005/8/layout/vList2"/>
    <dgm:cxn modelId="{A2188D30-4E2A-4456-8229-43044CD70258}" srcId="{025A16C9-53DC-4EAF-90E4-047DB2456304}" destId="{A9BFD174-CF8A-454C-B713-B35D7F3AE654}" srcOrd="0" destOrd="0" parTransId="{7F7E95B2-CFF3-4564-BD23-D2EDE22C5A11}" sibTransId="{41542673-B20A-444D-BF47-CCD0450270EF}"/>
    <dgm:cxn modelId="{A6A2CF61-D18A-934C-972C-1BB6EBE4CDD2}" type="presOf" srcId="{2DE52355-E15D-47A2-878F-C824D7EF0F65}" destId="{F1B096C0-DC12-9A45-A6FE-A79070D0454B}" srcOrd="0" destOrd="0" presId="urn:microsoft.com/office/officeart/2005/8/layout/vList2"/>
    <dgm:cxn modelId="{C5FBEABE-BD2E-3C44-A185-9216B9BF5D75}" type="presOf" srcId="{025A16C9-53DC-4EAF-90E4-047DB2456304}" destId="{6008B111-E9A2-3744-94E8-EBA24AD6EB62}" srcOrd="0" destOrd="0" presId="urn:microsoft.com/office/officeart/2005/8/layout/vList2"/>
    <dgm:cxn modelId="{C30F24C4-1B87-4D24-A4DA-7C36ED842AD1}" srcId="{025A16C9-53DC-4EAF-90E4-047DB2456304}" destId="{2DE52355-E15D-47A2-878F-C824D7EF0F65}" srcOrd="1" destOrd="0" parTransId="{B2577311-6CE5-4C96-8D40-CF09F2E7B7D0}" sibTransId="{D7E2F161-BC47-42EB-A2C0-F022C1B2B888}"/>
    <dgm:cxn modelId="{B8CEC67F-8DE9-4D48-8AA0-087C0FCCA8E3}" type="presParOf" srcId="{6008B111-E9A2-3744-94E8-EBA24AD6EB62}" destId="{D7BFE02B-5A10-334B-AC94-1C5910617116}" srcOrd="0" destOrd="0" presId="urn:microsoft.com/office/officeart/2005/8/layout/vList2"/>
    <dgm:cxn modelId="{CB44F4B1-8EB8-464B-9C5A-3C30B4E6A320}" type="presParOf" srcId="{6008B111-E9A2-3744-94E8-EBA24AD6EB62}" destId="{68159F78-EABA-C649-B8C2-5E5DD45ABB40}" srcOrd="1" destOrd="0" presId="urn:microsoft.com/office/officeart/2005/8/layout/vList2"/>
    <dgm:cxn modelId="{C351021D-5028-BF42-887C-4134AA45F5EC}" type="presParOf" srcId="{6008B111-E9A2-3744-94E8-EBA24AD6EB62}" destId="{F1B096C0-DC12-9A45-A6FE-A79070D0454B}"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8DDE1B-267B-47FE-8D75-96807D976806}">
      <dsp:nvSpPr>
        <dsp:cNvPr id="0" name=""/>
        <dsp:cNvSpPr/>
      </dsp:nvSpPr>
      <dsp:spPr>
        <a:xfrm>
          <a:off x="498375" y="425550"/>
          <a:ext cx="1441125" cy="1441125"/>
        </a:xfrm>
        <a:prstGeom prst="ellipse">
          <a:avLst/>
        </a:prstGeom>
        <a:solidFill>
          <a:schemeClr val="bg1"/>
        </a:solidFill>
        <a:ln>
          <a:noFill/>
        </a:ln>
        <a:effectLst/>
      </dsp:spPr>
      <dsp:style>
        <a:lnRef idx="0">
          <a:scrgbClr r="0" g="0" b="0"/>
        </a:lnRef>
        <a:fillRef idx="1">
          <a:scrgbClr r="0" g="0" b="0"/>
        </a:fillRef>
        <a:effectRef idx="0">
          <a:scrgbClr r="0" g="0" b="0"/>
        </a:effectRef>
        <a:fontRef idx="minor"/>
      </dsp:style>
    </dsp:sp>
    <dsp:sp modelId="{C8A16931-6CA3-4F14-8586-391D8EC46A93}">
      <dsp:nvSpPr>
        <dsp:cNvPr id="0" name=""/>
        <dsp:cNvSpPr/>
      </dsp:nvSpPr>
      <dsp:spPr>
        <a:xfrm>
          <a:off x="805500" y="732675"/>
          <a:ext cx="826875" cy="826875"/>
        </a:xfrm>
        <a:prstGeom prst="rect">
          <a:avLst/>
        </a:prstGeom>
        <a:blipFill>
          <a:blip xmlns:r="http://schemas.openxmlformats.org/officeDocument/2006/relationships" r:embed="rId1">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60082A6-6495-48BA-9C44-ACA491AF4B22}">
      <dsp:nvSpPr>
        <dsp:cNvPr id="0" name=""/>
        <dsp:cNvSpPr/>
      </dsp:nvSpPr>
      <dsp:spPr>
        <a:xfrm>
          <a:off x="37688" y="2315550"/>
          <a:ext cx="2362500" cy="8896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b="1" kern="1200" cap="none" dirty="0">
              <a:solidFill>
                <a:schemeClr val="bg1"/>
              </a:solidFill>
            </a:rPr>
            <a:t>Data: </a:t>
          </a:r>
        </a:p>
        <a:p>
          <a:pPr marL="0" lvl="0" indent="0" algn="ctr" defTabSz="800100">
            <a:lnSpc>
              <a:spcPct val="90000"/>
            </a:lnSpc>
            <a:spcBef>
              <a:spcPct val="0"/>
            </a:spcBef>
            <a:spcAft>
              <a:spcPct val="35000"/>
            </a:spcAft>
            <a:buNone/>
            <a:defRPr cap="all"/>
          </a:pPr>
          <a:r>
            <a:rPr lang="en-US" sz="1600" kern="1200" cap="none" dirty="0"/>
            <a:t>past/historical observations</a:t>
          </a:r>
        </a:p>
      </dsp:txBody>
      <dsp:txXfrm>
        <a:off x="37688" y="2315550"/>
        <a:ext cx="2362500" cy="889694"/>
      </dsp:txXfrm>
    </dsp:sp>
    <dsp:sp modelId="{DE830847-71DB-45C4-9134-FD2F1C1D09AE}">
      <dsp:nvSpPr>
        <dsp:cNvPr id="0" name=""/>
        <dsp:cNvSpPr/>
      </dsp:nvSpPr>
      <dsp:spPr>
        <a:xfrm>
          <a:off x="3274313" y="425550"/>
          <a:ext cx="1441125" cy="1441125"/>
        </a:xfrm>
        <a:prstGeom prst="ellipse">
          <a:avLst/>
        </a:prstGeom>
        <a:solidFill>
          <a:schemeClr val="bg1"/>
        </a:solidFill>
        <a:ln>
          <a:noFill/>
        </a:ln>
        <a:effectLst/>
      </dsp:spPr>
      <dsp:style>
        <a:lnRef idx="0">
          <a:scrgbClr r="0" g="0" b="0"/>
        </a:lnRef>
        <a:fillRef idx="1">
          <a:scrgbClr r="0" g="0" b="0"/>
        </a:fillRef>
        <a:effectRef idx="0">
          <a:scrgbClr r="0" g="0" b="0"/>
        </a:effectRef>
        <a:fontRef idx="minor"/>
      </dsp:style>
    </dsp:sp>
    <dsp:sp modelId="{F73A5FA1-09DE-4B63-AE26-042E0C1CAF55}">
      <dsp:nvSpPr>
        <dsp:cNvPr id="0" name=""/>
        <dsp:cNvSpPr/>
      </dsp:nvSpPr>
      <dsp:spPr>
        <a:xfrm>
          <a:off x="3581438" y="732675"/>
          <a:ext cx="826875" cy="826875"/>
        </a:xfrm>
        <a:prstGeom prst="rect">
          <a:avLst/>
        </a:prstGeom>
        <a:blipFill>
          <a:blip xmlns:r="http://schemas.openxmlformats.org/officeDocument/2006/relationships" r:embed="rId3">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320C8E1-AE95-43C7-9D2E-A2195A0EB96B}">
      <dsp:nvSpPr>
        <dsp:cNvPr id="0" name=""/>
        <dsp:cNvSpPr/>
      </dsp:nvSpPr>
      <dsp:spPr>
        <a:xfrm>
          <a:off x="2813626" y="2315550"/>
          <a:ext cx="2362500" cy="8896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b="1" kern="1200" cap="none" dirty="0">
              <a:solidFill>
                <a:schemeClr val="bg1"/>
              </a:solidFill>
            </a:rPr>
            <a:t>Hypotheses/models:</a:t>
          </a:r>
        </a:p>
        <a:p>
          <a:pPr marL="0" lvl="0" indent="0" algn="ctr" defTabSz="800100">
            <a:lnSpc>
              <a:spcPct val="90000"/>
            </a:lnSpc>
            <a:spcBef>
              <a:spcPct val="0"/>
            </a:spcBef>
            <a:spcAft>
              <a:spcPct val="35000"/>
            </a:spcAft>
            <a:buNone/>
            <a:defRPr cap="all"/>
          </a:pPr>
          <a:r>
            <a:rPr lang="en-US" sz="1500" b="1" kern="1200" cap="none" dirty="0"/>
            <a:t> </a:t>
          </a:r>
          <a:r>
            <a:rPr lang="en-US" sz="1500" kern="1200" cap="none" dirty="0"/>
            <a:t>created to capture and represent the patterns in data </a:t>
          </a:r>
        </a:p>
      </dsp:txBody>
      <dsp:txXfrm>
        <a:off x="2813626" y="2315550"/>
        <a:ext cx="2362500" cy="889694"/>
      </dsp:txXfrm>
    </dsp:sp>
    <dsp:sp modelId="{891619FF-CE44-470C-8F92-A751C2A3C90E}">
      <dsp:nvSpPr>
        <dsp:cNvPr id="0" name=""/>
        <dsp:cNvSpPr/>
      </dsp:nvSpPr>
      <dsp:spPr>
        <a:xfrm>
          <a:off x="6050251" y="425550"/>
          <a:ext cx="1441125" cy="1441125"/>
        </a:xfrm>
        <a:prstGeom prst="ellipse">
          <a:avLst/>
        </a:prstGeom>
        <a:solidFill>
          <a:schemeClr val="bg1"/>
        </a:solidFill>
        <a:ln>
          <a:noFill/>
        </a:ln>
        <a:effectLst/>
      </dsp:spPr>
      <dsp:style>
        <a:lnRef idx="0">
          <a:scrgbClr r="0" g="0" b="0"/>
        </a:lnRef>
        <a:fillRef idx="1">
          <a:scrgbClr r="0" g="0" b="0"/>
        </a:fillRef>
        <a:effectRef idx="0">
          <a:scrgbClr r="0" g="0" b="0"/>
        </a:effectRef>
        <a:fontRef idx="minor"/>
      </dsp:style>
    </dsp:sp>
    <dsp:sp modelId="{CF7AA540-392B-46C0-BE23-852B480CA956}">
      <dsp:nvSpPr>
        <dsp:cNvPr id="0" name=""/>
        <dsp:cNvSpPr/>
      </dsp:nvSpPr>
      <dsp:spPr>
        <a:xfrm>
          <a:off x="6357376" y="732675"/>
          <a:ext cx="826875" cy="826875"/>
        </a:xfrm>
        <a:prstGeom prst="rect">
          <a:avLst/>
        </a:prstGeom>
        <a:blipFill dpi="0" rotWithShape="1">
          <a:blip xmlns:r="http://schemas.openxmlformats.org/officeDocument/2006/relationships" r:embed="rId5">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7890DE4D-9CE8-4DEE-B519-F87C2254D97C}">
      <dsp:nvSpPr>
        <dsp:cNvPr id="0" name=""/>
        <dsp:cNvSpPr/>
      </dsp:nvSpPr>
      <dsp:spPr>
        <a:xfrm>
          <a:off x="5589563" y="2315550"/>
          <a:ext cx="2362500" cy="88969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defRPr cap="all"/>
          </a:pPr>
          <a:r>
            <a:rPr lang="en-US" sz="1800" b="1" kern="1200" cap="none" dirty="0">
              <a:solidFill>
                <a:schemeClr val="bg1"/>
              </a:solidFill>
            </a:rPr>
            <a:t>Prediction: </a:t>
          </a:r>
        </a:p>
        <a:p>
          <a:pPr marL="0" lvl="0" indent="0" algn="ctr" defTabSz="800100">
            <a:lnSpc>
              <a:spcPct val="90000"/>
            </a:lnSpc>
            <a:spcBef>
              <a:spcPct val="0"/>
            </a:spcBef>
            <a:spcAft>
              <a:spcPct val="35000"/>
            </a:spcAft>
            <a:buNone/>
            <a:defRPr cap="all"/>
          </a:pPr>
          <a:r>
            <a:rPr lang="en-US" sz="1400" kern="1200" cap="none" dirty="0"/>
            <a:t>employing models to anticipate/forecast future observations </a:t>
          </a:r>
        </a:p>
      </dsp:txBody>
      <dsp:txXfrm>
        <a:off x="5589563" y="2315550"/>
        <a:ext cx="2362500" cy="8896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97A1CE-23E9-4290-96A2-A894E836D1ED}">
      <dsp:nvSpPr>
        <dsp:cNvPr id="0" name=""/>
        <dsp:cNvSpPr/>
      </dsp:nvSpPr>
      <dsp:spPr>
        <a:xfrm>
          <a:off x="0" y="686050"/>
          <a:ext cx="8240400" cy="1258977"/>
        </a:xfrm>
        <a:prstGeom prst="roundRect">
          <a:avLst>
            <a:gd name="adj" fmla="val 10000"/>
          </a:avLst>
        </a:prstGeom>
        <a:solidFill>
          <a:srgbClr val="A54EF3">
            <a:alpha val="30000"/>
          </a:srgbClr>
        </a:solidFill>
        <a:ln>
          <a:noFill/>
        </a:ln>
        <a:effectLst/>
      </dsp:spPr>
      <dsp:style>
        <a:lnRef idx="0">
          <a:scrgbClr r="0" g="0" b="0"/>
        </a:lnRef>
        <a:fillRef idx="1">
          <a:scrgbClr r="0" g="0" b="0"/>
        </a:fillRef>
        <a:effectRef idx="0">
          <a:scrgbClr r="0" g="0" b="0"/>
        </a:effectRef>
        <a:fontRef idx="minor"/>
      </dsp:style>
    </dsp:sp>
    <dsp:sp modelId="{78C0DD5D-C138-4386-9F5A-8A684267147E}">
      <dsp:nvSpPr>
        <dsp:cNvPr id="0" name=""/>
        <dsp:cNvSpPr/>
      </dsp:nvSpPr>
      <dsp:spPr>
        <a:xfrm>
          <a:off x="380840" y="969320"/>
          <a:ext cx="692437" cy="6924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88D1B83-D3A6-4A42-AFCF-B4F69CA73D05}">
      <dsp:nvSpPr>
        <dsp:cNvPr id="0" name=""/>
        <dsp:cNvSpPr/>
      </dsp:nvSpPr>
      <dsp:spPr>
        <a:xfrm>
          <a:off x="1454118" y="686050"/>
          <a:ext cx="6784859" cy="12589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242" tIns="133242" rIns="133242" bIns="133242" numCol="1" spcCol="1270" anchor="ctr" anchorCtr="0">
          <a:noAutofit/>
        </a:bodyPr>
        <a:lstStyle/>
        <a:p>
          <a:pPr marL="0" lvl="0" indent="0" algn="l" defTabSz="1111250">
            <a:lnSpc>
              <a:spcPct val="90000"/>
            </a:lnSpc>
            <a:spcBef>
              <a:spcPct val="0"/>
            </a:spcBef>
            <a:spcAft>
              <a:spcPct val="35000"/>
            </a:spcAft>
            <a:buNone/>
          </a:pPr>
          <a:r>
            <a:rPr lang="en-US" sz="2500" kern="1200" dirty="0"/>
            <a:t>Machine learning involves predicting outcomes using features.</a:t>
          </a:r>
        </a:p>
      </dsp:txBody>
      <dsp:txXfrm>
        <a:off x="1454118" y="686050"/>
        <a:ext cx="6784859" cy="1258977"/>
      </dsp:txXfrm>
    </dsp:sp>
    <dsp:sp modelId="{347E9CC6-565D-43E3-90F8-31B53D8D9B72}">
      <dsp:nvSpPr>
        <dsp:cNvPr id="0" name=""/>
        <dsp:cNvSpPr/>
      </dsp:nvSpPr>
      <dsp:spPr>
        <a:xfrm>
          <a:off x="0" y="2259772"/>
          <a:ext cx="8240400" cy="1258977"/>
        </a:xfrm>
        <a:prstGeom prst="roundRect">
          <a:avLst>
            <a:gd name="adj" fmla="val 10000"/>
          </a:avLst>
        </a:prstGeom>
        <a:solidFill>
          <a:srgbClr val="A54EF3">
            <a:alpha val="30000"/>
          </a:srgbClr>
        </a:solidFill>
        <a:ln>
          <a:noFill/>
        </a:ln>
        <a:effectLst/>
      </dsp:spPr>
      <dsp:style>
        <a:lnRef idx="0">
          <a:scrgbClr r="0" g="0" b="0"/>
        </a:lnRef>
        <a:fillRef idx="1">
          <a:scrgbClr r="0" g="0" b="0"/>
        </a:fillRef>
        <a:effectRef idx="0">
          <a:scrgbClr r="0" g="0" b="0"/>
        </a:effectRef>
        <a:fontRef idx="minor"/>
      </dsp:style>
    </dsp:sp>
    <dsp:sp modelId="{F6FEB34A-0119-4112-AB2B-B7C5DBC9AE8D}">
      <dsp:nvSpPr>
        <dsp:cNvPr id="0" name=""/>
        <dsp:cNvSpPr/>
      </dsp:nvSpPr>
      <dsp:spPr>
        <a:xfrm>
          <a:off x="380840" y="2543042"/>
          <a:ext cx="692437" cy="6924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B03A86C-8704-415F-BB73-A109A7420340}">
      <dsp:nvSpPr>
        <dsp:cNvPr id="0" name=""/>
        <dsp:cNvSpPr/>
      </dsp:nvSpPr>
      <dsp:spPr>
        <a:xfrm>
          <a:off x="1454118" y="2259772"/>
          <a:ext cx="3708180" cy="12589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242" tIns="133242" rIns="133242" bIns="133242" numCol="1" spcCol="1270" anchor="ctr" anchorCtr="0">
          <a:noAutofit/>
        </a:bodyPr>
        <a:lstStyle/>
        <a:p>
          <a:pPr marL="0" lvl="0" indent="0" algn="l" defTabSz="889000">
            <a:lnSpc>
              <a:spcPct val="90000"/>
            </a:lnSpc>
            <a:spcBef>
              <a:spcPct val="0"/>
            </a:spcBef>
            <a:spcAft>
              <a:spcPct val="35000"/>
            </a:spcAft>
            <a:buNone/>
          </a:pPr>
          <a:r>
            <a:rPr lang="en-US" sz="2000" b="1" kern="1200" dirty="0"/>
            <a:t>Two main components: </a:t>
          </a:r>
          <a:endParaRPr lang="en-US" sz="2000" kern="1200" dirty="0"/>
        </a:p>
      </dsp:txBody>
      <dsp:txXfrm>
        <a:off x="1454118" y="2259772"/>
        <a:ext cx="3708180" cy="1258977"/>
      </dsp:txXfrm>
    </dsp:sp>
    <dsp:sp modelId="{46B96663-8748-4341-A096-E40C423127AD}">
      <dsp:nvSpPr>
        <dsp:cNvPr id="0" name=""/>
        <dsp:cNvSpPr/>
      </dsp:nvSpPr>
      <dsp:spPr>
        <a:xfrm>
          <a:off x="5162298" y="2259772"/>
          <a:ext cx="3076679" cy="12589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242" tIns="133242" rIns="133242" bIns="133242" numCol="1" spcCol="1270" anchor="ctr" anchorCtr="0">
          <a:noAutofit/>
        </a:bodyPr>
        <a:lstStyle/>
        <a:p>
          <a:pPr marL="0" lvl="0" indent="0" algn="l" defTabSz="977900">
            <a:lnSpc>
              <a:spcPct val="90000"/>
            </a:lnSpc>
            <a:spcBef>
              <a:spcPct val="0"/>
            </a:spcBef>
            <a:spcAft>
              <a:spcPct val="35000"/>
            </a:spcAft>
            <a:buNone/>
          </a:pPr>
          <a:r>
            <a:rPr lang="en-US" sz="2200" b="1" kern="1200" dirty="0">
              <a:solidFill>
                <a:srgbClr val="7030A0"/>
              </a:solidFill>
            </a:rPr>
            <a:t>Outcome</a:t>
          </a:r>
          <a:r>
            <a:rPr lang="en-US" sz="1800" kern="1200" dirty="0"/>
            <a:t> (what we predict) </a:t>
          </a:r>
        </a:p>
        <a:p>
          <a:pPr marL="0" lvl="0" indent="0" algn="l" defTabSz="977900">
            <a:lnSpc>
              <a:spcPct val="90000"/>
            </a:lnSpc>
            <a:spcBef>
              <a:spcPct val="0"/>
            </a:spcBef>
            <a:spcAft>
              <a:spcPct val="35000"/>
            </a:spcAft>
            <a:buNone/>
          </a:pPr>
          <a:r>
            <a:rPr lang="en-US" sz="2200" b="1" kern="1200" dirty="0">
              <a:solidFill>
                <a:srgbClr val="7030A0"/>
              </a:solidFill>
            </a:rPr>
            <a:t>Features</a:t>
          </a:r>
          <a:r>
            <a:rPr lang="en-US" sz="1800" kern="1200" dirty="0"/>
            <a:t> (used to make those predictions).</a:t>
          </a:r>
        </a:p>
      </dsp:txBody>
      <dsp:txXfrm>
        <a:off x="5162298" y="2259772"/>
        <a:ext cx="3076679" cy="125897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3DED0E-8764-4DF2-9DD3-359EB20EF2DD}">
      <dsp:nvSpPr>
        <dsp:cNvPr id="0" name=""/>
        <dsp:cNvSpPr/>
      </dsp:nvSpPr>
      <dsp:spPr>
        <a:xfrm>
          <a:off x="0" y="711214"/>
          <a:ext cx="7989752" cy="1089238"/>
        </a:xfrm>
        <a:prstGeom prst="roundRect">
          <a:avLst>
            <a:gd name="adj" fmla="val 10000"/>
          </a:avLst>
        </a:prstGeom>
        <a:solidFill>
          <a:srgbClr val="A54EF3">
            <a:alpha val="29875"/>
          </a:srgbClr>
        </a:solidFill>
        <a:ln>
          <a:noFill/>
        </a:ln>
        <a:effectLst/>
      </dsp:spPr>
      <dsp:style>
        <a:lnRef idx="0">
          <a:scrgbClr r="0" g="0" b="0"/>
        </a:lnRef>
        <a:fillRef idx="1">
          <a:scrgbClr r="0" g="0" b="0"/>
        </a:fillRef>
        <a:effectRef idx="0">
          <a:scrgbClr r="0" g="0" b="0"/>
        </a:effectRef>
        <a:fontRef idx="minor"/>
      </dsp:style>
    </dsp:sp>
    <dsp:sp modelId="{AF9BE9EA-905B-4714-BC50-DB0310C30F92}">
      <dsp:nvSpPr>
        <dsp:cNvPr id="0" name=""/>
        <dsp:cNvSpPr/>
      </dsp:nvSpPr>
      <dsp:spPr>
        <a:xfrm>
          <a:off x="329494" y="1031433"/>
          <a:ext cx="599081" cy="59908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2016278-ADA7-40A7-A7F4-55EF2053F1F7}">
      <dsp:nvSpPr>
        <dsp:cNvPr id="0" name=""/>
        <dsp:cNvSpPr/>
      </dsp:nvSpPr>
      <dsp:spPr>
        <a:xfrm>
          <a:off x="1245684" y="726159"/>
          <a:ext cx="6731681" cy="10892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278" tIns="115278" rIns="115278" bIns="115278" numCol="1" spcCol="1270" anchor="ctr" anchorCtr="0">
          <a:noAutofit/>
        </a:bodyPr>
        <a:lstStyle/>
        <a:p>
          <a:pPr marL="0" lvl="0" indent="0" algn="l" defTabSz="1111250">
            <a:lnSpc>
              <a:spcPct val="100000"/>
            </a:lnSpc>
            <a:spcBef>
              <a:spcPct val="0"/>
            </a:spcBef>
            <a:spcAft>
              <a:spcPct val="35000"/>
            </a:spcAft>
            <a:buNone/>
          </a:pPr>
          <a:r>
            <a:rPr lang="en-US" sz="2500" b="1" kern="1200" dirty="0">
              <a:solidFill>
                <a:schemeClr val="tx1"/>
              </a:solidFill>
            </a:rPr>
            <a:t>Algorithm: </a:t>
          </a:r>
          <a:r>
            <a:rPr lang="en-US" sz="2500" kern="1200" dirty="0">
              <a:solidFill>
                <a:schemeClr val="tx1"/>
              </a:solidFill>
            </a:rPr>
            <a:t>Take feature values as input and predict the outcome.</a:t>
          </a:r>
        </a:p>
      </dsp:txBody>
      <dsp:txXfrm>
        <a:off x="1245684" y="726159"/>
        <a:ext cx="6731681" cy="108923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97A1CE-23E9-4290-96A2-A894E836D1ED}">
      <dsp:nvSpPr>
        <dsp:cNvPr id="0" name=""/>
        <dsp:cNvSpPr/>
      </dsp:nvSpPr>
      <dsp:spPr>
        <a:xfrm>
          <a:off x="0" y="686050"/>
          <a:ext cx="8240400" cy="1258977"/>
        </a:xfrm>
        <a:prstGeom prst="roundRect">
          <a:avLst>
            <a:gd name="adj" fmla="val 10000"/>
          </a:avLst>
        </a:prstGeom>
        <a:solidFill>
          <a:srgbClr val="A54EF3">
            <a:alpha val="30000"/>
          </a:srgbClr>
        </a:solidFill>
        <a:ln>
          <a:noFill/>
        </a:ln>
        <a:effectLst/>
      </dsp:spPr>
      <dsp:style>
        <a:lnRef idx="0">
          <a:scrgbClr r="0" g="0" b="0"/>
        </a:lnRef>
        <a:fillRef idx="1">
          <a:scrgbClr r="0" g="0" b="0"/>
        </a:fillRef>
        <a:effectRef idx="0">
          <a:scrgbClr r="0" g="0" b="0"/>
        </a:effectRef>
        <a:fontRef idx="minor"/>
      </dsp:style>
    </dsp:sp>
    <dsp:sp modelId="{78C0DD5D-C138-4386-9F5A-8A684267147E}">
      <dsp:nvSpPr>
        <dsp:cNvPr id="0" name=""/>
        <dsp:cNvSpPr/>
      </dsp:nvSpPr>
      <dsp:spPr>
        <a:xfrm>
          <a:off x="380840" y="969320"/>
          <a:ext cx="692437" cy="69243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88D1B83-D3A6-4A42-AFCF-B4F69CA73D05}">
      <dsp:nvSpPr>
        <dsp:cNvPr id="0" name=""/>
        <dsp:cNvSpPr/>
      </dsp:nvSpPr>
      <dsp:spPr>
        <a:xfrm>
          <a:off x="1454118" y="686050"/>
          <a:ext cx="6784859" cy="12589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242" tIns="133242" rIns="133242" bIns="133242" numCol="1" spcCol="1270" anchor="ctr" anchorCtr="0">
          <a:noAutofit/>
        </a:bodyPr>
        <a:lstStyle/>
        <a:p>
          <a:pPr marL="0" lvl="0" indent="0" algn="l" defTabSz="1111250">
            <a:lnSpc>
              <a:spcPct val="90000"/>
            </a:lnSpc>
            <a:spcBef>
              <a:spcPct val="0"/>
            </a:spcBef>
            <a:spcAft>
              <a:spcPct val="35000"/>
            </a:spcAft>
            <a:buNone/>
          </a:pPr>
          <a:r>
            <a:rPr lang="en-US" sz="2500" kern="1200" dirty="0"/>
            <a:t>Machine learning involves predicting outcomes using features.</a:t>
          </a:r>
        </a:p>
      </dsp:txBody>
      <dsp:txXfrm>
        <a:off x="1454118" y="686050"/>
        <a:ext cx="6784859" cy="1258977"/>
      </dsp:txXfrm>
    </dsp:sp>
    <dsp:sp modelId="{347E9CC6-565D-43E3-90F8-31B53D8D9B72}">
      <dsp:nvSpPr>
        <dsp:cNvPr id="0" name=""/>
        <dsp:cNvSpPr/>
      </dsp:nvSpPr>
      <dsp:spPr>
        <a:xfrm>
          <a:off x="0" y="2259772"/>
          <a:ext cx="8240400" cy="1258977"/>
        </a:xfrm>
        <a:prstGeom prst="roundRect">
          <a:avLst>
            <a:gd name="adj" fmla="val 10000"/>
          </a:avLst>
        </a:prstGeom>
        <a:solidFill>
          <a:srgbClr val="A54EF3">
            <a:alpha val="30000"/>
          </a:srgbClr>
        </a:solidFill>
        <a:ln>
          <a:noFill/>
        </a:ln>
        <a:effectLst/>
      </dsp:spPr>
      <dsp:style>
        <a:lnRef idx="0">
          <a:scrgbClr r="0" g="0" b="0"/>
        </a:lnRef>
        <a:fillRef idx="1">
          <a:scrgbClr r="0" g="0" b="0"/>
        </a:fillRef>
        <a:effectRef idx="0">
          <a:scrgbClr r="0" g="0" b="0"/>
        </a:effectRef>
        <a:fontRef idx="minor"/>
      </dsp:style>
    </dsp:sp>
    <dsp:sp modelId="{F6FEB34A-0119-4112-AB2B-B7C5DBC9AE8D}">
      <dsp:nvSpPr>
        <dsp:cNvPr id="0" name=""/>
        <dsp:cNvSpPr/>
      </dsp:nvSpPr>
      <dsp:spPr>
        <a:xfrm>
          <a:off x="380840" y="2543042"/>
          <a:ext cx="692437" cy="69243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B03A86C-8704-415F-BB73-A109A7420340}">
      <dsp:nvSpPr>
        <dsp:cNvPr id="0" name=""/>
        <dsp:cNvSpPr/>
      </dsp:nvSpPr>
      <dsp:spPr>
        <a:xfrm>
          <a:off x="1454118" y="2259772"/>
          <a:ext cx="3708180" cy="12589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242" tIns="133242" rIns="133242" bIns="133242" numCol="1" spcCol="1270" anchor="ctr" anchorCtr="0">
          <a:noAutofit/>
        </a:bodyPr>
        <a:lstStyle/>
        <a:p>
          <a:pPr marL="0" lvl="0" indent="0" algn="l" defTabSz="889000">
            <a:lnSpc>
              <a:spcPct val="90000"/>
            </a:lnSpc>
            <a:spcBef>
              <a:spcPct val="0"/>
            </a:spcBef>
            <a:spcAft>
              <a:spcPct val="35000"/>
            </a:spcAft>
            <a:buNone/>
          </a:pPr>
          <a:r>
            <a:rPr lang="en-US" sz="2000" b="1" kern="1200" dirty="0"/>
            <a:t>Two main components: </a:t>
          </a:r>
          <a:endParaRPr lang="en-US" sz="2000" kern="1200" dirty="0"/>
        </a:p>
      </dsp:txBody>
      <dsp:txXfrm>
        <a:off x="1454118" y="2259772"/>
        <a:ext cx="3708180" cy="1258977"/>
      </dsp:txXfrm>
    </dsp:sp>
    <dsp:sp modelId="{46B96663-8748-4341-A096-E40C423127AD}">
      <dsp:nvSpPr>
        <dsp:cNvPr id="0" name=""/>
        <dsp:cNvSpPr/>
      </dsp:nvSpPr>
      <dsp:spPr>
        <a:xfrm>
          <a:off x="5162298" y="2259772"/>
          <a:ext cx="3076679" cy="12589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3242" tIns="133242" rIns="133242" bIns="133242" numCol="1" spcCol="1270" anchor="ctr" anchorCtr="0">
          <a:noAutofit/>
        </a:bodyPr>
        <a:lstStyle/>
        <a:p>
          <a:pPr marL="0" lvl="0" indent="0" algn="l" defTabSz="977900">
            <a:lnSpc>
              <a:spcPct val="90000"/>
            </a:lnSpc>
            <a:spcBef>
              <a:spcPct val="0"/>
            </a:spcBef>
            <a:spcAft>
              <a:spcPct val="35000"/>
            </a:spcAft>
            <a:buNone/>
          </a:pPr>
          <a:r>
            <a:rPr lang="en-US" sz="2200" b="1" kern="1200" dirty="0">
              <a:solidFill>
                <a:srgbClr val="7030A0"/>
              </a:solidFill>
            </a:rPr>
            <a:t>Outcome</a:t>
          </a:r>
          <a:r>
            <a:rPr lang="en-US" sz="1800" kern="1200" dirty="0"/>
            <a:t> (what we predict) </a:t>
          </a:r>
        </a:p>
        <a:p>
          <a:pPr marL="0" lvl="0" indent="0" algn="l" defTabSz="977900">
            <a:lnSpc>
              <a:spcPct val="90000"/>
            </a:lnSpc>
            <a:spcBef>
              <a:spcPct val="0"/>
            </a:spcBef>
            <a:spcAft>
              <a:spcPct val="35000"/>
            </a:spcAft>
            <a:buNone/>
          </a:pPr>
          <a:r>
            <a:rPr lang="en-US" sz="2200" b="1" kern="1200" dirty="0">
              <a:solidFill>
                <a:srgbClr val="7030A0"/>
              </a:solidFill>
            </a:rPr>
            <a:t>Features</a:t>
          </a:r>
          <a:r>
            <a:rPr lang="en-US" sz="1800" kern="1200" dirty="0"/>
            <a:t> (used to make those predictions).</a:t>
          </a:r>
        </a:p>
      </dsp:txBody>
      <dsp:txXfrm>
        <a:off x="5162298" y="2259772"/>
        <a:ext cx="3076679" cy="125897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3DED0E-8764-4DF2-9DD3-359EB20EF2DD}">
      <dsp:nvSpPr>
        <dsp:cNvPr id="0" name=""/>
        <dsp:cNvSpPr/>
      </dsp:nvSpPr>
      <dsp:spPr>
        <a:xfrm>
          <a:off x="0" y="711214"/>
          <a:ext cx="7989752" cy="1089238"/>
        </a:xfrm>
        <a:prstGeom prst="roundRect">
          <a:avLst>
            <a:gd name="adj" fmla="val 10000"/>
          </a:avLst>
        </a:prstGeom>
        <a:solidFill>
          <a:srgbClr val="A54EF3">
            <a:alpha val="29875"/>
          </a:srgbClr>
        </a:solidFill>
        <a:ln>
          <a:noFill/>
        </a:ln>
        <a:effectLst/>
      </dsp:spPr>
      <dsp:style>
        <a:lnRef idx="0">
          <a:scrgbClr r="0" g="0" b="0"/>
        </a:lnRef>
        <a:fillRef idx="1">
          <a:scrgbClr r="0" g="0" b="0"/>
        </a:fillRef>
        <a:effectRef idx="0">
          <a:scrgbClr r="0" g="0" b="0"/>
        </a:effectRef>
        <a:fontRef idx="minor"/>
      </dsp:style>
    </dsp:sp>
    <dsp:sp modelId="{AF9BE9EA-905B-4714-BC50-DB0310C30F92}">
      <dsp:nvSpPr>
        <dsp:cNvPr id="0" name=""/>
        <dsp:cNvSpPr/>
      </dsp:nvSpPr>
      <dsp:spPr>
        <a:xfrm>
          <a:off x="329494" y="1031433"/>
          <a:ext cx="599081" cy="59908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2016278-ADA7-40A7-A7F4-55EF2053F1F7}">
      <dsp:nvSpPr>
        <dsp:cNvPr id="0" name=""/>
        <dsp:cNvSpPr/>
      </dsp:nvSpPr>
      <dsp:spPr>
        <a:xfrm>
          <a:off x="1245684" y="726159"/>
          <a:ext cx="6731681" cy="10892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278" tIns="115278" rIns="115278" bIns="115278" numCol="1" spcCol="1270" anchor="ctr" anchorCtr="0">
          <a:noAutofit/>
        </a:bodyPr>
        <a:lstStyle/>
        <a:p>
          <a:pPr marL="0" lvl="0" indent="0" algn="l" defTabSz="1111250">
            <a:lnSpc>
              <a:spcPct val="100000"/>
            </a:lnSpc>
            <a:spcBef>
              <a:spcPct val="0"/>
            </a:spcBef>
            <a:spcAft>
              <a:spcPct val="35000"/>
            </a:spcAft>
            <a:buNone/>
          </a:pPr>
          <a:r>
            <a:rPr lang="en-US" sz="2500" b="1" kern="1200" dirty="0">
              <a:solidFill>
                <a:schemeClr val="tx1"/>
              </a:solidFill>
            </a:rPr>
            <a:t>Algorithm: </a:t>
          </a:r>
          <a:r>
            <a:rPr lang="en-US" sz="2500" kern="1200" dirty="0">
              <a:solidFill>
                <a:schemeClr val="tx1"/>
              </a:solidFill>
            </a:rPr>
            <a:t>Take feature values as input and predict the outcome.</a:t>
          </a:r>
        </a:p>
      </dsp:txBody>
      <dsp:txXfrm>
        <a:off x="1245684" y="726159"/>
        <a:ext cx="6731681" cy="108923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93DED0E-8764-4DF2-9DD3-359EB20EF2DD}">
      <dsp:nvSpPr>
        <dsp:cNvPr id="0" name=""/>
        <dsp:cNvSpPr/>
      </dsp:nvSpPr>
      <dsp:spPr>
        <a:xfrm>
          <a:off x="0" y="590004"/>
          <a:ext cx="7989752" cy="1089238"/>
        </a:xfrm>
        <a:prstGeom prst="roundRect">
          <a:avLst>
            <a:gd name="adj" fmla="val 10000"/>
          </a:avLst>
        </a:prstGeom>
        <a:solidFill>
          <a:srgbClr val="A54EF3">
            <a:alpha val="29875"/>
          </a:srgbClr>
        </a:solidFill>
        <a:ln>
          <a:noFill/>
        </a:ln>
        <a:effectLst/>
      </dsp:spPr>
      <dsp:style>
        <a:lnRef idx="0">
          <a:scrgbClr r="0" g="0" b="0"/>
        </a:lnRef>
        <a:fillRef idx="1">
          <a:scrgbClr r="0" g="0" b="0"/>
        </a:fillRef>
        <a:effectRef idx="0">
          <a:scrgbClr r="0" g="0" b="0"/>
        </a:effectRef>
        <a:fontRef idx="minor"/>
      </dsp:style>
    </dsp:sp>
    <dsp:sp modelId="{AF9BE9EA-905B-4714-BC50-DB0310C30F92}">
      <dsp:nvSpPr>
        <dsp:cNvPr id="0" name=""/>
        <dsp:cNvSpPr/>
      </dsp:nvSpPr>
      <dsp:spPr>
        <a:xfrm>
          <a:off x="329494" y="835082"/>
          <a:ext cx="599081" cy="59908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2016278-ADA7-40A7-A7F4-55EF2053F1F7}">
      <dsp:nvSpPr>
        <dsp:cNvPr id="0" name=""/>
        <dsp:cNvSpPr/>
      </dsp:nvSpPr>
      <dsp:spPr>
        <a:xfrm>
          <a:off x="1258070" y="590004"/>
          <a:ext cx="6731681" cy="10892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278" tIns="115278" rIns="115278" bIns="115278" numCol="1" spcCol="1270" anchor="ctr" anchorCtr="0">
          <a:noAutofit/>
        </a:bodyPr>
        <a:lstStyle/>
        <a:p>
          <a:pPr marL="0" lvl="0" indent="0" algn="l" defTabSz="1111250">
            <a:lnSpc>
              <a:spcPct val="90000"/>
            </a:lnSpc>
            <a:spcBef>
              <a:spcPct val="0"/>
            </a:spcBef>
            <a:spcAft>
              <a:spcPct val="35000"/>
            </a:spcAft>
            <a:buNone/>
          </a:pPr>
          <a:r>
            <a:rPr lang="en-US" sz="2500" b="1" kern="1200" dirty="0"/>
            <a:t>Algorithm: </a:t>
          </a:r>
          <a:r>
            <a:rPr lang="en-US" sz="2500" kern="1200" dirty="0"/>
            <a:t>Take feature values as input and predict the outcome.</a:t>
          </a:r>
        </a:p>
      </dsp:txBody>
      <dsp:txXfrm>
        <a:off x="1258070" y="590004"/>
        <a:ext cx="6731681" cy="1089238"/>
      </dsp:txXfrm>
    </dsp:sp>
    <dsp:sp modelId="{5FA6EBCB-367E-41DB-A738-35D3F6B20623}">
      <dsp:nvSpPr>
        <dsp:cNvPr id="0" name=""/>
        <dsp:cNvSpPr/>
      </dsp:nvSpPr>
      <dsp:spPr>
        <a:xfrm>
          <a:off x="0" y="1951552"/>
          <a:ext cx="7989752" cy="1089238"/>
        </a:xfrm>
        <a:prstGeom prst="roundRect">
          <a:avLst>
            <a:gd name="adj" fmla="val 10000"/>
          </a:avLst>
        </a:prstGeom>
        <a:solidFill>
          <a:srgbClr val="A54EF3">
            <a:alpha val="30000"/>
          </a:srgbClr>
        </a:solidFill>
        <a:ln>
          <a:noFill/>
        </a:ln>
        <a:effectLst/>
      </dsp:spPr>
      <dsp:style>
        <a:lnRef idx="0">
          <a:scrgbClr r="0" g="0" b="0"/>
        </a:lnRef>
        <a:fillRef idx="1">
          <a:scrgbClr r="0" g="0" b="0"/>
        </a:fillRef>
        <a:effectRef idx="0">
          <a:scrgbClr r="0" g="0" b="0"/>
        </a:effectRef>
        <a:fontRef idx="minor"/>
      </dsp:style>
    </dsp:sp>
    <dsp:sp modelId="{82437B60-66BF-4708-BFFC-FF4B116FFE15}">
      <dsp:nvSpPr>
        <dsp:cNvPr id="0" name=""/>
        <dsp:cNvSpPr/>
      </dsp:nvSpPr>
      <dsp:spPr>
        <a:xfrm>
          <a:off x="329494" y="2196630"/>
          <a:ext cx="599081" cy="59908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42FC495-5089-4F38-B12D-4D5050F5CF57}">
      <dsp:nvSpPr>
        <dsp:cNvPr id="0" name=""/>
        <dsp:cNvSpPr/>
      </dsp:nvSpPr>
      <dsp:spPr>
        <a:xfrm>
          <a:off x="1258070" y="1951552"/>
          <a:ext cx="6731681" cy="10892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278" tIns="115278" rIns="115278" bIns="115278" numCol="1" spcCol="1270" anchor="ctr" anchorCtr="0">
          <a:noAutofit/>
        </a:bodyPr>
        <a:lstStyle/>
        <a:p>
          <a:pPr marL="0" lvl="0" indent="0" algn="l" defTabSz="1111250">
            <a:lnSpc>
              <a:spcPct val="90000"/>
            </a:lnSpc>
            <a:spcBef>
              <a:spcPct val="0"/>
            </a:spcBef>
            <a:spcAft>
              <a:spcPct val="35000"/>
            </a:spcAft>
            <a:buNone/>
          </a:pPr>
          <a:r>
            <a:rPr lang="en-US" sz="2500" b="1" kern="1200" dirty="0"/>
            <a:t>Approach: </a:t>
          </a:r>
          <a:r>
            <a:rPr lang="en-US" sz="2500" b="1" kern="1200" dirty="0">
              <a:solidFill>
                <a:srgbClr val="7030A0"/>
              </a:solidFill>
            </a:rPr>
            <a:t>Train the algorithm </a:t>
          </a:r>
          <a:r>
            <a:rPr lang="en-US" sz="2500" kern="1200" dirty="0"/>
            <a:t>with known outcome datasets for future predictions.</a:t>
          </a:r>
        </a:p>
      </dsp:txBody>
      <dsp:txXfrm>
        <a:off x="1258070" y="1951552"/>
        <a:ext cx="6731681" cy="108923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AFCE45-6F47-284E-BD2A-610E5E7901AB}">
      <dsp:nvSpPr>
        <dsp:cNvPr id="0" name=""/>
        <dsp:cNvSpPr/>
      </dsp:nvSpPr>
      <dsp:spPr>
        <a:xfrm>
          <a:off x="975" y="145184"/>
          <a:ext cx="3803714" cy="2282228"/>
        </a:xfrm>
        <a:prstGeom prst="rect">
          <a:avLst/>
        </a:prstGeom>
        <a:solidFill>
          <a:srgbClr val="7030A0"/>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Outcomes as Y</a:t>
          </a:r>
        </a:p>
      </dsp:txBody>
      <dsp:txXfrm>
        <a:off x="975" y="145184"/>
        <a:ext cx="3803714" cy="2282228"/>
      </dsp:txXfrm>
    </dsp:sp>
    <dsp:sp modelId="{A4F590C3-89C1-9E43-9EFD-CAEF75B70E68}">
      <dsp:nvSpPr>
        <dsp:cNvPr id="0" name=""/>
        <dsp:cNvSpPr/>
      </dsp:nvSpPr>
      <dsp:spPr>
        <a:xfrm>
          <a:off x="4185061" y="145184"/>
          <a:ext cx="3803714" cy="2282228"/>
        </a:xfrm>
        <a:prstGeom prst="rect">
          <a:avLst/>
        </a:prstGeom>
        <a:solidFill>
          <a:srgbClr val="7030A0"/>
        </a:solidFill>
        <a:ln w="25400" cap="rnd"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Features as X </a:t>
          </a:r>
        </a:p>
        <a:p>
          <a:pPr marL="0" lvl="0" indent="0" algn="ctr" defTabSz="1422400">
            <a:lnSpc>
              <a:spcPct val="90000"/>
            </a:lnSpc>
            <a:spcBef>
              <a:spcPct val="0"/>
            </a:spcBef>
            <a:spcAft>
              <a:spcPct val="35000"/>
            </a:spcAft>
            <a:buNone/>
          </a:pPr>
          <a:r>
            <a:rPr lang="en-US" sz="3200" kern="1200" dirty="0"/>
            <a:t>(X</a:t>
          </a:r>
          <a:r>
            <a:rPr lang="en-US" sz="3200" kern="1200" baseline="-25000" dirty="0"/>
            <a:t>1</a:t>
          </a:r>
          <a:r>
            <a:rPr lang="en-US" sz="3200" kern="1200" dirty="0"/>
            <a:t> to </a:t>
          </a:r>
          <a:r>
            <a:rPr lang="en-US" sz="3200" kern="1200" dirty="0" err="1"/>
            <a:t>Xp</a:t>
          </a:r>
          <a:r>
            <a:rPr lang="en-US" sz="3200" kern="1200" dirty="0"/>
            <a:t>)</a:t>
          </a:r>
        </a:p>
      </dsp:txBody>
      <dsp:txXfrm>
        <a:off x="4185061" y="145184"/>
        <a:ext cx="3803714" cy="228222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BFE02B-5A10-334B-AC94-1C5910617116}">
      <dsp:nvSpPr>
        <dsp:cNvPr id="0" name=""/>
        <dsp:cNvSpPr/>
      </dsp:nvSpPr>
      <dsp:spPr>
        <a:xfrm>
          <a:off x="0" y="504997"/>
          <a:ext cx="7989752" cy="1216800"/>
        </a:xfrm>
        <a:prstGeom prst="roundRect">
          <a:avLst/>
        </a:prstGeom>
        <a:solidFill>
          <a:srgbClr val="7030A0"/>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t>Categorical outcomes: </a:t>
          </a:r>
          <a:r>
            <a:rPr lang="en-US" sz="2800" kern="1200" dirty="0"/>
            <a:t>Y with k classes </a:t>
          </a:r>
          <a:r>
            <a:rPr lang="en-US" sz="1800" kern="1200" dirty="0"/>
            <a:t>(e.g., digits, words, spam or not spam, building typology).</a:t>
          </a:r>
        </a:p>
      </dsp:txBody>
      <dsp:txXfrm>
        <a:off x="59399" y="564396"/>
        <a:ext cx="7870954" cy="1098002"/>
      </dsp:txXfrm>
    </dsp:sp>
    <dsp:sp modelId="{F1B096C0-DC12-9A45-A6FE-A79070D0454B}">
      <dsp:nvSpPr>
        <dsp:cNvPr id="0" name=""/>
        <dsp:cNvSpPr/>
      </dsp:nvSpPr>
      <dsp:spPr>
        <a:xfrm>
          <a:off x="0" y="1908997"/>
          <a:ext cx="7989752" cy="1216800"/>
        </a:xfrm>
        <a:prstGeom prst="roundRect">
          <a:avLst/>
        </a:prstGeom>
        <a:solidFill>
          <a:srgbClr val="7030A0"/>
        </a:solidFill>
        <a:ln w="2222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b="1" kern="1200" dirty="0"/>
            <a:t>Continuous outcomes: </a:t>
          </a:r>
          <a:r>
            <a:rPr lang="en-US" sz="2800" kern="1200" dirty="0"/>
            <a:t>Prediction tasks where Y is continuous </a:t>
          </a:r>
          <a:r>
            <a:rPr lang="en-US" sz="1800" kern="1200" dirty="0"/>
            <a:t>(e.g., building energy use).</a:t>
          </a:r>
        </a:p>
      </dsp:txBody>
      <dsp:txXfrm>
        <a:off x="59399" y="1968396"/>
        <a:ext cx="7870954" cy="1098002"/>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9026" name="Rectangle 2"/>
          <p:cNvSpPr>
            <a:spLocks noGrp="1" noChangeArrowheads="1"/>
          </p:cNvSpPr>
          <p:nvPr>
            <p:ph type="hdr" sz="quarter"/>
          </p:nvPr>
        </p:nvSpPr>
        <p:spPr bwMode="auto">
          <a:xfrm>
            <a:off x="0" y="0"/>
            <a:ext cx="4435475" cy="355600"/>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defTabSz="990600">
              <a:defRPr sz="1300">
                <a:latin typeface="Arial" charset="0"/>
              </a:defRPr>
            </a:lvl1pPr>
          </a:lstStyle>
          <a:p>
            <a:endParaRPr lang="tr-TR"/>
          </a:p>
        </p:txBody>
      </p:sp>
      <p:sp>
        <p:nvSpPr>
          <p:cNvPr id="129027" name="Rectangle 3"/>
          <p:cNvSpPr>
            <a:spLocks noGrp="1" noChangeArrowheads="1"/>
          </p:cNvSpPr>
          <p:nvPr>
            <p:ph type="dt" sz="quarter" idx="1"/>
          </p:nvPr>
        </p:nvSpPr>
        <p:spPr bwMode="auto">
          <a:xfrm>
            <a:off x="5797550" y="0"/>
            <a:ext cx="4435475" cy="355600"/>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defTabSz="990600">
              <a:defRPr sz="1300">
                <a:latin typeface="Arial" charset="0"/>
              </a:defRPr>
            </a:lvl1pPr>
          </a:lstStyle>
          <a:p>
            <a:endParaRPr lang="tr-TR"/>
          </a:p>
        </p:txBody>
      </p:sp>
      <p:sp>
        <p:nvSpPr>
          <p:cNvPr id="129028" name="Rectangle 4"/>
          <p:cNvSpPr>
            <a:spLocks noGrp="1" noChangeArrowheads="1"/>
          </p:cNvSpPr>
          <p:nvPr>
            <p:ph type="ftr" sz="quarter" idx="2"/>
          </p:nvPr>
        </p:nvSpPr>
        <p:spPr bwMode="auto">
          <a:xfrm>
            <a:off x="0" y="6742113"/>
            <a:ext cx="4435475" cy="355600"/>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defTabSz="990600">
              <a:defRPr sz="1300">
                <a:latin typeface="Arial" charset="0"/>
              </a:defRPr>
            </a:lvl1pPr>
          </a:lstStyle>
          <a:p>
            <a:endParaRPr lang="tr-TR"/>
          </a:p>
        </p:txBody>
      </p:sp>
      <p:sp>
        <p:nvSpPr>
          <p:cNvPr id="129029" name="Rectangle 5"/>
          <p:cNvSpPr>
            <a:spLocks noGrp="1" noChangeArrowheads="1"/>
          </p:cNvSpPr>
          <p:nvPr>
            <p:ph type="sldNum" sz="quarter" idx="3"/>
          </p:nvPr>
        </p:nvSpPr>
        <p:spPr bwMode="auto">
          <a:xfrm>
            <a:off x="5797550" y="6742113"/>
            <a:ext cx="4435475" cy="355600"/>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defTabSz="990600">
              <a:defRPr sz="1300">
                <a:latin typeface="Arial" charset="0"/>
              </a:defRPr>
            </a:lvl1pPr>
          </a:lstStyle>
          <a:p>
            <a:fld id="{5FF5AA11-6FE7-4D92-860D-F09A5A1025BA}" type="slidenum">
              <a:rPr lang="tr-TR"/>
              <a:pPr/>
              <a:t>‹#›</a:t>
            </a:fld>
            <a:endParaRPr lang="tr-T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9874" name="Rectangle 2"/>
          <p:cNvSpPr>
            <a:spLocks noGrp="1" noChangeArrowheads="1"/>
          </p:cNvSpPr>
          <p:nvPr>
            <p:ph type="hdr" sz="quarter"/>
          </p:nvPr>
        </p:nvSpPr>
        <p:spPr bwMode="auto">
          <a:xfrm>
            <a:off x="0" y="0"/>
            <a:ext cx="4435475" cy="355600"/>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defTabSz="990600">
              <a:defRPr sz="1300">
                <a:latin typeface="Arial" charset="0"/>
              </a:defRPr>
            </a:lvl1pPr>
          </a:lstStyle>
          <a:p>
            <a:endParaRPr lang="tr-TR"/>
          </a:p>
        </p:txBody>
      </p:sp>
      <p:sp>
        <p:nvSpPr>
          <p:cNvPr id="79875" name="Rectangle 3"/>
          <p:cNvSpPr>
            <a:spLocks noGrp="1" noChangeArrowheads="1"/>
          </p:cNvSpPr>
          <p:nvPr>
            <p:ph type="dt" idx="1"/>
          </p:nvPr>
        </p:nvSpPr>
        <p:spPr bwMode="auto">
          <a:xfrm>
            <a:off x="5797550" y="0"/>
            <a:ext cx="4435475" cy="355600"/>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defTabSz="990600">
              <a:defRPr sz="1300">
                <a:latin typeface="Arial" charset="0"/>
              </a:defRPr>
            </a:lvl1pPr>
          </a:lstStyle>
          <a:p>
            <a:endParaRPr lang="tr-TR"/>
          </a:p>
        </p:txBody>
      </p:sp>
      <p:sp>
        <p:nvSpPr>
          <p:cNvPr id="79876" name="Rectangle 4"/>
          <p:cNvSpPr>
            <a:spLocks noGrp="1" noRot="1" noChangeAspect="1" noChangeArrowheads="1" noTextEdit="1"/>
          </p:cNvSpPr>
          <p:nvPr>
            <p:ph type="sldImg" idx="2"/>
          </p:nvPr>
        </p:nvSpPr>
        <p:spPr bwMode="auto">
          <a:xfrm>
            <a:off x="2751138" y="531813"/>
            <a:ext cx="4730750" cy="2662237"/>
          </a:xfrm>
          <a:prstGeom prst="rect">
            <a:avLst/>
          </a:prstGeom>
          <a:noFill/>
          <a:ln w="9525">
            <a:solidFill>
              <a:srgbClr val="000000"/>
            </a:solidFill>
            <a:miter lim="800000"/>
            <a:headEnd/>
            <a:tailEnd/>
          </a:ln>
          <a:effectLst/>
        </p:spPr>
        <p:txBody>
          <a:bodyPr/>
          <a:lstStyle/>
          <a:p>
            <a:endParaRPr lang="en-US"/>
          </a:p>
        </p:txBody>
      </p:sp>
      <p:sp>
        <p:nvSpPr>
          <p:cNvPr id="79877" name="Rectangle 5"/>
          <p:cNvSpPr>
            <a:spLocks noGrp="1" noChangeArrowheads="1"/>
          </p:cNvSpPr>
          <p:nvPr>
            <p:ph type="body" sz="quarter" idx="3"/>
          </p:nvPr>
        </p:nvSpPr>
        <p:spPr bwMode="auto">
          <a:xfrm>
            <a:off x="1023938" y="3371850"/>
            <a:ext cx="8186737" cy="3195638"/>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p>
            <a:pPr lvl="0"/>
            <a:r>
              <a:rPr lang="tr-TR"/>
              <a:t>Click to edit Master text styles</a:t>
            </a:r>
          </a:p>
          <a:p>
            <a:pPr lvl="1"/>
            <a:r>
              <a:rPr lang="tr-TR"/>
              <a:t>Second level</a:t>
            </a:r>
          </a:p>
          <a:p>
            <a:pPr lvl="2"/>
            <a:r>
              <a:rPr lang="tr-TR"/>
              <a:t>Third level</a:t>
            </a:r>
          </a:p>
          <a:p>
            <a:pPr lvl="3"/>
            <a:r>
              <a:rPr lang="tr-TR"/>
              <a:t>Fourth level</a:t>
            </a:r>
          </a:p>
          <a:p>
            <a:pPr lvl="4"/>
            <a:r>
              <a:rPr lang="tr-TR"/>
              <a:t>Fifth level</a:t>
            </a:r>
          </a:p>
        </p:txBody>
      </p:sp>
      <p:sp>
        <p:nvSpPr>
          <p:cNvPr id="79878" name="Rectangle 6"/>
          <p:cNvSpPr>
            <a:spLocks noGrp="1" noChangeArrowheads="1"/>
          </p:cNvSpPr>
          <p:nvPr>
            <p:ph type="ftr" sz="quarter" idx="4"/>
          </p:nvPr>
        </p:nvSpPr>
        <p:spPr bwMode="auto">
          <a:xfrm>
            <a:off x="0" y="6742113"/>
            <a:ext cx="4435475" cy="355600"/>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defTabSz="990600">
              <a:defRPr sz="1300">
                <a:latin typeface="Arial" charset="0"/>
              </a:defRPr>
            </a:lvl1pPr>
          </a:lstStyle>
          <a:p>
            <a:endParaRPr lang="tr-TR"/>
          </a:p>
        </p:txBody>
      </p:sp>
      <p:sp>
        <p:nvSpPr>
          <p:cNvPr id="79879" name="Rectangle 7"/>
          <p:cNvSpPr>
            <a:spLocks noGrp="1" noChangeArrowheads="1"/>
          </p:cNvSpPr>
          <p:nvPr>
            <p:ph type="sldNum" sz="quarter" idx="5"/>
          </p:nvPr>
        </p:nvSpPr>
        <p:spPr bwMode="auto">
          <a:xfrm>
            <a:off x="5797550" y="6742113"/>
            <a:ext cx="4435475" cy="355600"/>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defTabSz="990600">
              <a:defRPr sz="1300">
                <a:latin typeface="Arial" charset="0"/>
              </a:defRPr>
            </a:lvl1pPr>
          </a:lstStyle>
          <a:p>
            <a:fld id="{8B153843-1CF4-4938-B773-3DA6477B563D}" type="slidenum">
              <a:rPr lang="tr-TR"/>
              <a:pPr/>
              <a:t>‹#›</a:t>
            </a:fld>
            <a:endParaRPr lang="tr-TR"/>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2EB6C-62C6-C042-57A9-F3E9D381B3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39125C-3529-B401-8E02-917FEBF68C5F}"/>
              </a:ext>
            </a:extLst>
          </p:cNvPr>
          <p:cNvSpPr>
            <a:spLocks noGrp="1" noRot="1" noChangeAspect="1"/>
          </p:cNvSpPr>
          <p:nvPr>
            <p:ph type="sldImg"/>
          </p:nvPr>
        </p:nvSpPr>
        <p:spPr>
          <a:xfrm>
            <a:off x="2751138" y="531813"/>
            <a:ext cx="4730750" cy="2662237"/>
          </a:xfrm>
        </p:spPr>
        <p:txBody>
          <a:bodyPr/>
          <a:lstStyle/>
          <a:p>
            <a:endParaRPr lang="en-US"/>
          </a:p>
        </p:txBody>
      </p:sp>
      <p:sp>
        <p:nvSpPr>
          <p:cNvPr id="3" name="Notes Placeholder 2">
            <a:extLst>
              <a:ext uri="{FF2B5EF4-FFF2-40B4-BE49-F238E27FC236}">
                <a16:creationId xmlns:a16="http://schemas.microsoft.com/office/drawing/2014/main" id="{121C0024-06D1-0C14-BB05-E822F5CDBF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BBE75EA-E43C-E019-0C51-95A31DD536BC}"/>
              </a:ext>
            </a:extLst>
          </p:cNvPr>
          <p:cNvSpPr>
            <a:spLocks noGrp="1"/>
          </p:cNvSpPr>
          <p:nvPr>
            <p:ph type="sldNum" sz="quarter" idx="5"/>
          </p:nvPr>
        </p:nvSpPr>
        <p:spPr/>
        <p:txBody>
          <a:bodyPr/>
          <a:lstStyle/>
          <a:p>
            <a:fld id="{8B153843-1CF4-4938-B773-3DA6477B563D}" type="slidenum">
              <a:rPr lang="tr-TR" smtClean="0"/>
              <a:pPr/>
              <a:t>1</a:t>
            </a:fld>
            <a:endParaRPr lang="tr-TR"/>
          </a:p>
        </p:txBody>
      </p:sp>
    </p:spTree>
    <p:extLst>
      <p:ext uri="{BB962C8B-B14F-4D97-AF65-F5344CB8AC3E}">
        <p14:creationId xmlns:p14="http://schemas.microsoft.com/office/powerpoint/2010/main" val="21019127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153843-1CF4-4938-B773-3DA6477B563D}" type="slidenum">
              <a:rPr lang="tr-TR" smtClean="0"/>
              <a:pPr/>
              <a:t>3</a:t>
            </a:fld>
            <a:endParaRPr lang="tr-TR"/>
          </a:p>
        </p:txBody>
      </p:sp>
    </p:spTree>
    <p:extLst>
      <p:ext uri="{BB962C8B-B14F-4D97-AF65-F5344CB8AC3E}">
        <p14:creationId xmlns:p14="http://schemas.microsoft.com/office/powerpoint/2010/main" val="4321224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153843-1CF4-4938-B773-3DA6477B563D}" type="slidenum">
              <a:rPr lang="tr-TR" smtClean="0"/>
              <a:pPr/>
              <a:t>4</a:t>
            </a:fld>
            <a:endParaRPr lang="tr-TR"/>
          </a:p>
        </p:txBody>
      </p:sp>
    </p:spTree>
    <p:extLst>
      <p:ext uri="{BB962C8B-B14F-4D97-AF65-F5344CB8AC3E}">
        <p14:creationId xmlns:p14="http://schemas.microsoft.com/office/powerpoint/2010/main" val="31057420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153843-1CF4-4938-B773-3DA6477B563D}" type="slidenum">
              <a:rPr lang="tr-TR" smtClean="0"/>
              <a:pPr/>
              <a:t>5</a:t>
            </a:fld>
            <a:endParaRPr lang="tr-TR"/>
          </a:p>
        </p:txBody>
      </p:sp>
    </p:spTree>
    <p:extLst>
      <p:ext uri="{BB962C8B-B14F-4D97-AF65-F5344CB8AC3E}">
        <p14:creationId xmlns:p14="http://schemas.microsoft.com/office/powerpoint/2010/main" val="19654966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153843-1CF4-4938-B773-3DA6477B563D}" type="slidenum">
              <a:rPr lang="tr-TR" smtClean="0"/>
              <a:pPr/>
              <a:t>6</a:t>
            </a:fld>
            <a:endParaRPr lang="tr-TR"/>
          </a:p>
        </p:txBody>
      </p:sp>
    </p:spTree>
    <p:extLst>
      <p:ext uri="{BB962C8B-B14F-4D97-AF65-F5344CB8AC3E}">
        <p14:creationId xmlns:p14="http://schemas.microsoft.com/office/powerpoint/2010/main" val="21633567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153843-1CF4-4938-B773-3DA6477B563D}" type="slidenum">
              <a:rPr lang="tr-TR" smtClean="0"/>
              <a:pPr/>
              <a:t>7</a:t>
            </a:fld>
            <a:endParaRPr lang="tr-TR"/>
          </a:p>
        </p:txBody>
      </p:sp>
    </p:spTree>
    <p:extLst>
      <p:ext uri="{BB962C8B-B14F-4D97-AF65-F5344CB8AC3E}">
        <p14:creationId xmlns:p14="http://schemas.microsoft.com/office/powerpoint/2010/main" val="37892924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153843-1CF4-4938-B773-3DA6477B563D}" type="slidenum">
              <a:rPr lang="tr-TR" smtClean="0"/>
              <a:pPr/>
              <a:t>8</a:t>
            </a:fld>
            <a:endParaRPr lang="tr-TR"/>
          </a:p>
        </p:txBody>
      </p:sp>
    </p:spTree>
    <p:extLst>
      <p:ext uri="{BB962C8B-B14F-4D97-AF65-F5344CB8AC3E}">
        <p14:creationId xmlns:p14="http://schemas.microsoft.com/office/powerpoint/2010/main" val="6212879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153843-1CF4-4938-B773-3DA6477B563D}" type="slidenum">
              <a:rPr lang="tr-TR" smtClean="0"/>
              <a:pPr/>
              <a:t>9</a:t>
            </a:fld>
            <a:endParaRPr lang="tr-TR"/>
          </a:p>
        </p:txBody>
      </p:sp>
    </p:spTree>
    <p:extLst>
      <p:ext uri="{BB962C8B-B14F-4D97-AF65-F5344CB8AC3E}">
        <p14:creationId xmlns:p14="http://schemas.microsoft.com/office/powerpoint/2010/main" val="2719919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153843-1CF4-4938-B773-3DA6477B563D}" type="slidenum">
              <a:rPr lang="tr-TR" smtClean="0"/>
              <a:pPr/>
              <a:t>10</a:t>
            </a:fld>
            <a:endParaRPr lang="tr-TR"/>
          </a:p>
        </p:txBody>
      </p:sp>
    </p:spTree>
    <p:extLst>
      <p:ext uri="{BB962C8B-B14F-4D97-AF65-F5344CB8AC3E}">
        <p14:creationId xmlns:p14="http://schemas.microsoft.com/office/powerpoint/2010/main" val="18036397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374151"/>
                </a:solidFill>
                <a:effectLst/>
                <a:latin typeface="Söhne"/>
              </a:rPr>
              <a:t>Machine Learning can be categorized into three main types, each addressing unique learning scenarios:</a:t>
            </a:r>
          </a:p>
          <a:p>
            <a:endParaRPr lang="en-US" dirty="0"/>
          </a:p>
          <a:p>
            <a:r>
              <a:rPr lang="en-US" b="1" dirty="0"/>
              <a:t>Supervised Learning</a:t>
            </a:r>
            <a:r>
              <a:rPr lang="en-US" dirty="0"/>
              <a:t>: Machine learning where models learn from labeled data to make predictions.</a:t>
            </a:r>
          </a:p>
          <a:p>
            <a:pPr>
              <a:buFont typeface="Arial" panose="020B0604020202020204" pitchFamily="34" charset="0"/>
              <a:buChar char="•"/>
            </a:pPr>
            <a:r>
              <a:rPr lang="en-US" b="1" dirty="0"/>
              <a:t>Classification</a:t>
            </a:r>
            <a:r>
              <a:rPr lang="en-US" dirty="0"/>
              <a:t>: Predicting discrete categories or labels (e.g., spam or not spam).</a:t>
            </a:r>
          </a:p>
          <a:p>
            <a:pPr>
              <a:buFont typeface="Arial" panose="020B0604020202020204" pitchFamily="34" charset="0"/>
              <a:buChar char="•"/>
            </a:pPr>
            <a:r>
              <a:rPr lang="en-US" b="1" dirty="0"/>
              <a:t>Regression</a:t>
            </a:r>
            <a:r>
              <a:rPr lang="en-US" dirty="0"/>
              <a:t>: Predicting continuous numerical values (e.g., housing prices).</a:t>
            </a:r>
          </a:p>
          <a:p>
            <a:endParaRPr lang="en-US" b="1"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b="1" dirty="0"/>
              <a:t>Unsupervised Learning</a:t>
            </a:r>
            <a:r>
              <a:rPr lang="en-US" dirty="0"/>
              <a:t>: Learning patterns from unlabeled data without predefined outputs. </a:t>
            </a:r>
            <a:r>
              <a:rPr lang="en-US" i="1" dirty="0"/>
              <a:t>Example</a:t>
            </a:r>
            <a:r>
              <a:rPr lang="en-US" dirty="0"/>
              <a:t>: Grouping customers into clusters based on purchasing behavior.</a:t>
            </a:r>
          </a:p>
          <a:p>
            <a:endParaRPr lang="en-US" b="1" dirty="0"/>
          </a:p>
          <a:p>
            <a:r>
              <a:rPr lang="en-US" b="1" dirty="0"/>
              <a:t>Reinforcement Learning</a:t>
            </a:r>
            <a:r>
              <a:rPr lang="en-US" dirty="0"/>
              <a:t>: Learning optimal actions through trial and error by receiving rewards or penalties. </a:t>
            </a:r>
            <a:r>
              <a:rPr lang="en-US" i="1" dirty="0"/>
              <a:t>Example</a:t>
            </a:r>
            <a:r>
              <a:rPr lang="en-US" dirty="0"/>
              <a:t>: Training a robot to navigate a maze by rewarding it for reaching the exit.</a:t>
            </a:r>
          </a:p>
          <a:p>
            <a:endParaRPr lang="en-US" dirty="0"/>
          </a:p>
        </p:txBody>
      </p:sp>
      <p:sp>
        <p:nvSpPr>
          <p:cNvPr id="4" name="Slide Number Placeholder 3"/>
          <p:cNvSpPr>
            <a:spLocks noGrp="1"/>
          </p:cNvSpPr>
          <p:nvPr>
            <p:ph type="sldNum" sz="quarter" idx="5"/>
          </p:nvPr>
        </p:nvSpPr>
        <p:spPr/>
        <p:txBody>
          <a:bodyPr/>
          <a:lstStyle/>
          <a:p>
            <a:fld id="{8B153843-1CF4-4938-B773-3DA6477B563D}" type="slidenum">
              <a:rPr lang="tr-TR" smtClean="0"/>
              <a:pPr/>
              <a:t>11</a:t>
            </a:fld>
            <a:endParaRPr lang="tr-TR"/>
          </a:p>
        </p:txBody>
      </p:sp>
    </p:spTree>
    <p:extLst>
      <p:ext uri="{BB962C8B-B14F-4D97-AF65-F5344CB8AC3E}">
        <p14:creationId xmlns:p14="http://schemas.microsoft.com/office/powerpoint/2010/main" val="36918357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p>
          <a:p>
            <a:pPr algn="l">
              <a:buFont typeface="Arial" panose="020B0604020202020204" pitchFamily="34" charset="0"/>
              <a:buChar char="•"/>
            </a:pPr>
            <a:r>
              <a:rPr lang="en-US" b="0" i="0" u="none" strike="noStrike" dirty="0">
                <a:solidFill>
                  <a:srgbClr val="0F0F0F"/>
                </a:solidFill>
                <a:effectLst/>
                <a:latin typeface="Söhne"/>
              </a:rPr>
              <a:t>what is the difference of labeled data and unlabeled data?</a:t>
            </a:r>
            <a:endParaRPr lang="en-US" b="0" i="0" u="none" strike="noStrike" dirty="0">
              <a:solidFill>
                <a:srgbClr val="374151"/>
              </a:solidFill>
              <a:effectLst/>
              <a:latin typeface="Söhne"/>
            </a:endParaRPr>
          </a:p>
          <a:p>
            <a:pPr algn="l">
              <a:buFont typeface="+mj-lt"/>
              <a:buAutoNum type="arabicPeriod"/>
            </a:pPr>
            <a:r>
              <a:rPr lang="en-US" b="1" i="0" u="none" strike="noStrike" dirty="0">
                <a:solidFill>
                  <a:srgbClr val="374151"/>
                </a:solidFill>
                <a:effectLst/>
                <a:latin typeface="Söhne"/>
              </a:rPr>
              <a:t>Labeled Data:</a:t>
            </a:r>
            <a:r>
              <a:rPr lang="en-US" b="0" i="0" u="none" strike="noStrike" dirty="0">
                <a:solidFill>
                  <a:srgbClr val="374151"/>
                </a:solidFill>
                <a:effectLst/>
                <a:latin typeface="Söhne"/>
              </a:rPr>
              <a:t> This data has both input features and their known outcomes. For example, in an image dataset, each picture is labeled with what it contains, like "cat" or "dog."</a:t>
            </a:r>
          </a:p>
          <a:p>
            <a:pPr algn="l">
              <a:buFont typeface="+mj-lt"/>
              <a:buAutoNum type="arabicPeriod"/>
            </a:pPr>
            <a:r>
              <a:rPr lang="en-US" b="1" i="0" u="none" strike="noStrike" dirty="0">
                <a:solidFill>
                  <a:srgbClr val="374151"/>
                </a:solidFill>
                <a:effectLst/>
                <a:latin typeface="Söhne"/>
              </a:rPr>
              <a:t>Unlabeled Data:</a:t>
            </a:r>
            <a:r>
              <a:rPr lang="en-US" b="0" i="0" u="none" strike="noStrike" dirty="0">
                <a:solidFill>
                  <a:srgbClr val="374151"/>
                </a:solidFill>
                <a:effectLst/>
                <a:latin typeface="Söhne"/>
              </a:rPr>
              <a:t> This data only includes input features without known outcomes. For instance, it lacks labels like "cat" or "dog" for each image.</a:t>
            </a:r>
          </a:p>
          <a:p>
            <a:endParaRPr lang="en-US" dirty="0"/>
          </a:p>
        </p:txBody>
      </p:sp>
      <p:sp>
        <p:nvSpPr>
          <p:cNvPr id="4" name="Slide Number Placeholder 3"/>
          <p:cNvSpPr>
            <a:spLocks noGrp="1"/>
          </p:cNvSpPr>
          <p:nvPr>
            <p:ph type="sldNum" sz="quarter" idx="5"/>
          </p:nvPr>
        </p:nvSpPr>
        <p:spPr/>
        <p:txBody>
          <a:bodyPr/>
          <a:lstStyle/>
          <a:p>
            <a:fld id="{8B153843-1CF4-4938-B773-3DA6477B563D}" type="slidenum">
              <a:rPr lang="tr-TR" smtClean="0"/>
              <a:pPr/>
              <a:t>12</a:t>
            </a:fld>
            <a:endParaRPr lang="tr-TR"/>
          </a:p>
        </p:txBody>
      </p:sp>
    </p:spTree>
    <p:extLst>
      <p:ext uri="{BB962C8B-B14F-4D97-AF65-F5344CB8AC3E}">
        <p14:creationId xmlns:p14="http://schemas.microsoft.com/office/powerpoint/2010/main" val="21410200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153843-1CF4-4938-B773-3DA6477B563D}" type="slidenum">
              <a:rPr lang="tr-TR" smtClean="0"/>
              <a:pPr/>
              <a:t>13</a:t>
            </a:fld>
            <a:endParaRPr lang="tr-TR"/>
          </a:p>
        </p:txBody>
      </p:sp>
    </p:spTree>
    <p:extLst>
      <p:ext uri="{BB962C8B-B14F-4D97-AF65-F5344CB8AC3E}">
        <p14:creationId xmlns:p14="http://schemas.microsoft.com/office/powerpoint/2010/main" val="25956027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8B153843-1CF4-4938-B773-3DA6477B563D}" type="slidenum">
              <a:rPr lang="tr-TR" smtClean="0"/>
              <a:pPr/>
              <a:t>14</a:t>
            </a:fld>
            <a:endParaRPr lang="tr-TR"/>
          </a:p>
        </p:txBody>
      </p:sp>
    </p:spTree>
    <p:extLst>
      <p:ext uri="{BB962C8B-B14F-4D97-AF65-F5344CB8AC3E}">
        <p14:creationId xmlns:p14="http://schemas.microsoft.com/office/powerpoint/2010/main" val="735843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800" dirty="0">
                <a:effectLst/>
                <a:latin typeface="Arial" panose="020B0604020202020204" pitchFamily="34" charset="0"/>
                <a:ea typeface="MS Mincho" panose="02020609040205080304" pitchFamily="49" charset="-128"/>
                <a:cs typeface="Arial" panose="020B0604020202020204" pitchFamily="34" charset="0"/>
              </a:rPr>
              <a:t>Supervised learning plays a pivotal role in UBEM, especially in the context of predictive modeling. It enables the development of accurate models that forecast future energy consumption in urban buildings. For instance, a supervised learning model can take into account historical energy consumption data, building characteristics, and external factors like weather patterns to predict future energy needs. This capability aids urban planners, architects, and energy managers in designing and retrofitting buildings for optimal energy efficiency. </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800" dirty="0">
                <a:effectLst/>
                <a:latin typeface="Arial" panose="020B0604020202020204" pitchFamily="34" charset="0"/>
                <a:ea typeface="MS Mincho" panose="02020609040205080304" pitchFamily="49" charset="-128"/>
                <a:cs typeface="Arial" panose="020B0604020202020204" pitchFamily="34" charset="0"/>
              </a:rPr>
              <a:t>Additionally, classification in supervised learning can help categorize buildings based on energy efficiency, aiding in urban development policies and initiatives focused on sustainability.</a:t>
            </a:r>
            <a:endParaRPr lang="en-US" sz="1800" dirty="0">
              <a:effectLst/>
              <a:latin typeface="Arial" panose="020B0604020202020204" pitchFamily="34" charset="0"/>
              <a:ea typeface="MS Mincho" panose="02020609040205080304" pitchFamily="49" charset="-128"/>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8B153843-1CF4-4938-B773-3DA6477B563D}" type="slidenum">
              <a:rPr lang="tr-TR" smtClean="0"/>
              <a:pPr/>
              <a:t>15</a:t>
            </a:fld>
            <a:endParaRPr lang="tr-TR"/>
          </a:p>
        </p:txBody>
      </p:sp>
    </p:spTree>
    <p:extLst>
      <p:ext uri="{BB962C8B-B14F-4D97-AF65-F5344CB8AC3E}">
        <p14:creationId xmlns:p14="http://schemas.microsoft.com/office/powerpoint/2010/main" val="7676955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153843-1CF4-4938-B773-3DA6477B563D}" type="slidenum">
              <a:rPr lang="tr-TR" smtClean="0"/>
              <a:pPr/>
              <a:t>17</a:t>
            </a:fld>
            <a:endParaRPr lang="tr-TR"/>
          </a:p>
        </p:txBody>
      </p:sp>
    </p:spTree>
    <p:extLst>
      <p:ext uri="{BB962C8B-B14F-4D97-AF65-F5344CB8AC3E}">
        <p14:creationId xmlns:p14="http://schemas.microsoft.com/office/powerpoint/2010/main" val="15568506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153843-1CF4-4938-B773-3DA6477B563D}" type="slidenum">
              <a:rPr lang="tr-TR" smtClean="0"/>
              <a:pPr/>
              <a:t>18</a:t>
            </a:fld>
            <a:endParaRPr lang="tr-TR"/>
          </a:p>
        </p:txBody>
      </p:sp>
    </p:spTree>
    <p:extLst>
      <p:ext uri="{BB962C8B-B14F-4D97-AF65-F5344CB8AC3E}">
        <p14:creationId xmlns:p14="http://schemas.microsoft.com/office/powerpoint/2010/main" val="31137566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153843-1CF4-4938-B773-3DA6477B563D}" type="slidenum">
              <a:rPr lang="tr-TR" smtClean="0"/>
              <a:pPr/>
              <a:t>19</a:t>
            </a:fld>
            <a:endParaRPr lang="tr-TR"/>
          </a:p>
        </p:txBody>
      </p:sp>
    </p:spTree>
    <p:extLst>
      <p:ext uri="{BB962C8B-B14F-4D97-AF65-F5344CB8AC3E}">
        <p14:creationId xmlns:p14="http://schemas.microsoft.com/office/powerpoint/2010/main" val="28014819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153843-1CF4-4938-B773-3DA6477B563D}" type="slidenum">
              <a:rPr lang="tr-TR" smtClean="0"/>
              <a:pPr/>
              <a:t>20</a:t>
            </a:fld>
            <a:endParaRPr lang="tr-TR"/>
          </a:p>
        </p:txBody>
      </p:sp>
    </p:spTree>
    <p:extLst>
      <p:ext uri="{BB962C8B-B14F-4D97-AF65-F5344CB8AC3E}">
        <p14:creationId xmlns:p14="http://schemas.microsoft.com/office/powerpoint/2010/main" val="27619189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F7CD4355-98D6-4E10-B92A-ED4FF00E3E2B}" type="slidenum">
              <a:rPr lang="tr-TR" smtClean="0"/>
              <a:pPr/>
              <a:t>22</a:t>
            </a:fld>
            <a:endParaRPr lang="tr-TR"/>
          </a:p>
        </p:txBody>
      </p:sp>
    </p:spTree>
    <p:extLst>
      <p:ext uri="{BB962C8B-B14F-4D97-AF65-F5344CB8AC3E}">
        <p14:creationId xmlns:p14="http://schemas.microsoft.com/office/powerpoint/2010/main" val="12739725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374151"/>
                </a:solidFill>
                <a:effectLst/>
                <a:latin typeface="Söhne"/>
              </a:rPr>
              <a:t>Today, we'll delve into the core concepts of predicting outcomes using data and features. In machine learning, our primary components are the outcome, representing what we aim to predict, and the features, which we use to make those predictions.</a:t>
            </a:r>
            <a:endParaRPr lang="en-US" dirty="0"/>
          </a:p>
        </p:txBody>
      </p:sp>
      <p:sp>
        <p:nvSpPr>
          <p:cNvPr id="4" name="Slide Number Placeholder 3"/>
          <p:cNvSpPr>
            <a:spLocks noGrp="1"/>
          </p:cNvSpPr>
          <p:nvPr>
            <p:ph type="sldNum" sz="quarter" idx="5"/>
          </p:nvPr>
        </p:nvSpPr>
        <p:spPr/>
        <p:txBody>
          <a:bodyPr/>
          <a:lstStyle/>
          <a:p>
            <a:fld id="{8B153843-1CF4-4938-B773-3DA6477B563D}" type="slidenum">
              <a:rPr lang="tr-TR" smtClean="0"/>
              <a:pPr/>
              <a:t>24</a:t>
            </a:fld>
            <a:endParaRPr lang="tr-TR"/>
          </a:p>
        </p:txBody>
      </p:sp>
    </p:spTree>
    <p:extLst>
      <p:ext uri="{BB962C8B-B14F-4D97-AF65-F5344CB8AC3E}">
        <p14:creationId xmlns:p14="http://schemas.microsoft.com/office/powerpoint/2010/main" val="3898982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374151"/>
                </a:solidFill>
                <a:effectLst/>
                <a:latin typeface="Söhne"/>
              </a:rPr>
              <a:t>Let's explore the role of data and prediction in machine learning. Our algorithms play a crucial role—they take in feature values and predict outcomes. To achieve this, we follow an approach where we train our algorithms using known outcome datasets to make predictions for future, unknown outcomes.</a:t>
            </a:r>
            <a:endParaRPr lang="en-US" dirty="0"/>
          </a:p>
        </p:txBody>
      </p:sp>
      <p:sp>
        <p:nvSpPr>
          <p:cNvPr id="4" name="Slide Number Placeholder 3"/>
          <p:cNvSpPr>
            <a:spLocks noGrp="1"/>
          </p:cNvSpPr>
          <p:nvPr>
            <p:ph type="sldNum" sz="quarter" idx="5"/>
          </p:nvPr>
        </p:nvSpPr>
        <p:spPr/>
        <p:txBody>
          <a:bodyPr/>
          <a:lstStyle/>
          <a:p>
            <a:fld id="{8B153843-1CF4-4938-B773-3DA6477B563D}" type="slidenum">
              <a:rPr lang="tr-TR" smtClean="0"/>
              <a:pPr/>
              <a:t>25</a:t>
            </a:fld>
            <a:endParaRPr lang="tr-TR"/>
          </a:p>
        </p:txBody>
      </p:sp>
    </p:spTree>
    <p:extLst>
      <p:ext uri="{BB962C8B-B14F-4D97-AF65-F5344CB8AC3E}">
        <p14:creationId xmlns:p14="http://schemas.microsoft.com/office/powerpoint/2010/main" val="39033806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374151"/>
                </a:solidFill>
                <a:effectLst/>
                <a:latin typeface="Söhne"/>
              </a:rPr>
              <a:t>Let's explore the role of data and prediction in machine learning. Our algorithms play a crucial role—they take in feature values and predict outcomes. To achieve this, we follow an approach where we train our algorithms using known outcome datasets to make predictions for future, unknown outcomes.</a:t>
            </a:r>
            <a:endParaRPr lang="en-US" dirty="0"/>
          </a:p>
        </p:txBody>
      </p:sp>
      <p:sp>
        <p:nvSpPr>
          <p:cNvPr id="4" name="Slide Number Placeholder 3"/>
          <p:cNvSpPr>
            <a:spLocks noGrp="1"/>
          </p:cNvSpPr>
          <p:nvPr>
            <p:ph type="sldNum" sz="quarter" idx="5"/>
          </p:nvPr>
        </p:nvSpPr>
        <p:spPr/>
        <p:txBody>
          <a:bodyPr/>
          <a:lstStyle/>
          <a:p>
            <a:fld id="{8B153843-1CF4-4938-B773-3DA6477B563D}" type="slidenum">
              <a:rPr lang="tr-TR" smtClean="0"/>
              <a:pPr/>
              <a:t>26</a:t>
            </a:fld>
            <a:endParaRPr lang="tr-TR"/>
          </a:p>
        </p:txBody>
      </p:sp>
    </p:spTree>
    <p:extLst>
      <p:ext uri="{BB962C8B-B14F-4D97-AF65-F5344CB8AC3E}">
        <p14:creationId xmlns:p14="http://schemas.microsoft.com/office/powerpoint/2010/main" val="17756562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Outcomes denoted as capital Y; Features as capital X with an index (X1 to </a:t>
            </a:r>
            <a:r>
              <a:rPr lang="en-US" dirty="0" err="1"/>
              <a:t>Xp</a:t>
            </a:r>
            <a:r>
              <a:rPr lang="en-US" dirty="0"/>
              <a:t>).</a:t>
            </a:r>
          </a:p>
          <a:p>
            <a:r>
              <a:rPr lang="en-US" dirty="0"/>
              <a:t>Features may also be called predictors or covariates interchangeably.</a:t>
            </a:r>
          </a:p>
          <a:p>
            <a:endParaRPr lang="en-US" dirty="0"/>
          </a:p>
        </p:txBody>
      </p:sp>
      <p:sp>
        <p:nvSpPr>
          <p:cNvPr id="4" name="Slide Number Placeholder 3"/>
          <p:cNvSpPr>
            <a:spLocks noGrp="1"/>
          </p:cNvSpPr>
          <p:nvPr>
            <p:ph type="sldNum" sz="quarter" idx="5"/>
          </p:nvPr>
        </p:nvSpPr>
        <p:spPr/>
        <p:txBody>
          <a:bodyPr/>
          <a:lstStyle/>
          <a:p>
            <a:fld id="{8B153843-1CF4-4938-B773-3DA6477B563D}" type="slidenum">
              <a:rPr lang="tr-TR" smtClean="0"/>
              <a:pPr/>
              <a:t>27</a:t>
            </a:fld>
            <a:endParaRPr lang="tr-TR"/>
          </a:p>
        </p:txBody>
      </p:sp>
    </p:spTree>
    <p:extLst>
      <p:ext uri="{BB962C8B-B14F-4D97-AF65-F5344CB8AC3E}">
        <p14:creationId xmlns:p14="http://schemas.microsoft.com/office/powerpoint/2010/main" val="191594708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153843-1CF4-4938-B773-3DA6477B563D}" type="slidenum">
              <a:rPr lang="tr-TR" smtClean="0"/>
              <a:pPr/>
              <a:t>28</a:t>
            </a:fld>
            <a:endParaRPr lang="tr-TR"/>
          </a:p>
        </p:txBody>
      </p:sp>
    </p:spTree>
    <p:extLst>
      <p:ext uri="{BB962C8B-B14F-4D97-AF65-F5344CB8AC3E}">
        <p14:creationId xmlns:p14="http://schemas.microsoft.com/office/powerpoint/2010/main" val="121598211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374151"/>
                </a:solidFill>
                <a:effectLst/>
                <a:latin typeface="Söhne"/>
              </a:rPr>
              <a:t>Machine learning involves various prediction problems. For instance, categorical outcomes are represented by 'Y' with 'k' classes, whereas in continuous outcomes, 'Y' denotes the prediction in continuous tasks</a:t>
            </a:r>
            <a:endParaRPr lang="en-US" dirty="0"/>
          </a:p>
        </p:txBody>
      </p:sp>
      <p:sp>
        <p:nvSpPr>
          <p:cNvPr id="4" name="Slide Number Placeholder 3"/>
          <p:cNvSpPr>
            <a:spLocks noGrp="1"/>
          </p:cNvSpPr>
          <p:nvPr>
            <p:ph type="sldNum" sz="quarter" idx="5"/>
          </p:nvPr>
        </p:nvSpPr>
        <p:spPr/>
        <p:txBody>
          <a:bodyPr/>
          <a:lstStyle/>
          <a:p>
            <a:fld id="{8B153843-1CF4-4938-B773-3DA6477B563D}" type="slidenum">
              <a:rPr lang="tr-TR" smtClean="0"/>
              <a:pPr/>
              <a:t>29</a:t>
            </a:fld>
            <a:endParaRPr lang="tr-TR"/>
          </a:p>
        </p:txBody>
      </p:sp>
    </p:spTree>
    <p:extLst>
      <p:ext uri="{BB962C8B-B14F-4D97-AF65-F5344CB8AC3E}">
        <p14:creationId xmlns:p14="http://schemas.microsoft.com/office/powerpoint/2010/main" val="6567052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sz="1200" dirty="0">
                  <a:solidFill>
                    <a:schemeClr val="tx1"/>
                  </a:solidFill>
                </a:endParaRPr>
              </a:p>
            </p:txBody>
          </p:sp>
        </mc:Choice>
        <mc:Fallback xmlns="">
          <p:sp>
            <p:nvSpPr>
              <p:cNvPr id="3" name="Notes Placeholder 2"/>
              <p:cNvSpPr>
                <a:spLocks noGrp="1"/>
              </p:cNvSpPr>
              <p:nvPr>
                <p:ph type="body" idx="1"/>
              </p:nvPr>
            </p:nvSpPr>
            <p:spPr/>
            <p:txBody>
              <a:bodyPr/>
              <a:lstStyle/>
              <a:p>
                <a:r>
                  <a:rPr lang="en-US" b="0" i="0" u="none" strike="noStrike" dirty="0">
                    <a:solidFill>
                      <a:srgbClr val="374151"/>
                    </a:solidFill>
                    <a:effectLst/>
                    <a:latin typeface="Söhne"/>
                  </a:rPr>
                  <a:t>"Now, let's discuss the general setup for predictive modeling. Our goal is to predict unknown outcomes using known data with observable features, denoted as x1 through x5. In scenarios with continuous outcomes, we term the task 'prediction,' where a function 'f' generates predictions denoted as 'y hat' for x1 through </a:t>
                </a:r>
                <a:r>
                  <a:rPr lang="en-US" b="0" i="0" u="none" strike="noStrike" dirty="0" err="1">
                    <a:solidFill>
                      <a:srgbClr val="374151"/>
                    </a:solidFill>
                    <a:effectLst/>
                    <a:latin typeface="Söhne"/>
                  </a:rPr>
                  <a:t>xp</a:t>
                </a:r>
                <a:r>
                  <a:rPr lang="en-US" b="0" i="0" u="none" strike="noStrike" dirty="0">
                    <a:solidFill>
                      <a:srgbClr val="374151"/>
                    </a:solidFill>
                    <a:effectLst/>
                    <a:latin typeface="Söhne"/>
                  </a:rPr>
                  <a:t>.”</a:t>
                </a:r>
              </a:p>
              <a:p>
                <a:endParaRPr lang="en-US" b="0" i="0" u="none" strike="noStrike" dirty="0">
                  <a:solidFill>
                    <a:srgbClr val="374151"/>
                  </a:solidFill>
                  <a:effectLst/>
                  <a:latin typeface="Söhne"/>
                </a:endParaRPr>
              </a:p>
              <a:p>
                <a:endParaRPr lang="en-US" dirty="0"/>
              </a:p>
              <a:p>
                <a:r>
                  <a:rPr lang="en-US" dirty="0"/>
                  <a:t>the formula for the task of predicting unknown outcomes using known data with observable features for continuous outcomes can be represented as:</a:t>
                </a:r>
              </a:p>
              <a:p>
                <a:endParaRPr lang="en-US" dirty="0"/>
              </a:p>
              <a:p>
                <a:r>
                  <a:rPr lang="en-US" dirty="0"/>
                  <a:t>For a continuous outcome prediction task: </a:t>
                </a:r>
                <a:r>
                  <a:rPr lang="en-US" sz="1200" i="0">
                    <a:solidFill>
                      <a:schemeClr val="tx1"/>
                    </a:solidFill>
                    <a:latin typeface="Cambria Math" panose="02040503050406030204" pitchFamily="18" charset="0"/>
                  </a:rPr>
                  <a:t>(𝑦 ̂​)=𝑓(𝑥</a:t>
                </a:r>
                <a:r>
                  <a:rPr lang="en-US" sz="1200" i="0" baseline="-25000">
                    <a:solidFill>
                      <a:schemeClr val="tx1"/>
                    </a:solidFill>
                    <a:latin typeface="Cambria Math" panose="02040503050406030204" pitchFamily="18" charset="0"/>
                  </a:rPr>
                  <a:t>1</a:t>
                </a:r>
                <a:r>
                  <a:rPr lang="en-US" sz="1200" i="0">
                    <a:solidFill>
                      <a:schemeClr val="tx1"/>
                    </a:solidFill>
                    <a:latin typeface="Cambria Math" panose="02040503050406030204" pitchFamily="18" charset="0"/>
                  </a:rPr>
                  <a:t>​,𝑥</a:t>
                </a:r>
                <a:r>
                  <a:rPr lang="en-US" sz="1200" i="0" baseline="-25000">
                    <a:solidFill>
                      <a:schemeClr val="tx1"/>
                    </a:solidFill>
                    <a:latin typeface="Cambria Math" panose="02040503050406030204" pitchFamily="18" charset="0"/>
                  </a:rPr>
                  <a:t>2</a:t>
                </a:r>
                <a:r>
                  <a:rPr lang="en-US" sz="1200" i="0">
                    <a:solidFill>
                      <a:schemeClr val="tx1"/>
                    </a:solidFill>
                    <a:latin typeface="Cambria Math" panose="02040503050406030204" pitchFamily="18" charset="0"/>
                  </a:rPr>
                  <a:t>​,…,𝑥</a:t>
                </a:r>
                <a:r>
                  <a:rPr lang="en-US" sz="1200" i="0" baseline="-25000">
                    <a:solidFill>
                      <a:schemeClr val="tx1"/>
                    </a:solidFill>
                    <a:latin typeface="Cambria Math" panose="02040503050406030204" pitchFamily="18" charset="0"/>
                  </a:rPr>
                  <a:t>𝑝</a:t>
                </a:r>
                <a:r>
                  <a:rPr lang="en-US" sz="1200" i="0">
                    <a:solidFill>
                      <a:schemeClr val="tx1"/>
                    </a:solidFill>
                    <a:latin typeface="Cambria Math" panose="02040503050406030204" pitchFamily="18" charset="0"/>
                  </a:rPr>
                  <a:t>​)</a:t>
                </a:r>
                <a:endParaRPr lang="en-US" dirty="0"/>
              </a:p>
              <a:p>
                <a:endParaRPr lang="en-US" dirty="0"/>
              </a:p>
              <a:p>
                <a:pPr marL="285750" indent="-285750" algn="l">
                  <a:buFont typeface="Arial" panose="020B0604020202020204" pitchFamily="34" charset="0"/>
                  <a:buChar char="•"/>
                </a:pPr>
                <a:r>
                  <a:rPr lang="en-US" b="0" i="1" u="none" strike="noStrike" dirty="0">
                    <a:solidFill>
                      <a:schemeClr val="tx1"/>
                    </a:solidFill>
                    <a:effectLst/>
                    <a:latin typeface="KaTeX_Math"/>
                  </a:rPr>
                  <a:t>f</a:t>
                </a:r>
                <a:r>
                  <a:rPr lang="en-US" b="0" i="0" u="none" strike="noStrike" dirty="0">
                    <a:solidFill>
                      <a:schemeClr val="tx1"/>
                    </a:solidFill>
                    <a:effectLst/>
                    <a:latin typeface="Söhne"/>
                  </a:rPr>
                  <a:t> represents the predictive model or function.</a:t>
                </a:r>
              </a:p>
              <a:p>
                <a:pPr marL="285750" indent="-285750" algn="l">
                  <a:buFont typeface="Arial" panose="020B0604020202020204" pitchFamily="34" charset="0"/>
                  <a:buChar char="•"/>
                </a:pPr>
                <a:r>
                  <a:rPr lang="en-US" b="0" i="0" u="none" strike="noStrike" dirty="0">
                    <a:solidFill>
                      <a:schemeClr val="tx1"/>
                    </a:solidFill>
                    <a:effectLst/>
                    <a:latin typeface="KaTeX_Main"/>
                  </a:rPr>
                  <a:t>x</a:t>
                </a:r>
                <a:r>
                  <a:rPr lang="en-US" b="0" i="0" u="none" strike="noStrike" baseline="-25000" dirty="0">
                    <a:solidFill>
                      <a:schemeClr val="tx1"/>
                    </a:solidFill>
                    <a:effectLst/>
                    <a:latin typeface="KaTeX_Main"/>
                  </a:rPr>
                  <a:t>1</a:t>
                </a:r>
                <a:r>
                  <a:rPr lang="en-US" b="0" i="0" u="none" strike="noStrike" dirty="0">
                    <a:solidFill>
                      <a:schemeClr val="tx1"/>
                    </a:solidFill>
                    <a:effectLst/>
                    <a:latin typeface="KaTeX_Main"/>
                  </a:rPr>
                  <a:t>,x</a:t>
                </a:r>
                <a:r>
                  <a:rPr lang="en-US" b="0" i="0" u="none" strike="noStrike" baseline="-25000" dirty="0">
                    <a:solidFill>
                      <a:schemeClr val="tx1"/>
                    </a:solidFill>
                    <a:effectLst/>
                    <a:latin typeface="KaTeX_Main"/>
                  </a:rPr>
                  <a:t>2</a:t>
                </a:r>
                <a:r>
                  <a:rPr lang="en-US" b="0" i="0" u="none" strike="noStrike" dirty="0">
                    <a:solidFill>
                      <a:schemeClr val="tx1"/>
                    </a:solidFill>
                    <a:effectLst/>
                    <a:latin typeface="KaTeX_Main"/>
                  </a:rPr>
                  <a:t>,...,</a:t>
                </a:r>
                <a:r>
                  <a:rPr lang="en-US" b="0" i="0" u="none" strike="noStrike" dirty="0" err="1">
                    <a:solidFill>
                      <a:schemeClr val="tx1"/>
                    </a:solidFill>
                    <a:effectLst/>
                    <a:latin typeface="KaTeX_Main"/>
                  </a:rPr>
                  <a:t>x</a:t>
                </a:r>
                <a:r>
                  <a:rPr lang="en-US" b="0" i="0" u="none" strike="noStrike" baseline="-25000" dirty="0" err="1">
                    <a:solidFill>
                      <a:schemeClr val="tx1"/>
                    </a:solidFill>
                    <a:effectLst/>
                    <a:latin typeface="KaTeX_Main"/>
                  </a:rPr>
                  <a:t>p</a:t>
                </a:r>
                <a:r>
                  <a:rPr lang="en-US" dirty="0">
                    <a:latin typeface="KaTeX_Main"/>
                  </a:rPr>
                  <a:t> </a:t>
                </a:r>
                <a:r>
                  <a:rPr lang="en-US" b="0" i="0" u="none" strike="noStrike" dirty="0">
                    <a:solidFill>
                      <a:schemeClr val="tx1"/>
                    </a:solidFill>
                    <a:effectLst/>
                    <a:latin typeface="Söhne"/>
                  </a:rPr>
                  <a:t>are the observable features used in the model to predict the outcome </a:t>
                </a:r>
                <a:r>
                  <a:rPr lang="en-US" sz="1200" i="0">
                    <a:solidFill>
                      <a:schemeClr val="tx1"/>
                    </a:solidFill>
                    <a:latin typeface="Cambria Math" panose="02040503050406030204" pitchFamily="18" charset="0"/>
                  </a:rPr>
                  <a:t>𝑦 ̂​</a:t>
                </a:r>
                <a:r>
                  <a:rPr lang="en-US" b="0" i="0" u="none" strike="noStrike" dirty="0">
                    <a:solidFill>
                      <a:schemeClr val="tx1"/>
                    </a:solidFill>
                    <a:effectLst/>
                    <a:latin typeface="Söhne"/>
                  </a:rPr>
                  <a:t>.</a:t>
                </a:r>
              </a:p>
              <a:p>
                <a:pPr/>
                <a:endParaRPr lang="en-US" sz="1200" dirty="0">
                  <a:solidFill>
                    <a:schemeClr val="tx1"/>
                  </a:solidFill>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b="0" i="0" u="none" strike="noStrike" dirty="0">
                    <a:solidFill>
                      <a:schemeClr val="tx1"/>
                    </a:solidFill>
                    <a:effectLst/>
                    <a:latin typeface="Söhne"/>
                  </a:rPr>
                  <a:t>This formula signifies that the predicted outcome </a:t>
                </a:r>
                <a:r>
                  <a:rPr lang="en-US" sz="1200" i="0">
                    <a:solidFill>
                      <a:schemeClr val="tx1"/>
                    </a:solidFill>
                    <a:latin typeface="Cambria Math" panose="02040503050406030204" pitchFamily="18" charset="0"/>
                  </a:rPr>
                  <a:t>𝑦 ̂​</a:t>
                </a:r>
                <a:r>
                  <a:rPr lang="en-US" b="0" i="0" u="none" strike="noStrike" dirty="0">
                    <a:solidFill>
                      <a:schemeClr val="tx1"/>
                    </a:solidFill>
                    <a:effectLst/>
                    <a:latin typeface="Söhne"/>
                  </a:rPr>
                  <a:t> is generated using a function </a:t>
                </a:r>
                <a:r>
                  <a:rPr lang="en-US" b="0" i="1" u="none" strike="noStrike" dirty="0">
                    <a:solidFill>
                      <a:schemeClr val="tx1"/>
                    </a:solidFill>
                    <a:effectLst/>
                    <a:latin typeface="KaTeX_Math"/>
                  </a:rPr>
                  <a:t>f</a:t>
                </a:r>
                <a:r>
                  <a:rPr lang="en-US" b="0" i="0" u="none" strike="noStrike" dirty="0">
                    <a:solidFill>
                      <a:schemeClr val="tx1"/>
                    </a:solidFill>
                    <a:effectLst/>
                    <a:latin typeface="Söhne"/>
                  </a:rPr>
                  <a:t> with the inputs being the observable features </a:t>
                </a:r>
                <a:r>
                  <a:rPr lang="en-US" b="0" i="0" u="none" strike="noStrike" dirty="0">
                    <a:solidFill>
                      <a:schemeClr val="tx1"/>
                    </a:solidFill>
                    <a:effectLst/>
                    <a:latin typeface="KaTeX_Main"/>
                  </a:rPr>
                  <a:t>x</a:t>
                </a:r>
                <a:r>
                  <a:rPr lang="en-US" b="0" i="0" u="none" strike="noStrike" baseline="-25000" dirty="0">
                    <a:solidFill>
                      <a:schemeClr val="tx1"/>
                    </a:solidFill>
                    <a:effectLst/>
                    <a:latin typeface="KaTeX_Main"/>
                  </a:rPr>
                  <a:t>1</a:t>
                </a:r>
                <a:r>
                  <a:rPr lang="en-US" b="0" i="0" u="none" strike="noStrike" dirty="0">
                    <a:solidFill>
                      <a:schemeClr val="tx1"/>
                    </a:solidFill>
                    <a:effectLst/>
                    <a:latin typeface="KaTeX_Main"/>
                  </a:rPr>
                  <a:t>​</a:t>
                </a:r>
                <a:r>
                  <a:rPr lang="en-US" b="0" i="0" u="none" strike="noStrike" dirty="0">
                    <a:solidFill>
                      <a:schemeClr val="tx1"/>
                    </a:solidFill>
                    <a:effectLst/>
                    <a:latin typeface="Söhne"/>
                  </a:rPr>
                  <a:t> through </a:t>
                </a:r>
                <a:r>
                  <a:rPr lang="en-US" b="0" i="1" u="none" strike="noStrike" dirty="0" err="1">
                    <a:solidFill>
                      <a:schemeClr val="tx1"/>
                    </a:solidFill>
                    <a:effectLst/>
                    <a:latin typeface="KaTeX_Math"/>
                  </a:rPr>
                  <a:t>x</a:t>
                </a:r>
                <a:r>
                  <a:rPr lang="en-US" b="0" i="1" u="none" strike="noStrike" baseline="-25000" dirty="0" err="1">
                    <a:solidFill>
                      <a:schemeClr val="tx1"/>
                    </a:solidFill>
                    <a:effectLst/>
                    <a:latin typeface="KaTeX_Math"/>
                  </a:rPr>
                  <a:t>p</a:t>
                </a:r>
                <a:r>
                  <a:rPr lang="en-US" b="0" i="0" u="none" strike="noStrike" dirty="0">
                    <a:solidFill>
                      <a:schemeClr val="tx1"/>
                    </a:solidFill>
                    <a:effectLst/>
                    <a:latin typeface="KaTeX_Main"/>
                  </a:rPr>
                  <a:t>​</a:t>
                </a:r>
                <a:r>
                  <a:rPr lang="en-US" b="0" i="0" u="none" strike="noStrike" dirty="0">
                    <a:solidFill>
                      <a:schemeClr val="tx1"/>
                    </a:solidFill>
                    <a:effectLst/>
                    <a:latin typeface="Söhne"/>
                  </a:rPr>
                  <a:t>.</a:t>
                </a:r>
                <a:endParaRPr lang="en-US" dirty="0">
                  <a:solidFill>
                    <a:schemeClr val="tx1"/>
                  </a:solidFill>
                </a:endParaRPr>
              </a:p>
              <a:p>
                <a:pPr/>
                <a:endParaRPr lang="en-US" sz="1200" dirty="0">
                  <a:solidFill>
                    <a:schemeClr val="tx1"/>
                  </a:solidFill>
                </a:endParaRPr>
              </a:p>
            </p:txBody>
          </p:sp>
        </mc:Fallback>
      </mc:AlternateContent>
      <p:sp>
        <p:nvSpPr>
          <p:cNvPr id="4" name="Slide Number Placeholder 3"/>
          <p:cNvSpPr>
            <a:spLocks noGrp="1"/>
          </p:cNvSpPr>
          <p:nvPr>
            <p:ph type="sldNum" sz="quarter" idx="5"/>
          </p:nvPr>
        </p:nvSpPr>
        <p:spPr/>
        <p:txBody>
          <a:bodyPr/>
          <a:lstStyle/>
          <a:p>
            <a:fld id="{8B153843-1CF4-4938-B773-3DA6477B563D}" type="slidenum">
              <a:rPr lang="tr-TR" smtClean="0"/>
              <a:pPr/>
              <a:t>32</a:t>
            </a:fld>
            <a:endParaRPr lang="tr-TR"/>
          </a:p>
        </p:txBody>
      </p:sp>
    </p:spTree>
    <p:extLst>
      <p:ext uri="{BB962C8B-B14F-4D97-AF65-F5344CB8AC3E}">
        <p14:creationId xmlns:p14="http://schemas.microsoft.com/office/powerpoint/2010/main" val="39801113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b="0" i="0" u="none" strike="noStrike" dirty="0">
                    <a:solidFill>
                      <a:srgbClr val="374151"/>
                    </a:solidFill>
                    <a:effectLst/>
                    <a:latin typeface="Söhne"/>
                  </a:rPr>
                  <a:t>a function 'f' generates predictions denoted as 'y hat' for x1 through </a:t>
                </a:r>
                <a:r>
                  <a:rPr lang="en-US" b="0" i="0" u="none" strike="noStrike" dirty="0" err="1">
                    <a:solidFill>
                      <a:srgbClr val="374151"/>
                    </a:solidFill>
                    <a:effectLst/>
                    <a:latin typeface="Söhne"/>
                  </a:rPr>
                  <a:t>xp</a:t>
                </a:r>
                <a:r>
                  <a:rPr lang="en-US" b="0" i="0" u="none" strike="noStrike" dirty="0">
                    <a:solidFill>
                      <a:srgbClr val="374151"/>
                    </a:solidFill>
                    <a:effectLst/>
                    <a:latin typeface="Söhne"/>
                  </a:rPr>
                  <a:t>.”</a:t>
                </a:r>
              </a:p>
              <a:p>
                <a:endParaRPr lang="en-US" b="0" i="0" u="none" strike="noStrike" dirty="0">
                  <a:solidFill>
                    <a:srgbClr val="374151"/>
                  </a:solidFill>
                  <a:effectLst/>
                  <a:latin typeface="Söhne"/>
                </a:endParaRPr>
              </a:p>
              <a:p>
                <a:endParaRPr lang="en-US" dirty="0"/>
              </a:p>
              <a:p>
                <a:endParaRPr lang="en-US" sz="1200" dirty="0">
                  <a:solidFill>
                    <a:schemeClr val="tx1"/>
                  </a:solidFill>
                </a:endParaRPr>
              </a:p>
            </p:txBody>
          </p:sp>
        </mc:Choice>
        <mc:Fallback xmlns="">
          <p:sp>
            <p:nvSpPr>
              <p:cNvPr id="3" name="Notes Placeholder 2"/>
              <p:cNvSpPr>
                <a:spLocks noGrp="1"/>
              </p:cNvSpPr>
              <p:nvPr>
                <p:ph type="body" idx="1"/>
              </p:nvPr>
            </p:nvSpPr>
            <p:spPr/>
            <p:txBody>
              <a:bodyPr/>
              <a:lstStyle/>
              <a:p>
                <a:r>
                  <a:rPr lang="en-US" b="0" i="0" u="none" strike="noStrike" dirty="0">
                    <a:solidFill>
                      <a:srgbClr val="374151"/>
                    </a:solidFill>
                    <a:effectLst/>
                    <a:latin typeface="Söhne"/>
                  </a:rPr>
                  <a:t>a function 'f' generates predictions denoted as 'y hat' for x1 through </a:t>
                </a:r>
                <a:r>
                  <a:rPr lang="en-US" b="0" i="0" u="none" strike="noStrike" dirty="0" err="1">
                    <a:solidFill>
                      <a:srgbClr val="374151"/>
                    </a:solidFill>
                    <a:effectLst/>
                    <a:latin typeface="Söhne"/>
                  </a:rPr>
                  <a:t>xp</a:t>
                </a:r>
                <a:r>
                  <a:rPr lang="en-US" b="0" i="0" u="none" strike="noStrike" dirty="0">
                    <a:solidFill>
                      <a:srgbClr val="374151"/>
                    </a:solidFill>
                    <a:effectLst/>
                    <a:latin typeface="Söhne"/>
                  </a:rPr>
                  <a:t>.”</a:t>
                </a:r>
              </a:p>
              <a:p>
                <a:endParaRPr lang="en-US" b="0" i="0" u="none" strike="noStrike" dirty="0">
                  <a:solidFill>
                    <a:srgbClr val="374151"/>
                  </a:solidFill>
                  <a:effectLst/>
                  <a:latin typeface="Söhne"/>
                </a:endParaRPr>
              </a:p>
              <a:p>
                <a:endParaRPr lang="en-US" dirty="0"/>
              </a:p>
              <a:p>
                <a:r>
                  <a:rPr lang="en-US" dirty="0"/>
                  <a:t>the formula for the task of predicting unknown outcomes using known data with observable features for continuous outcomes can be represented as:</a:t>
                </a:r>
              </a:p>
              <a:p>
                <a:endParaRPr lang="en-US" dirty="0"/>
              </a:p>
              <a:p>
                <a:r>
                  <a:rPr lang="en-US" dirty="0"/>
                  <a:t>For a continuous outcome prediction task: </a:t>
                </a:r>
                <a:r>
                  <a:rPr lang="en-US" sz="1200" i="0">
                    <a:solidFill>
                      <a:schemeClr val="tx1"/>
                    </a:solidFill>
                    <a:latin typeface="Cambria Math" panose="02040503050406030204" pitchFamily="18" charset="0"/>
                  </a:rPr>
                  <a:t>(𝑦 ̂​)=𝑓(𝑥</a:t>
                </a:r>
                <a:r>
                  <a:rPr lang="en-US" sz="1200" i="0" baseline="-25000">
                    <a:solidFill>
                      <a:schemeClr val="tx1"/>
                    </a:solidFill>
                    <a:latin typeface="Cambria Math" panose="02040503050406030204" pitchFamily="18" charset="0"/>
                  </a:rPr>
                  <a:t>1</a:t>
                </a:r>
                <a:r>
                  <a:rPr lang="en-US" sz="1200" i="0">
                    <a:solidFill>
                      <a:schemeClr val="tx1"/>
                    </a:solidFill>
                    <a:latin typeface="Cambria Math" panose="02040503050406030204" pitchFamily="18" charset="0"/>
                  </a:rPr>
                  <a:t>​,𝑥</a:t>
                </a:r>
                <a:r>
                  <a:rPr lang="en-US" sz="1200" i="0" baseline="-25000">
                    <a:solidFill>
                      <a:schemeClr val="tx1"/>
                    </a:solidFill>
                    <a:latin typeface="Cambria Math" panose="02040503050406030204" pitchFamily="18" charset="0"/>
                  </a:rPr>
                  <a:t>2</a:t>
                </a:r>
                <a:r>
                  <a:rPr lang="en-US" sz="1200" i="0">
                    <a:solidFill>
                      <a:schemeClr val="tx1"/>
                    </a:solidFill>
                    <a:latin typeface="Cambria Math" panose="02040503050406030204" pitchFamily="18" charset="0"/>
                  </a:rPr>
                  <a:t>​,…,𝑥</a:t>
                </a:r>
                <a:r>
                  <a:rPr lang="en-US" sz="1200" i="0" baseline="-25000">
                    <a:solidFill>
                      <a:schemeClr val="tx1"/>
                    </a:solidFill>
                    <a:latin typeface="Cambria Math" panose="02040503050406030204" pitchFamily="18" charset="0"/>
                  </a:rPr>
                  <a:t>𝑝</a:t>
                </a:r>
                <a:r>
                  <a:rPr lang="en-US" sz="1200" i="0">
                    <a:solidFill>
                      <a:schemeClr val="tx1"/>
                    </a:solidFill>
                    <a:latin typeface="Cambria Math" panose="02040503050406030204" pitchFamily="18" charset="0"/>
                  </a:rPr>
                  <a:t>​)</a:t>
                </a:r>
                <a:endParaRPr lang="en-US" dirty="0"/>
              </a:p>
              <a:p>
                <a:endParaRPr lang="en-US" dirty="0"/>
              </a:p>
              <a:p>
                <a:pPr marL="285750" indent="-285750" algn="l">
                  <a:buFont typeface="Arial" panose="020B0604020202020204" pitchFamily="34" charset="0"/>
                  <a:buChar char="•"/>
                </a:pPr>
                <a:r>
                  <a:rPr lang="en-US" b="0" i="1" u="none" strike="noStrike" dirty="0">
                    <a:solidFill>
                      <a:schemeClr val="tx1"/>
                    </a:solidFill>
                    <a:effectLst/>
                    <a:latin typeface="KaTeX_Math"/>
                  </a:rPr>
                  <a:t>f</a:t>
                </a:r>
                <a:r>
                  <a:rPr lang="en-US" b="0" i="0" u="none" strike="noStrike" dirty="0">
                    <a:solidFill>
                      <a:schemeClr val="tx1"/>
                    </a:solidFill>
                    <a:effectLst/>
                    <a:latin typeface="Söhne"/>
                  </a:rPr>
                  <a:t> represents the predictive model or function.</a:t>
                </a:r>
              </a:p>
              <a:p>
                <a:pPr marL="285750" indent="-285750" algn="l">
                  <a:buFont typeface="Arial" panose="020B0604020202020204" pitchFamily="34" charset="0"/>
                  <a:buChar char="•"/>
                </a:pPr>
                <a:r>
                  <a:rPr lang="en-US" b="0" i="0" u="none" strike="noStrike" dirty="0">
                    <a:solidFill>
                      <a:schemeClr val="tx1"/>
                    </a:solidFill>
                    <a:effectLst/>
                    <a:latin typeface="KaTeX_Main"/>
                  </a:rPr>
                  <a:t>x</a:t>
                </a:r>
                <a:r>
                  <a:rPr lang="en-US" b="0" i="0" u="none" strike="noStrike" baseline="-25000" dirty="0">
                    <a:solidFill>
                      <a:schemeClr val="tx1"/>
                    </a:solidFill>
                    <a:effectLst/>
                    <a:latin typeface="KaTeX_Main"/>
                  </a:rPr>
                  <a:t>1</a:t>
                </a:r>
                <a:r>
                  <a:rPr lang="en-US" b="0" i="0" u="none" strike="noStrike" dirty="0">
                    <a:solidFill>
                      <a:schemeClr val="tx1"/>
                    </a:solidFill>
                    <a:effectLst/>
                    <a:latin typeface="KaTeX_Main"/>
                  </a:rPr>
                  <a:t>,x</a:t>
                </a:r>
                <a:r>
                  <a:rPr lang="en-US" b="0" i="0" u="none" strike="noStrike" baseline="-25000" dirty="0">
                    <a:solidFill>
                      <a:schemeClr val="tx1"/>
                    </a:solidFill>
                    <a:effectLst/>
                    <a:latin typeface="KaTeX_Main"/>
                  </a:rPr>
                  <a:t>2</a:t>
                </a:r>
                <a:r>
                  <a:rPr lang="en-US" b="0" i="0" u="none" strike="noStrike" dirty="0">
                    <a:solidFill>
                      <a:schemeClr val="tx1"/>
                    </a:solidFill>
                    <a:effectLst/>
                    <a:latin typeface="KaTeX_Main"/>
                  </a:rPr>
                  <a:t>,...,</a:t>
                </a:r>
                <a:r>
                  <a:rPr lang="en-US" b="0" i="0" u="none" strike="noStrike" dirty="0" err="1">
                    <a:solidFill>
                      <a:schemeClr val="tx1"/>
                    </a:solidFill>
                    <a:effectLst/>
                    <a:latin typeface="KaTeX_Main"/>
                  </a:rPr>
                  <a:t>x</a:t>
                </a:r>
                <a:r>
                  <a:rPr lang="en-US" b="0" i="0" u="none" strike="noStrike" baseline="-25000" dirty="0" err="1">
                    <a:solidFill>
                      <a:schemeClr val="tx1"/>
                    </a:solidFill>
                    <a:effectLst/>
                    <a:latin typeface="KaTeX_Main"/>
                  </a:rPr>
                  <a:t>p</a:t>
                </a:r>
                <a:r>
                  <a:rPr lang="en-US" dirty="0">
                    <a:latin typeface="KaTeX_Main"/>
                  </a:rPr>
                  <a:t> </a:t>
                </a:r>
                <a:r>
                  <a:rPr lang="en-US" b="0" i="0" u="none" strike="noStrike" dirty="0">
                    <a:solidFill>
                      <a:schemeClr val="tx1"/>
                    </a:solidFill>
                    <a:effectLst/>
                    <a:latin typeface="Söhne"/>
                  </a:rPr>
                  <a:t>are the observable features used in the model to predict the outcome </a:t>
                </a:r>
                <a:r>
                  <a:rPr lang="en-US" sz="1200" i="0">
                    <a:solidFill>
                      <a:schemeClr val="tx1"/>
                    </a:solidFill>
                    <a:latin typeface="Cambria Math" panose="02040503050406030204" pitchFamily="18" charset="0"/>
                  </a:rPr>
                  <a:t>𝑦 ̂​</a:t>
                </a:r>
                <a:r>
                  <a:rPr lang="en-US" b="0" i="0" u="none" strike="noStrike" dirty="0">
                    <a:solidFill>
                      <a:schemeClr val="tx1"/>
                    </a:solidFill>
                    <a:effectLst/>
                    <a:latin typeface="Söhne"/>
                  </a:rPr>
                  <a:t>.</a:t>
                </a:r>
              </a:p>
              <a:p>
                <a:pPr/>
                <a:endParaRPr lang="en-US" sz="1200" dirty="0">
                  <a:solidFill>
                    <a:schemeClr val="tx1"/>
                  </a:solidFill>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b="0" i="0" u="none" strike="noStrike" dirty="0">
                    <a:solidFill>
                      <a:schemeClr val="tx1"/>
                    </a:solidFill>
                    <a:effectLst/>
                    <a:latin typeface="Söhne"/>
                  </a:rPr>
                  <a:t>This formula signifies that the predicted outcome </a:t>
                </a:r>
                <a:r>
                  <a:rPr lang="en-US" sz="1200" i="0">
                    <a:solidFill>
                      <a:schemeClr val="tx1"/>
                    </a:solidFill>
                    <a:latin typeface="Cambria Math" panose="02040503050406030204" pitchFamily="18" charset="0"/>
                  </a:rPr>
                  <a:t>𝑦 ̂​</a:t>
                </a:r>
                <a:r>
                  <a:rPr lang="en-US" b="0" i="0" u="none" strike="noStrike" dirty="0">
                    <a:solidFill>
                      <a:schemeClr val="tx1"/>
                    </a:solidFill>
                    <a:effectLst/>
                    <a:latin typeface="Söhne"/>
                  </a:rPr>
                  <a:t> is generated using a function </a:t>
                </a:r>
                <a:r>
                  <a:rPr lang="en-US" b="0" i="1" u="none" strike="noStrike" dirty="0">
                    <a:solidFill>
                      <a:schemeClr val="tx1"/>
                    </a:solidFill>
                    <a:effectLst/>
                    <a:latin typeface="KaTeX_Math"/>
                  </a:rPr>
                  <a:t>f</a:t>
                </a:r>
                <a:r>
                  <a:rPr lang="en-US" b="0" i="0" u="none" strike="noStrike" dirty="0">
                    <a:solidFill>
                      <a:schemeClr val="tx1"/>
                    </a:solidFill>
                    <a:effectLst/>
                    <a:latin typeface="Söhne"/>
                  </a:rPr>
                  <a:t> with the inputs being the observable features </a:t>
                </a:r>
                <a:r>
                  <a:rPr lang="en-US" b="0" i="0" u="none" strike="noStrike" dirty="0">
                    <a:solidFill>
                      <a:schemeClr val="tx1"/>
                    </a:solidFill>
                    <a:effectLst/>
                    <a:latin typeface="KaTeX_Main"/>
                  </a:rPr>
                  <a:t>x</a:t>
                </a:r>
                <a:r>
                  <a:rPr lang="en-US" b="0" i="0" u="none" strike="noStrike" baseline="-25000" dirty="0">
                    <a:solidFill>
                      <a:schemeClr val="tx1"/>
                    </a:solidFill>
                    <a:effectLst/>
                    <a:latin typeface="KaTeX_Main"/>
                  </a:rPr>
                  <a:t>1</a:t>
                </a:r>
                <a:r>
                  <a:rPr lang="en-US" b="0" i="0" u="none" strike="noStrike" dirty="0">
                    <a:solidFill>
                      <a:schemeClr val="tx1"/>
                    </a:solidFill>
                    <a:effectLst/>
                    <a:latin typeface="KaTeX_Main"/>
                  </a:rPr>
                  <a:t>​</a:t>
                </a:r>
                <a:r>
                  <a:rPr lang="en-US" b="0" i="0" u="none" strike="noStrike" dirty="0">
                    <a:solidFill>
                      <a:schemeClr val="tx1"/>
                    </a:solidFill>
                    <a:effectLst/>
                    <a:latin typeface="Söhne"/>
                  </a:rPr>
                  <a:t> through </a:t>
                </a:r>
                <a:r>
                  <a:rPr lang="en-US" b="0" i="1" u="none" strike="noStrike" dirty="0" err="1">
                    <a:solidFill>
                      <a:schemeClr val="tx1"/>
                    </a:solidFill>
                    <a:effectLst/>
                    <a:latin typeface="KaTeX_Math"/>
                  </a:rPr>
                  <a:t>x</a:t>
                </a:r>
                <a:r>
                  <a:rPr lang="en-US" b="0" i="1" u="none" strike="noStrike" baseline="-25000" dirty="0" err="1">
                    <a:solidFill>
                      <a:schemeClr val="tx1"/>
                    </a:solidFill>
                    <a:effectLst/>
                    <a:latin typeface="KaTeX_Math"/>
                  </a:rPr>
                  <a:t>p</a:t>
                </a:r>
                <a:r>
                  <a:rPr lang="en-US" b="0" i="0" u="none" strike="noStrike" dirty="0">
                    <a:solidFill>
                      <a:schemeClr val="tx1"/>
                    </a:solidFill>
                    <a:effectLst/>
                    <a:latin typeface="KaTeX_Main"/>
                  </a:rPr>
                  <a:t>​</a:t>
                </a:r>
                <a:r>
                  <a:rPr lang="en-US" b="0" i="0" u="none" strike="noStrike" dirty="0">
                    <a:solidFill>
                      <a:schemeClr val="tx1"/>
                    </a:solidFill>
                    <a:effectLst/>
                    <a:latin typeface="Söhne"/>
                  </a:rPr>
                  <a:t>.</a:t>
                </a:r>
                <a:endParaRPr lang="en-US" dirty="0">
                  <a:solidFill>
                    <a:schemeClr val="tx1"/>
                  </a:solidFill>
                </a:endParaRPr>
              </a:p>
              <a:p>
                <a:pPr/>
                <a:endParaRPr lang="en-US" sz="1200" dirty="0">
                  <a:solidFill>
                    <a:schemeClr val="tx1"/>
                  </a:solidFill>
                </a:endParaRPr>
              </a:p>
            </p:txBody>
          </p:sp>
        </mc:Fallback>
      </mc:AlternateContent>
      <p:sp>
        <p:nvSpPr>
          <p:cNvPr id="4" name="Slide Number Placeholder 3"/>
          <p:cNvSpPr>
            <a:spLocks noGrp="1"/>
          </p:cNvSpPr>
          <p:nvPr>
            <p:ph type="sldNum" sz="quarter" idx="5"/>
          </p:nvPr>
        </p:nvSpPr>
        <p:spPr/>
        <p:txBody>
          <a:bodyPr/>
          <a:lstStyle/>
          <a:p>
            <a:fld id="{8B153843-1CF4-4938-B773-3DA6477B563D}" type="slidenum">
              <a:rPr lang="tr-TR" smtClean="0"/>
              <a:pPr/>
              <a:t>33</a:t>
            </a:fld>
            <a:endParaRPr lang="tr-TR"/>
          </a:p>
        </p:txBody>
      </p:sp>
    </p:spTree>
    <p:extLst>
      <p:ext uri="{BB962C8B-B14F-4D97-AF65-F5344CB8AC3E}">
        <p14:creationId xmlns:p14="http://schemas.microsoft.com/office/powerpoint/2010/main" val="16271033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153843-1CF4-4938-B773-3DA6477B563D}" type="slidenum">
              <a:rPr lang="tr-TR" smtClean="0"/>
              <a:pPr/>
              <a:t>39</a:t>
            </a:fld>
            <a:endParaRPr lang="tr-TR"/>
          </a:p>
        </p:txBody>
      </p:sp>
    </p:spTree>
    <p:extLst>
      <p:ext uri="{BB962C8B-B14F-4D97-AF65-F5344CB8AC3E}">
        <p14:creationId xmlns:p14="http://schemas.microsoft.com/office/powerpoint/2010/main" val="141826361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954EF-9B28-DF8D-627A-4D6AC7FF26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55BE04-A842-A4F0-F8CD-9FEF952B5E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240152-2C09-3FDE-EE3D-EAC0E45ECB78}"/>
              </a:ext>
            </a:extLst>
          </p:cNvPr>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4F6A2169-9E63-A20F-9240-046C155B0500}"/>
              </a:ext>
            </a:extLst>
          </p:cNvPr>
          <p:cNvSpPr>
            <a:spLocks noGrp="1"/>
          </p:cNvSpPr>
          <p:nvPr>
            <p:ph type="sldNum" sz="quarter" idx="5"/>
          </p:nvPr>
        </p:nvSpPr>
        <p:spPr/>
        <p:txBody>
          <a:bodyPr/>
          <a:lstStyle/>
          <a:p>
            <a:fld id="{F7CD4355-98D6-4E10-B92A-ED4FF00E3E2B}" type="slidenum">
              <a:rPr lang="tr-TR" smtClean="0"/>
              <a:pPr/>
              <a:t>40</a:t>
            </a:fld>
            <a:endParaRPr lang="tr-TR"/>
          </a:p>
        </p:txBody>
      </p:sp>
    </p:spTree>
    <p:extLst>
      <p:ext uri="{BB962C8B-B14F-4D97-AF65-F5344CB8AC3E}">
        <p14:creationId xmlns:p14="http://schemas.microsoft.com/office/powerpoint/2010/main" val="9809744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u="none" strike="noStrike" dirty="0">
                <a:solidFill>
                  <a:srgbClr val="374151"/>
                </a:solidFill>
                <a:effectLst/>
                <a:latin typeface="Söhne"/>
              </a:rPr>
              <a:t>Regression</a:t>
            </a:r>
            <a:r>
              <a:rPr lang="en-US" b="0" i="0" u="none" strike="noStrike" dirty="0">
                <a:solidFill>
                  <a:srgbClr val="374151"/>
                </a:solidFill>
                <a:effectLst/>
                <a:latin typeface="Söhne"/>
              </a:rPr>
              <a:t> predicts numeric outputs, e.g., estimating a car's price based on attributes.</a:t>
            </a:r>
          </a:p>
          <a:p>
            <a:pPr algn="l">
              <a:buFont typeface="Arial" panose="020B0604020202020204" pitchFamily="34" charset="0"/>
              <a:buChar char="•"/>
            </a:pPr>
            <a:r>
              <a:rPr lang="en-US" b="0" i="0" u="none" strike="noStrike" dirty="0">
                <a:solidFill>
                  <a:srgbClr val="374151"/>
                </a:solidFill>
                <a:effectLst/>
                <a:latin typeface="Söhne"/>
              </a:rPr>
              <a:t>Machine learning learns the relationship between attributes (X) and the output (Y).</a:t>
            </a:r>
          </a:p>
          <a:p>
            <a:pPr algn="l">
              <a:buFont typeface="Arial" panose="020B0604020202020204" pitchFamily="34" charset="0"/>
              <a:buChar char="•"/>
            </a:pPr>
            <a:endParaRPr lang="en-US" b="0" i="0" u="none" strike="noStrike" dirty="0">
              <a:solidFill>
                <a:srgbClr val="374151"/>
              </a:solidFill>
              <a:effectLst/>
              <a:latin typeface="Söhne"/>
            </a:endParaRPr>
          </a:p>
          <a:p>
            <a:pPr algn="l">
              <a:buFont typeface="Arial" panose="020B0604020202020204" pitchFamily="34" charset="0"/>
              <a:buChar char="•"/>
            </a:pPr>
            <a:r>
              <a:rPr lang="en-US" b="1" i="0" u="none" strike="noStrike" dirty="0">
                <a:solidFill>
                  <a:srgbClr val="374151"/>
                </a:solidFill>
                <a:effectLst/>
                <a:latin typeface="Söhne"/>
              </a:rPr>
              <a:t>Regression and Classification</a:t>
            </a:r>
            <a:r>
              <a:rPr lang="en-US" b="0" i="0" u="none" strike="noStrike" dirty="0">
                <a:solidFill>
                  <a:srgbClr val="374151"/>
                </a:solidFill>
                <a:effectLst/>
                <a:latin typeface="Söhne"/>
              </a:rPr>
              <a:t> are supervised learning problems with input (X) and output (Y).</a:t>
            </a:r>
          </a:p>
          <a:p>
            <a:pPr algn="l">
              <a:buFont typeface="Arial" panose="020B0604020202020204" pitchFamily="34" charset="0"/>
              <a:buChar char="•"/>
            </a:pPr>
            <a:r>
              <a:rPr lang="en-US" b="0" i="0" u="none" strike="noStrike" dirty="0">
                <a:solidFill>
                  <a:srgbClr val="374151"/>
                </a:solidFill>
                <a:effectLst/>
                <a:latin typeface="Söhne"/>
              </a:rPr>
              <a:t>The machine learning model is defined by parameters, represented as y = g(x|</a:t>
            </a:r>
            <a:r>
              <a:rPr lang="el-GR" b="0" i="0" u="none" strike="noStrike" dirty="0">
                <a:solidFill>
                  <a:srgbClr val="374151"/>
                </a:solidFill>
                <a:effectLst/>
                <a:latin typeface="Söhne"/>
              </a:rPr>
              <a:t>θ) </a:t>
            </a:r>
            <a:r>
              <a:rPr lang="en-US" b="0" i="0" u="none" strike="noStrike" dirty="0">
                <a:solidFill>
                  <a:srgbClr val="374151"/>
                </a:solidFill>
                <a:effectLst/>
                <a:latin typeface="Söhne"/>
              </a:rPr>
              <a:t>or y = g(</a:t>
            </a:r>
            <a:r>
              <a:rPr lang="en-US" b="0" i="0" u="none" strike="noStrike" dirty="0" err="1">
                <a:solidFill>
                  <a:srgbClr val="374151"/>
                </a:solidFill>
                <a:effectLst/>
                <a:latin typeface="Söhne"/>
              </a:rPr>
              <a:t>x|q</a:t>
            </a:r>
            <a:r>
              <a:rPr lang="en-US" b="0" i="0" u="none" strike="noStrike" dirty="0">
                <a:solidFill>
                  <a:srgbClr val="374151"/>
                </a:solidFill>
                <a:effectLst/>
                <a:latin typeface="Söhne"/>
              </a:rPr>
              <a:t>).</a:t>
            </a:r>
          </a:p>
          <a:p>
            <a:pPr algn="l">
              <a:buFont typeface="Arial" panose="020B0604020202020204" pitchFamily="34" charset="0"/>
              <a:buChar char="•"/>
            </a:pPr>
            <a:r>
              <a:rPr lang="en-US" b="0" i="0" u="none" strike="noStrike" dirty="0">
                <a:solidFill>
                  <a:srgbClr val="374151"/>
                </a:solidFill>
                <a:effectLst/>
                <a:latin typeface="Söhne"/>
              </a:rPr>
              <a:t>"y = g of x given q," where g is the model function, and q are the parameters.</a:t>
            </a:r>
          </a:p>
          <a:p>
            <a:endParaRPr lang="en-US" dirty="0"/>
          </a:p>
          <a:p>
            <a:endParaRPr lang="en-US" dirty="0"/>
          </a:p>
        </p:txBody>
      </p:sp>
      <p:sp>
        <p:nvSpPr>
          <p:cNvPr id="4" name="Slide Number Placeholder 3"/>
          <p:cNvSpPr>
            <a:spLocks noGrp="1"/>
          </p:cNvSpPr>
          <p:nvPr>
            <p:ph type="sldNum" sz="quarter" idx="5"/>
          </p:nvPr>
        </p:nvSpPr>
        <p:spPr/>
        <p:txBody>
          <a:bodyPr/>
          <a:lstStyle/>
          <a:p>
            <a:fld id="{8B153843-1CF4-4938-B773-3DA6477B563D}" type="slidenum">
              <a:rPr lang="tr-TR" smtClean="0"/>
              <a:pPr/>
              <a:t>41</a:t>
            </a:fld>
            <a:endParaRPr lang="tr-TR"/>
          </a:p>
        </p:txBody>
      </p:sp>
    </p:spTree>
    <p:extLst>
      <p:ext uri="{BB962C8B-B14F-4D97-AF65-F5344CB8AC3E}">
        <p14:creationId xmlns:p14="http://schemas.microsoft.com/office/powerpoint/2010/main" val="131093358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0" i="0" u="none" strike="noStrike" dirty="0">
                <a:solidFill>
                  <a:srgbClr val="374151"/>
                </a:solidFill>
                <a:effectLst/>
                <a:latin typeface="Söhne"/>
              </a:rPr>
              <a:t>A fitted function is represented as y = </a:t>
            </a:r>
            <a:r>
              <a:rPr lang="en-US" b="0" i="0" u="none" strike="noStrike" dirty="0" err="1">
                <a:solidFill>
                  <a:srgbClr val="374151"/>
                </a:solidFill>
                <a:effectLst/>
                <a:latin typeface="Söhne"/>
              </a:rPr>
              <a:t>wx</a:t>
            </a:r>
            <a:r>
              <a:rPr lang="en-US" b="0" i="0" u="none" strike="noStrike" dirty="0">
                <a:solidFill>
                  <a:srgbClr val="374151"/>
                </a:solidFill>
                <a:effectLst/>
                <a:latin typeface="Söhne"/>
              </a:rPr>
              <a:t> + w0.</a:t>
            </a:r>
          </a:p>
          <a:p>
            <a:pPr algn="l">
              <a:buFont typeface="Arial" panose="020B0604020202020204" pitchFamily="34" charset="0"/>
              <a:buChar char="•"/>
            </a:pPr>
            <a:r>
              <a:rPr lang="en-US" b="0" i="0" u="none" strike="noStrike" dirty="0">
                <a:solidFill>
                  <a:srgbClr val="374151"/>
                </a:solidFill>
                <a:effectLst/>
                <a:latin typeface="Söhne"/>
              </a:rPr>
              <a:t>"y = w times x plus w-zero" or "y = w times x plus intercept w-zero.”</a:t>
            </a:r>
          </a:p>
          <a:p>
            <a:endParaRPr lang="en-US" b="0" i="0" u="none" strike="noStrike" dirty="0">
              <a:solidFill>
                <a:srgbClr val="374151"/>
              </a:solidFill>
              <a:effectLst/>
              <a:latin typeface="Söhne"/>
            </a:endParaRPr>
          </a:p>
          <a:p>
            <a:endParaRPr lang="en-US" b="0" i="0" u="none" strike="noStrike" dirty="0">
              <a:solidFill>
                <a:srgbClr val="374151"/>
              </a:solidFill>
              <a:effectLst/>
              <a:latin typeface="Söhne"/>
            </a:endParaRPr>
          </a:p>
          <a:p>
            <a:r>
              <a:rPr lang="en-US" b="0" i="0" u="none" strike="noStrike" dirty="0">
                <a:solidFill>
                  <a:srgbClr val="374151"/>
                </a:solidFill>
                <a:effectLst/>
                <a:latin typeface="Söhne"/>
              </a:rPr>
              <a:t>This formula describes the linear relationship between the independent variable(s) and the estimated value of the dependent variable in a simple linear regression model. </a:t>
            </a:r>
            <a:endParaRPr lang="en-US" dirty="0"/>
          </a:p>
        </p:txBody>
      </p:sp>
      <p:sp>
        <p:nvSpPr>
          <p:cNvPr id="4" name="Slide Number Placeholder 3"/>
          <p:cNvSpPr>
            <a:spLocks noGrp="1"/>
          </p:cNvSpPr>
          <p:nvPr>
            <p:ph type="sldNum" sz="quarter" idx="5"/>
          </p:nvPr>
        </p:nvSpPr>
        <p:spPr/>
        <p:txBody>
          <a:bodyPr/>
          <a:lstStyle/>
          <a:p>
            <a:fld id="{8B153843-1CF4-4938-B773-3DA6477B563D}" type="slidenum">
              <a:rPr lang="tr-TR" smtClean="0"/>
              <a:pPr/>
              <a:t>43</a:t>
            </a:fld>
            <a:endParaRPr lang="tr-TR"/>
          </a:p>
        </p:txBody>
      </p:sp>
    </p:spTree>
    <p:extLst>
      <p:ext uri="{BB962C8B-B14F-4D97-AF65-F5344CB8AC3E}">
        <p14:creationId xmlns:p14="http://schemas.microsoft.com/office/powerpoint/2010/main" val="21569107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42EAA8-52AB-D7A6-95C6-997DBFDB4F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32426A-6575-7548-41DF-3561B4319D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B3E7A0-1EC7-61C1-DFB3-F7FA3B816C09}"/>
              </a:ext>
            </a:extLst>
          </p:cNvPr>
          <p:cNvSpPr>
            <a:spLocks noGrp="1"/>
          </p:cNvSpPr>
          <p:nvPr>
            <p:ph type="body" idx="1"/>
          </p:nvPr>
        </p:nvSpPr>
        <p:spPr/>
        <p:txBody>
          <a:bodyPr/>
          <a:lstStyle/>
          <a:p>
            <a:pPr algn="l">
              <a:buFont typeface="Arial" panose="020B0604020202020204" pitchFamily="34" charset="0"/>
              <a:buChar char="•"/>
            </a:pPr>
            <a:r>
              <a:rPr lang="en-US" b="0" i="0" u="none" strike="noStrike" dirty="0">
                <a:solidFill>
                  <a:srgbClr val="374151"/>
                </a:solidFill>
                <a:effectLst/>
                <a:latin typeface="Söhne"/>
              </a:rPr>
              <a:t>A fitted function is represented as y = </a:t>
            </a:r>
            <a:r>
              <a:rPr lang="en-US" b="0" i="0" u="none" strike="noStrike" dirty="0" err="1">
                <a:solidFill>
                  <a:srgbClr val="374151"/>
                </a:solidFill>
                <a:effectLst/>
                <a:latin typeface="Söhne"/>
              </a:rPr>
              <a:t>wx</a:t>
            </a:r>
            <a:r>
              <a:rPr lang="en-US" b="0" i="0" u="none" strike="noStrike" dirty="0">
                <a:solidFill>
                  <a:srgbClr val="374151"/>
                </a:solidFill>
                <a:effectLst/>
                <a:latin typeface="Söhne"/>
              </a:rPr>
              <a:t> + w0.</a:t>
            </a:r>
          </a:p>
          <a:p>
            <a:pPr algn="l">
              <a:buFont typeface="Arial" panose="020B0604020202020204" pitchFamily="34" charset="0"/>
              <a:buChar char="•"/>
            </a:pPr>
            <a:r>
              <a:rPr lang="en-US" b="0" i="0" u="none" strike="noStrike" dirty="0">
                <a:solidFill>
                  <a:srgbClr val="374151"/>
                </a:solidFill>
                <a:effectLst/>
                <a:latin typeface="Söhne"/>
              </a:rPr>
              <a:t>"y = w times x plus w-zero" or "y = w times x plus intercept w-zero.”</a:t>
            </a:r>
          </a:p>
          <a:p>
            <a:endParaRPr lang="en-US" b="0" i="0" u="none" strike="noStrike" dirty="0">
              <a:solidFill>
                <a:srgbClr val="374151"/>
              </a:solidFill>
              <a:effectLst/>
              <a:latin typeface="Söhne"/>
            </a:endParaRPr>
          </a:p>
          <a:p>
            <a:endParaRPr lang="en-US" b="0" i="0" u="none" strike="noStrike" dirty="0">
              <a:solidFill>
                <a:srgbClr val="374151"/>
              </a:solidFill>
              <a:effectLst/>
              <a:latin typeface="Söhne"/>
            </a:endParaRPr>
          </a:p>
          <a:p>
            <a:r>
              <a:rPr lang="en-US" b="0" i="0" u="none" strike="noStrike" dirty="0">
                <a:solidFill>
                  <a:srgbClr val="374151"/>
                </a:solidFill>
                <a:effectLst/>
                <a:latin typeface="Söhne"/>
              </a:rPr>
              <a:t>In multiple linear regression, there may be multiple independent variables, each with its own coefficient, </a:t>
            </a:r>
            <a:r>
              <a:rPr lang="en-US" b="0" i="0" u="none" strike="noStrike" dirty="0">
                <a:solidFill>
                  <a:srgbClr val="374151"/>
                </a:solidFill>
                <a:effectLst/>
                <a:latin typeface="KaTeX_Main"/>
              </a:rPr>
              <a:t>ww</a:t>
            </a:r>
            <a:r>
              <a:rPr lang="en-US" b="0" i="1" u="none" strike="noStrike" dirty="0">
                <a:solidFill>
                  <a:srgbClr val="374151"/>
                </a:solidFill>
                <a:effectLst/>
                <a:latin typeface="KaTeX_Math"/>
              </a:rPr>
              <a:t>w</a:t>
            </a:r>
            <a:r>
              <a:rPr lang="en-US" b="0" i="0" u="none" strike="noStrike" dirty="0">
                <a:solidFill>
                  <a:srgbClr val="374151"/>
                </a:solidFill>
                <a:effectLst/>
                <a:latin typeface="Söhne"/>
              </a:rPr>
              <a:t>.</a:t>
            </a:r>
            <a:endParaRPr lang="en-US" dirty="0"/>
          </a:p>
        </p:txBody>
      </p:sp>
      <p:sp>
        <p:nvSpPr>
          <p:cNvPr id="4" name="Slide Number Placeholder 3">
            <a:extLst>
              <a:ext uri="{FF2B5EF4-FFF2-40B4-BE49-F238E27FC236}">
                <a16:creationId xmlns:a16="http://schemas.microsoft.com/office/drawing/2014/main" id="{4EC92CD3-3624-EF45-EF35-C4E309FCE714}"/>
              </a:ext>
            </a:extLst>
          </p:cNvPr>
          <p:cNvSpPr>
            <a:spLocks noGrp="1"/>
          </p:cNvSpPr>
          <p:nvPr>
            <p:ph type="sldNum" sz="quarter" idx="5"/>
          </p:nvPr>
        </p:nvSpPr>
        <p:spPr/>
        <p:txBody>
          <a:bodyPr/>
          <a:lstStyle/>
          <a:p>
            <a:fld id="{8B153843-1CF4-4938-B773-3DA6477B563D}" type="slidenum">
              <a:rPr lang="tr-TR" smtClean="0"/>
              <a:pPr/>
              <a:t>44</a:t>
            </a:fld>
            <a:endParaRPr lang="tr-TR"/>
          </a:p>
        </p:txBody>
      </p:sp>
    </p:spTree>
    <p:extLst>
      <p:ext uri="{BB962C8B-B14F-4D97-AF65-F5344CB8AC3E}">
        <p14:creationId xmlns:p14="http://schemas.microsoft.com/office/powerpoint/2010/main" val="344451886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sz="2800" b="1" i="0" u="none" strike="noStrike" dirty="0">
                <a:solidFill>
                  <a:srgbClr val="374151"/>
                </a:solidFill>
                <a:effectLst/>
                <a:latin typeface="Söhne"/>
              </a:rPr>
              <a:t>Regression</a:t>
            </a:r>
            <a:r>
              <a:rPr lang="en-US" sz="2800" b="0" i="0" u="none" strike="noStrike" dirty="0">
                <a:solidFill>
                  <a:srgbClr val="374151"/>
                </a:solidFill>
                <a:effectLst/>
                <a:latin typeface="Söhne"/>
              </a:rPr>
              <a:t> predicts numeric values, unlike classification which deals with discrete classes.</a:t>
            </a:r>
          </a:p>
          <a:p>
            <a:pPr algn="l">
              <a:buFont typeface="Arial" panose="020B0604020202020204" pitchFamily="34" charset="0"/>
              <a:buChar char="•"/>
            </a:pPr>
            <a:r>
              <a:rPr lang="en-US" sz="2800" b="0" i="0" u="none" strike="noStrike" dirty="0">
                <a:solidFill>
                  <a:srgbClr val="374151"/>
                </a:solidFill>
                <a:effectLst/>
                <a:latin typeface="Söhne"/>
              </a:rPr>
              <a:t>It aims to find a function that fits a dataset of data points </a:t>
            </a:r>
            <a:r>
              <a:rPr lang="en-US" sz="2800" b="0" i="0" u="none" strike="noStrike" dirty="0">
                <a:solidFill>
                  <a:srgbClr val="374151"/>
                </a:solidFill>
                <a:effectLst/>
                <a:latin typeface="KaTeX_Main"/>
              </a:rPr>
              <a:t>XX</a:t>
            </a:r>
            <a:r>
              <a:rPr lang="en-US" sz="2800" b="0" i="1" u="none" strike="noStrike" dirty="0">
                <a:solidFill>
                  <a:srgbClr val="374151"/>
                </a:solidFill>
                <a:effectLst/>
                <a:latin typeface="KaTeX_Math"/>
              </a:rPr>
              <a:t>X</a:t>
            </a:r>
            <a:r>
              <a:rPr lang="en-US" sz="2800" b="0" i="0" u="none" strike="noStrike" dirty="0">
                <a:solidFill>
                  <a:srgbClr val="374151"/>
                </a:solidFill>
                <a:effectLst/>
                <a:latin typeface="Söhne"/>
              </a:rPr>
              <a:t> and continuous labels, minimizing empirical errors.</a:t>
            </a:r>
          </a:p>
          <a:p>
            <a:pPr algn="l">
              <a:buFont typeface="Arial" panose="020B0604020202020204" pitchFamily="34" charset="0"/>
              <a:buChar char="•"/>
            </a:pPr>
            <a:r>
              <a:rPr lang="en-US" sz="2800" b="0" i="0" u="none" strike="noStrike" dirty="0">
                <a:solidFill>
                  <a:srgbClr val="374151"/>
                </a:solidFill>
                <a:effectLst/>
                <a:latin typeface="Söhne"/>
              </a:rPr>
              <a:t>Polynomial regression is used to model complex relationships by fitting a curve to data points.</a:t>
            </a:r>
          </a:p>
          <a:p>
            <a:pPr algn="l">
              <a:buFont typeface="Arial" panose="020B0604020202020204" pitchFamily="34" charset="0"/>
              <a:buChar char="•"/>
            </a:pPr>
            <a:r>
              <a:rPr lang="en-US" sz="2800" b="0" i="0" u="none" strike="noStrike" dirty="0">
                <a:solidFill>
                  <a:srgbClr val="374151"/>
                </a:solidFill>
                <a:effectLst/>
                <a:latin typeface="Söhne"/>
              </a:rPr>
              <a:t>The choice of model complexity is critical, balancing accuracy and simplicity based on the dataset's characteristics.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800" dirty="0">
              <a:effectLst/>
              <a:latin typeface="LucidaBright"/>
            </a:endParaRPr>
          </a:p>
        </p:txBody>
      </p:sp>
      <p:sp>
        <p:nvSpPr>
          <p:cNvPr id="4" name="Slide Number Placeholder 3"/>
          <p:cNvSpPr>
            <a:spLocks noGrp="1"/>
          </p:cNvSpPr>
          <p:nvPr>
            <p:ph type="sldNum" sz="quarter" idx="5"/>
          </p:nvPr>
        </p:nvSpPr>
        <p:spPr/>
        <p:txBody>
          <a:bodyPr/>
          <a:lstStyle/>
          <a:p>
            <a:fld id="{F7CD4355-98D6-4E10-B92A-ED4FF00E3E2B}" type="slidenum">
              <a:rPr lang="tr-TR" smtClean="0"/>
              <a:pPr/>
              <a:t>45</a:t>
            </a:fld>
            <a:endParaRPr lang="tr-TR"/>
          </a:p>
        </p:txBody>
      </p:sp>
    </p:spTree>
    <p:extLst>
      <p:ext uri="{BB962C8B-B14F-4D97-AF65-F5344CB8AC3E}">
        <p14:creationId xmlns:p14="http://schemas.microsoft.com/office/powerpoint/2010/main" val="24066026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i="0" u="none" strike="noStrike" dirty="0">
              <a:solidFill>
                <a:srgbClr val="374151"/>
              </a:solidFill>
              <a:effectLst/>
              <a:latin typeface="Söhne"/>
            </a:endParaRPr>
          </a:p>
          <a:p>
            <a:r>
              <a:rPr lang="en-US" dirty="0"/>
              <a:t>different types of curves (linear, second-order, and sixth-order polynomials) are used to match a set of points. While the sixth-order curve perfectly fits the data, it's unlikely that the actual curve looks like that with this amount of data. The second-order curve seems better than the linear one in capturing the pattern shown in the data.</a:t>
            </a:r>
          </a:p>
          <a:p>
            <a:endParaRPr lang="en-US" dirty="0"/>
          </a:p>
        </p:txBody>
      </p:sp>
      <p:sp>
        <p:nvSpPr>
          <p:cNvPr id="4" name="Slide Number Placeholder 3"/>
          <p:cNvSpPr>
            <a:spLocks noGrp="1"/>
          </p:cNvSpPr>
          <p:nvPr>
            <p:ph type="sldNum" sz="quarter" idx="5"/>
          </p:nvPr>
        </p:nvSpPr>
        <p:spPr/>
        <p:txBody>
          <a:bodyPr/>
          <a:lstStyle/>
          <a:p>
            <a:fld id="{F7CD4355-98D6-4E10-B92A-ED4FF00E3E2B}" type="slidenum">
              <a:rPr lang="tr-TR" smtClean="0"/>
              <a:pPr/>
              <a:t>46</a:t>
            </a:fld>
            <a:endParaRPr lang="tr-TR"/>
          </a:p>
        </p:txBody>
      </p:sp>
    </p:spTree>
    <p:extLst>
      <p:ext uri="{BB962C8B-B14F-4D97-AF65-F5344CB8AC3E}">
        <p14:creationId xmlns:p14="http://schemas.microsoft.com/office/powerpoint/2010/main" val="17714083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374151"/>
                </a:solidFill>
                <a:effectLst/>
                <a:latin typeface="Söhne"/>
              </a:rPr>
              <a:t>Assessing continuous outcomes involves understanding prediction error and accuracy. Error is defined as the difference between our predicted value 'y hat' and the actual outcome 'y.' Our aim is to minimize this difference for more accurate predictions.</a:t>
            </a:r>
            <a:endParaRPr lang="en-US" dirty="0"/>
          </a:p>
        </p:txBody>
      </p:sp>
      <p:sp>
        <p:nvSpPr>
          <p:cNvPr id="4" name="Slide Number Placeholder 3"/>
          <p:cNvSpPr>
            <a:spLocks noGrp="1"/>
          </p:cNvSpPr>
          <p:nvPr>
            <p:ph type="sldNum" sz="quarter" idx="5"/>
          </p:nvPr>
        </p:nvSpPr>
        <p:spPr/>
        <p:txBody>
          <a:bodyPr/>
          <a:lstStyle/>
          <a:p>
            <a:fld id="{8B153843-1CF4-4938-B773-3DA6477B563D}" type="slidenum">
              <a:rPr lang="tr-TR" smtClean="0"/>
              <a:pPr/>
              <a:t>47</a:t>
            </a:fld>
            <a:endParaRPr lang="tr-TR"/>
          </a:p>
        </p:txBody>
      </p:sp>
    </p:spTree>
    <p:extLst>
      <p:ext uri="{BB962C8B-B14F-4D97-AF65-F5344CB8AC3E}">
        <p14:creationId xmlns:p14="http://schemas.microsoft.com/office/powerpoint/2010/main" val="14023057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995E81F-9340-44B8-B140-86966CCF85B6}" type="slidenum">
              <a:rPr lang="en-US" smtClean="0"/>
              <a:pPr/>
              <a:t>56</a:t>
            </a:fld>
            <a:endParaRPr lang="en-US"/>
          </a:p>
        </p:txBody>
      </p:sp>
    </p:spTree>
    <p:extLst>
      <p:ext uri="{BB962C8B-B14F-4D97-AF65-F5344CB8AC3E}">
        <p14:creationId xmlns:p14="http://schemas.microsoft.com/office/powerpoint/2010/main" val="243663742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360"/>
              </a:spcBef>
              <a:spcAft>
                <a:spcPts val="0"/>
              </a:spcAft>
              <a:buNone/>
            </a:pPr>
            <a:endParaRPr dirty="0"/>
          </a:p>
        </p:txBody>
      </p:sp>
      <p:sp>
        <p:nvSpPr>
          <p:cNvPr id="381" name="Google Shape;381;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0705365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74922" y="990600"/>
            <a:ext cx="10653003" cy="1504844"/>
          </a:xfrm>
          <a:effectLst/>
        </p:spPr>
        <p:txBody>
          <a:bodyPr anchor="b">
            <a:normAutofit/>
          </a:bodyPr>
          <a:lstStyle>
            <a:lvl1pPr>
              <a:defRPr sz="3600">
                <a:solidFill>
                  <a:srgbClr val="4B2D83"/>
                </a:solidFill>
              </a:defRPr>
            </a:lvl1pPr>
          </a:lstStyle>
          <a:p>
            <a:r>
              <a:rPr lang="en-US" dirty="0"/>
              <a:t>Click to edit Master title style</a:t>
            </a:r>
          </a:p>
        </p:txBody>
      </p:sp>
      <p:sp>
        <p:nvSpPr>
          <p:cNvPr id="3" name="Subtitle 2"/>
          <p:cNvSpPr>
            <a:spLocks noGrp="1"/>
          </p:cNvSpPr>
          <p:nvPr>
            <p:ph type="subTitle" idx="1"/>
          </p:nvPr>
        </p:nvSpPr>
        <p:spPr>
          <a:xfrm>
            <a:off x="774922" y="2495445"/>
            <a:ext cx="10653003" cy="590321"/>
          </a:xfrm>
        </p:spPr>
        <p:txBody>
          <a:bodyPr anchor="t">
            <a:normAutofit/>
          </a:bodyPr>
          <a:lstStyle>
            <a:lvl1pPr marL="0" indent="0" algn="l">
              <a:buNone/>
              <a:defRPr sz="1600" cap="all">
                <a:solidFill>
                  <a:srgbClr val="4B2D83"/>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rgbClr val="4B2D83"/>
                </a:solidFill>
              </a:defRPr>
            </a:lvl1pPr>
          </a:lstStyle>
          <a:p>
            <a:r>
              <a:rPr lang="tr-TR"/>
              <a:t>7/7/2014</a:t>
            </a:r>
            <a:endParaRPr lang="en-US">
              <a:solidFill>
                <a:srgbClr val="FFFFFF"/>
              </a:solidFill>
            </a:endParaRPr>
          </a:p>
        </p:txBody>
      </p:sp>
      <p:sp>
        <p:nvSpPr>
          <p:cNvPr id="5" name="Footer Placeholder 4"/>
          <p:cNvSpPr>
            <a:spLocks noGrp="1"/>
          </p:cNvSpPr>
          <p:nvPr>
            <p:ph type="ftr" sz="quarter" idx="11"/>
          </p:nvPr>
        </p:nvSpPr>
        <p:spPr/>
        <p:txBody>
          <a:bodyPr/>
          <a:lstStyle>
            <a:lvl1pPr>
              <a:defRPr>
                <a:solidFill>
                  <a:srgbClr val="4B2D83"/>
                </a:solidFill>
              </a:defRPr>
            </a:lvl1pPr>
          </a:lstStyle>
          <a:p>
            <a:r>
              <a:rPr kumimoji="0" lang="en-US">
                <a:solidFill>
                  <a:schemeClr val="accent1">
                    <a:tint val="20000"/>
                  </a:schemeClr>
                </a:solidFill>
              </a:rPr>
              <a:t>Lecture Notes for E Alpaydın 2014 Introduction to Machine Learning 3e © The MIT Press (V1.0)</a:t>
            </a:r>
          </a:p>
        </p:txBody>
      </p:sp>
      <p:sp>
        <p:nvSpPr>
          <p:cNvPr id="6" name="Slide Number Placeholder 5"/>
          <p:cNvSpPr>
            <a:spLocks noGrp="1"/>
          </p:cNvSpPr>
          <p:nvPr>
            <p:ph type="sldNum" sz="quarter" idx="12"/>
          </p:nvPr>
        </p:nvSpPr>
        <p:spPr/>
        <p:txBody>
          <a:bodyPr/>
          <a:lstStyle>
            <a:lvl1pPr>
              <a:defRPr>
                <a:solidFill>
                  <a:srgbClr val="4B2D83"/>
                </a:solidFill>
              </a:defRPr>
            </a:lvl1pPr>
          </a:lstStyle>
          <a:p>
            <a:fld id="{D5BBC35B-A44B-4119-B8DA-DE9E3DFADA20}" type="slidenum">
              <a:rPr kumimoji="0" lang="en-US" smtClean="0"/>
              <a:pPr/>
              <a:t>‹#›</a:t>
            </a:fld>
            <a:endParaRPr kumimoji="0" lang="en-US">
              <a:solidFill>
                <a:srgbClr val="FFFFFF"/>
              </a:solidFill>
            </a:endParaRPr>
          </a:p>
        </p:txBody>
      </p:sp>
    </p:spTree>
    <p:extLst>
      <p:ext uri="{BB962C8B-B14F-4D97-AF65-F5344CB8AC3E}">
        <p14:creationId xmlns:p14="http://schemas.microsoft.com/office/powerpoint/2010/main" val="25829779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774922" y="2228004"/>
            <a:ext cx="10653003" cy="36307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solidFill>
                  <a:srgbClr val="4B2D83"/>
                </a:solidFill>
              </a:defRPr>
            </a:lvl1pPr>
          </a:lstStyle>
          <a:p>
            <a:r>
              <a:rPr lang="tr-TR"/>
              <a:t>7/7/2014</a:t>
            </a:r>
            <a:endParaRPr lang="en-US" sz="1000">
              <a:solidFill>
                <a:schemeClr val="tx1"/>
              </a:solidFill>
            </a:endParaRPr>
          </a:p>
        </p:txBody>
      </p:sp>
      <p:sp>
        <p:nvSpPr>
          <p:cNvPr id="5" name="Footer Placeholder 4"/>
          <p:cNvSpPr>
            <a:spLocks noGrp="1"/>
          </p:cNvSpPr>
          <p:nvPr>
            <p:ph type="ftr" sz="quarter" idx="11"/>
          </p:nvPr>
        </p:nvSpPr>
        <p:spPr/>
        <p:txBody>
          <a:bodyPr/>
          <a:lstStyle/>
          <a:p>
            <a:r>
              <a:rPr lang="en-US"/>
              <a:t>Lecture Notes for E Alpaydın 2014 Introduction to Machine Learning 3e © The MIT Press (V1.0)</a:t>
            </a:r>
            <a:endParaRPr lang="tr-TR"/>
          </a:p>
        </p:txBody>
      </p:sp>
      <p:sp>
        <p:nvSpPr>
          <p:cNvPr id="6" name="Slide Number Placeholder 5"/>
          <p:cNvSpPr>
            <a:spLocks noGrp="1"/>
          </p:cNvSpPr>
          <p:nvPr>
            <p:ph type="sldNum" sz="quarter" idx="12"/>
          </p:nvPr>
        </p:nvSpPr>
        <p:spPr/>
        <p:txBody>
          <a:bodyPr/>
          <a:lstStyle/>
          <a:p>
            <a:fld id="{A4DA0FD2-D456-4FC5-A587-87644C4EB2D1}" type="slidenum">
              <a:rPr lang="tr-TR" smtClean="0"/>
              <a:pPr/>
              <a:t>‹#›</a:t>
            </a:fld>
            <a:endParaRPr lang="tr-TR"/>
          </a:p>
        </p:txBody>
      </p:sp>
    </p:spTree>
    <p:extLst>
      <p:ext uri="{BB962C8B-B14F-4D97-AF65-F5344CB8AC3E}">
        <p14:creationId xmlns:p14="http://schemas.microsoft.com/office/powerpoint/2010/main" val="1543961449"/>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74925" y="3036573"/>
            <a:ext cx="10653001" cy="1504844"/>
          </a:xfrm>
        </p:spPr>
        <p:txBody>
          <a:bodyPr anchor="b">
            <a:normAutofit/>
          </a:bodyPr>
          <a:lstStyle>
            <a:lvl1pPr algn="l">
              <a:defRPr sz="3600" b="0" cap="all">
                <a:solidFill>
                  <a:schemeClr val="tx1"/>
                </a:solidFill>
              </a:defRPr>
            </a:lvl1pPr>
          </a:lstStyle>
          <a:p>
            <a:r>
              <a:rPr lang="en-US"/>
              <a:t>Click to edit Master title style</a:t>
            </a:r>
            <a:endParaRPr lang="en-US" dirty="0"/>
          </a:p>
        </p:txBody>
      </p:sp>
      <p:sp>
        <p:nvSpPr>
          <p:cNvPr id="3" name="Text Placeholder 2"/>
          <p:cNvSpPr>
            <a:spLocks noGrp="1"/>
          </p:cNvSpPr>
          <p:nvPr>
            <p:ph type="body" idx="1"/>
          </p:nvPr>
        </p:nvSpPr>
        <p:spPr>
          <a:xfrm>
            <a:off x="774925" y="4541417"/>
            <a:ext cx="10653001" cy="600556"/>
          </a:xfrm>
        </p:spPr>
        <p:txBody>
          <a:bodyPr anchor="t">
            <a:normAutofit/>
          </a:bodyPr>
          <a:lstStyle>
            <a:lvl1pPr marL="0" indent="0" algn="l">
              <a:buNone/>
              <a:defRPr sz="1800" cap="all">
                <a:solidFill>
                  <a:srgbClr val="4B2D8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rgbClr val="4B2D83"/>
                </a:solidFill>
              </a:defRPr>
            </a:lvl1pPr>
          </a:lstStyle>
          <a:p>
            <a:r>
              <a:rPr lang="tr-TR"/>
              <a:t>7/7/2014</a:t>
            </a:r>
            <a:endParaRPr lang="en-US"/>
          </a:p>
        </p:txBody>
      </p:sp>
      <p:sp>
        <p:nvSpPr>
          <p:cNvPr id="5" name="Footer Placeholder 4"/>
          <p:cNvSpPr>
            <a:spLocks noGrp="1"/>
          </p:cNvSpPr>
          <p:nvPr>
            <p:ph type="ftr" sz="quarter" idx="11"/>
          </p:nvPr>
        </p:nvSpPr>
        <p:spPr/>
        <p:txBody>
          <a:bodyPr/>
          <a:lstStyle>
            <a:lvl1pPr>
              <a:defRPr>
                <a:solidFill>
                  <a:srgbClr val="4B2D83"/>
                </a:solidFill>
              </a:defRPr>
            </a:lvl1pPr>
          </a:lstStyle>
          <a:p>
            <a:r>
              <a:rPr lang="en-US"/>
              <a:t>Lecture Notes for E Alpaydın 2014 Introduction to Machine Learning 3e © The MIT Press (V1.0)</a:t>
            </a:r>
            <a:endParaRPr lang="tr-TR"/>
          </a:p>
        </p:txBody>
      </p:sp>
      <p:sp>
        <p:nvSpPr>
          <p:cNvPr id="6" name="Slide Number Placeholder 5"/>
          <p:cNvSpPr>
            <a:spLocks noGrp="1"/>
          </p:cNvSpPr>
          <p:nvPr>
            <p:ph type="sldNum" sz="quarter" idx="12"/>
          </p:nvPr>
        </p:nvSpPr>
        <p:spPr/>
        <p:txBody>
          <a:bodyPr/>
          <a:lstStyle>
            <a:lvl1pPr>
              <a:defRPr>
                <a:solidFill>
                  <a:srgbClr val="4B2D83"/>
                </a:solidFill>
              </a:defRPr>
            </a:lvl1pPr>
          </a:lstStyle>
          <a:p>
            <a:fld id="{0BF0E594-9508-4F75-8FB2-7E9FCE92EA31}" type="slidenum">
              <a:rPr lang="tr-TR" smtClean="0"/>
              <a:pPr/>
              <a:t>‹#›</a:t>
            </a:fld>
            <a:endParaRPr lang="tr-TR"/>
          </a:p>
        </p:txBody>
      </p:sp>
    </p:spTree>
    <p:extLst>
      <p:ext uri="{BB962C8B-B14F-4D97-AF65-F5344CB8AC3E}">
        <p14:creationId xmlns:p14="http://schemas.microsoft.com/office/powerpoint/2010/main" val="290140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774924" y="2228003"/>
            <a:ext cx="51993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709" y="2228004"/>
            <a:ext cx="5210216"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tr-TR"/>
              <a:t>7/7/2014</a:t>
            </a:r>
            <a:endParaRPr lang="en-US" sz="1000">
              <a:solidFill>
                <a:schemeClr val="tx1"/>
              </a:solidFill>
            </a:endParaRPr>
          </a:p>
        </p:txBody>
      </p:sp>
      <p:sp>
        <p:nvSpPr>
          <p:cNvPr id="6" name="Footer Placeholder 5"/>
          <p:cNvSpPr>
            <a:spLocks noGrp="1"/>
          </p:cNvSpPr>
          <p:nvPr>
            <p:ph type="ftr" sz="quarter" idx="11"/>
          </p:nvPr>
        </p:nvSpPr>
        <p:spPr/>
        <p:txBody>
          <a:bodyPr/>
          <a:lstStyle/>
          <a:p>
            <a:r>
              <a:rPr lang="en-US"/>
              <a:t>Lecture Notes for E Alpaydın 2014 Introduction to Machine Learning 3e © The MIT Press (V1.0)</a:t>
            </a:r>
            <a:endParaRPr lang="tr-TR"/>
          </a:p>
        </p:txBody>
      </p:sp>
      <p:sp>
        <p:nvSpPr>
          <p:cNvPr id="7" name="Slide Number Placeholder 6"/>
          <p:cNvSpPr>
            <a:spLocks noGrp="1"/>
          </p:cNvSpPr>
          <p:nvPr>
            <p:ph type="sldNum" sz="quarter" idx="12"/>
          </p:nvPr>
        </p:nvSpPr>
        <p:spPr/>
        <p:txBody>
          <a:bodyPr/>
          <a:lstStyle/>
          <a:p>
            <a:fld id="{A4DA0FD2-D456-4FC5-A587-87644C4EB2D1}" type="slidenum">
              <a:rPr lang="tr-TR" smtClean="0"/>
              <a:pPr/>
              <a:t>‹#›</a:t>
            </a:fld>
            <a:endParaRPr lang="tr-TR"/>
          </a:p>
        </p:txBody>
      </p:sp>
    </p:spTree>
    <p:extLst>
      <p:ext uri="{BB962C8B-B14F-4D97-AF65-F5344CB8AC3E}">
        <p14:creationId xmlns:p14="http://schemas.microsoft.com/office/powerpoint/2010/main" val="2588418522"/>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82959" y="2228003"/>
            <a:ext cx="4791333" cy="576262"/>
          </a:xfrm>
        </p:spPr>
        <p:txBody>
          <a:bodyPr anchor="b">
            <a:noAutofit/>
          </a:bodyPr>
          <a:lstStyle>
            <a:lvl1pPr marL="0" indent="0">
              <a:buNone/>
              <a:defRPr sz="2200" b="0">
                <a:solidFill>
                  <a:srgbClr val="4B2D8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74924" y="2926052"/>
            <a:ext cx="5199369"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25745" y="2228003"/>
            <a:ext cx="4802180" cy="576262"/>
          </a:xfrm>
        </p:spPr>
        <p:txBody>
          <a:bodyPr anchor="b">
            <a:noAutofit/>
          </a:bodyPr>
          <a:lstStyle>
            <a:lvl1pPr marL="0" indent="0">
              <a:buNone/>
              <a:defRPr sz="2200" b="0">
                <a:solidFill>
                  <a:srgbClr val="4B2D8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21021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tr-TR"/>
              <a:t>7/7/2014</a:t>
            </a:r>
            <a:endParaRPr lang="en-US" sz="1000">
              <a:solidFill>
                <a:schemeClr val="tx1"/>
              </a:solidFill>
            </a:endParaRPr>
          </a:p>
        </p:txBody>
      </p:sp>
      <p:sp>
        <p:nvSpPr>
          <p:cNvPr id="8" name="Footer Placeholder 7"/>
          <p:cNvSpPr>
            <a:spLocks noGrp="1"/>
          </p:cNvSpPr>
          <p:nvPr>
            <p:ph type="ftr" sz="quarter" idx="11"/>
          </p:nvPr>
        </p:nvSpPr>
        <p:spPr/>
        <p:txBody>
          <a:bodyPr/>
          <a:lstStyle/>
          <a:p>
            <a:r>
              <a:rPr lang="en-US"/>
              <a:t>Lecture Notes for E Alpaydın 2014 Introduction to Machine Learning 3e © The MIT Press (V1.0)</a:t>
            </a:r>
            <a:endParaRPr lang="tr-TR"/>
          </a:p>
        </p:txBody>
      </p:sp>
      <p:sp>
        <p:nvSpPr>
          <p:cNvPr id="9" name="Slide Number Placeholder 8"/>
          <p:cNvSpPr>
            <a:spLocks noGrp="1"/>
          </p:cNvSpPr>
          <p:nvPr>
            <p:ph type="sldNum" sz="quarter" idx="12"/>
          </p:nvPr>
        </p:nvSpPr>
        <p:spPr/>
        <p:txBody>
          <a:bodyPr/>
          <a:lstStyle/>
          <a:p>
            <a:fld id="{A4DA0FD2-D456-4FC5-A587-87644C4EB2D1}" type="slidenum">
              <a:rPr lang="tr-TR" smtClean="0"/>
              <a:pPr/>
              <a:t>‹#›</a:t>
            </a:fld>
            <a:endParaRPr lang="tr-TR"/>
          </a:p>
        </p:txBody>
      </p:sp>
    </p:spTree>
    <p:extLst>
      <p:ext uri="{BB962C8B-B14F-4D97-AF65-F5344CB8AC3E}">
        <p14:creationId xmlns:p14="http://schemas.microsoft.com/office/powerpoint/2010/main" val="62257689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tr-TR"/>
              <a:t>7/7/2014</a:t>
            </a:r>
            <a:endParaRPr lang="en-US"/>
          </a:p>
        </p:txBody>
      </p:sp>
      <p:sp>
        <p:nvSpPr>
          <p:cNvPr id="4" name="Footer Placeholder 3"/>
          <p:cNvSpPr>
            <a:spLocks noGrp="1"/>
          </p:cNvSpPr>
          <p:nvPr>
            <p:ph type="ftr" sz="quarter" idx="11"/>
          </p:nvPr>
        </p:nvSpPr>
        <p:spPr/>
        <p:txBody>
          <a:bodyPr/>
          <a:lstStyle/>
          <a:p>
            <a:r>
              <a:rPr lang="en-US"/>
              <a:t>Lecture Notes for E Alpaydın 2014 Introduction to Machine Learning 3e © The MIT Press (V1.0)</a:t>
            </a:r>
            <a:endParaRPr lang="tr-TR"/>
          </a:p>
        </p:txBody>
      </p:sp>
      <p:sp>
        <p:nvSpPr>
          <p:cNvPr id="5" name="Slide Number Placeholder 4"/>
          <p:cNvSpPr>
            <a:spLocks noGrp="1"/>
          </p:cNvSpPr>
          <p:nvPr>
            <p:ph type="sldNum" sz="quarter" idx="12"/>
          </p:nvPr>
        </p:nvSpPr>
        <p:spPr/>
        <p:txBody>
          <a:bodyPr/>
          <a:lstStyle/>
          <a:p>
            <a:fld id="{DC4B51A6-28A7-47F6-AE2C-F4B123EFE551}" type="slidenum">
              <a:rPr lang="tr-TR" smtClean="0"/>
              <a:pPr/>
              <a:t>‹#›</a:t>
            </a:fld>
            <a:endParaRPr lang="tr-TR"/>
          </a:p>
        </p:txBody>
      </p:sp>
    </p:spTree>
    <p:extLst>
      <p:ext uri="{BB962C8B-B14F-4D97-AF65-F5344CB8AC3E}">
        <p14:creationId xmlns:p14="http://schemas.microsoft.com/office/powerpoint/2010/main" val="3105678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tr-TR"/>
              <a:t>7/7/2014</a:t>
            </a:r>
            <a:endParaRPr lang="en-US"/>
          </a:p>
        </p:txBody>
      </p:sp>
      <p:sp>
        <p:nvSpPr>
          <p:cNvPr id="3" name="Footer Placeholder 2"/>
          <p:cNvSpPr>
            <a:spLocks noGrp="1"/>
          </p:cNvSpPr>
          <p:nvPr>
            <p:ph type="ftr" sz="quarter" idx="11"/>
          </p:nvPr>
        </p:nvSpPr>
        <p:spPr/>
        <p:txBody>
          <a:bodyPr/>
          <a:lstStyle/>
          <a:p>
            <a:r>
              <a:rPr lang="en-US"/>
              <a:t>Lecture Notes for E Alpaydın 2014 Introduction to Machine Learning 3e © The MIT Press (V1.0)</a:t>
            </a:r>
            <a:endParaRPr lang="tr-TR"/>
          </a:p>
        </p:txBody>
      </p:sp>
      <p:sp>
        <p:nvSpPr>
          <p:cNvPr id="4" name="Slide Number Placeholder 3"/>
          <p:cNvSpPr>
            <a:spLocks noGrp="1"/>
          </p:cNvSpPr>
          <p:nvPr>
            <p:ph type="sldNum" sz="quarter" idx="12"/>
          </p:nvPr>
        </p:nvSpPr>
        <p:spPr/>
        <p:txBody>
          <a:bodyPr/>
          <a:lstStyle/>
          <a:p>
            <a:fld id="{1895849B-5B8D-4701-B904-178A9E77F54C}" type="slidenum">
              <a:rPr lang="tr-TR" smtClean="0"/>
              <a:pPr/>
              <a:t>‹#›</a:t>
            </a:fld>
            <a:endParaRPr lang="tr-TR"/>
          </a:p>
        </p:txBody>
      </p:sp>
    </p:spTree>
    <p:extLst>
      <p:ext uri="{BB962C8B-B14F-4D97-AF65-F5344CB8AC3E}">
        <p14:creationId xmlns:p14="http://schemas.microsoft.com/office/powerpoint/2010/main" val="2354099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5137" y="5262296"/>
            <a:ext cx="4715500" cy="689514"/>
          </a:xfrm>
        </p:spPr>
        <p:txBody>
          <a:bodyPr anchor="ctr"/>
          <a:lstStyle>
            <a:lvl1pPr algn="l">
              <a:defRPr sz="2000" b="0">
                <a:solidFill>
                  <a:srgbClr val="4B2D83"/>
                </a:solidFill>
              </a:defRPr>
            </a:lvl1pPr>
          </a:lstStyle>
          <a:p>
            <a:r>
              <a:rPr lang="en-US"/>
              <a:t>Click to edit Master title style</a:t>
            </a:r>
            <a:endParaRPr lang="en-US" dirty="0"/>
          </a:p>
        </p:txBody>
      </p:sp>
      <p:sp>
        <p:nvSpPr>
          <p:cNvPr id="3" name="Content Placeholder 2"/>
          <p:cNvSpPr>
            <a:spLocks noGrp="1"/>
          </p:cNvSpPr>
          <p:nvPr>
            <p:ph idx="1"/>
          </p:nvPr>
        </p:nvSpPr>
        <p:spPr>
          <a:xfrm>
            <a:off x="595199" y="601200"/>
            <a:ext cx="1098720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687103"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r>
              <a:rPr lang="tr-TR"/>
              <a:t>7/7/2014</a:t>
            </a:r>
            <a:endParaRPr lang="en-US" sz="1000">
              <a:solidFill>
                <a:schemeClr val="tx1"/>
              </a:solidFill>
            </a:endParaRPr>
          </a:p>
        </p:txBody>
      </p:sp>
      <p:sp>
        <p:nvSpPr>
          <p:cNvPr id="6" name="Footer Placeholder 5"/>
          <p:cNvSpPr>
            <a:spLocks noGrp="1"/>
          </p:cNvSpPr>
          <p:nvPr>
            <p:ph type="ftr" sz="quarter" idx="11"/>
          </p:nvPr>
        </p:nvSpPr>
        <p:spPr/>
        <p:txBody>
          <a:bodyPr/>
          <a:lstStyle>
            <a:lvl1pPr>
              <a:defRPr>
                <a:solidFill>
                  <a:srgbClr val="4B2D83"/>
                </a:solidFill>
              </a:defRPr>
            </a:lvl1pPr>
          </a:lstStyle>
          <a:p>
            <a:r>
              <a:rPr lang="en-US"/>
              <a:t>Lecture Notes for E Alpaydın 2014 Introduction to Machine Learning 3e © The MIT Press (V1.0)</a:t>
            </a:r>
            <a:endParaRPr lang="tr-TR"/>
          </a:p>
        </p:txBody>
      </p:sp>
      <p:sp>
        <p:nvSpPr>
          <p:cNvPr id="7" name="Slide Number Placeholder 6"/>
          <p:cNvSpPr>
            <a:spLocks noGrp="1"/>
          </p:cNvSpPr>
          <p:nvPr>
            <p:ph type="sldNum" sz="quarter" idx="12"/>
          </p:nvPr>
        </p:nvSpPr>
        <p:spPr/>
        <p:txBody>
          <a:bodyPr/>
          <a:lstStyle>
            <a:lvl1pPr>
              <a:defRPr>
                <a:solidFill>
                  <a:srgbClr val="4B2D83"/>
                </a:solidFill>
              </a:defRPr>
            </a:lvl1pPr>
          </a:lstStyle>
          <a:p>
            <a:fld id="{A4DA0FD2-D456-4FC5-A587-87644C4EB2D1}" type="slidenum">
              <a:rPr lang="tr-TR" smtClean="0"/>
              <a:pPr/>
              <a:t>‹#›</a:t>
            </a:fld>
            <a:endParaRPr lang="tr-TR"/>
          </a:p>
        </p:txBody>
      </p:sp>
    </p:spTree>
    <p:extLst>
      <p:ext uri="{BB962C8B-B14F-4D97-AF65-F5344CB8AC3E}">
        <p14:creationId xmlns:p14="http://schemas.microsoft.com/office/powerpoint/2010/main" val="228690241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922" y="4693389"/>
            <a:ext cx="10653003"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597458" y="599725"/>
            <a:ext cx="10984941"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774922" y="5260127"/>
            <a:ext cx="10653003"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tr-TR"/>
              <a:t>7/7/2014</a:t>
            </a:r>
            <a:endParaRPr lang="en-US" sz="1000">
              <a:solidFill>
                <a:schemeClr val="tx1"/>
              </a:solidFill>
            </a:endParaRPr>
          </a:p>
        </p:txBody>
      </p:sp>
      <p:sp>
        <p:nvSpPr>
          <p:cNvPr id="6" name="Footer Placeholder 5"/>
          <p:cNvSpPr>
            <a:spLocks noGrp="1"/>
          </p:cNvSpPr>
          <p:nvPr>
            <p:ph type="ftr" sz="quarter" idx="11"/>
          </p:nvPr>
        </p:nvSpPr>
        <p:spPr/>
        <p:txBody>
          <a:bodyPr/>
          <a:lstStyle/>
          <a:p>
            <a:r>
              <a:rPr lang="en-US"/>
              <a:t>Lecture Notes for E Alpaydın 2014 Introduction to Machine Learning 3e © The MIT Press (V1.0)</a:t>
            </a:r>
            <a:endParaRPr lang="tr-TR"/>
          </a:p>
        </p:txBody>
      </p:sp>
      <p:sp>
        <p:nvSpPr>
          <p:cNvPr id="7" name="Slide Number Placeholder 6"/>
          <p:cNvSpPr>
            <a:spLocks noGrp="1"/>
          </p:cNvSpPr>
          <p:nvPr>
            <p:ph type="sldNum" sz="quarter" idx="12"/>
          </p:nvPr>
        </p:nvSpPr>
        <p:spPr/>
        <p:txBody>
          <a:bodyPr/>
          <a:lstStyle/>
          <a:p>
            <a:fld id="{A4DA0FD2-D456-4FC5-A587-87644C4EB2D1}" type="slidenum">
              <a:rPr lang="tr-TR" smtClean="0"/>
              <a:pPr/>
              <a:t>‹#›</a:t>
            </a:fld>
            <a:endParaRPr lang="tr-TR"/>
          </a:p>
        </p:txBody>
      </p:sp>
    </p:spTree>
    <p:extLst>
      <p:ext uri="{BB962C8B-B14F-4D97-AF65-F5344CB8AC3E}">
        <p14:creationId xmlns:p14="http://schemas.microsoft.com/office/powerpoint/2010/main" val="3815474216"/>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fourObj">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609600" y="457200"/>
            <a:ext cx="10972800" cy="1371600"/>
          </a:xfrm>
        </p:spPr>
        <p:txBody>
          <a:bodyPr/>
          <a:lstStyle/>
          <a:p>
            <a:r>
              <a:rPr lang="en-US"/>
              <a:t>Click to edit Master title style</a:t>
            </a:r>
            <a:endParaRPr lang="tr-TR"/>
          </a:p>
        </p:txBody>
      </p:sp>
      <p:sp>
        <p:nvSpPr>
          <p:cNvPr id="3" name="Content Placeholder 2"/>
          <p:cNvSpPr>
            <a:spLocks noGrp="1"/>
          </p:cNvSpPr>
          <p:nvPr>
            <p:ph sz="quarter" idx="1"/>
          </p:nvPr>
        </p:nvSpPr>
        <p:spPr>
          <a:xfrm>
            <a:off x="609600" y="1981200"/>
            <a:ext cx="5384800" cy="1866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p:cNvSpPr>
            <a:spLocks noGrp="1"/>
          </p:cNvSpPr>
          <p:nvPr>
            <p:ph sz="quarter" idx="2"/>
          </p:nvPr>
        </p:nvSpPr>
        <p:spPr>
          <a:xfrm>
            <a:off x="6197600" y="1981200"/>
            <a:ext cx="5384800" cy="1866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Content Placeholder 4"/>
          <p:cNvSpPr>
            <a:spLocks noGrp="1"/>
          </p:cNvSpPr>
          <p:nvPr>
            <p:ph sz="quarter" idx="3"/>
          </p:nvPr>
        </p:nvSpPr>
        <p:spPr>
          <a:xfrm>
            <a:off x="609600" y="4000500"/>
            <a:ext cx="5384800" cy="1866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Content Placeholder 5"/>
          <p:cNvSpPr>
            <a:spLocks noGrp="1"/>
          </p:cNvSpPr>
          <p:nvPr>
            <p:ph sz="quarter" idx="4"/>
          </p:nvPr>
        </p:nvSpPr>
        <p:spPr>
          <a:xfrm>
            <a:off x="6197600" y="4000500"/>
            <a:ext cx="5384800" cy="1866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7" name="Footer Placeholder 6"/>
          <p:cNvSpPr>
            <a:spLocks noGrp="1"/>
          </p:cNvSpPr>
          <p:nvPr>
            <p:ph type="ftr" sz="quarter" idx="10"/>
          </p:nvPr>
        </p:nvSpPr>
        <p:spPr>
          <a:xfrm>
            <a:off x="1" y="6642100"/>
            <a:ext cx="8064500" cy="215900"/>
          </a:xfrm>
        </p:spPr>
        <p:txBody>
          <a:bodyPr/>
          <a:lstStyle>
            <a:lvl1pPr>
              <a:defRPr/>
            </a:lvl1pPr>
          </a:lstStyle>
          <a:p>
            <a:r>
              <a:rPr lang="en-US"/>
              <a:t>Lecture Notes for E Alpaydın 2014 Introduction to Machine Learning 3e © The MIT Press (V1.0)</a:t>
            </a:r>
            <a:endParaRPr lang="tr-TR"/>
          </a:p>
        </p:txBody>
      </p:sp>
      <p:sp>
        <p:nvSpPr>
          <p:cNvPr id="8" name="Slide Number Placeholder 7"/>
          <p:cNvSpPr>
            <a:spLocks noGrp="1"/>
          </p:cNvSpPr>
          <p:nvPr>
            <p:ph type="sldNum" sz="quarter" idx="11"/>
          </p:nvPr>
        </p:nvSpPr>
        <p:spPr>
          <a:xfrm>
            <a:off x="8784167" y="6237288"/>
            <a:ext cx="2844800" cy="457200"/>
          </a:xfrm>
        </p:spPr>
        <p:txBody>
          <a:bodyPr/>
          <a:lstStyle>
            <a:lvl1pPr>
              <a:defRPr/>
            </a:lvl1pPr>
          </a:lstStyle>
          <a:p>
            <a:fld id="{A4DA0FD2-D456-4FC5-A587-87644C4EB2D1}" type="slidenum">
              <a:rPr lang="tr-TR" smtClean="0"/>
              <a:pPr/>
              <a:t>‹#›</a:t>
            </a:fld>
            <a:endParaRPr lang="tr-TR"/>
          </a:p>
        </p:txBody>
      </p:sp>
    </p:spTree>
    <p:extLst>
      <p:ext uri="{BB962C8B-B14F-4D97-AF65-F5344CB8AC3E}">
        <p14:creationId xmlns:p14="http://schemas.microsoft.com/office/powerpoint/2010/main" val="3773253544"/>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1371600"/>
          </a:xfrm>
        </p:spPr>
        <p:txBody>
          <a:bodyPr/>
          <a:lstStyle/>
          <a:p>
            <a:r>
              <a:rPr lang="en-US"/>
              <a:t>Click to edit Master title style</a:t>
            </a:r>
            <a:endParaRPr lang="tr-TR"/>
          </a:p>
        </p:txBody>
      </p:sp>
      <p:sp>
        <p:nvSpPr>
          <p:cNvPr id="3" name="Content Placeholder 2"/>
          <p:cNvSpPr>
            <a:spLocks noGrp="1"/>
          </p:cNvSpPr>
          <p:nvPr>
            <p:ph sz="half" idx="1"/>
          </p:nvPr>
        </p:nvSpPr>
        <p:spPr>
          <a:xfrm>
            <a:off x="609600" y="1981200"/>
            <a:ext cx="5384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p:cNvSpPr>
            <a:spLocks noGrp="1"/>
          </p:cNvSpPr>
          <p:nvPr>
            <p:ph sz="quarter" idx="2"/>
          </p:nvPr>
        </p:nvSpPr>
        <p:spPr>
          <a:xfrm>
            <a:off x="6197600" y="1981200"/>
            <a:ext cx="5384800" cy="1866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Content Placeholder 4"/>
          <p:cNvSpPr>
            <a:spLocks noGrp="1"/>
          </p:cNvSpPr>
          <p:nvPr>
            <p:ph sz="quarter" idx="3"/>
          </p:nvPr>
        </p:nvSpPr>
        <p:spPr>
          <a:xfrm>
            <a:off x="6197600" y="4000500"/>
            <a:ext cx="5384800" cy="1866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Footer Placeholder 5"/>
          <p:cNvSpPr>
            <a:spLocks noGrp="1"/>
          </p:cNvSpPr>
          <p:nvPr>
            <p:ph type="ftr" sz="quarter" idx="10"/>
          </p:nvPr>
        </p:nvSpPr>
        <p:spPr>
          <a:xfrm>
            <a:off x="1" y="6642100"/>
            <a:ext cx="8064500" cy="215900"/>
          </a:xfrm>
        </p:spPr>
        <p:txBody>
          <a:bodyPr/>
          <a:lstStyle>
            <a:lvl1pPr>
              <a:defRPr/>
            </a:lvl1pPr>
          </a:lstStyle>
          <a:p>
            <a:r>
              <a:rPr lang="en-US"/>
              <a:t>Lecture Notes for E Alpaydın 2014 Introduction to Machine Learning 3e © The MIT Press (V1.0)</a:t>
            </a:r>
            <a:endParaRPr lang="tr-TR"/>
          </a:p>
        </p:txBody>
      </p:sp>
      <p:sp>
        <p:nvSpPr>
          <p:cNvPr id="7" name="Slide Number Placeholder 6"/>
          <p:cNvSpPr>
            <a:spLocks noGrp="1"/>
          </p:cNvSpPr>
          <p:nvPr>
            <p:ph type="sldNum" sz="quarter" idx="11"/>
          </p:nvPr>
        </p:nvSpPr>
        <p:spPr>
          <a:xfrm>
            <a:off x="8784167" y="6237288"/>
            <a:ext cx="2844800" cy="457200"/>
          </a:xfrm>
        </p:spPr>
        <p:txBody>
          <a:bodyPr/>
          <a:lstStyle>
            <a:lvl1pPr>
              <a:defRPr/>
            </a:lvl1pPr>
          </a:lstStyle>
          <a:p>
            <a:fld id="{A4DA0FD2-D456-4FC5-A587-87644C4EB2D1}" type="slidenum">
              <a:rPr lang="tr-TR" smtClean="0"/>
              <a:pPr/>
              <a:t>‹#›</a:t>
            </a:fld>
            <a:endParaRPr lang="tr-TR"/>
          </a:p>
        </p:txBody>
      </p:sp>
    </p:spTree>
    <p:extLst>
      <p:ext uri="{BB962C8B-B14F-4D97-AF65-F5344CB8AC3E}">
        <p14:creationId xmlns:p14="http://schemas.microsoft.com/office/powerpoint/2010/main" val="4269916095"/>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1371600"/>
          </a:xfrm>
        </p:spPr>
        <p:txBody>
          <a:bodyPr/>
          <a:lstStyle/>
          <a:p>
            <a:r>
              <a:rPr lang="en-US"/>
              <a:t>Click to edit Master title style</a:t>
            </a:r>
            <a:endParaRPr lang="tr-TR"/>
          </a:p>
        </p:txBody>
      </p:sp>
      <p:sp>
        <p:nvSpPr>
          <p:cNvPr id="3" name="Text Placeholder 2"/>
          <p:cNvSpPr>
            <a:spLocks noGrp="1"/>
          </p:cNvSpPr>
          <p:nvPr>
            <p:ph type="body" sz="half" idx="1"/>
          </p:nvPr>
        </p:nvSpPr>
        <p:spPr>
          <a:xfrm>
            <a:off x="609600" y="1981200"/>
            <a:ext cx="5384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p:cNvSpPr>
            <a:spLocks noGrp="1"/>
          </p:cNvSpPr>
          <p:nvPr>
            <p:ph sz="quarter" idx="2"/>
          </p:nvPr>
        </p:nvSpPr>
        <p:spPr>
          <a:xfrm>
            <a:off x="6197600" y="1981200"/>
            <a:ext cx="5384800" cy="1866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Content Placeholder 4"/>
          <p:cNvSpPr>
            <a:spLocks noGrp="1"/>
          </p:cNvSpPr>
          <p:nvPr>
            <p:ph sz="quarter" idx="3"/>
          </p:nvPr>
        </p:nvSpPr>
        <p:spPr>
          <a:xfrm>
            <a:off x="6197600" y="4000500"/>
            <a:ext cx="5384800" cy="1866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Footer Placeholder 5"/>
          <p:cNvSpPr>
            <a:spLocks noGrp="1"/>
          </p:cNvSpPr>
          <p:nvPr>
            <p:ph type="ftr" sz="quarter" idx="10"/>
          </p:nvPr>
        </p:nvSpPr>
        <p:spPr>
          <a:xfrm>
            <a:off x="1" y="6642100"/>
            <a:ext cx="8064500" cy="215900"/>
          </a:xfrm>
        </p:spPr>
        <p:txBody>
          <a:bodyPr/>
          <a:lstStyle>
            <a:lvl1pPr>
              <a:defRPr/>
            </a:lvl1pPr>
          </a:lstStyle>
          <a:p>
            <a:r>
              <a:rPr lang="en-US"/>
              <a:t>Lecture Notes for E Alpaydın 2014 Introduction to Machine Learning 3e © The MIT Press (V1.0)</a:t>
            </a:r>
            <a:endParaRPr lang="tr-TR"/>
          </a:p>
        </p:txBody>
      </p:sp>
      <p:sp>
        <p:nvSpPr>
          <p:cNvPr id="7" name="Slide Number Placeholder 6"/>
          <p:cNvSpPr>
            <a:spLocks noGrp="1"/>
          </p:cNvSpPr>
          <p:nvPr>
            <p:ph type="sldNum" sz="quarter" idx="11"/>
          </p:nvPr>
        </p:nvSpPr>
        <p:spPr>
          <a:xfrm>
            <a:off x="8784167" y="6237288"/>
            <a:ext cx="2844800" cy="457200"/>
          </a:xfrm>
        </p:spPr>
        <p:txBody>
          <a:bodyPr/>
          <a:lstStyle>
            <a:lvl1pPr>
              <a:defRPr/>
            </a:lvl1pPr>
          </a:lstStyle>
          <a:p>
            <a:fld id="{A4DA0FD2-D456-4FC5-A587-87644C4EB2D1}" type="slidenum">
              <a:rPr lang="tr-TR" smtClean="0"/>
              <a:pPr/>
              <a:t>‹#›</a:t>
            </a:fld>
            <a:endParaRPr lang="tr-TR"/>
          </a:p>
        </p:txBody>
      </p:sp>
    </p:spTree>
    <p:extLst>
      <p:ext uri="{BB962C8B-B14F-4D97-AF65-F5344CB8AC3E}">
        <p14:creationId xmlns:p14="http://schemas.microsoft.com/office/powerpoint/2010/main" val="3123409162"/>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
            <a:ext cx="10972800" cy="1371600"/>
          </a:xfrm>
        </p:spPr>
        <p:txBody>
          <a:bodyPr/>
          <a:lstStyle/>
          <a:p>
            <a:r>
              <a:rPr lang="en-US"/>
              <a:t>Click to edit Master title style</a:t>
            </a:r>
            <a:endParaRPr lang="tr-TR"/>
          </a:p>
        </p:txBody>
      </p:sp>
      <p:sp>
        <p:nvSpPr>
          <p:cNvPr id="3" name="Text Placeholder 2"/>
          <p:cNvSpPr>
            <a:spLocks noGrp="1"/>
          </p:cNvSpPr>
          <p:nvPr>
            <p:ph type="body" sz="half" idx="1"/>
          </p:nvPr>
        </p:nvSpPr>
        <p:spPr>
          <a:xfrm>
            <a:off x="609600" y="1981200"/>
            <a:ext cx="5384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4" name="Content Placeholder 3"/>
          <p:cNvSpPr>
            <a:spLocks noGrp="1"/>
          </p:cNvSpPr>
          <p:nvPr>
            <p:ph sz="half" idx="2"/>
          </p:nvPr>
        </p:nvSpPr>
        <p:spPr>
          <a:xfrm>
            <a:off x="6197600" y="1981200"/>
            <a:ext cx="5384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5" name="Footer Placeholder 4"/>
          <p:cNvSpPr>
            <a:spLocks noGrp="1"/>
          </p:cNvSpPr>
          <p:nvPr>
            <p:ph type="ftr" sz="quarter" idx="10"/>
          </p:nvPr>
        </p:nvSpPr>
        <p:spPr>
          <a:xfrm>
            <a:off x="1" y="6642100"/>
            <a:ext cx="8064500" cy="215900"/>
          </a:xfrm>
        </p:spPr>
        <p:txBody>
          <a:bodyPr/>
          <a:lstStyle>
            <a:lvl1pPr>
              <a:defRPr/>
            </a:lvl1pPr>
          </a:lstStyle>
          <a:p>
            <a:r>
              <a:rPr lang="en-US"/>
              <a:t>Lecture Notes for E Alpaydın 2014 Introduction to Machine Learning 3e © The MIT Press (V1.0)</a:t>
            </a:r>
            <a:endParaRPr lang="tr-TR"/>
          </a:p>
        </p:txBody>
      </p:sp>
      <p:sp>
        <p:nvSpPr>
          <p:cNvPr id="6" name="Slide Number Placeholder 5"/>
          <p:cNvSpPr>
            <a:spLocks noGrp="1"/>
          </p:cNvSpPr>
          <p:nvPr>
            <p:ph type="sldNum" sz="quarter" idx="11"/>
          </p:nvPr>
        </p:nvSpPr>
        <p:spPr>
          <a:xfrm>
            <a:off x="8784167" y="6237288"/>
            <a:ext cx="2844800" cy="457200"/>
          </a:xfrm>
        </p:spPr>
        <p:txBody>
          <a:bodyPr/>
          <a:lstStyle>
            <a:lvl1pPr>
              <a:defRPr/>
            </a:lvl1pPr>
          </a:lstStyle>
          <a:p>
            <a:fld id="{B25A429E-EC32-4435-B6D9-2C358E91B0C4}" type="slidenum">
              <a:rPr lang="tr-TR"/>
              <a:pPr/>
              <a:t>‹#›</a:t>
            </a:fld>
            <a:endParaRPr lang="tr-TR"/>
          </a:p>
        </p:txBody>
      </p:sp>
    </p:spTree>
    <p:extLst>
      <p:ext uri="{BB962C8B-B14F-4D97-AF65-F5344CB8AC3E}">
        <p14:creationId xmlns:p14="http://schemas.microsoft.com/office/powerpoint/2010/main" val="37605005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22" y="687475"/>
            <a:ext cx="10653003" cy="1083329"/>
          </a:xfrm>
          <a:prstGeom prst="rect">
            <a:avLst/>
          </a:prstGeom>
        </p:spPr>
        <p:txBody>
          <a:bodyPr vert="horz" wrap="square" lIns="91440" tIns="0" rIns="91440" bIns="45720" rtlCol="0" anchor="ctr" anchorCtr="0">
            <a:normAutofit/>
          </a:bodyPr>
          <a:lstStyle/>
          <a:p>
            <a:r>
              <a:rPr lang="en-US" dirty="0"/>
              <a:t>Click to edit Master title style</a:t>
            </a:r>
          </a:p>
        </p:txBody>
      </p:sp>
      <p:sp>
        <p:nvSpPr>
          <p:cNvPr id="3" name="Text Placeholder 2"/>
          <p:cNvSpPr>
            <a:spLocks noGrp="1"/>
          </p:cNvSpPr>
          <p:nvPr>
            <p:ph type="body" idx="1"/>
          </p:nvPr>
        </p:nvSpPr>
        <p:spPr>
          <a:xfrm>
            <a:off x="774922" y="2228003"/>
            <a:ext cx="10653003" cy="3630794"/>
          </a:xfrm>
          <a:prstGeom prst="rect">
            <a:avLst/>
          </a:prstGeom>
        </p:spPr>
        <p:txBody>
          <a:bodyPr vert="horz" lIns="91440" tIns="45720" rIns="91440" bIns="45720" rtlCol="0" anchor="t" anchorCtr="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412436" y="5956137"/>
            <a:ext cx="2844800" cy="365125"/>
          </a:xfrm>
          <a:prstGeom prst="rect">
            <a:avLst/>
          </a:prstGeom>
        </p:spPr>
        <p:txBody>
          <a:bodyPr vert="horz" lIns="91440" tIns="45720" rIns="91440" bIns="45720" rtlCol="0" anchor="ctr"/>
          <a:lstStyle>
            <a:lvl1pPr algn="r">
              <a:defRPr sz="900">
                <a:solidFill>
                  <a:srgbClr val="4B2D83"/>
                </a:solidFill>
              </a:defRPr>
            </a:lvl1pPr>
          </a:lstStyle>
          <a:p>
            <a:r>
              <a:rPr lang="tr-TR"/>
              <a:t>7/7/2014</a:t>
            </a:r>
            <a:endParaRPr lang="en-US" sz="1000">
              <a:solidFill>
                <a:schemeClr val="tx1"/>
              </a:solidFill>
            </a:endParaRPr>
          </a:p>
        </p:txBody>
      </p:sp>
      <p:sp>
        <p:nvSpPr>
          <p:cNvPr id="5" name="Footer Placeholder 4"/>
          <p:cNvSpPr>
            <a:spLocks noGrp="1"/>
          </p:cNvSpPr>
          <p:nvPr>
            <p:ph type="ftr" sz="quarter" idx="3"/>
          </p:nvPr>
        </p:nvSpPr>
        <p:spPr>
          <a:xfrm>
            <a:off x="774924" y="5951811"/>
            <a:ext cx="6494113" cy="365125"/>
          </a:xfrm>
          <a:prstGeom prst="rect">
            <a:avLst/>
          </a:prstGeom>
        </p:spPr>
        <p:txBody>
          <a:bodyPr vert="horz" lIns="91440" tIns="45720" rIns="91440" bIns="45720" rtlCol="0" anchor="ctr"/>
          <a:lstStyle>
            <a:lvl1pPr algn="l">
              <a:defRPr sz="900" cap="all">
                <a:solidFill>
                  <a:srgbClr val="4B2D83"/>
                </a:solidFill>
              </a:defRPr>
            </a:lvl1pPr>
          </a:lstStyle>
          <a:p>
            <a:r>
              <a:rPr lang="en-US"/>
              <a:t>Lecture Notes for E Alpaydın 2014 Introduction to Machine Learning 3e © The MIT Press (V1.0)</a:t>
            </a:r>
            <a:endParaRPr lang="tr-TR"/>
          </a:p>
        </p:txBody>
      </p:sp>
      <p:sp>
        <p:nvSpPr>
          <p:cNvPr id="6" name="Slide Number Placeholder 5"/>
          <p:cNvSpPr>
            <a:spLocks noGrp="1"/>
          </p:cNvSpPr>
          <p:nvPr>
            <p:ph type="sldNum" sz="quarter" idx="4"/>
          </p:nvPr>
        </p:nvSpPr>
        <p:spPr>
          <a:xfrm>
            <a:off x="10400635" y="5956137"/>
            <a:ext cx="1027291" cy="365125"/>
          </a:xfrm>
          <a:prstGeom prst="rect">
            <a:avLst/>
          </a:prstGeom>
        </p:spPr>
        <p:txBody>
          <a:bodyPr vert="horz" lIns="91440" tIns="45720" rIns="91440" bIns="45720" rtlCol="0" anchor="ctr"/>
          <a:lstStyle>
            <a:lvl1pPr algn="r">
              <a:defRPr sz="900">
                <a:solidFill>
                  <a:srgbClr val="4B2D83"/>
                </a:solidFill>
              </a:defRPr>
            </a:lvl1pPr>
          </a:lstStyle>
          <a:p>
            <a:fld id="{A4DA0FD2-D456-4FC5-A587-87644C4EB2D1}" type="slidenum">
              <a:rPr lang="tr-TR" smtClean="0"/>
              <a:pPr/>
              <a:t>‹#›</a:t>
            </a:fld>
            <a:endParaRPr lang="tr-TR"/>
          </a:p>
        </p:txBody>
      </p:sp>
      <p:pic>
        <p:nvPicPr>
          <p:cNvPr id="8" name="Picture 7">
            <a:extLst>
              <a:ext uri="{FF2B5EF4-FFF2-40B4-BE49-F238E27FC236}">
                <a16:creationId xmlns:a16="http://schemas.microsoft.com/office/drawing/2014/main" id="{76603E0D-434A-9E56-322C-606DED7ABAC5}"/>
              </a:ext>
            </a:extLst>
          </p:cNvPr>
          <p:cNvPicPr>
            <a:picLocks noChangeAspect="1"/>
          </p:cNvPicPr>
          <p:nvPr/>
        </p:nvPicPr>
        <p:blipFill rotWithShape="1">
          <a:blip r:embed="rId15">
            <a:extLst>
              <a:ext uri="{28A0092B-C50C-407E-A947-70E740481C1C}">
                <a14:useLocalDpi xmlns:a14="http://schemas.microsoft.com/office/drawing/2010/main"/>
              </a:ext>
            </a:extLst>
          </a:blip>
          <a:srcRect/>
          <a:stretch/>
        </p:blipFill>
        <p:spPr>
          <a:xfrm>
            <a:off x="1" y="6570695"/>
            <a:ext cx="12192000" cy="299139"/>
          </a:xfrm>
          <a:prstGeom prst="rect">
            <a:avLst/>
          </a:prstGeom>
        </p:spPr>
      </p:pic>
      <p:sp>
        <p:nvSpPr>
          <p:cNvPr id="7" name="TextBox 6">
            <a:extLst>
              <a:ext uri="{FF2B5EF4-FFF2-40B4-BE49-F238E27FC236}">
                <a16:creationId xmlns:a16="http://schemas.microsoft.com/office/drawing/2014/main" id="{78F40BAB-8633-230B-3244-4D0830C8CA7A}"/>
              </a:ext>
            </a:extLst>
          </p:cNvPr>
          <p:cNvSpPr txBox="1"/>
          <p:nvPr userDrawn="1"/>
        </p:nvSpPr>
        <p:spPr>
          <a:xfrm>
            <a:off x="774921" y="6607038"/>
            <a:ext cx="11415427" cy="230832"/>
          </a:xfrm>
          <a:prstGeom prst="rect">
            <a:avLst/>
          </a:prstGeom>
          <a:noFill/>
        </p:spPr>
        <p:txBody>
          <a:bodyPr wrap="square">
            <a:spAutoFit/>
          </a:bodyPr>
          <a:lstStyle/>
          <a:p>
            <a:pPr algn="l"/>
            <a:r>
              <a:rPr lang="en-US" sz="900" b="0" dirty="0">
                <a:solidFill>
                  <a:schemeClr val="bg1"/>
                </a:solidFill>
                <a:latin typeface="Helvetica" pitchFamily="2" charset="0"/>
              </a:rPr>
              <a:t>ARCH 594/508: AI Research Seminar/Studio – AI in Architecture</a:t>
            </a:r>
            <a:endParaRPr lang="en-US" sz="900" b="0" dirty="0">
              <a:solidFill>
                <a:schemeClr val="bg1"/>
              </a:solidFill>
              <a:latin typeface="Times New Roman" panose="02020603050405020304" pitchFamily="18" charset="0"/>
              <a:ea typeface="Times New Roman" panose="02020603050405020304" pitchFamily="18" charset="0"/>
            </a:endParaRPr>
          </a:p>
        </p:txBody>
      </p:sp>
      <p:sp>
        <p:nvSpPr>
          <p:cNvPr id="9" name="TextBox 8">
            <a:extLst>
              <a:ext uri="{FF2B5EF4-FFF2-40B4-BE49-F238E27FC236}">
                <a16:creationId xmlns:a16="http://schemas.microsoft.com/office/drawing/2014/main" id="{5908E26F-5A5C-B0FC-3179-A359FC3EC7D5}"/>
              </a:ext>
            </a:extLst>
          </p:cNvPr>
          <p:cNvSpPr txBox="1"/>
          <p:nvPr userDrawn="1"/>
        </p:nvSpPr>
        <p:spPr>
          <a:xfrm>
            <a:off x="7871432" y="6597352"/>
            <a:ext cx="3429000" cy="230832"/>
          </a:xfrm>
          <a:prstGeom prst="rect">
            <a:avLst/>
          </a:prstGeom>
          <a:noFill/>
        </p:spPr>
        <p:txBody>
          <a:bodyPr wrap="square">
            <a:spAutoFit/>
          </a:bodyPr>
          <a:lstStyle/>
          <a:p>
            <a:r>
              <a:rPr lang="en-US" sz="900" b="0" dirty="0">
                <a:solidFill>
                  <a:schemeClr val="bg1"/>
                </a:solidFill>
                <a:latin typeface="Helvetica" pitchFamily="2" charset="0"/>
                <a:cs typeface="Arial" panose="020B0604020202020204" pitchFamily="34" charset="0"/>
              </a:rPr>
              <a:t>NARJES ABBASABADI, PH.D.</a:t>
            </a:r>
          </a:p>
        </p:txBody>
      </p:sp>
      <p:pic>
        <p:nvPicPr>
          <p:cNvPr id="12" name="Picture 11" descr="Graphical user interface, text&#10;&#10;Description automatically generated">
            <a:extLst>
              <a:ext uri="{FF2B5EF4-FFF2-40B4-BE49-F238E27FC236}">
                <a16:creationId xmlns:a16="http://schemas.microsoft.com/office/drawing/2014/main" id="{1309FBF8-E6ED-B105-7FBE-EE22582EBC64}"/>
              </a:ext>
            </a:extLst>
          </p:cNvPr>
          <p:cNvPicPr>
            <a:picLocks noChangeAspect="1"/>
          </p:cNvPicPr>
          <p:nvPr userDrawn="1"/>
        </p:nvPicPr>
        <p:blipFill rotWithShape="1">
          <a:blip r:embed="rId16">
            <a:extLst>
              <a:ext uri="{28A0092B-C50C-407E-A947-70E740481C1C}">
                <a14:useLocalDpi xmlns:a14="http://schemas.microsoft.com/office/drawing/2010/main"/>
              </a:ext>
            </a:extLst>
          </a:blip>
          <a:srcRect t="-9337"/>
          <a:stretch>
            <a:fillRect/>
          </a:stretch>
        </p:blipFill>
        <p:spPr>
          <a:xfrm>
            <a:off x="9552384" y="6563763"/>
            <a:ext cx="2419613" cy="274108"/>
          </a:xfrm>
          <a:prstGeom prst="rect">
            <a:avLst/>
          </a:prstGeom>
        </p:spPr>
      </p:pic>
    </p:spTree>
    <p:extLst>
      <p:ext uri="{BB962C8B-B14F-4D97-AF65-F5344CB8AC3E}">
        <p14:creationId xmlns:p14="http://schemas.microsoft.com/office/powerpoint/2010/main" val="2647080578"/>
      </p:ext>
    </p:extLst>
  </p:cSld>
  <p:clrMap bg1="lt1" tx1="dk1" bg2="lt2" tx2="dk2" accent1="accent1" accent2="accent2" accent3="accent3" accent4="accent4" accent5="accent5" accent6="accent6" hlink="hlink" folHlink="folHlink"/>
  <p:sldLayoutIdLst>
    <p:sldLayoutId id="2147484080" r:id="rId1"/>
    <p:sldLayoutId id="2147484081" r:id="rId2"/>
    <p:sldLayoutId id="2147484082" r:id="rId3"/>
    <p:sldLayoutId id="2147484083" r:id="rId4"/>
    <p:sldLayoutId id="2147484084" r:id="rId5"/>
    <p:sldLayoutId id="2147484085" r:id="rId6"/>
    <p:sldLayoutId id="2147484086" r:id="rId7"/>
    <p:sldLayoutId id="2147484087" r:id="rId8"/>
    <p:sldLayoutId id="2147484088" r:id="rId9"/>
    <p:sldLayoutId id="2147484089" r:id="rId10"/>
    <p:sldLayoutId id="2147484090" r:id="rId11"/>
    <p:sldLayoutId id="2147484091" r:id="rId12"/>
    <p:sldLayoutId id="2147484092" r:id="rId13"/>
  </p:sldLayoutIdLst>
  <p:hf hdr="0" ftr="0" dt="0"/>
  <p:txStyles>
    <p:titleStyle>
      <a:lvl1pPr algn="l" defTabSz="457200" rtl="0" eaLnBrk="1" latinLnBrk="0" hangingPunct="1">
        <a:spcBef>
          <a:spcPct val="0"/>
        </a:spcBef>
        <a:buNone/>
        <a:defRPr sz="2800" b="0" kern="1200" cap="all">
          <a:solidFill>
            <a:srgbClr val="4B2D83"/>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rgbClr val="4B2D83"/>
        </a:buClr>
        <a:buSzPct val="92000"/>
        <a:buFont typeface="Wingdings 2" panose="05020102010507070707" pitchFamily="18" charset="2"/>
        <a:buChar char=""/>
        <a:defRPr sz="1800" kern="1200">
          <a:solidFill>
            <a:schemeClr val="tx1"/>
          </a:solidFill>
          <a:latin typeface="+mn-lt"/>
          <a:ea typeface="+mn-ea"/>
          <a:cs typeface="+mn-cs"/>
        </a:defRPr>
      </a:lvl1pPr>
      <a:lvl2pPr marL="630000" indent="-306000" algn="l" defTabSz="457200" rtl="0" eaLnBrk="1" latinLnBrk="0" hangingPunct="1">
        <a:spcBef>
          <a:spcPct val="20000"/>
        </a:spcBef>
        <a:spcAft>
          <a:spcPts val="600"/>
        </a:spcAft>
        <a:buClr>
          <a:srgbClr val="4B2D83"/>
        </a:buClr>
        <a:buSzPct val="92000"/>
        <a:buFont typeface="Wingdings 2" panose="05020102010507070707" pitchFamily="18" charset="2"/>
        <a:buChar char=""/>
        <a:defRPr sz="1600" kern="1200">
          <a:solidFill>
            <a:schemeClr val="tx1"/>
          </a:solidFill>
          <a:latin typeface="+mn-lt"/>
          <a:ea typeface="+mn-ea"/>
          <a:cs typeface="+mn-cs"/>
        </a:defRPr>
      </a:lvl2pPr>
      <a:lvl3pPr marL="900000" indent="-270000" algn="l" defTabSz="457200" rtl="0" eaLnBrk="1" latinLnBrk="0" hangingPunct="1">
        <a:spcBef>
          <a:spcPct val="20000"/>
        </a:spcBef>
        <a:spcAft>
          <a:spcPts val="600"/>
        </a:spcAft>
        <a:buClr>
          <a:srgbClr val="4B2D83"/>
        </a:buClr>
        <a:buSzPct val="92000"/>
        <a:buFont typeface="Wingdings 2" panose="05020102010507070707" pitchFamily="18" charset="2"/>
        <a:buChar char=""/>
        <a:defRPr sz="1400" kern="1200">
          <a:solidFill>
            <a:schemeClr val="tx1"/>
          </a:solidFill>
          <a:latin typeface="+mn-lt"/>
          <a:ea typeface="+mn-ea"/>
          <a:cs typeface="+mn-cs"/>
        </a:defRPr>
      </a:lvl3pPr>
      <a:lvl4pPr marL="1242000" indent="-234000" algn="l" defTabSz="457200" rtl="0" eaLnBrk="1" latinLnBrk="0" hangingPunct="1">
        <a:spcBef>
          <a:spcPct val="20000"/>
        </a:spcBef>
        <a:spcAft>
          <a:spcPts val="600"/>
        </a:spcAft>
        <a:buClr>
          <a:srgbClr val="4B2D83"/>
        </a:buClr>
        <a:buSzPct val="92000"/>
        <a:buFont typeface="Wingdings 2" panose="05020102010507070707" pitchFamily="18" charset="2"/>
        <a:buChar char=""/>
        <a:defRPr sz="1200" kern="1200">
          <a:solidFill>
            <a:schemeClr val="tx1"/>
          </a:solidFill>
          <a:latin typeface="+mn-lt"/>
          <a:ea typeface="+mn-ea"/>
          <a:cs typeface="+mn-cs"/>
        </a:defRPr>
      </a:lvl4pPr>
      <a:lvl5pPr marL="1602000" indent="-234000" algn="l" defTabSz="457200" rtl="0" eaLnBrk="1" latinLnBrk="0" hangingPunct="1">
        <a:spcBef>
          <a:spcPct val="20000"/>
        </a:spcBef>
        <a:spcAft>
          <a:spcPts val="600"/>
        </a:spcAft>
        <a:buClr>
          <a:srgbClr val="4B2D83"/>
        </a:buClr>
        <a:buSzPct val="92000"/>
        <a:buFont typeface="Wingdings 2" panose="05020102010507070707" pitchFamily="18" charset="2"/>
        <a:buChar char=""/>
        <a:defRPr sz="1200" kern="1200">
          <a:solidFill>
            <a:schemeClr val="tx1"/>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nabbasab@uw.edu"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10" Type="http://schemas.openxmlformats.org/officeDocument/2006/relationships/image" Target="../media/image18.png"/><Relationship Id="rId4" Type="http://schemas.openxmlformats.org/officeDocument/2006/relationships/diagramLayout" Target="../diagrams/layout3.xml"/><Relationship Id="rId9" Type="http://schemas.openxmlformats.org/officeDocument/2006/relationships/image" Target="../media/image21.sv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3.sv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 Id="rId9" Type="http://schemas.openxmlformats.org/officeDocument/2006/relationships/image" Target="../media/image21.svg"/></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1.svg"/></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740.png"/><Relationship Id="rId4" Type="http://schemas.openxmlformats.org/officeDocument/2006/relationships/image" Target="../media/image21.svg"/></Relationships>
</file>

<file path=ppt/slides/_rels/slide3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48.png"/><Relationship Id="rId4" Type="http://schemas.openxmlformats.org/officeDocument/2006/relationships/image" Target="../media/image4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0.xml"/><Relationship Id="rId1" Type="http://schemas.openxmlformats.org/officeDocument/2006/relationships/slideLayout" Target="../slideLayouts/slideLayout13.xml"/><Relationship Id="rId4" Type="http://schemas.openxmlformats.org/officeDocument/2006/relationships/image" Target="../media/image5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13.xml"/><Relationship Id="rId5" Type="http://schemas.openxmlformats.org/officeDocument/2006/relationships/image" Target="../media/image52.png"/><Relationship Id="rId4" Type="http://schemas.openxmlformats.org/officeDocument/2006/relationships/image" Target="../media/image51.png"/></Relationships>
</file>

<file path=ppt/slides/_rels/slide4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2.xml"/><Relationship Id="rId1" Type="http://schemas.openxmlformats.org/officeDocument/2006/relationships/slideLayout" Target="../slideLayouts/slideLayout13.xml"/><Relationship Id="rId4" Type="http://schemas.openxmlformats.org/officeDocument/2006/relationships/image" Target="../media/image54.png"/></Relationships>
</file>

<file path=ppt/slides/_rels/slide4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41.emf"/><Relationship Id="rId3" Type="http://schemas.openxmlformats.org/officeDocument/2006/relationships/image" Target="../media/image36.png"/><Relationship Id="rId7" Type="http://schemas.openxmlformats.org/officeDocument/2006/relationships/image" Target="../media/image38.emf"/><Relationship Id="rId12" Type="http://schemas.openxmlformats.org/officeDocument/2006/relationships/oleObject" Target="../embeddings/oleObject5.bin"/><Relationship Id="rId2" Type="http://schemas.openxmlformats.org/officeDocument/2006/relationships/notesSlide" Target="../notesSlides/notesSlide34.xml"/><Relationship Id="rId1" Type="http://schemas.openxmlformats.org/officeDocument/2006/relationships/slideLayout" Target="../slideLayouts/slideLayout10.xml"/><Relationship Id="rId6" Type="http://schemas.openxmlformats.org/officeDocument/2006/relationships/oleObject" Target="../embeddings/oleObject2.bin"/><Relationship Id="rId11" Type="http://schemas.openxmlformats.org/officeDocument/2006/relationships/image" Target="../media/image40.emf"/><Relationship Id="rId5" Type="http://schemas.openxmlformats.org/officeDocument/2006/relationships/image" Target="../media/image37.e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39.emf"/></Relationships>
</file>

<file path=ppt/slides/_rels/slide47.xml.rels><?xml version="1.0" encoding="UTF-8" standalone="yes"?>
<Relationships xmlns="http://schemas.openxmlformats.org/package/2006/relationships"><Relationship Id="rId3" Type="http://schemas.openxmlformats.org/officeDocument/2006/relationships/image" Target="../media/image370.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hyperlink" Target="https://colab.research.google.com/"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B5B33C-6C3C-BDB0-C68B-33BFCE7E7CC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2B21E20-ACF1-51A5-4DFC-5E7AEEA1FD3A}"/>
              </a:ext>
            </a:extLst>
          </p:cNvPr>
          <p:cNvSpPr>
            <a:spLocks noGrp="1"/>
          </p:cNvSpPr>
          <p:nvPr>
            <p:ph type="sldNum" sz="quarter" idx="12"/>
          </p:nvPr>
        </p:nvSpPr>
        <p:spPr/>
        <p:txBody>
          <a:bodyPr/>
          <a:lstStyle/>
          <a:p>
            <a:fld id="{A4DA0FD2-D456-4FC5-A587-87644C4EB2D1}" type="slidenum">
              <a:rPr lang="tr-TR" smtClean="0"/>
              <a:pPr/>
              <a:t>1</a:t>
            </a:fld>
            <a:endParaRPr lang="tr-TR"/>
          </a:p>
        </p:txBody>
      </p:sp>
      <p:sp>
        <p:nvSpPr>
          <p:cNvPr id="8" name="TextBox 7">
            <a:extLst>
              <a:ext uri="{FF2B5EF4-FFF2-40B4-BE49-F238E27FC236}">
                <a16:creationId xmlns:a16="http://schemas.microsoft.com/office/drawing/2014/main" id="{388725B2-6571-62CB-7F5A-AD118C3796AA}"/>
              </a:ext>
            </a:extLst>
          </p:cNvPr>
          <p:cNvSpPr txBox="1"/>
          <p:nvPr/>
        </p:nvSpPr>
        <p:spPr>
          <a:xfrm>
            <a:off x="616998" y="5004488"/>
            <a:ext cx="4320480" cy="1308050"/>
          </a:xfrm>
          <a:prstGeom prst="rect">
            <a:avLst/>
          </a:prstGeom>
          <a:noFill/>
        </p:spPr>
        <p:txBody>
          <a:bodyPr wrap="square">
            <a:spAutoFit/>
          </a:bodyPr>
          <a:lstStyle/>
          <a:p>
            <a:endParaRPr lang="en-US" sz="1000" dirty="0">
              <a:latin typeface="Helvetica" pitchFamily="2" charset="0"/>
              <a:ea typeface="Times New Roman" panose="02020603050405020304" pitchFamily="18" charset="0"/>
            </a:endParaRPr>
          </a:p>
          <a:p>
            <a:r>
              <a:rPr lang="en-US" sz="1000" dirty="0">
                <a:latin typeface="Helvetica" pitchFamily="2" charset="0"/>
                <a:cs typeface="Arial" panose="020B0604020202020204" pitchFamily="34" charset="0"/>
              </a:rPr>
              <a:t>Narjes Abbasabadi, Ph.D. Assistant Professor </a:t>
            </a:r>
          </a:p>
          <a:p>
            <a:r>
              <a:rPr lang="en-US" sz="1000" dirty="0">
                <a:latin typeface="Helvetica" pitchFamily="2" charset="0"/>
              </a:rPr>
              <a:t>Email: </a:t>
            </a:r>
            <a:r>
              <a:rPr lang="en-US" sz="1000" dirty="0">
                <a:latin typeface="Helvetica" pitchFamily="2" charset="0"/>
                <a:hlinkClick r:id="rId3">
                  <a:extLst>
                    <a:ext uri="{A12FA001-AC4F-418D-AE19-62706E023703}">
                      <ahyp:hlinkClr xmlns:ahyp="http://schemas.microsoft.com/office/drawing/2018/hyperlinkcolor" val="tx"/>
                    </a:ext>
                  </a:extLst>
                </a:hlinkClick>
              </a:rPr>
              <a:t>nabbasab@uw.edu</a:t>
            </a:r>
            <a:endParaRPr lang="en-US" sz="1000" dirty="0">
              <a:latin typeface="Helvetica" pitchFamily="2" charset="0"/>
            </a:endParaRPr>
          </a:p>
          <a:p>
            <a:pPr>
              <a:lnSpc>
                <a:spcPct val="80000"/>
              </a:lnSpc>
              <a:spcBef>
                <a:spcPts val="152"/>
              </a:spcBef>
              <a:buClr>
                <a:schemeClr val="dk1"/>
              </a:buClr>
              <a:buSzPts val="1800"/>
            </a:pPr>
            <a:r>
              <a:rPr lang="en-US" sz="1000" dirty="0">
                <a:latin typeface="Helvetica" pitchFamily="2" charset="0"/>
                <a:sym typeface="Arial"/>
              </a:rPr>
              <a:t>Department of Architecture</a:t>
            </a:r>
          </a:p>
          <a:p>
            <a:pPr>
              <a:lnSpc>
                <a:spcPct val="80000"/>
              </a:lnSpc>
              <a:spcBef>
                <a:spcPts val="152"/>
              </a:spcBef>
              <a:buClr>
                <a:schemeClr val="dk1"/>
              </a:buClr>
              <a:buSzPts val="1800"/>
            </a:pPr>
            <a:r>
              <a:rPr lang="en-US" sz="1000" dirty="0">
                <a:latin typeface="Helvetica" pitchFamily="2" charset="0"/>
                <a:sym typeface="Arial"/>
              </a:rPr>
              <a:t>College of Built Environments</a:t>
            </a:r>
          </a:p>
          <a:p>
            <a:r>
              <a:rPr lang="en-US" sz="1000" dirty="0">
                <a:latin typeface="Helvetica" pitchFamily="2" charset="0"/>
              </a:rPr>
              <a:t>University of Washington</a:t>
            </a:r>
          </a:p>
          <a:p>
            <a:pPr>
              <a:lnSpc>
                <a:spcPct val="80000"/>
              </a:lnSpc>
              <a:spcBef>
                <a:spcPts val="152"/>
              </a:spcBef>
              <a:buClr>
                <a:schemeClr val="dk1"/>
              </a:buClr>
              <a:buSzPts val="1800"/>
            </a:pPr>
            <a:r>
              <a:rPr lang="en-US" sz="1000" dirty="0">
                <a:latin typeface="Helvetica" pitchFamily="2" charset="0"/>
              </a:rPr>
              <a:t>Website: https://</a:t>
            </a:r>
            <a:r>
              <a:rPr lang="en-US" sz="1000" dirty="0" err="1">
                <a:latin typeface="Helvetica" pitchFamily="2" charset="0"/>
              </a:rPr>
              <a:t>silab.be.uw.edu</a:t>
            </a:r>
            <a:endParaRPr lang="en-US" sz="1000" dirty="0">
              <a:latin typeface="Helvetica" pitchFamily="2" charset="0"/>
            </a:endParaRPr>
          </a:p>
          <a:p>
            <a:endParaRPr lang="en-US" sz="1000" dirty="0">
              <a:latin typeface="Helvetica" pitchFamily="2" charset="0"/>
              <a:ea typeface="Times New Roman" panose="02020603050405020304" pitchFamily="18" charset="0"/>
            </a:endParaRPr>
          </a:p>
        </p:txBody>
      </p:sp>
      <p:sp>
        <p:nvSpPr>
          <p:cNvPr id="3" name="TextBox 2">
            <a:extLst>
              <a:ext uri="{FF2B5EF4-FFF2-40B4-BE49-F238E27FC236}">
                <a16:creationId xmlns:a16="http://schemas.microsoft.com/office/drawing/2014/main" id="{A65F9DE8-D66A-CE34-B589-7521C0FE46C6}"/>
              </a:ext>
            </a:extLst>
          </p:cNvPr>
          <p:cNvSpPr txBox="1"/>
          <p:nvPr/>
        </p:nvSpPr>
        <p:spPr>
          <a:xfrm>
            <a:off x="802180" y="2492896"/>
            <a:ext cx="9596236" cy="1569660"/>
          </a:xfrm>
          <a:prstGeom prst="rect">
            <a:avLst/>
          </a:prstGeom>
          <a:noFill/>
        </p:spPr>
        <p:txBody>
          <a:bodyPr wrap="square">
            <a:spAutoFit/>
          </a:bodyPr>
          <a:lstStyle/>
          <a:p>
            <a:r>
              <a:rPr lang="en-US" sz="3200" b="1" dirty="0">
                <a:solidFill>
                  <a:srgbClr val="4B2D83"/>
                </a:solidFill>
                <a:latin typeface="Helvetica" pitchFamily="2" charset="0"/>
              </a:rPr>
              <a:t>MACHINE </a:t>
            </a:r>
            <a:r>
              <a:rPr lang="en-US" sz="3200" b="1">
                <a:solidFill>
                  <a:srgbClr val="4B2D83"/>
                </a:solidFill>
                <a:latin typeface="Helvetica" pitchFamily="2" charset="0"/>
              </a:rPr>
              <a:t>LEARNING </a:t>
            </a:r>
          </a:p>
          <a:p>
            <a:r>
              <a:rPr lang="en-US" sz="3200" b="1">
                <a:solidFill>
                  <a:srgbClr val="7030A0"/>
                </a:solidFill>
                <a:latin typeface="Helvetica" pitchFamily="2" charset="0"/>
              </a:rPr>
              <a:t>Supervised </a:t>
            </a:r>
            <a:r>
              <a:rPr lang="en-US" sz="3200" b="1" dirty="0">
                <a:solidFill>
                  <a:srgbClr val="7030A0"/>
                </a:solidFill>
                <a:latin typeface="Helvetica" pitchFamily="2" charset="0"/>
              </a:rPr>
              <a:t>Learning: Regression</a:t>
            </a:r>
          </a:p>
          <a:p>
            <a:endParaRPr lang="en-US" sz="3200" b="1" dirty="0">
              <a:solidFill>
                <a:srgbClr val="4B2D83"/>
              </a:solidFill>
              <a:latin typeface="Helvetica" pitchFamily="2" charset="0"/>
            </a:endParaRPr>
          </a:p>
        </p:txBody>
      </p:sp>
      <p:sp>
        <p:nvSpPr>
          <p:cNvPr id="12" name="TextBox 11">
            <a:extLst>
              <a:ext uri="{FF2B5EF4-FFF2-40B4-BE49-F238E27FC236}">
                <a16:creationId xmlns:a16="http://schemas.microsoft.com/office/drawing/2014/main" id="{16F3271D-366C-BF29-AD91-513D509DC3F7}"/>
              </a:ext>
            </a:extLst>
          </p:cNvPr>
          <p:cNvSpPr txBox="1"/>
          <p:nvPr/>
        </p:nvSpPr>
        <p:spPr>
          <a:xfrm>
            <a:off x="802180" y="1007793"/>
            <a:ext cx="8568952" cy="584775"/>
          </a:xfrm>
          <a:prstGeom prst="rect">
            <a:avLst/>
          </a:prstGeom>
          <a:noFill/>
        </p:spPr>
        <p:txBody>
          <a:bodyPr wrap="square">
            <a:spAutoFit/>
          </a:bodyPr>
          <a:lstStyle/>
          <a:p>
            <a:r>
              <a:rPr lang="en-US" sz="1600" b="1" dirty="0">
                <a:latin typeface="Helvetica" pitchFamily="2" charset="0"/>
                <a:ea typeface="Times New Roman" panose="02020603050405020304" pitchFamily="18" charset="0"/>
              </a:rPr>
              <a:t>ARCH 594/508: AI Research Seminar/Studio—AI in Architecture</a:t>
            </a:r>
          </a:p>
          <a:p>
            <a:r>
              <a:rPr lang="en-US" sz="1600" dirty="0">
                <a:latin typeface="Helvetica" pitchFamily="2" charset="0"/>
                <a:ea typeface="Times New Roman" panose="02020603050405020304" pitchFamily="18" charset="0"/>
              </a:rPr>
              <a:t>Spring 2026</a:t>
            </a:r>
          </a:p>
        </p:txBody>
      </p:sp>
    </p:spTree>
    <p:extLst>
      <p:ext uri="{BB962C8B-B14F-4D97-AF65-F5344CB8AC3E}">
        <p14:creationId xmlns:p14="http://schemas.microsoft.com/office/powerpoint/2010/main" val="3322306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69AFC6-5E54-C778-A62A-30F76A304E0C}"/>
              </a:ext>
            </a:extLst>
          </p:cNvPr>
          <p:cNvSpPr>
            <a:spLocks noGrp="1"/>
          </p:cNvSpPr>
          <p:nvPr>
            <p:ph type="title"/>
          </p:nvPr>
        </p:nvSpPr>
        <p:spPr/>
        <p:txBody>
          <a:bodyPr/>
          <a:lstStyle/>
          <a:p>
            <a:r>
              <a:rPr lang="en-US" dirty="0"/>
              <a:t>Agenda for today’s class</a:t>
            </a:r>
          </a:p>
        </p:txBody>
      </p:sp>
      <p:sp>
        <p:nvSpPr>
          <p:cNvPr id="3" name="Content Placeholder 2">
            <a:extLst>
              <a:ext uri="{FF2B5EF4-FFF2-40B4-BE49-F238E27FC236}">
                <a16:creationId xmlns:a16="http://schemas.microsoft.com/office/drawing/2014/main" id="{4BEF0204-860F-26E2-52F7-DFF2A9403D16}"/>
              </a:ext>
            </a:extLst>
          </p:cNvPr>
          <p:cNvSpPr>
            <a:spLocks noGrp="1"/>
          </p:cNvSpPr>
          <p:nvPr>
            <p:ph idx="1"/>
          </p:nvPr>
        </p:nvSpPr>
        <p:spPr/>
        <p:txBody>
          <a:bodyPr>
            <a:normAutofit/>
          </a:bodyPr>
          <a:lstStyle/>
          <a:p>
            <a:pPr marL="0" indent="0">
              <a:buNone/>
            </a:pPr>
            <a:r>
              <a:rPr lang="en-US" b="1" i="0" u="none" strike="noStrike" dirty="0">
                <a:effectLst/>
              </a:rPr>
              <a:t>Machine Learning Fundamentals</a:t>
            </a:r>
          </a:p>
          <a:p>
            <a:pPr marL="324000" lvl="1" indent="0">
              <a:buNone/>
            </a:pPr>
            <a:r>
              <a:rPr lang="en-US" i="0" u="none" strike="noStrike" dirty="0">
                <a:effectLst/>
              </a:rPr>
              <a:t>Introduction on ML Types and Applications</a:t>
            </a:r>
          </a:p>
          <a:p>
            <a:pPr marL="324000" lvl="1" indent="0">
              <a:buNone/>
            </a:pPr>
            <a:r>
              <a:rPr lang="en-US" i="0" u="none" strike="noStrike" dirty="0">
                <a:effectLst/>
              </a:rPr>
              <a:t>Supervised Learning</a:t>
            </a:r>
          </a:p>
          <a:p>
            <a:pPr lvl="1">
              <a:buFont typeface="Arial" panose="020B0604020202020204" pitchFamily="34" charset="0"/>
              <a:buChar char="•"/>
            </a:pPr>
            <a:r>
              <a:rPr lang="en-US" b="0" i="0" u="none" strike="noStrike" dirty="0">
                <a:effectLst/>
              </a:rPr>
              <a:t>Prediction</a:t>
            </a:r>
          </a:p>
          <a:p>
            <a:pPr lvl="1">
              <a:buFont typeface="Arial" panose="020B0604020202020204" pitchFamily="34" charset="0"/>
              <a:buChar char="•"/>
            </a:pPr>
            <a:r>
              <a:rPr lang="en-US" b="0" i="0" u="none" strike="noStrike" dirty="0">
                <a:effectLst/>
              </a:rPr>
              <a:t>Regression</a:t>
            </a:r>
          </a:p>
          <a:p>
            <a:pPr lvl="1">
              <a:buFont typeface="Arial" panose="020B0604020202020204" pitchFamily="34" charset="0"/>
              <a:buChar char="•"/>
            </a:pPr>
            <a:r>
              <a:rPr lang="en-US" dirty="0"/>
              <a:t>Feature Selection</a:t>
            </a:r>
            <a:endParaRPr lang="en-US" b="0" i="0" u="none" strike="noStrike" dirty="0">
              <a:effectLst/>
            </a:endParaRPr>
          </a:p>
          <a:p>
            <a:pPr lvl="1">
              <a:buFont typeface="Arial" panose="020B0604020202020204" pitchFamily="34" charset="0"/>
              <a:buChar char="•"/>
            </a:pPr>
            <a:r>
              <a:rPr lang="en-US" dirty="0"/>
              <a:t>Model Evaluation</a:t>
            </a:r>
          </a:p>
          <a:p>
            <a:pPr marL="0" lvl="1" indent="0">
              <a:buNone/>
            </a:pPr>
            <a:r>
              <a:rPr lang="en-US" sz="1800" b="1" dirty="0"/>
              <a:t>Computational Hands-On Activity</a:t>
            </a:r>
          </a:p>
          <a:p>
            <a:pPr lvl="1">
              <a:buFont typeface="Arial" panose="020B0604020202020204" pitchFamily="34" charset="0"/>
              <a:buChar char="•"/>
            </a:pPr>
            <a:r>
              <a:rPr lang="en-US" dirty="0"/>
              <a:t>Regression</a:t>
            </a:r>
            <a:endParaRPr lang="en-US" sz="1400" dirty="0"/>
          </a:p>
        </p:txBody>
      </p:sp>
      <p:sp>
        <p:nvSpPr>
          <p:cNvPr id="4" name="Slide Number Placeholder 3">
            <a:extLst>
              <a:ext uri="{FF2B5EF4-FFF2-40B4-BE49-F238E27FC236}">
                <a16:creationId xmlns:a16="http://schemas.microsoft.com/office/drawing/2014/main" id="{DC2F2866-D278-F635-F9A1-D1600FF673F7}"/>
              </a:ext>
            </a:extLst>
          </p:cNvPr>
          <p:cNvSpPr>
            <a:spLocks noGrp="1"/>
          </p:cNvSpPr>
          <p:nvPr>
            <p:ph type="sldNum" sz="quarter" idx="12"/>
          </p:nvPr>
        </p:nvSpPr>
        <p:spPr/>
        <p:txBody>
          <a:bodyPr/>
          <a:lstStyle/>
          <a:p>
            <a:fld id="{A4DA0FD2-D456-4FC5-A587-87644C4EB2D1}" type="slidenum">
              <a:rPr lang="tr-TR" smtClean="0"/>
              <a:pPr/>
              <a:t>2</a:t>
            </a:fld>
            <a:endParaRPr lang="tr-TR"/>
          </a:p>
        </p:txBody>
      </p:sp>
    </p:spTree>
    <p:extLst>
      <p:ext uri="{BB962C8B-B14F-4D97-AF65-F5344CB8AC3E}">
        <p14:creationId xmlns:p14="http://schemas.microsoft.com/office/powerpoint/2010/main" val="1499173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7B6EC-AEF6-F63C-4B71-0457892A5CCD}"/>
              </a:ext>
            </a:extLst>
          </p:cNvPr>
          <p:cNvSpPr>
            <a:spLocks noGrp="1"/>
          </p:cNvSpPr>
          <p:nvPr>
            <p:ph type="title"/>
          </p:nvPr>
        </p:nvSpPr>
        <p:spPr/>
        <p:txBody>
          <a:bodyPr/>
          <a:lstStyle/>
          <a:p>
            <a:endParaRPr lang="en-US"/>
          </a:p>
        </p:txBody>
      </p:sp>
      <p:sp>
        <p:nvSpPr>
          <p:cNvPr id="4" name="Slide Number Placeholder 3">
            <a:extLst>
              <a:ext uri="{FF2B5EF4-FFF2-40B4-BE49-F238E27FC236}">
                <a16:creationId xmlns:a16="http://schemas.microsoft.com/office/drawing/2014/main" id="{8708023B-6FFE-F52C-016A-78DC906B67DE}"/>
              </a:ext>
            </a:extLst>
          </p:cNvPr>
          <p:cNvSpPr>
            <a:spLocks noGrp="1"/>
          </p:cNvSpPr>
          <p:nvPr>
            <p:ph type="sldNum" sz="quarter" idx="12"/>
          </p:nvPr>
        </p:nvSpPr>
        <p:spPr/>
        <p:txBody>
          <a:bodyPr/>
          <a:lstStyle/>
          <a:p>
            <a:fld id="{A4DA0FD2-D456-4FC5-A587-87644C4EB2D1}" type="slidenum">
              <a:rPr lang="tr-TR" smtClean="0"/>
              <a:pPr/>
              <a:t>3</a:t>
            </a:fld>
            <a:endParaRPr lang="tr-TR"/>
          </a:p>
        </p:txBody>
      </p:sp>
      <p:pic>
        <p:nvPicPr>
          <p:cNvPr id="10" name="Content Placeholder 9" descr="A diagram of machine learning&#10;&#10;AI-generated content may be incorrect.">
            <a:extLst>
              <a:ext uri="{FF2B5EF4-FFF2-40B4-BE49-F238E27FC236}">
                <a16:creationId xmlns:a16="http://schemas.microsoft.com/office/drawing/2014/main" id="{367A5C84-94AE-F806-C808-F6E53FBD0116}"/>
              </a:ext>
            </a:extLst>
          </p:cNvPr>
          <p:cNvPicPr>
            <a:picLocks noGrp="1" noChangeAspect="1"/>
          </p:cNvPicPr>
          <p:nvPr>
            <p:ph idx="1"/>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l="16718" t="2153" r="9831" b="2609"/>
          <a:stretch>
            <a:fillRect/>
          </a:stretch>
        </p:blipFill>
        <p:spPr>
          <a:xfrm>
            <a:off x="2315580" y="1168619"/>
            <a:ext cx="7560840" cy="4968552"/>
          </a:xfrm>
          <a:prstGeom prst="ellipse">
            <a:avLst/>
          </a:prstGeom>
        </p:spPr>
      </p:pic>
    </p:spTree>
    <p:extLst>
      <p:ext uri="{BB962C8B-B14F-4D97-AF65-F5344CB8AC3E}">
        <p14:creationId xmlns:p14="http://schemas.microsoft.com/office/powerpoint/2010/main" val="4127910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61453-969F-ED4A-ADD6-2A93A8E7A875}"/>
              </a:ext>
            </a:extLst>
          </p:cNvPr>
          <p:cNvSpPr>
            <a:spLocks noGrp="1"/>
          </p:cNvSpPr>
          <p:nvPr>
            <p:ph type="title"/>
          </p:nvPr>
        </p:nvSpPr>
        <p:spPr/>
        <p:txBody>
          <a:bodyPr/>
          <a:lstStyle/>
          <a:p>
            <a:r>
              <a:rPr lang="en-US" dirty="0"/>
              <a:t>What is ML?</a:t>
            </a:r>
          </a:p>
        </p:txBody>
      </p:sp>
      <p:sp>
        <p:nvSpPr>
          <p:cNvPr id="3" name="Content Placeholder 2">
            <a:extLst>
              <a:ext uri="{FF2B5EF4-FFF2-40B4-BE49-F238E27FC236}">
                <a16:creationId xmlns:a16="http://schemas.microsoft.com/office/drawing/2014/main" id="{F82AD3FC-D6E8-DA4D-B59F-C67D6D77DF52}"/>
              </a:ext>
            </a:extLst>
          </p:cNvPr>
          <p:cNvSpPr>
            <a:spLocks noGrp="1"/>
          </p:cNvSpPr>
          <p:nvPr>
            <p:ph idx="1"/>
          </p:nvPr>
        </p:nvSpPr>
        <p:spPr>
          <a:xfrm>
            <a:off x="839416" y="2228004"/>
            <a:ext cx="5400600" cy="3630795"/>
          </a:xfrm>
        </p:spPr>
        <p:txBody>
          <a:bodyPr>
            <a:normAutofit/>
          </a:bodyPr>
          <a:lstStyle/>
          <a:p>
            <a:pPr marL="0" indent="0">
              <a:buNone/>
            </a:pPr>
            <a:r>
              <a:rPr lang="en-US" dirty="0"/>
              <a:t>Machine learning is a subset of AI, enabling systems to learn in changing environments without explicit programming for all scenarios.</a:t>
            </a:r>
          </a:p>
          <a:p>
            <a:pPr marL="0" indent="0">
              <a:buNone/>
            </a:pPr>
            <a:endParaRPr lang="en-US" i="1" dirty="0"/>
          </a:p>
          <a:p>
            <a:pPr marL="0" indent="0">
              <a:buNone/>
            </a:pPr>
            <a:endParaRPr lang="en-US" i="1" dirty="0"/>
          </a:p>
        </p:txBody>
      </p:sp>
      <p:sp>
        <p:nvSpPr>
          <p:cNvPr id="4" name="Slide Number Placeholder 3">
            <a:extLst>
              <a:ext uri="{FF2B5EF4-FFF2-40B4-BE49-F238E27FC236}">
                <a16:creationId xmlns:a16="http://schemas.microsoft.com/office/drawing/2014/main" id="{FEE8B9EE-564B-494F-8584-DE795155BEDD}"/>
              </a:ext>
            </a:extLst>
          </p:cNvPr>
          <p:cNvSpPr>
            <a:spLocks noGrp="1"/>
          </p:cNvSpPr>
          <p:nvPr>
            <p:ph type="sldNum" sz="quarter" idx="12"/>
          </p:nvPr>
        </p:nvSpPr>
        <p:spPr/>
        <p:txBody>
          <a:bodyPr/>
          <a:lstStyle/>
          <a:p>
            <a:fld id="{4F76C18F-78ED-364E-868B-B1136D5278E5}" type="slidenum">
              <a:rPr lang="en-US" smtClean="0"/>
              <a:t>4</a:t>
            </a:fld>
            <a:endParaRPr lang="en-US"/>
          </a:p>
        </p:txBody>
      </p:sp>
      <p:sp>
        <p:nvSpPr>
          <p:cNvPr id="6" name="TextBox 5">
            <a:extLst>
              <a:ext uri="{FF2B5EF4-FFF2-40B4-BE49-F238E27FC236}">
                <a16:creationId xmlns:a16="http://schemas.microsoft.com/office/drawing/2014/main" id="{2E4DCD91-73EB-3B79-7504-18AA3086F0B6}"/>
              </a:ext>
            </a:extLst>
          </p:cNvPr>
          <p:cNvSpPr txBox="1"/>
          <p:nvPr/>
        </p:nvSpPr>
        <p:spPr>
          <a:xfrm>
            <a:off x="6898320" y="5858797"/>
            <a:ext cx="3188489" cy="400110"/>
          </a:xfrm>
          <a:prstGeom prst="rect">
            <a:avLst/>
          </a:prstGeom>
          <a:noFill/>
        </p:spPr>
        <p:txBody>
          <a:bodyPr wrap="square">
            <a:spAutoFit/>
          </a:bodyPr>
          <a:lstStyle/>
          <a:p>
            <a:r>
              <a:rPr lang="en-US" sz="1000" dirty="0" err="1">
                <a:solidFill>
                  <a:srgbClr val="444444"/>
                </a:solidFill>
                <a:latin typeface="Open Sans" panose="020B0606030504020204" pitchFamily="34" charset="0"/>
              </a:rPr>
              <a:t>Alpaydin</a:t>
            </a:r>
            <a:r>
              <a:rPr lang="en-US" sz="1000" dirty="0">
                <a:solidFill>
                  <a:srgbClr val="444444"/>
                </a:solidFill>
                <a:latin typeface="Open Sans" panose="020B0606030504020204" pitchFamily="34" charset="0"/>
              </a:rPr>
              <a:t>, E., (2020). Introduction to Machine Learning, 4th Edition, The MIT Press</a:t>
            </a:r>
          </a:p>
        </p:txBody>
      </p:sp>
      <p:pic>
        <p:nvPicPr>
          <p:cNvPr id="8" name="Picture 2">
            <a:extLst>
              <a:ext uri="{FF2B5EF4-FFF2-40B4-BE49-F238E27FC236}">
                <a16:creationId xmlns:a16="http://schemas.microsoft.com/office/drawing/2014/main" id="{69EB92A4-4465-DA8F-CA00-BC07EFF6A9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0400" y="2228003"/>
            <a:ext cx="3124094" cy="3568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10967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F4079-22D4-5A3E-F5F3-CD28D5FF3B3D}"/>
              </a:ext>
            </a:extLst>
          </p:cNvPr>
          <p:cNvSpPr>
            <a:spLocks noGrp="1"/>
          </p:cNvSpPr>
          <p:nvPr>
            <p:ph type="title"/>
          </p:nvPr>
        </p:nvSpPr>
        <p:spPr/>
        <p:txBody>
          <a:bodyPr>
            <a:normAutofit/>
          </a:bodyPr>
          <a:lstStyle/>
          <a:p>
            <a:r>
              <a:rPr lang="en-US" dirty="0"/>
              <a:t>ML and Optimizing Performance</a:t>
            </a:r>
          </a:p>
        </p:txBody>
      </p:sp>
      <p:sp>
        <p:nvSpPr>
          <p:cNvPr id="3" name="Content Placeholder 2">
            <a:extLst>
              <a:ext uri="{FF2B5EF4-FFF2-40B4-BE49-F238E27FC236}">
                <a16:creationId xmlns:a16="http://schemas.microsoft.com/office/drawing/2014/main" id="{CD71B408-F0F5-FCF8-F50B-53018713E594}"/>
              </a:ext>
            </a:extLst>
          </p:cNvPr>
          <p:cNvSpPr>
            <a:spLocks noGrp="1"/>
          </p:cNvSpPr>
          <p:nvPr>
            <p:ph idx="1"/>
          </p:nvPr>
        </p:nvSpPr>
        <p:spPr>
          <a:xfrm>
            <a:off x="774922" y="2228004"/>
            <a:ext cx="4889030" cy="3630795"/>
          </a:xfrm>
        </p:spPr>
        <p:txBody>
          <a:bodyPr>
            <a:normAutofit/>
          </a:bodyPr>
          <a:lstStyle/>
          <a:p>
            <a:r>
              <a:rPr lang="en-US" dirty="0">
                <a:solidFill>
                  <a:srgbClr val="7030A0"/>
                </a:solidFill>
              </a:rPr>
              <a:t>Machine Learning: </a:t>
            </a:r>
            <a:r>
              <a:rPr lang="en-US" dirty="0"/>
              <a:t>relies on inference and pattern recognition, not explicit rules.</a:t>
            </a:r>
          </a:p>
          <a:p>
            <a:endParaRPr lang="en-US" dirty="0"/>
          </a:p>
          <a:p>
            <a:endParaRPr lang="en-US" dirty="0"/>
          </a:p>
          <a:p>
            <a:pPr>
              <a:buFont typeface="Courier New" panose="02070309020205020404" pitchFamily="49" charset="0"/>
              <a:buChar char="o"/>
            </a:pPr>
            <a:r>
              <a:rPr lang="en-US" sz="1600" dirty="0">
                <a:solidFill>
                  <a:srgbClr val="7030A0"/>
                </a:solidFill>
              </a:rPr>
              <a:t>Role of Statistics: </a:t>
            </a:r>
            <a:r>
              <a:rPr lang="en-US" sz="1600" dirty="0"/>
              <a:t>Infer from samples, guide modeling.</a:t>
            </a:r>
          </a:p>
          <a:p>
            <a:pPr>
              <a:buFont typeface="Courier New" panose="02070309020205020404" pitchFamily="49" charset="0"/>
              <a:buChar char="o"/>
            </a:pPr>
            <a:r>
              <a:rPr lang="en-US" sz="1600" dirty="0">
                <a:solidFill>
                  <a:srgbClr val="7030A0"/>
                </a:solidFill>
              </a:rPr>
              <a:t>Role of Computer Science: </a:t>
            </a:r>
            <a:r>
              <a:rPr lang="en-US" sz="1600" dirty="0"/>
              <a:t>Develop efficient algorithms to solve and evaluate models.</a:t>
            </a:r>
          </a:p>
        </p:txBody>
      </p:sp>
      <p:sp>
        <p:nvSpPr>
          <p:cNvPr id="4" name="Slide Number Placeholder 3">
            <a:extLst>
              <a:ext uri="{FF2B5EF4-FFF2-40B4-BE49-F238E27FC236}">
                <a16:creationId xmlns:a16="http://schemas.microsoft.com/office/drawing/2014/main" id="{ECF2E6CD-3D26-7857-DE54-645607CC4C60}"/>
              </a:ext>
            </a:extLst>
          </p:cNvPr>
          <p:cNvSpPr>
            <a:spLocks noGrp="1"/>
          </p:cNvSpPr>
          <p:nvPr>
            <p:ph type="sldNum" sz="quarter" idx="12"/>
          </p:nvPr>
        </p:nvSpPr>
        <p:spPr/>
        <p:txBody>
          <a:bodyPr/>
          <a:lstStyle/>
          <a:p>
            <a:fld id="{A4DA0FD2-D456-4FC5-A587-87644C4EB2D1}" type="slidenum">
              <a:rPr lang="tr-TR" smtClean="0"/>
              <a:pPr/>
              <a:t>5</a:t>
            </a:fld>
            <a:endParaRPr lang="tr-TR"/>
          </a:p>
        </p:txBody>
      </p:sp>
      <p:pic>
        <p:nvPicPr>
          <p:cNvPr id="2050" name="Picture 2" descr="How to Develop Machine Learning Applications for Business">
            <a:extLst>
              <a:ext uri="{FF2B5EF4-FFF2-40B4-BE49-F238E27FC236}">
                <a16:creationId xmlns:a16="http://schemas.microsoft.com/office/drawing/2014/main" id="{A94E9D09-9056-CC7A-3CAD-DE4B0A8849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4756" y="2873667"/>
            <a:ext cx="4340188" cy="2808312"/>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D18E2C8-F016-5538-99E2-ED7F7EEAFF8E}"/>
              </a:ext>
            </a:extLst>
          </p:cNvPr>
          <p:cNvSpPr txBox="1"/>
          <p:nvPr/>
        </p:nvSpPr>
        <p:spPr>
          <a:xfrm>
            <a:off x="5740732" y="5644850"/>
            <a:ext cx="4340188" cy="338554"/>
          </a:xfrm>
          <a:prstGeom prst="rect">
            <a:avLst/>
          </a:prstGeom>
          <a:noFill/>
        </p:spPr>
        <p:txBody>
          <a:bodyPr wrap="square">
            <a:spAutoFit/>
          </a:bodyPr>
          <a:lstStyle/>
          <a:p>
            <a:r>
              <a:rPr lang="en-US" sz="800" dirty="0">
                <a:latin typeface="Arial" panose="020B0604020202020204" pitchFamily="34" charset="0"/>
                <a:cs typeface="Arial" panose="020B0604020202020204" pitchFamily="34" charset="0"/>
              </a:rPr>
              <a:t>Image: https://</a:t>
            </a:r>
            <a:r>
              <a:rPr lang="en-US" sz="800" dirty="0" err="1">
                <a:latin typeface="Arial" panose="020B0604020202020204" pitchFamily="34" charset="0"/>
                <a:cs typeface="Arial" panose="020B0604020202020204" pitchFamily="34" charset="0"/>
              </a:rPr>
              <a:t>www.einfochips.com</a:t>
            </a:r>
            <a:r>
              <a:rPr lang="en-US" sz="800" dirty="0">
                <a:latin typeface="Arial" panose="020B0604020202020204" pitchFamily="34" charset="0"/>
                <a:cs typeface="Arial" panose="020B0604020202020204" pitchFamily="34" charset="0"/>
              </a:rPr>
              <a:t>/blog/how-to-develop-machine-learning-applications-for-business/</a:t>
            </a:r>
          </a:p>
        </p:txBody>
      </p:sp>
    </p:spTree>
    <p:extLst>
      <p:ext uri="{BB962C8B-B14F-4D97-AF65-F5344CB8AC3E}">
        <p14:creationId xmlns:p14="http://schemas.microsoft.com/office/powerpoint/2010/main" val="19106477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6E1A7-7525-EE3E-7B2B-A4C3A2FFF69B}"/>
              </a:ext>
            </a:extLst>
          </p:cNvPr>
          <p:cNvSpPr>
            <a:spLocks noGrp="1"/>
          </p:cNvSpPr>
          <p:nvPr>
            <p:ph type="title"/>
          </p:nvPr>
        </p:nvSpPr>
        <p:spPr/>
        <p:txBody>
          <a:bodyPr/>
          <a:lstStyle/>
          <a:p>
            <a:r>
              <a:rPr lang="en-US" dirty="0"/>
              <a:t>Why “Learn”?</a:t>
            </a:r>
          </a:p>
        </p:txBody>
      </p:sp>
      <p:sp>
        <p:nvSpPr>
          <p:cNvPr id="3" name="Content Placeholder 2">
            <a:extLst>
              <a:ext uri="{FF2B5EF4-FFF2-40B4-BE49-F238E27FC236}">
                <a16:creationId xmlns:a16="http://schemas.microsoft.com/office/drawing/2014/main" id="{B8B1C17D-83DD-3572-A6A3-1990199F6573}"/>
              </a:ext>
            </a:extLst>
          </p:cNvPr>
          <p:cNvSpPr>
            <a:spLocks noGrp="1"/>
          </p:cNvSpPr>
          <p:nvPr>
            <p:ph idx="1"/>
          </p:nvPr>
        </p:nvSpPr>
        <p:spPr/>
        <p:txBody>
          <a:bodyPr>
            <a:normAutofit/>
          </a:bodyPr>
          <a:lstStyle/>
          <a:p>
            <a:r>
              <a:rPr lang="en-US" dirty="0"/>
              <a:t>Routine Tasks: No learning needed (e.g., payroll processing)</a:t>
            </a:r>
          </a:p>
          <a:p>
            <a:r>
              <a:rPr lang="en-US" dirty="0"/>
              <a:t>Machine Learning is Essential When:</a:t>
            </a:r>
          </a:p>
          <a:p>
            <a:pPr lvl="1">
              <a:buFont typeface="Courier New" panose="02070309020205020404" pitchFamily="49" charset="0"/>
              <a:buChar char="o"/>
            </a:pPr>
            <a:r>
              <a:rPr lang="en-US" dirty="0"/>
              <a:t>No Human Expertise Exists (e.g., Navigating on Mars)</a:t>
            </a:r>
          </a:p>
          <a:p>
            <a:pPr lvl="1">
              <a:buFont typeface="Courier New" panose="02070309020205020404" pitchFamily="49" charset="0"/>
              <a:buChar char="o"/>
            </a:pPr>
            <a:r>
              <a:rPr lang="en-US" dirty="0"/>
              <a:t>Expertise is Hard to Explain (e.g., Recognizing speech)</a:t>
            </a:r>
          </a:p>
          <a:p>
            <a:pPr lvl="1">
              <a:buFont typeface="Courier New" panose="02070309020205020404" pitchFamily="49" charset="0"/>
              <a:buChar char="o"/>
            </a:pPr>
            <a:r>
              <a:rPr lang="en-US" dirty="0"/>
              <a:t>Evolving Solutions (e.g., Network routing adapting to traffic)</a:t>
            </a:r>
          </a:p>
          <a:p>
            <a:pPr lvl="1">
              <a:buFont typeface="Courier New" panose="02070309020205020404" pitchFamily="49" charset="0"/>
              <a:buChar char="o"/>
            </a:pPr>
            <a:r>
              <a:rPr lang="en-US" dirty="0"/>
              <a:t>Need for Personalization (e.g., User-specific biometrics)</a:t>
            </a:r>
          </a:p>
        </p:txBody>
      </p:sp>
      <p:sp>
        <p:nvSpPr>
          <p:cNvPr id="4" name="Slide Number Placeholder 3">
            <a:extLst>
              <a:ext uri="{FF2B5EF4-FFF2-40B4-BE49-F238E27FC236}">
                <a16:creationId xmlns:a16="http://schemas.microsoft.com/office/drawing/2014/main" id="{C7A4F118-0CE2-0AB3-91DC-42E73E2E8709}"/>
              </a:ext>
            </a:extLst>
          </p:cNvPr>
          <p:cNvSpPr>
            <a:spLocks noGrp="1"/>
          </p:cNvSpPr>
          <p:nvPr>
            <p:ph type="sldNum" sz="quarter" idx="12"/>
          </p:nvPr>
        </p:nvSpPr>
        <p:spPr/>
        <p:txBody>
          <a:bodyPr/>
          <a:lstStyle/>
          <a:p>
            <a:fld id="{A4DA0FD2-D456-4FC5-A587-87644C4EB2D1}" type="slidenum">
              <a:rPr lang="tr-TR" smtClean="0"/>
              <a:pPr/>
              <a:t>6</a:t>
            </a:fld>
            <a:endParaRPr lang="tr-TR"/>
          </a:p>
        </p:txBody>
      </p:sp>
      <p:sp>
        <p:nvSpPr>
          <p:cNvPr id="5" name="TextBox 4">
            <a:extLst>
              <a:ext uri="{FF2B5EF4-FFF2-40B4-BE49-F238E27FC236}">
                <a16:creationId xmlns:a16="http://schemas.microsoft.com/office/drawing/2014/main" id="{361409AA-559B-DA7A-CEAF-C7DD7E06FE2B}"/>
              </a:ext>
            </a:extLst>
          </p:cNvPr>
          <p:cNvSpPr txBox="1"/>
          <p:nvPr/>
        </p:nvSpPr>
        <p:spPr>
          <a:xfrm>
            <a:off x="7937946" y="5546154"/>
            <a:ext cx="1981880" cy="215444"/>
          </a:xfrm>
          <a:prstGeom prst="rect">
            <a:avLst/>
          </a:prstGeom>
          <a:noFill/>
        </p:spPr>
        <p:txBody>
          <a:bodyPr wrap="square">
            <a:spAutoFit/>
          </a:bodyPr>
          <a:lstStyle/>
          <a:p>
            <a:pPr algn="l"/>
            <a:r>
              <a:rPr lang="en-US" sz="800" b="1" dirty="0">
                <a:solidFill>
                  <a:srgbClr val="222222"/>
                </a:solidFill>
                <a:latin typeface="-apple-system"/>
              </a:rPr>
              <a:t>deep-learning with anomaly detection</a:t>
            </a:r>
          </a:p>
        </p:txBody>
      </p:sp>
      <p:pic>
        <p:nvPicPr>
          <p:cNvPr id="6" name="Picture 2" descr="figure 1">
            <a:extLst>
              <a:ext uri="{FF2B5EF4-FFF2-40B4-BE49-F238E27FC236}">
                <a16:creationId xmlns:a16="http://schemas.microsoft.com/office/drawing/2014/main" id="{E4544A08-B381-C198-B1BC-4BA12E348A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99778" y="3868315"/>
            <a:ext cx="3424897" cy="159995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9BEB0F5-728B-8678-1833-E64C02D0D559}"/>
              </a:ext>
            </a:extLst>
          </p:cNvPr>
          <p:cNvSpPr txBox="1"/>
          <p:nvPr/>
        </p:nvSpPr>
        <p:spPr>
          <a:xfrm>
            <a:off x="7937946" y="5679416"/>
            <a:ext cx="6158344" cy="215444"/>
          </a:xfrm>
          <a:prstGeom prst="rect">
            <a:avLst/>
          </a:prstGeom>
          <a:noFill/>
        </p:spPr>
        <p:txBody>
          <a:bodyPr wrap="square">
            <a:spAutoFit/>
          </a:bodyPr>
          <a:lstStyle/>
          <a:p>
            <a:r>
              <a:rPr lang="en-US" sz="800" dirty="0"/>
              <a:t>https://</a:t>
            </a:r>
            <a:r>
              <a:rPr lang="en-US" sz="800" dirty="0" err="1"/>
              <a:t>www.nature.com</a:t>
            </a:r>
            <a:r>
              <a:rPr lang="en-US" sz="800" dirty="0"/>
              <a:t>/articles/s41598-020-76389-4</a:t>
            </a:r>
          </a:p>
        </p:txBody>
      </p:sp>
      <p:pic>
        <p:nvPicPr>
          <p:cNvPr id="8" name="Picture 4" descr="figure 2">
            <a:extLst>
              <a:ext uri="{FF2B5EF4-FFF2-40B4-BE49-F238E27FC236}">
                <a16:creationId xmlns:a16="http://schemas.microsoft.com/office/drawing/2014/main" id="{0CB78D4F-6EF6-F159-9963-B5E58D28DD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08168" y="1832081"/>
            <a:ext cx="3486155" cy="17659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46341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9353E-3D7E-9683-E005-181604146F7B}"/>
              </a:ext>
            </a:extLst>
          </p:cNvPr>
          <p:cNvSpPr>
            <a:spLocks noGrp="1"/>
          </p:cNvSpPr>
          <p:nvPr>
            <p:ph type="title"/>
          </p:nvPr>
        </p:nvSpPr>
        <p:spPr>
          <a:xfrm>
            <a:off x="2105192" y="687475"/>
            <a:ext cx="7989752" cy="1083329"/>
          </a:xfrm>
        </p:spPr>
        <p:txBody>
          <a:bodyPr anchor="b">
            <a:normAutofit/>
          </a:bodyPr>
          <a:lstStyle/>
          <a:p>
            <a:pPr>
              <a:lnSpc>
                <a:spcPct val="90000"/>
              </a:lnSpc>
            </a:pPr>
            <a:br>
              <a:rPr lang="en-US" sz="2400" dirty="0"/>
            </a:br>
            <a:r>
              <a:rPr lang="en-US" sz="2400" dirty="0"/>
              <a:t>Machine Learning main Components </a:t>
            </a:r>
            <a:br>
              <a:rPr lang="en-US" sz="2400" dirty="0"/>
            </a:br>
            <a:endParaRPr lang="en-US" sz="2400" dirty="0"/>
          </a:p>
        </p:txBody>
      </p:sp>
      <p:sp>
        <p:nvSpPr>
          <p:cNvPr id="4" name="Slide Number Placeholder 3">
            <a:extLst>
              <a:ext uri="{FF2B5EF4-FFF2-40B4-BE49-F238E27FC236}">
                <a16:creationId xmlns:a16="http://schemas.microsoft.com/office/drawing/2014/main" id="{4D5F719F-F1C1-4318-91B0-96CECC3B3529}"/>
              </a:ext>
            </a:extLst>
          </p:cNvPr>
          <p:cNvSpPr>
            <a:spLocks noGrp="1"/>
          </p:cNvSpPr>
          <p:nvPr>
            <p:ph type="sldNum" sz="quarter" idx="12"/>
          </p:nvPr>
        </p:nvSpPr>
        <p:spPr>
          <a:xfrm>
            <a:off x="9324476" y="5956137"/>
            <a:ext cx="770468" cy="365125"/>
          </a:xfrm>
        </p:spPr>
        <p:txBody>
          <a:bodyPr anchor="ctr">
            <a:normAutofit/>
          </a:bodyPr>
          <a:lstStyle/>
          <a:p>
            <a:pPr>
              <a:spcAft>
                <a:spcPts val="600"/>
              </a:spcAft>
            </a:pPr>
            <a:fld id="{A4DA0FD2-D456-4FC5-A587-87644C4EB2D1}" type="slidenum">
              <a:rPr lang="tr-TR" smtClean="0"/>
              <a:pPr>
                <a:spcAft>
                  <a:spcPts val="600"/>
                </a:spcAft>
              </a:pPr>
              <a:t>7</a:t>
            </a:fld>
            <a:endParaRPr lang="tr-TR"/>
          </a:p>
        </p:txBody>
      </p:sp>
      <p:sp>
        <p:nvSpPr>
          <p:cNvPr id="5" name="Content Placeholder 4">
            <a:extLst>
              <a:ext uri="{FF2B5EF4-FFF2-40B4-BE49-F238E27FC236}">
                <a16:creationId xmlns:a16="http://schemas.microsoft.com/office/drawing/2014/main" id="{8A7431A1-E1EB-630B-158A-0EA7D4D93DEC}"/>
              </a:ext>
            </a:extLst>
          </p:cNvPr>
          <p:cNvSpPr>
            <a:spLocks noGrp="1"/>
          </p:cNvSpPr>
          <p:nvPr>
            <p:ph idx="1"/>
          </p:nvPr>
        </p:nvSpPr>
        <p:spPr/>
        <p:txBody>
          <a:bodyPr/>
          <a:lstStyle/>
          <a:p>
            <a:endParaRPr lang="en-US"/>
          </a:p>
        </p:txBody>
      </p:sp>
      <p:graphicFrame>
        <p:nvGraphicFramePr>
          <p:cNvPr id="7" name="Content Placeholder 2">
            <a:extLst>
              <a:ext uri="{FF2B5EF4-FFF2-40B4-BE49-F238E27FC236}">
                <a16:creationId xmlns:a16="http://schemas.microsoft.com/office/drawing/2014/main" id="{08B7F8FB-4536-0A47-29FA-95060EE70155}"/>
              </a:ext>
            </a:extLst>
          </p:cNvPr>
          <p:cNvGraphicFramePr>
            <a:graphicFrameLocks/>
          </p:cNvGraphicFramePr>
          <p:nvPr/>
        </p:nvGraphicFramePr>
        <p:xfrm>
          <a:off x="2105192" y="2228004"/>
          <a:ext cx="7989752" cy="36307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576307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76C89-5E28-FE8B-96C1-54BA78F87112}"/>
              </a:ext>
            </a:extLst>
          </p:cNvPr>
          <p:cNvSpPr>
            <a:spLocks noGrp="1"/>
          </p:cNvSpPr>
          <p:nvPr>
            <p:ph type="title"/>
          </p:nvPr>
        </p:nvSpPr>
        <p:spPr/>
        <p:txBody>
          <a:bodyPr/>
          <a:lstStyle/>
          <a:p>
            <a:r>
              <a:rPr lang="en-US" dirty="0"/>
              <a:t>Introduction to Machine Learning</a:t>
            </a:r>
          </a:p>
        </p:txBody>
      </p:sp>
      <p:sp>
        <p:nvSpPr>
          <p:cNvPr id="4" name="Slide Number Placeholder 3">
            <a:extLst>
              <a:ext uri="{FF2B5EF4-FFF2-40B4-BE49-F238E27FC236}">
                <a16:creationId xmlns:a16="http://schemas.microsoft.com/office/drawing/2014/main" id="{98DE34FE-2392-4D85-EF0E-E1555CF4FC4E}"/>
              </a:ext>
            </a:extLst>
          </p:cNvPr>
          <p:cNvSpPr>
            <a:spLocks noGrp="1"/>
          </p:cNvSpPr>
          <p:nvPr>
            <p:ph type="sldNum" sz="quarter" idx="12"/>
          </p:nvPr>
        </p:nvSpPr>
        <p:spPr/>
        <p:txBody>
          <a:bodyPr/>
          <a:lstStyle/>
          <a:p>
            <a:fld id="{A4DA0FD2-D456-4FC5-A587-87644C4EB2D1}" type="slidenum">
              <a:rPr lang="tr-TR" smtClean="0"/>
              <a:pPr/>
              <a:t>8</a:t>
            </a:fld>
            <a:endParaRPr lang="tr-TR"/>
          </a:p>
        </p:txBody>
      </p:sp>
      <p:graphicFrame>
        <p:nvGraphicFramePr>
          <p:cNvPr id="7" name="Content Placeholder 2">
            <a:extLst>
              <a:ext uri="{FF2B5EF4-FFF2-40B4-BE49-F238E27FC236}">
                <a16:creationId xmlns:a16="http://schemas.microsoft.com/office/drawing/2014/main" id="{8F71718F-334A-3FF9-60B9-5528FD97D4B9}"/>
              </a:ext>
            </a:extLst>
          </p:cNvPr>
          <p:cNvGraphicFramePr>
            <a:graphicFrameLocks/>
          </p:cNvGraphicFramePr>
          <p:nvPr>
            <p:extLst>
              <p:ext uri="{D42A27DB-BD31-4B8C-83A1-F6EECF244321}">
                <p14:modId xmlns:p14="http://schemas.microsoft.com/office/powerpoint/2010/main" val="146058493"/>
              </p:ext>
            </p:extLst>
          </p:nvPr>
        </p:nvGraphicFramePr>
        <p:xfrm>
          <a:off x="1415480" y="2555359"/>
          <a:ext cx="8240400" cy="420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Content Placeholder 2">
            <a:extLst>
              <a:ext uri="{FF2B5EF4-FFF2-40B4-BE49-F238E27FC236}">
                <a16:creationId xmlns:a16="http://schemas.microsoft.com/office/drawing/2014/main" id="{8A05BE3B-7AAE-9837-F5E3-334E4B30D150}"/>
              </a:ext>
            </a:extLst>
          </p:cNvPr>
          <p:cNvSpPr>
            <a:spLocks noGrp="1"/>
          </p:cNvSpPr>
          <p:nvPr>
            <p:ph idx="1"/>
          </p:nvPr>
        </p:nvSpPr>
        <p:spPr>
          <a:xfrm>
            <a:off x="1703585" y="1770804"/>
            <a:ext cx="7848872" cy="1569111"/>
          </a:xfrm>
        </p:spPr>
        <p:txBody>
          <a:bodyPr>
            <a:normAutofit/>
          </a:bodyPr>
          <a:lstStyle/>
          <a:p>
            <a:pPr marL="457200" lvl="1" indent="0">
              <a:buNone/>
            </a:pPr>
            <a:endParaRPr lang="en-US" sz="1800" dirty="0"/>
          </a:p>
          <a:p>
            <a:pPr marL="457200" lvl="1" indent="0">
              <a:buNone/>
            </a:pPr>
            <a:r>
              <a:rPr lang="en-US" sz="1800" b="1" dirty="0"/>
              <a:t>AI / Data-driven Modeling</a:t>
            </a:r>
            <a:r>
              <a:rPr lang="en-US" sz="1800" dirty="0"/>
              <a:t> → Statistical / </a:t>
            </a:r>
            <a:r>
              <a:rPr lang="en-US" altLang="en-US" sz="1800" dirty="0">
                <a:solidFill>
                  <a:srgbClr val="000000"/>
                </a:solidFill>
              </a:rPr>
              <a:t>Function approximation</a:t>
            </a:r>
            <a:endParaRPr lang="en-US" altLang="en-US" sz="1800" dirty="0"/>
          </a:p>
          <a:p>
            <a:pPr marL="457200" lvl="1" indent="0">
              <a:buNone/>
            </a:pPr>
            <a:endParaRPr lang="en-US" sz="1800" b="1" dirty="0"/>
          </a:p>
          <a:p>
            <a:pPr marL="0" indent="0">
              <a:buNone/>
            </a:pPr>
            <a:endParaRPr lang="en-US" dirty="0"/>
          </a:p>
        </p:txBody>
      </p:sp>
      <p:pic>
        <p:nvPicPr>
          <p:cNvPr id="5" name="Picture 4" descr="A black symbol with a white background&#10;&#10;AI-generated content may be incorrect.">
            <a:extLst>
              <a:ext uri="{FF2B5EF4-FFF2-40B4-BE49-F238E27FC236}">
                <a16:creationId xmlns:a16="http://schemas.microsoft.com/office/drawing/2014/main" id="{0674399D-22F3-72EB-6206-E46CD9837F0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439889" y="2561891"/>
            <a:ext cx="1641782" cy="504056"/>
          </a:xfrm>
          <a:prstGeom prst="rect">
            <a:avLst/>
          </a:prstGeom>
        </p:spPr>
      </p:pic>
    </p:spTree>
    <p:extLst>
      <p:ext uri="{BB962C8B-B14F-4D97-AF65-F5344CB8AC3E}">
        <p14:creationId xmlns:p14="http://schemas.microsoft.com/office/powerpoint/2010/main" val="4279117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DBAF6-6CCF-38C0-6622-FA88F025399E}"/>
              </a:ext>
            </a:extLst>
          </p:cNvPr>
          <p:cNvSpPr>
            <a:spLocks noGrp="1"/>
          </p:cNvSpPr>
          <p:nvPr>
            <p:ph type="title"/>
          </p:nvPr>
        </p:nvSpPr>
        <p:spPr>
          <a:xfrm>
            <a:off x="2105192" y="687475"/>
            <a:ext cx="7989752" cy="1083329"/>
          </a:xfrm>
        </p:spPr>
        <p:txBody>
          <a:bodyPr wrap="square" anchor="ctr">
            <a:normAutofit/>
          </a:bodyPr>
          <a:lstStyle/>
          <a:p>
            <a:r>
              <a:rPr lang="en-US" dirty="0"/>
              <a:t>Data and Prediction in Machine Learning</a:t>
            </a:r>
          </a:p>
        </p:txBody>
      </p:sp>
      <p:sp>
        <p:nvSpPr>
          <p:cNvPr id="4" name="Slide Number Placeholder 3">
            <a:extLst>
              <a:ext uri="{FF2B5EF4-FFF2-40B4-BE49-F238E27FC236}">
                <a16:creationId xmlns:a16="http://schemas.microsoft.com/office/drawing/2014/main" id="{1C2964E4-AB0D-8255-B307-14FA1307BB53}"/>
              </a:ext>
            </a:extLst>
          </p:cNvPr>
          <p:cNvSpPr>
            <a:spLocks noGrp="1"/>
          </p:cNvSpPr>
          <p:nvPr>
            <p:ph type="sldNum" sz="quarter" idx="12"/>
          </p:nvPr>
        </p:nvSpPr>
        <p:spPr>
          <a:xfrm>
            <a:off x="9324476" y="5956137"/>
            <a:ext cx="770468" cy="365125"/>
          </a:xfrm>
        </p:spPr>
        <p:txBody>
          <a:bodyPr anchor="ctr">
            <a:normAutofit/>
          </a:bodyPr>
          <a:lstStyle/>
          <a:p>
            <a:pPr>
              <a:spcAft>
                <a:spcPts val="600"/>
              </a:spcAft>
            </a:pPr>
            <a:fld id="{A4DA0FD2-D456-4FC5-A587-87644C4EB2D1}" type="slidenum">
              <a:rPr lang="tr-TR" smtClean="0"/>
              <a:pPr>
                <a:spcAft>
                  <a:spcPts val="600"/>
                </a:spcAft>
              </a:pPr>
              <a:t>9</a:t>
            </a:fld>
            <a:endParaRPr lang="tr-TR"/>
          </a:p>
        </p:txBody>
      </p:sp>
      <p:graphicFrame>
        <p:nvGraphicFramePr>
          <p:cNvPr id="6" name="Content Placeholder 2">
            <a:extLst>
              <a:ext uri="{FF2B5EF4-FFF2-40B4-BE49-F238E27FC236}">
                <a16:creationId xmlns:a16="http://schemas.microsoft.com/office/drawing/2014/main" id="{F31BE559-272E-A02A-4DD2-BD6FFB45E065}"/>
              </a:ext>
            </a:extLst>
          </p:cNvPr>
          <p:cNvGraphicFramePr>
            <a:graphicFrameLocks noGrp="1"/>
          </p:cNvGraphicFramePr>
          <p:nvPr>
            <p:ph idx="1"/>
          </p:nvPr>
        </p:nvGraphicFramePr>
        <p:xfrm>
          <a:off x="2105192" y="2228004"/>
          <a:ext cx="7989752" cy="36307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ectangle 2" descr="Programmer">
            <a:extLst>
              <a:ext uri="{FF2B5EF4-FFF2-40B4-BE49-F238E27FC236}">
                <a16:creationId xmlns:a16="http://schemas.microsoft.com/office/drawing/2014/main" id="{CF25E837-BEB5-B621-FA8B-B4B1F6FC7607}"/>
              </a:ext>
            </a:extLst>
          </p:cNvPr>
          <p:cNvSpPr/>
          <p:nvPr/>
        </p:nvSpPr>
        <p:spPr>
          <a:xfrm>
            <a:off x="5647462" y="4574641"/>
            <a:ext cx="599081" cy="599081"/>
          </a:xfrm>
          <a:prstGeom prst="rect">
            <a:avLst/>
          </a:prstGeom>
          <a: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8" name="TextBox 7">
            <a:extLst>
              <a:ext uri="{FF2B5EF4-FFF2-40B4-BE49-F238E27FC236}">
                <a16:creationId xmlns:a16="http://schemas.microsoft.com/office/drawing/2014/main" id="{1C528703-83D8-7F6B-753B-1D955373E338}"/>
              </a:ext>
            </a:extLst>
          </p:cNvPr>
          <p:cNvSpPr txBox="1"/>
          <p:nvPr/>
        </p:nvSpPr>
        <p:spPr>
          <a:xfrm>
            <a:off x="5143500" y="5164653"/>
            <a:ext cx="1905000" cy="430887"/>
          </a:xfrm>
          <a:prstGeom prst="rect">
            <a:avLst/>
          </a:prstGeom>
          <a:noFill/>
        </p:spPr>
        <p:txBody>
          <a:bodyPr wrap="square">
            <a:spAutoFit/>
          </a:bodyPr>
          <a:lstStyle/>
          <a:p>
            <a:pPr lvl="0">
              <a:lnSpc>
                <a:spcPct val="100000"/>
              </a:lnSpc>
            </a:pPr>
            <a:r>
              <a:rPr lang="en-US" sz="2200" b="1" dirty="0">
                <a:solidFill>
                  <a:srgbClr val="7030A0"/>
                </a:solidFill>
              </a:rPr>
              <a:t>Algorithm</a:t>
            </a:r>
            <a:endParaRPr lang="en-US" sz="2200" dirty="0">
              <a:solidFill>
                <a:schemeClr val="bg1"/>
              </a:solidFill>
            </a:endParaRPr>
          </a:p>
        </p:txBody>
      </p:sp>
      <p:sp>
        <p:nvSpPr>
          <p:cNvPr id="11" name="TextBox 10">
            <a:extLst>
              <a:ext uri="{FF2B5EF4-FFF2-40B4-BE49-F238E27FC236}">
                <a16:creationId xmlns:a16="http://schemas.microsoft.com/office/drawing/2014/main" id="{7C589E5A-6B76-F4FC-4573-E29F899442A2}"/>
              </a:ext>
            </a:extLst>
          </p:cNvPr>
          <p:cNvSpPr txBox="1"/>
          <p:nvPr/>
        </p:nvSpPr>
        <p:spPr>
          <a:xfrm>
            <a:off x="3004358" y="4496766"/>
            <a:ext cx="1600200" cy="369332"/>
          </a:xfrm>
          <a:prstGeom prst="rect">
            <a:avLst/>
          </a:prstGeom>
          <a:noFill/>
        </p:spPr>
        <p:txBody>
          <a:bodyPr wrap="square" rtlCol="0">
            <a:spAutoFit/>
          </a:bodyPr>
          <a:lstStyle/>
          <a:p>
            <a:r>
              <a:rPr lang="en-US" b="1" dirty="0">
                <a:solidFill>
                  <a:srgbClr val="7030A0"/>
                </a:solidFill>
              </a:rPr>
              <a:t>Feature 1</a:t>
            </a:r>
          </a:p>
        </p:txBody>
      </p:sp>
      <p:sp>
        <p:nvSpPr>
          <p:cNvPr id="12" name="TextBox 11">
            <a:extLst>
              <a:ext uri="{FF2B5EF4-FFF2-40B4-BE49-F238E27FC236}">
                <a16:creationId xmlns:a16="http://schemas.microsoft.com/office/drawing/2014/main" id="{AA243F3D-5227-9304-637D-D78416773EAA}"/>
              </a:ext>
            </a:extLst>
          </p:cNvPr>
          <p:cNvSpPr txBox="1"/>
          <p:nvPr/>
        </p:nvSpPr>
        <p:spPr>
          <a:xfrm>
            <a:off x="3004358" y="5613065"/>
            <a:ext cx="1600200" cy="369332"/>
          </a:xfrm>
          <a:prstGeom prst="rect">
            <a:avLst/>
          </a:prstGeom>
          <a:noFill/>
        </p:spPr>
        <p:txBody>
          <a:bodyPr wrap="square" rtlCol="0">
            <a:spAutoFit/>
          </a:bodyPr>
          <a:lstStyle/>
          <a:p>
            <a:r>
              <a:rPr lang="en-US" b="1" dirty="0">
                <a:solidFill>
                  <a:srgbClr val="7030A0"/>
                </a:solidFill>
              </a:rPr>
              <a:t>Feature p</a:t>
            </a:r>
          </a:p>
        </p:txBody>
      </p:sp>
      <p:sp>
        <p:nvSpPr>
          <p:cNvPr id="13" name="TextBox 12">
            <a:extLst>
              <a:ext uri="{FF2B5EF4-FFF2-40B4-BE49-F238E27FC236}">
                <a16:creationId xmlns:a16="http://schemas.microsoft.com/office/drawing/2014/main" id="{F28B7255-FFD8-419B-9783-BBA4AAF37769}"/>
              </a:ext>
            </a:extLst>
          </p:cNvPr>
          <p:cNvSpPr txBox="1"/>
          <p:nvPr/>
        </p:nvSpPr>
        <p:spPr>
          <a:xfrm>
            <a:off x="3004358" y="4874181"/>
            <a:ext cx="1600200" cy="369332"/>
          </a:xfrm>
          <a:prstGeom prst="rect">
            <a:avLst/>
          </a:prstGeom>
          <a:noFill/>
        </p:spPr>
        <p:txBody>
          <a:bodyPr wrap="square" rtlCol="0">
            <a:spAutoFit/>
          </a:bodyPr>
          <a:lstStyle/>
          <a:p>
            <a:r>
              <a:rPr lang="en-US" b="1" dirty="0">
                <a:solidFill>
                  <a:srgbClr val="7030A0"/>
                </a:solidFill>
              </a:rPr>
              <a:t>Feature 2</a:t>
            </a:r>
          </a:p>
        </p:txBody>
      </p:sp>
      <p:sp>
        <p:nvSpPr>
          <p:cNvPr id="15" name="TextBox 14">
            <a:extLst>
              <a:ext uri="{FF2B5EF4-FFF2-40B4-BE49-F238E27FC236}">
                <a16:creationId xmlns:a16="http://schemas.microsoft.com/office/drawing/2014/main" id="{FFBBBD14-254A-00CB-A47E-D6FADC250E97}"/>
              </a:ext>
            </a:extLst>
          </p:cNvPr>
          <p:cNvSpPr txBox="1"/>
          <p:nvPr/>
        </p:nvSpPr>
        <p:spPr>
          <a:xfrm>
            <a:off x="3004358" y="5234912"/>
            <a:ext cx="1600200" cy="369332"/>
          </a:xfrm>
          <a:prstGeom prst="rect">
            <a:avLst/>
          </a:prstGeom>
          <a:noFill/>
        </p:spPr>
        <p:txBody>
          <a:bodyPr wrap="square" rtlCol="0">
            <a:spAutoFit/>
          </a:bodyPr>
          <a:lstStyle/>
          <a:p>
            <a:r>
              <a:rPr lang="en-US" b="1" dirty="0">
                <a:solidFill>
                  <a:srgbClr val="7030A0"/>
                </a:solidFill>
              </a:rPr>
              <a:t>Feature 3</a:t>
            </a:r>
          </a:p>
        </p:txBody>
      </p:sp>
      <p:sp>
        <p:nvSpPr>
          <p:cNvPr id="17" name="TextBox 16">
            <a:extLst>
              <a:ext uri="{FF2B5EF4-FFF2-40B4-BE49-F238E27FC236}">
                <a16:creationId xmlns:a16="http://schemas.microsoft.com/office/drawing/2014/main" id="{483B5E6C-CE70-2970-C31C-D2F09B2D7251}"/>
              </a:ext>
            </a:extLst>
          </p:cNvPr>
          <p:cNvSpPr txBox="1"/>
          <p:nvPr/>
        </p:nvSpPr>
        <p:spPr>
          <a:xfrm>
            <a:off x="7727678" y="5193864"/>
            <a:ext cx="1600200" cy="369332"/>
          </a:xfrm>
          <a:prstGeom prst="rect">
            <a:avLst/>
          </a:prstGeom>
          <a:noFill/>
        </p:spPr>
        <p:txBody>
          <a:bodyPr wrap="square" rtlCol="0">
            <a:spAutoFit/>
          </a:bodyPr>
          <a:lstStyle/>
          <a:p>
            <a:r>
              <a:rPr lang="en-US" b="1" dirty="0">
                <a:solidFill>
                  <a:srgbClr val="7030A0"/>
                </a:solidFill>
              </a:rPr>
              <a:t>Outcome</a:t>
            </a:r>
          </a:p>
        </p:txBody>
      </p:sp>
      <p:cxnSp>
        <p:nvCxnSpPr>
          <p:cNvPr id="20" name="Straight Arrow Connector 19">
            <a:extLst>
              <a:ext uri="{FF2B5EF4-FFF2-40B4-BE49-F238E27FC236}">
                <a16:creationId xmlns:a16="http://schemas.microsoft.com/office/drawing/2014/main" id="{58357EF2-3957-5D47-473D-1B3F40B73961}"/>
              </a:ext>
            </a:extLst>
          </p:cNvPr>
          <p:cNvCxnSpPr>
            <a:cxnSpLocks/>
          </p:cNvCxnSpPr>
          <p:nvPr/>
        </p:nvCxnSpPr>
        <p:spPr>
          <a:xfrm>
            <a:off x="4346802" y="4728530"/>
            <a:ext cx="800100" cy="465335"/>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56D924C-0EDF-8594-1FF3-1C8AE123E289}"/>
              </a:ext>
            </a:extLst>
          </p:cNvPr>
          <p:cNvCxnSpPr>
            <a:cxnSpLocks/>
          </p:cNvCxnSpPr>
          <p:nvPr/>
        </p:nvCxnSpPr>
        <p:spPr>
          <a:xfrm>
            <a:off x="4183914" y="5151399"/>
            <a:ext cx="962989" cy="151791"/>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E4CDED6F-A467-AFB8-A791-16F423599235}"/>
              </a:ext>
            </a:extLst>
          </p:cNvPr>
          <p:cNvCxnSpPr>
            <a:cxnSpLocks/>
          </p:cNvCxnSpPr>
          <p:nvPr/>
        </p:nvCxnSpPr>
        <p:spPr>
          <a:xfrm flipV="1">
            <a:off x="4183914" y="5443528"/>
            <a:ext cx="962989" cy="51743"/>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BB4AB4D-5E1C-78DE-964D-0F0CAFF65DCB}"/>
              </a:ext>
            </a:extLst>
          </p:cNvPr>
          <p:cNvCxnSpPr>
            <a:cxnSpLocks/>
          </p:cNvCxnSpPr>
          <p:nvPr/>
        </p:nvCxnSpPr>
        <p:spPr>
          <a:xfrm flipV="1">
            <a:off x="4183914" y="5610515"/>
            <a:ext cx="962989" cy="253762"/>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4F5A2B0D-E9DE-6FB4-A910-D3042082BC95}"/>
              </a:ext>
            </a:extLst>
          </p:cNvPr>
          <p:cNvCxnSpPr>
            <a:cxnSpLocks/>
          </p:cNvCxnSpPr>
          <p:nvPr/>
        </p:nvCxnSpPr>
        <p:spPr>
          <a:xfrm>
            <a:off x="6709002" y="5419589"/>
            <a:ext cx="885244" cy="0"/>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pic>
        <p:nvPicPr>
          <p:cNvPr id="5" name="Picture 4" descr="A black symbol with a white background&#10;&#10;AI-generated content may be incorrect.">
            <a:extLst>
              <a:ext uri="{FF2B5EF4-FFF2-40B4-BE49-F238E27FC236}">
                <a16:creationId xmlns:a16="http://schemas.microsoft.com/office/drawing/2014/main" id="{C391DAE1-FBCB-B5AF-2EF7-44B3BBAF0158}"/>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665408" y="1966207"/>
            <a:ext cx="2570592" cy="789217"/>
          </a:xfrm>
          <a:prstGeom prst="rect">
            <a:avLst/>
          </a:prstGeom>
        </p:spPr>
      </p:pic>
    </p:spTree>
    <p:extLst>
      <p:ext uri="{BB962C8B-B14F-4D97-AF65-F5344CB8AC3E}">
        <p14:creationId xmlns:p14="http://schemas.microsoft.com/office/powerpoint/2010/main" val="19315008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DB741-6178-4DE4-0A7E-8E05C1757878}"/>
              </a:ext>
            </a:extLst>
          </p:cNvPr>
          <p:cNvSpPr>
            <a:spLocks noGrp="1"/>
          </p:cNvSpPr>
          <p:nvPr>
            <p:ph type="title"/>
          </p:nvPr>
        </p:nvSpPr>
        <p:spPr/>
        <p:txBody>
          <a:bodyPr anchor="ctr" anchorCtr="0"/>
          <a:lstStyle/>
          <a:p>
            <a:r>
              <a:rPr lang="en-US" dirty="0"/>
              <a:t>Machine Learning Pipeline</a:t>
            </a:r>
          </a:p>
        </p:txBody>
      </p:sp>
      <p:sp>
        <p:nvSpPr>
          <p:cNvPr id="4" name="Slide Number Placeholder 3">
            <a:extLst>
              <a:ext uri="{FF2B5EF4-FFF2-40B4-BE49-F238E27FC236}">
                <a16:creationId xmlns:a16="http://schemas.microsoft.com/office/drawing/2014/main" id="{1C417B04-D7BB-3C29-9630-164D69EEE6D4}"/>
              </a:ext>
            </a:extLst>
          </p:cNvPr>
          <p:cNvSpPr>
            <a:spLocks noGrp="1"/>
          </p:cNvSpPr>
          <p:nvPr>
            <p:ph type="sldNum" sz="quarter" idx="12"/>
          </p:nvPr>
        </p:nvSpPr>
        <p:spPr/>
        <p:txBody>
          <a:bodyPr/>
          <a:lstStyle/>
          <a:p>
            <a:fld id="{A4DA0FD2-D456-4FC5-A587-87644C4EB2D1}" type="slidenum">
              <a:rPr lang="tr-TR" smtClean="0"/>
              <a:pPr/>
              <a:t>10</a:t>
            </a:fld>
            <a:endParaRPr lang="tr-TR"/>
          </a:p>
        </p:txBody>
      </p:sp>
      <p:sp>
        <p:nvSpPr>
          <p:cNvPr id="5" name="Rectangle 4">
            <a:extLst>
              <a:ext uri="{FF2B5EF4-FFF2-40B4-BE49-F238E27FC236}">
                <a16:creationId xmlns:a16="http://schemas.microsoft.com/office/drawing/2014/main" id="{873E4F1A-E8E3-ABA9-A964-E37BFD000E32}"/>
              </a:ext>
            </a:extLst>
          </p:cNvPr>
          <p:cNvSpPr/>
          <p:nvPr/>
        </p:nvSpPr>
        <p:spPr>
          <a:xfrm>
            <a:off x="5213640" y="2420889"/>
            <a:ext cx="3256294" cy="3273281"/>
          </a:xfrm>
          <a:prstGeom prst="rect">
            <a:avLst/>
          </a:prstGeom>
          <a:solidFill>
            <a:schemeClr val="bg1"/>
          </a:solidFill>
          <a:ln>
            <a:solidFill>
              <a:srgbClr val="9344D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00" dirty="0"/>
          </a:p>
        </p:txBody>
      </p:sp>
      <p:pic>
        <p:nvPicPr>
          <p:cNvPr id="6" name="Content Placeholder 6" descr="Single gear outline">
            <a:extLst>
              <a:ext uri="{FF2B5EF4-FFF2-40B4-BE49-F238E27FC236}">
                <a16:creationId xmlns:a16="http://schemas.microsoft.com/office/drawing/2014/main" id="{98E30AEC-D93B-5297-BA9A-0B1CF2AB4C6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88069" y="3789040"/>
            <a:ext cx="2088232" cy="2088232"/>
          </a:xfrm>
          <a:prstGeom prst="rect">
            <a:avLst/>
          </a:prstGeom>
        </p:spPr>
      </p:pic>
      <p:sp>
        <p:nvSpPr>
          <p:cNvPr id="7" name="Rectangle 6">
            <a:extLst>
              <a:ext uri="{FF2B5EF4-FFF2-40B4-BE49-F238E27FC236}">
                <a16:creationId xmlns:a16="http://schemas.microsoft.com/office/drawing/2014/main" id="{553FE1A0-9BB4-0948-BC97-C5CEA6D55E45}"/>
              </a:ext>
            </a:extLst>
          </p:cNvPr>
          <p:cNvSpPr/>
          <p:nvPr/>
        </p:nvSpPr>
        <p:spPr>
          <a:xfrm>
            <a:off x="2218296" y="3933902"/>
            <a:ext cx="1152128" cy="576064"/>
          </a:xfrm>
          <a:prstGeom prst="rect">
            <a:avLst/>
          </a:prstGeom>
          <a:solidFill>
            <a:srgbClr val="9344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Data Preprocessing and Exploration</a:t>
            </a:r>
          </a:p>
        </p:txBody>
      </p:sp>
      <p:sp>
        <p:nvSpPr>
          <p:cNvPr id="8" name="Rectangle 7">
            <a:extLst>
              <a:ext uri="{FF2B5EF4-FFF2-40B4-BE49-F238E27FC236}">
                <a16:creationId xmlns:a16="http://schemas.microsoft.com/office/drawing/2014/main" id="{7AD13CD0-7CFE-8D13-2E21-EE0A3930D47A}"/>
              </a:ext>
            </a:extLst>
          </p:cNvPr>
          <p:cNvSpPr/>
          <p:nvPr/>
        </p:nvSpPr>
        <p:spPr>
          <a:xfrm>
            <a:off x="3722066" y="3942459"/>
            <a:ext cx="1152128" cy="576064"/>
          </a:xfrm>
          <a:prstGeom prst="rect">
            <a:avLst/>
          </a:prstGeom>
          <a:solidFill>
            <a:srgbClr val="9344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Feature Extraction</a:t>
            </a:r>
          </a:p>
        </p:txBody>
      </p:sp>
      <p:sp>
        <p:nvSpPr>
          <p:cNvPr id="9" name="Rectangle 8">
            <a:extLst>
              <a:ext uri="{FF2B5EF4-FFF2-40B4-BE49-F238E27FC236}">
                <a16:creationId xmlns:a16="http://schemas.microsoft.com/office/drawing/2014/main" id="{F4160139-B119-2B2D-C69D-DC6ABBFE0946}"/>
              </a:ext>
            </a:extLst>
          </p:cNvPr>
          <p:cNvSpPr/>
          <p:nvPr/>
        </p:nvSpPr>
        <p:spPr>
          <a:xfrm>
            <a:off x="8820954" y="3942459"/>
            <a:ext cx="1152128" cy="576064"/>
          </a:xfrm>
          <a:prstGeom prst="rect">
            <a:avLst/>
          </a:prstGeom>
          <a:solidFill>
            <a:srgbClr val="9344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Deployment / </a:t>
            </a:r>
          </a:p>
          <a:p>
            <a:pPr algn="ctr"/>
            <a:r>
              <a:rPr lang="en-US" sz="1000" dirty="0"/>
              <a:t>Prediction</a:t>
            </a:r>
          </a:p>
        </p:txBody>
      </p:sp>
      <p:sp>
        <p:nvSpPr>
          <p:cNvPr id="10" name="Rectangle 9">
            <a:extLst>
              <a:ext uri="{FF2B5EF4-FFF2-40B4-BE49-F238E27FC236}">
                <a16:creationId xmlns:a16="http://schemas.microsoft.com/office/drawing/2014/main" id="{0D115667-F199-1089-890A-14CA4A1B8095}"/>
              </a:ext>
            </a:extLst>
          </p:cNvPr>
          <p:cNvSpPr/>
          <p:nvPr/>
        </p:nvSpPr>
        <p:spPr>
          <a:xfrm>
            <a:off x="6734652" y="4559759"/>
            <a:ext cx="852254" cy="71428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rgbClr val="9344D1"/>
                </a:solidFill>
              </a:rPr>
              <a:t>Model Building / Algorithm Selection</a:t>
            </a:r>
          </a:p>
          <a:p>
            <a:pPr algn="ctr"/>
            <a:endParaRPr lang="en-US" sz="1000" dirty="0">
              <a:solidFill>
                <a:srgbClr val="9344D1"/>
              </a:solidFill>
            </a:endParaRPr>
          </a:p>
        </p:txBody>
      </p:sp>
      <p:pic>
        <p:nvPicPr>
          <p:cNvPr id="11" name="Content Placeholder 6" descr="Single gear outline">
            <a:extLst>
              <a:ext uri="{FF2B5EF4-FFF2-40B4-BE49-F238E27FC236}">
                <a16:creationId xmlns:a16="http://schemas.microsoft.com/office/drawing/2014/main" id="{898AA0B0-3544-24B3-B2C4-8D513B24A5C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350411" y="3556285"/>
            <a:ext cx="1475317" cy="1475317"/>
          </a:xfrm>
          <a:prstGeom prst="rect">
            <a:avLst/>
          </a:prstGeom>
        </p:spPr>
      </p:pic>
      <p:sp>
        <p:nvSpPr>
          <p:cNvPr id="12" name="Rectangle 11">
            <a:extLst>
              <a:ext uri="{FF2B5EF4-FFF2-40B4-BE49-F238E27FC236}">
                <a16:creationId xmlns:a16="http://schemas.microsoft.com/office/drawing/2014/main" id="{763CAD91-4F60-E8CA-7288-65C048084BCA}"/>
              </a:ext>
            </a:extLst>
          </p:cNvPr>
          <p:cNvSpPr/>
          <p:nvPr/>
        </p:nvSpPr>
        <p:spPr>
          <a:xfrm>
            <a:off x="5743070" y="4049684"/>
            <a:ext cx="689997" cy="5056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rgbClr val="9344D1"/>
                </a:solidFill>
              </a:rPr>
              <a:t>Model Training</a:t>
            </a:r>
          </a:p>
        </p:txBody>
      </p:sp>
      <p:pic>
        <p:nvPicPr>
          <p:cNvPr id="13" name="Content Placeholder 6" descr="Single gear outline">
            <a:extLst>
              <a:ext uri="{FF2B5EF4-FFF2-40B4-BE49-F238E27FC236}">
                <a16:creationId xmlns:a16="http://schemas.microsoft.com/office/drawing/2014/main" id="{F8574C2F-7C14-16AB-5626-89DF7EC6ED2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891739" y="2702249"/>
            <a:ext cx="1475317" cy="1475317"/>
          </a:xfrm>
          <a:prstGeom prst="rect">
            <a:avLst/>
          </a:prstGeom>
        </p:spPr>
      </p:pic>
      <p:sp>
        <p:nvSpPr>
          <p:cNvPr id="14" name="Rectangle 13">
            <a:extLst>
              <a:ext uri="{FF2B5EF4-FFF2-40B4-BE49-F238E27FC236}">
                <a16:creationId xmlns:a16="http://schemas.microsoft.com/office/drawing/2014/main" id="{0CF8E34B-DACE-1A24-1424-271897F79805}"/>
              </a:ext>
            </a:extLst>
          </p:cNvPr>
          <p:cNvSpPr/>
          <p:nvPr/>
        </p:nvSpPr>
        <p:spPr>
          <a:xfrm>
            <a:off x="6272232" y="3195648"/>
            <a:ext cx="702164" cy="5056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rgbClr val="9344D1"/>
                </a:solidFill>
              </a:rPr>
              <a:t>Model Validation</a:t>
            </a:r>
          </a:p>
        </p:txBody>
      </p:sp>
      <p:sp>
        <p:nvSpPr>
          <p:cNvPr id="15" name="TextBox 14">
            <a:extLst>
              <a:ext uri="{FF2B5EF4-FFF2-40B4-BE49-F238E27FC236}">
                <a16:creationId xmlns:a16="http://schemas.microsoft.com/office/drawing/2014/main" id="{10975DA5-49A3-1860-4B0C-D1A8BECBB4A1}"/>
              </a:ext>
            </a:extLst>
          </p:cNvPr>
          <p:cNvSpPr txBox="1"/>
          <p:nvPr/>
        </p:nvSpPr>
        <p:spPr>
          <a:xfrm>
            <a:off x="5213640" y="2550912"/>
            <a:ext cx="1301642" cy="246221"/>
          </a:xfrm>
          <a:prstGeom prst="rect">
            <a:avLst/>
          </a:prstGeom>
          <a:noFill/>
        </p:spPr>
        <p:txBody>
          <a:bodyPr wrap="square">
            <a:spAutoFit/>
          </a:bodyPr>
          <a:lstStyle/>
          <a:p>
            <a:pPr algn="ctr"/>
            <a:r>
              <a:rPr lang="en-US" sz="1000" b="1" dirty="0">
                <a:solidFill>
                  <a:srgbClr val="9344D1"/>
                </a:solidFill>
              </a:rPr>
              <a:t>Model Building</a:t>
            </a:r>
          </a:p>
        </p:txBody>
      </p:sp>
      <p:sp>
        <p:nvSpPr>
          <p:cNvPr id="16" name="Right Arrow 15">
            <a:extLst>
              <a:ext uri="{FF2B5EF4-FFF2-40B4-BE49-F238E27FC236}">
                <a16:creationId xmlns:a16="http://schemas.microsoft.com/office/drawing/2014/main" id="{AED59985-7530-4533-726E-1EEF81536F99}"/>
              </a:ext>
            </a:extLst>
          </p:cNvPr>
          <p:cNvSpPr/>
          <p:nvPr/>
        </p:nvSpPr>
        <p:spPr>
          <a:xfrm>
            <a:off x="3370424" y="4158483"/>
            <a:ext cx="351642" cy="144016"/>
          </a:xfrm>
          <a:prstGeom prst="rightArrow">
            <a:avLst/>
          </a:prstGeom>
          <a:solidFill>
            <a:srgbClr val="9344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ight Arrow 16">
            <a:extLst>
              <a:ext uri="{FF2B5EF4-FFF2-40B4-BE49-F238E27FC236}">
                <a16:creationId xmlns:a16="http://schemas.microsoft.com/office/drawing/2014/main" id="{BB298AB9-5D00-0F51-6412-F4A564F8BE61}"/>
              </a:ext>
            </a:extLst>
          </p:cNvPr>
          <p:cNvSpPr/>
          <p:nvPr/>
        </p:nvSpPr>
        <p:spPr>
          <a:xfrm>
            <a:off x="4880262" y="4158483"/>
            <a:ext cx="351642" cy="144016"/>
          </a:xfrm>
          <a:prstGeom prst="rightArrow">
            <a:avLst/>
          </a:prstGeom>
          <a:solidFill>
            <a:srgbClr val="9344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Arrow 17">
            <a:extLst>
              <a:ext uri="{FF2B5EF4-FFF2-40B4-BE49-F238E27FC236}">
                <a16:creationId xmlns:a16="http://schemas.microsoft.com/office/drawing/2014/main" id="{8E4BC87B-C410-3EB4-392D-FD133343AD25}"/>
              </a:ext>
            </a:extLst>
          </p:cNvPr>
          <p:cNvSpPr/>
          <p:nvPr/>
        </p:nvSpPr>
        <p:spPr>
          <a:xfrm>
            <a:off x="8472264" y="4149926"/>
            <a:ext cx="351642" cy="144016"/>
          </a:xfrm>
          <a:prstGeom prst="rightArrow">
            <a:avLst/>
          </a:prstGeom>
          <a:solidFill>
            <a:srgbClr val="9344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Content Placeholder 6" descr="Single gear outline">
            <a:extLst>
              <a:ext uri="{FF2B5EF4-FFF2-40B4-BE49-F238E27FC236}">
                <a16:creationId xmlns:a16="http://schemas.microsoft.com/office/drawing/2014/main" id="{82BE31AC-9A48-9177-4479-B6BC0A2C50E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835762" y="2298243"/>
            <a:ext cx="1821033" cy="1821033"/>
          </a:xfrm>
          <a:prstGeom prst="rect">
            <a:avLst/>
          </a:prstGeom>
        </p:spPr>
      </p:pic>
      <p:sp>
        <p:nvSpPr>
          <p:cNvPr id="21" name="Rectangle 20">
            <a:extLst>
              <a:ext uri="{FF2B5EF4-FFF2-40B4-BE49-F238E27FC236}">
                <a16:creationId xmlns:a16="http://schemas.microsoft.com/office/drawing/2014/main" id="{49012BE8-91F0-CD66-C6C2-80BEBAFE0CC0}"/>
              </a:ext>
            </a:extLst>
          </p:cNvPr>
          <p:cNvSpPr/>
          <p:nvPr/>
        </p:nvSpPr>
        <p:spPr>
          <a:xfrm>
            <a:off x="7355130" y="2971176"/>
            <a:ext cx="793786" cy="50563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rgbClr val="9344D1"/>
                </a:solidFill>
              </a:rPr>
              <a:t>Model Evaluation and Tuning</a:t>
            </a:r>
          </a:p>
          <a:p>
            <a:pPr algn="ctr"/>
            <a:endParaRPr lang="en-US" sz="1000" dirty="0">
              <a:solidFill>
                <a:srgbClr val="9344D1"/>
              </a:solidFill>
            </a:endParaRPr>
          </a:p>
        </p:txBody>
      </p:sp>
    </p:spTree>
    <p:extLst>
      <p:ext uri="{BB962C8B-B14F-4D97-AF65-F5344CB8AC3E}">
        <p14:creationId xmlns:p14="http://schemas.microsoft.com/office/powerpoint/2010/main" val="42355978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en-US" dirty="0"/>
              <a:t>machine learning  Major Types and Applications</a:t>
            </a:r>
          </a:p>
        </p:txBody>
      </p:sp>
      <p:sp>
        <p:nvSpPr>
          <p:cNvPr id="84995" name="Rectangle 3"/>
          <p:cNvSpPr>
            <a:spLocks noGrp="1" noChangeArrowheads="1"/>
          </p:cNvSpPr>
          <p:nvPr>
            <p:ph idx="1"/>
          </p:nvPr>
        </p:nvSpPr>
        <p:spPr>
          <a:xfrm>
            <a:off x="2105192" y="2228004"/>
            <a:ext cx="7989752" cy="2641157"/>
          </a:xfrm>
        </p:spPr>
        <p:txBody>
          <a:bodyPr/>
          <a:lstStyle/>
          <a:p>
            <a:endParaRPr lang="en-US" dirty="0"/>
          </a:p>
        </p:txBody>
      </p:sp>
      <p:sp>
        <p:nvSpPr>
          <p:cNvPr id="9" name="Slide Number Placeholder 8"/>
          <p:cNvSpPr>
            <a:spLocks noGrp="1"/>
          </p:cNvSpPr>
          <p:nvPr>
            <p:ph type="sldNum" sz="quarter" idx="12"/>
          </p:nvPr>
        </p:nvSpPr>
        <p:spPr/>
        <p:txBody>
          <a:bodyPr>
            <a:normAutofit/>
          </a:bodyPr>
          <a:lstStyle/>
          <a:p>
            <a:fld id="{6DF4C409-C017-451C-B236-E185BBA6E0E4}" type="slidenum">
              <a:rPr lang="tr-TR" smtClean="0"/>
              <a:pPr/>
              <a:t>11</a:t>
            </a:fld>
            <a:endParaRPr lang="tr-TR"/>
          </a:p>
        </p:txBody>
      </p:sp>
      <p:pic>
        <p:nvPicPr>
          <p:cNvPr id="4" name="Picture 3" descr="A diagram of a person's learning process&#10;&#10;Description automatically generated">
            <a:extLst>
              <a:ext uri="{FF2B5EF4-FFF2-40B4-BE49-F238E27FC236}">
                <a16:creationId xmlns:a16="http://schemas.microsoft.com/office/drawing/2014/main" id="{1AEF3028-3809-3290-CF01-56AFC84C6E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72339" y="2060848"/>
            <a:ext cx="8647323" cy="3271646"/>
          </a:xfrm>
          <a:prstGeom prst="rect">
            <a:avLst/>
          </a:prstGeom>
        </p:spPr>
      </p:pic>
    </p:spTree>
    <p:extLst>
      <p:ext uri="{BB962C8B-B14F-4D97-AF65-F5344CB8AC3E}">
        <p14:creationId xmlns:p14="http://schemas.microsoft.com/office/powerpoint/2010/main" val="7705755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A911A-D8FD-CEB4-6CFE-444DA7BA4EC8}"/>
              </a:ext>
            </a:extLst>
          </p:cNvPr>
          <p:cNvSpPr>
            <a:spLocks noGrp="1"/>
          </p:cNvSpPr>
          <p:nvPr>
            <p:ph type="title"/>
          </p:nvPr>
        </p:nvSpPr>
        <p:spPr/>
        <p:txBody>
          <a:bodyPr anchor="ctr" anchorCtr="0"/>
          <a:lstStyle/>
          <a:p>
            <a:r>
              <a:rPr lang="en-US" dirty="0"/>
              <a:t>Supervised Learning</a:t>
            </a:r>
          </a:p>
        </p:txBody>
      </p:sp>
      <p:sp>
        <p:nvSpPr>
          <p:cNvPr id="3" name="Content Placeholder 2">
            <a:extLst>
              <a:ext uri="{FF2B5EF4-FFF2-40B4-BE49-F238E27FC236}">
                <a16:creationId xmlns:a16="http://schemas.microsoft.com/office/drawing/2014/main" id="{28660AE5-B579-1819-408E-34C67A27E94D}"/>
              </a:ext>
            </a:extLst>
          </p:cNvPr>
          <p:cNvSpPr>
            <a:spLocks noGrp="1"/>
          </p:cNvSpPr>
          <p:nvPr>
            <p:ph idx="1"/>
          </p:nvPr>
        </p:nvSpPr>
        <p:spPr/>
        <p:txBody>
          <a:bodyPr>
            <a:normAutofit/>
          </a:bodyPr>
          <a:lstStyle/>
          <a:p>
            <a:pPr marL="0" indent="0">
              <a:buNone/>
            </a:pPr>
            <a:r>
              <a:rPr lang="en-US" b="1" dirty="0"/>
              <a:t>Definition: </a:t>
            </a:r>
            <a:r>
              <a:rPr lang="en-US" dirty="0"/>
              <a:t>Supervised learning is a type of machine learning where algorithms learn patterns and associations between input features and their corresponding output or target values using </a:t>
            </a:r>
            <a:r>
              <a:rPr lang="en-US" b="1" dirty="0">
                <a:solidFill>
                  <a:srgbClr val="7030A0"/>
                </a:solidFill>
              </a:rPr>
              <a:t>labeled training data.</a:t>
            </a:r>
            <a:endParaRPr lang="en-US" dirty="0"/>
          </a:p>
          <a:p>
            <a:pPr marL="0" indent="0">
              <a:buNone/>
            </a:pPr>
            <a:endParaRPr lang="en-US" b="1" dirty="0"/>
          </a:p>
          <a:p>
            <a:pPr marL="0" indent="0">
              <a:buNone/>
            </a:pPr>
            <a:r>
              <a:rPr lang="en-US" b="1" dirty="0"/>
              <a:t>Types:</a:t>
            </a:r>
          </a:p>
          <a:p>
            <a:pPr lvl="1"/>
            <a:r>
              <a:rPr lang="en-US" b="1" dirty="0">
                <a:solidFill>
                  <a:srgbClr val="A54EF3"/>
                </a:solidFill>
              </a:rPr>
              <a:t>Regression</a:t>
            </a:r>
            <a:r>
              <a:rPr lang="en-US" dirty="0"/>
              <a:t>: Model predicts </a:t>
            </a:r>
            <a:r>
              <a:rPr lang="en-US" dirty="0">
                <a:solidFill>
                  <a:srgbClr val="A54EF3"/>
                </a:solidFill>
              </a:rPr>
              <a:t>continuous values</a:t>
            </a:r>
            <a:r>
              <a:rPr lang="en-US" dirty="0"/>
              <a:t>.</a:t>
            </a:r>
          </a:p>
          <a:p>
            <a:pPr lvl="1"/>
            <a:r>
              <a:rPr lang="en-US" b="1" dirty="0">
                <a:solidFill>
                  <a:srgbClr val="00B0F0"/>
                </a:solidFill>
              </a:rPr>
              <a:t>Classification</a:t>
            </a:r>
            <a:r>
              <a:rPr lang="en-US" dirty="0"/>
              <a:t>: Model predicts </a:t>
            </a:r>
            <a:r>
              <a:rPr lang="en-US" dirty="0">
                <a:solidFill>
                  <a:srgbClr val="00B0F0"/>
                </a:solidFill>
              </a:rPr>
              <a:t>discrete class labels</a:t>
            </a:r>
            <a:r>
              <a:rPr lang="en-US" dirty="0"/>
              <a:t>.</a:t>
            </a:r>
          </a:p>
        </p:txBody>
      </p:sp>
      <p:sp>
        <p:nvSpPr>
          <p:cNvPr id="4" name="Slide Number Placeholder 3">
            <a:extLst>
              <a:ext uri="{FF2B5EF4-FFF2-40B4-BE49-F238E27FC236}">
                <a16:creationId xmlns:a16="http://schemas.microsoft.com/office/drawing/2014/main" id="{3D19A87A-0041-2433-90AF-EC220D5F44B4}"/>
              </a:ext>
            </a:extLst>
          </p:cNvPr>
          <p:cNvSpPr>
            <a:spLocks noGrp="1"/>
          </p:cNvSpPr>
          <p:nvPr>
            <p:ph type="sldNum" sz="quarter" idx="12"/>
          </p:nvPr>
        </p:nvSpPr>
        <p:spPr/>
        <p:txBody>
          <a:bodyPr/>
          <a:lstStyle/>
          <a:p>
            <a:fld id="{A4DA0FD2-D456-4FC5-A587-87644C4EB2D1}" type="slidenum">
              <a:rPr lang="tr-TR" smtClean="0"/>
              <a:pPr/>
              <a:t>12</a:t>
            </a:fld>
            <a:endParaRPr lang="tr-TR"/>
          </a:p>
        </p:txBody>
      </p:sp>
    </p:spTree>
    <p:extLst>
      <p:ext uri="{BB962C8B-B14F-4D97-AF65-F5344CB8AC3E}">
        <p14:creationId xmlns:p14="http://schemas.microsoft.com/office/powerpoint/2010/main" val="6853881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A7252-83BB-44DC-9718-3C7F471087B2}"/>
              </a:ext>
            </a:extLst>
          </p:cNvPr>
          <p:cNvSpPr>
            <a:spLocks noGrp="1"/>
          </p:cNvSpPr>
          <p:nvPr>
            <p:ph type="title"/>
          </p:nvPr>
        </p:nvSpPr>
        <p:spPr>
          <a:xfrm>
            <a:off x="1199456" y="687475"/>
            <a:ext cx="5760640" cy="1083329"/>
          </a:xfrm>
        </p:spPr>
        <p:txBody>
          <a:bodyPr>
            <a:normAutofit/>
          </a:bodyPr>
          <a:lstStyle/>
          <a:p>
            <a:r>
              <a:rPr lang="en-US" dirty="0"/>
              <a:t>Supervised Learning: Example</a:t>
            </a:r>
          </a:p>
        </p:txBody>
      </p:sp>
      <p:sp>
        <p:nvSpPr>
          <p:cNvPr id="3" name="Content Placeholder 2">
            <a:extLst>
              <a:ext uri="{FF2B5EF4-FFF2-40B4-BE49-F238E27FC236}">
                <a16:creationId xmlns:a16="http://schemas.microsoft.com/office/drawing/2014/main" id="{1D0B36AF-9C51-515F-555C-7DDA58D60751}"/>
              </a:ext>
            </a:extLst>
          </p:cNvPr>
          <p:cNvSpPr>
            <a:spLocks noGrp="1"/>
          </p:cNvSpPr>
          <p:nvPr>
            <p:ph idx="1"/>
          </p:nvPr>
        </p:nvSpPr>
        <p:spPr>
          <a:xfrm>
            <a:off x="1199456" y="2228004"/>
            <a:ext cx="5040560" cy="3630795"/>
          </a:xfrm>
        </p:spPr>
        <p:txBody>
          <a:bodyPr/>
          <a:lstStyle/>
          <a:p>
            <a:r>
              <a:rPr lang="en-US" b="1" i="0" u="none" strike="noStrike" dirty="0">
                <a:solidFill>
                  <a:srgbClr val="374151"/>
                </a:solidFill>
                <a:effectLst/>
              </a:rPr>
              <a:t>Regression</a:t>
            </a:r>
            <a:r>
              <a:rPr lang="en-US" b="0" i="0" u="none" strike="noStrike" dirty="0">
                <a:solidFill>
                  <a:srgbClr val="374151"/>
                </a:solidFill>
                <a:effectLst/>
              </a:rPr>
              <a:t> (e.g., predicting energy consumption in buildings) </a:t>
            </a:r>
          </a:p>
          <a:p>
            <a:r>
              <a:rPr lang="en-US" b="1" i="0" u="none" strike="noStrike" dirty="0">
                <a:solidFill>
                  <a:srgbClr val="374151"/>
                </a:solidFill>
                <a:effectLst/>
              </a:rPr>
              <a:t>Classification</a:t>
            </a:r>
            <a:r>
              <a:rPr lang="en-US" b="0" i="0" u="none" strike="noStrike" dirty="0">
                <a:solidFill>
                  <a:srgbClr val="374151"/>
                </a:solidFill>
                <a:effectLst/>
              </a:rPr>
              <a:t> (e.g., Categorizing buildings by energy efficiency levels or identifying anomalies in energy consumption data by labeling features as normal or abnormal energy usage)</a:t>
            </a:r>
          </a:p>
          <a:p>
            <a:endParaRPr lang="en-US" dirty="0"/>
          </a:p>
        </p:txBody>
      </p:sp>
      <p:sp>
        <p:nvSpPr>
          <p:cNvPr id="4" name="Slide Number Placeholder 3">
            <a:extLst>
              <a:ext uri="{FF2B5EF4-FFF2-40B4-BE49-F238E27FC236}">
                <a16:creationId xmlns:a16="http://schemas.microsoft.com/office/drawing/2014/main" id="{BC201014-B13C-CA38-85B7-952ACAEA8362}"/>
              </a:ext>
            </a:extLst>
          </p:cNvPr>
          <p:cNvSpPr>
            <a:spLocks noGrp="1"/>
          </p:cNvSpPr>
          <p:nvPr>
            <p:ph type="sldNum" sz="quarter" idx="12"/>
          </p:nvPr>
        </p:nvSpPr>
        <p:spPr/>
        <p:txBody>
          <a:bodyPr/>
          <a:lstStyle/>
          <a:p>
            <a:fld id="{A4DA0FD2-D456-4FC5-A587-87644C4EB2D1}" type="slidenum">
              <a:rPr lang="tr-TR" smtClean="0"/>
              <a:pPr/>
              <a:t>13</a:t>
            </a:fld>
            <a:endParaRPr lang="tr-TR"/>
          </a:p>
        </p:txBody>
      </p:sp>
      <p:pic>
        <p:nvPicPr>
          <p:cNvPr id="6" name="Picture 5" descr="A diagram of a number of squares&#10;&#10;Description automatically generated">
            <a:extLst>
              <a:ext uri="{FF2B5EF4-FFF2-40B4-BE49-F238E27FC236}">
                <a16:creationId xmlns:a16="http://schemas.microsoft.com/office/drawing/2014/main" id="{33B96FAC-E0B1-3A81-2109-2F662B7E9F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32104" y="3275290"/>
            <a:ext cx="2931150" cy="3187723"/>
          </a:xfrm>
          <a:prstGeom prst="rect">
            <a:avLst/>
          </a:prstGeom>
        </p:spPr>
      </p:pic>
      <p:pic>
        <p:nvPicPr>
          <p:cNvPr id="8" name="Picture 7" descr="A diagram of a network&#10;&#10;Description automatically generated">
            <a:extLst>
              <a:ext uri="{FF2B5EF4-FFF2-40B4-BE49-F238E27FC236}">
                <a16:creationId xmlns:a16="http://schemas.microsoft.com/office/drawing/2014/main" id="{36485DB6-9ADE-8C55-B062-C5647775EC6E}"/>
              </a:ext>
            </a:extLst>
          </p:cNvPr>
          <p:cNvPicPr>
            <a:picLocks noChangeAspect="1"/>
          </p:cNvPicPr>
          <p:nvPr/>
        </p:nvPicPr>
        <p:blipFill rotWithShape="1">
          <a:blip r:embed="rId4">
            <a:extLst>
              <a:ext uri="{28A0092B-C50C-407E-A947-70E740481C1C}">
                <a14:useLocalDpi xmlns:a14="http://schemas.microsoft.com/office/drawing/2010/main" val="0"/>
              </a:ext>
            </a:extLst>
          </a:blip>
          <a:srcRect r="74529" b="4058"/>
          <a:stretch/>
        </p:blipFill>
        <p:spPr>
          <a:xfrm>
            <a:off x="7229208" y="394989"/>
            <a:ext cx="2095268" cy="3151817"/>
          </a:xfrm>
          <a:prstGeom prst="rect">
            <a:avLst/>
          </a:prstGeom>
        </p:spPr>
      </p:pic>
    </p:spTree>
    <p:extLst>
      <p:ext uri="{BB962C8B-B14F-4D97-AF65-F5344CB8AC3E}">
        <p14:creationId xmlns:p14="http://schemas.microsoft.com/office/powerpoint/2010/main" val="27642900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A911A-D8FD-CEB4-6CFE-444DA7BA4EC8}"/>
              </a:ext>
            </a:extLst>
          </p:cNvPr>
          <p:cNvSpPr>
            <a:spLocks noGrp="1"/>
          </p:cNvSpPr>
          <p:nvPr>
            <p:ph type="title"/>
          </p:nvPr>
        </p:nvSpPr>
        <p:spPr/>
        <p:txBody>
          <a:bodyPr anchor="ctr" anchorCtr="0"/>
          <a:lstStyle/>
          <a:p>
            <a:r>
              <a:rPr lang="en-US" dirty="0"/>
              <a:t>Unsupervised Learning</a:t>
            </a:r>
          </a:p>
        </p:txBody>
      </p:sp>
      <p:sp>
        <p:nvSpPr>
          <p:cNvPr id="3" name="Content Placeholder 2">
            <a:extLst>
              <a:ext uri="{FF2B5EF4-FFF2-40B4-BE49-F238E27FC236}">
                <a16:creationId xmlns:a16="http://schemas.microsoft.com/office/drawing/2014/main" id="{28660AE5-B579-1819-408E-34C67A27E94D}"/>
              </a:ext>
            </a:extLst>
          </p:cNvPr>
          <p:cNvSpPr>
            <a:spLocks noGrp="1"/>
          </p:cNvSpPr>
          <p:nvPr>
            <p:ph idx="1"/>
          </p:nvPr>
        </p:nvSpPr>
        <p:spPr/>
        <p:txBody>
          <a:bodyPr>
            <a:normAutofit/>
          </a:bodyPr>
          <a:lstStyle/>
          <a:p>
            <a:pPr marL="0" indent="0">
              <a:buNone/>
            </a:pPr>
            <a:r>
              <a:rPr lang="en-US" b="1" dirty="0"/>
              <a:t>Definition: </a:t>
            </a:r>
            <a:r>
              <a:rPr lang="en-US" dirty="0"/>
              <a:t>Unsupervised Learning uses </a:t>
            </a:r>
            <a:r>
              <a:rPr lang="en-US" dirty="0">
                <a:solidFill>
                  <a:srgbClr val="7030A0"/>
                </a:solidFill>
              </a:rPr>
              <a:t>unlabeled data</a:t>
            </a:r>
            <a:r>
              <a:rPr lang="en-US" dirty="0"/>
              <a:t> for exploration and pattern discovery. </a:t>
            </a:r>
          </a:p>
          <a:p>
            <a:pPr marL="0" indent="0">
              <a:buNone/>
            </a:pPr>
            <a:r>
              <a:rPr lang="en-US" b="1" dirty="0"/>
              <a:t>Key Components:</a:t>
            </a:r>
          </a:p>
          <a:p>
            <a:pPr lvl="1"/>
            <a:r>
              <a:rPr lang="en-US" b="1" dirty="0">
                <a:solidFill>
                  <a:schemeClr val="tx1"/>
                </a:solidFill>
              </a:rPr>
              <a:t>Unlabeled data: </a:t>
            </a:r>
            <a:r>
              <a:rPr lang="en-US" dirty="0">
                <a:solidFill>
                  <a:schemeClr val="tx1"/>
                </a:solidFill>
                <a:latin typeface="Söhne"/>
              </a:rPr>
              <a:t>input data patterns without known outcomes.</a:t>
            </a:r>
            <a:endParaRPr lang="en-US" dirty="0">
              <a:solidFill>
                <a:schemeClr val="tx1"/>
              </a:solidFill>
            </a:endParaRPr>
          </a:p>
          <a:p>
            <a:pPr lvl="1"/>
            <a:r>
              <a:rPr lang="en-US" sz="1400" b="1" dirty="0"/>
              <a:t>Learning patterns: </a:t>
            </a:r>
            <a:r>
              <a:rPr lang="en-US" sz="1400" dirty="0"/>
              <a:t>Algorithm focuses on unveiling hidden structures, clusters, or relationships within the data.</a:t>
            </a:r>
          </a:p>
          <a:p>
            <a:pPr marL="0" indent="0">
              <a:buNone/>
            </a:pPr>
            <a:r>
              <a:rPr lang="en-US" b="1" dirty="0"/>
              <a:t>Techniques in Unsupervised Learning:</a:t>
            </a:r>
          </a:p>
          <a:p>
            <a:pPr lvl="1"/>
            <a:r>
              <a:rPr lang="en-US" b="1" dirty="0">
                <a:solidFill>
                  <a:srgbClr val="A54EF3"/>
                </a:solidFill>
              </a:rPr>
              <a:t>Clustering: </a:t>
            </a:r>
            <a:r>
              <a:rPr lang="en-US" dirty="0">
                <a:solidFill>
                  <a:schemeClr val="tx1"/>
                </a:solidFill>
              </a:rPr>
              <a:t>Grouping similar data points.</a:t>
            </a:r>
          </a:p>
          <a:p>
            <a:pPr lvl="1"/>
            <a:r>
              <a:rPr lang="en-US" b="1" dirty="0">
                <a:solidFill>
                  <a:srgbClr val="00B0F0"/>
                </a:solidFill>
              </a:rPr>
              <a:t>Dimensionality Reduction: </a:t>
            </a:r>
            <a:r>
              <a:rPr lang="en-US" dirty="0">
                <a:solidFill>
                  <a:schemeClr val="tx1"/>
                </a:solidFill>
              </a:rPr>
              <a:t>Reducing complexity by extracting essential features.</a:t>
            </a:r>
          </a:p>
        </p:txBody>
      </p:sp>
      <p:sp>
        <p:nvSpPr>
          <p:cNvPr id="4" name="Slide Number Placeholder 3">
            <a:extLst>
              <a:ext uri="{FF2B5EF4-FFF2-40B4-BE49-F238E27FC236}">
                <a16:creationId xmlns:a16="http://schemas.microsoft.com/office/drawing/2014/main" id="{3D19A87A-0041-2433-90AF-EC220D5F44B4}"/>
              </a:ext>
            </a:extLst>
          </p:cNvPr>
          <p:cNvSpPr>
            <a:spLocks noGrp="1"/>
          </p:cNvSpPr>
          <p:nvPr>
            <p:ph type="sldNum" sz="quarter" idx="12"/>
          </p:nvPr>
        </p:nvSpPr>
        <p:spPr/>
        <p:txBody>
          <a:bodyPr/>
          <a:lstStyle/>
          <a:p>
            <a:fld id="{A4DA0FD2-D456-4FC5-A587-87644C4EB2D1}" type="slidenum">
              <a:rPr lang="tr-TR" smtClean="0"/>
              <a:pPr/>
              <a:t>14</a:t>
            </a:fld>
            <a:endParaRPr lang="tr-TR"/>
          </a:p>
        </p:txBody>
      </p:sp>
    </p:spTree>
    <p:extLst>
      <p:ext uri="{BB962C8B-B14F-4D97-AF65-F5344CB8AC3E}">
        <p14:creationId xmlns:p14="http://schemas.microsoft.com/office/powerpoint/2010/main" val="22667610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A7252-83BB-44DC-9718-3C7F471087B2}"/>
              </a:ext>
            </a:extLst>
          </p:cNvPr>
          <p:cNvSpPr>
            <a:spLocks noGrp="1"/>
          </p:cNvSpPr>
          <p:nvPr>
            <p:ph type="title"/>
          </p:nvPr>
        </p:nvSpPr>
        <p:spPr>
          <a:xfrm>
            <a:off x="911424" y="687475"/>
            <a:ext cx="6048672" cy="1083329"/>
          </a:xfrm>
        </p:spPr>
        <p:txBody>
          <a:bodyPr>
            <a:normAutofit/>
          </a:bodyPr>
          <a:lstStyle/>
          <a:p>
            <a:r>
              <a:rPr lang="en-US" dirty="0"/>
              <a:t>Unsupervised Learning Applications</a:t>
            </a:r>
          </a:p>
        </p:txBody>
      </p:sp>
      <p:sp>
        <p:nvSpPr>
          <p:cNvPr id="3" name="Content Placeholder 2">
            <a:extLst>
              <a:ext uri="{FF2B5EF4-FFF2-40B4-BE49-F238E27FC236}">
                <a16:creationId xmlns:a16="http://schemas.microsoft.com/office/drawing/2014/main" id="{1D0B36AF-9C51-515F-555C-7DDA58D60751}"/>
              </a:ext>
            </a:extLst>
          </p:cNvPr>
          <p:cNvSpPr>
            <a:spLocks noGrp="1"/>
          </p:cNvSpPr>
          <p:nvPr>
            <p:ph idx="1"/>
          </p:nvPr>
        </p:nvSpPr>
        <p:spPr>
          <a:xfrm>
            <a:off x="911424" y="2228004"/>
            <a:ext cx="5328592" cy="3630795"/>
          </a:xfrm>
        </p:spPr>
        <p:txBody>
          <a:bodyPr/>
          <a:lstStyle/>
          <a:p>
            <a:r>
              <a:rPr lang="en-US" b="1" i="0" u="none" strike="noStrike" dirty="0">
                <a:effectLst/>
              </a:rPr>
              <a:t>Clustering </a:t>
            </a:r>
            <a:r>
              <a:rPr lang="en-US" i="0" u="none" strike="noStrike" dirty="0">
                <a:effectLst/>
              </a:rPr>
              <a:t>(e.g., grouping similar buildings based on their energy consumption profiles). </a:t>
            </a:r>
          </a:p>
          <a:p>
            <a:endParaRPr lang="en-US" b="1" i="0" u="none" strike="noStrike" dirty="0">
              <a:effectLst/>
            </a:endParaRPr>
          </a:p>
          <a:p>
            <a:r>
              <a:rPr lang="en-US" b="1" i="0" u="none" strike="noStrike" dirty="0">
                <a:effectLst/>
              </a:rPr>
              <a:t>Dimensionality reduction </a:t>
            </a:r>
            <a:r>
              <a:rPr lang="en-US" i="0" u="none" strike="noStrike" dirty="0">
                <a:effectLst/>
              </a:rPr>
              <a:t>(e.g., reducing data complexity by highlighting the most critical features).</a:t>
            </a:r>
          </a:p>
          <a:p>
            <a:endParaRPr lang="en-US" b="1" i="0" u="none" strike="noStrike" dirty="0">
              <a:effectLst/>
            </a:endParaRPr>
          </a:p>
          <a:p>
            <a:endParaRPr lang="en-US" dirty="0"/>
          </a:p>
        </p:txBody>
      </p:sp>
      <p:sp>
        <p:nvSpPr>
          <p:cNvPr id="4" name="Slide Number Placeholder 3">
            <a:extLst>
              <a:ext uri="{FF2B5EF4-FFF2-40B4-BE49-F238E27FC236}">
                <a16:creationId xmlns:a16="http://schemas.microsoft.com/office/drawing/2014/main" id="{BC201014-B13C-CA38-85B7-952ACAEA8362}"/>
              </a:ext>
            </a:extLst>
          </p:cNvPr>
          <p:cNvSpPr>
            <a:spLocks noGrp="1"/>
          </p:cNvSpPr>
          <p:nvPr>
            <p:ph type="sldNum" sz="quarter" idx="12"/>
          </p:nvPr>
        </p:nvSpPr>
        <p:spPr/>
        <p:txBody>
          <a:bodyPr/>
          <a:lstStyle/>
          <a:p>
            <a:fld id="{A4DA0FD2-D456-4FC5-A587-87644C4EB2D1}" type="slidenum">
              <a:rPr lang="tr-TR" smtClean="0"/>
              <a:pPr/>
              <a:t>15</a:t>
            </a:fld>
            <a:endParaRPr lang="tr-TR"/>
          </a:p>
        </p:txBody>
      </p:sp>
      <p:pic>
        <p:nvPicPr>
          <p:cNvPr id="5" name="Picture 4" descr="A diagram of a clustering diagram&#10;&#10;Description automatically generated">
            <a:extLst>
              <a:ext uri="{FF2B5EF4-FFF2-40B4-BE49-F238E27FC236}">
                <a16:creationId xmlns:a16="http://schemas.microsoft.com/office/drawing/2014/main" id="{999C645D-3132-6EC5-894C-0D77B50152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81802" y="1935733"/>
            <a:ext cx="3234907" cy="2986534"/>
          </a:xfrm>
          <a:prstGeom prst="rect">
            <a:avLst/>
          </a:prstGeom>
        </p:spPr>
      </p:pic>
    </p:spTree>
    <p:extLst>
      <p:ext uri="{BB962C8B-B14F-4D97-AF65-F5344CB8AC3E}">
        <p14:creationId xmlns:p14="http://schemas.microsoft.com/office/powerpoint/2010/main" val="3399610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0C3E3-D028-4C6D-5B24-9A67410441A3}"/>
              </a:ext>
            </a:extLst>
          </p:cNvPr>
          <p:cNvSpPr>
            <a:spLocks noGrp="1"/>
          </p:cNvSpPr>
          <p:nvPr>
            <p:ph type="title"/>
          </p:nvPr>
        </p:nvSpPr>
        <p:spPr>
          <a:xfrm>
            <a:off x="2105193" y="687475"/>
            <a:ext cx="4225827" cy="1083329"/>
          </a:xfrm>
        </p:spPr>
        <p:txBody>
          <a:bodyPr>
            <a:normAutofit/>
          </a:bodyPr>
          <a:lstStyle/>
          <a:p>
            <a:r>
              <a:rPr lang="en-US" dirty="0"/>
              <a:t>Examples</a:t>
            </a:r>
            <a:r>
              <a:rPr lang="en-US" dirty="0">
                <a:solidFill>
                  <a:srgbClr val="A54EF3"/>
                </a:solidFill>
              </a:rPr>
              <a:t> </a:t>
            </a:r>
            <a:endParaRPr lang="en-US" dirty="0"/>
          </a:p>
        </p:txBody>
      </p:sp>
      <p:sp>
        <p:nvSpPr>
          <p:cNvPr id="3" name="Content Placeholder 2">
            <a:extLst>
              <a:ext uri="{FF2B5EF4-FFF2-40B4-BE49-F238E27FC236}">
                <a16:creationId xmlns:a16="http://schemas.microsoft.com/office/drawing/2014/main" id="{5479404E-E95E-1F86-5CE2-87ED53E5B658}"/>
              </a:ext>
            </a:extLst>
          </p:cNvPr>
          <p:cNvSpPr>
            <a:spLocks noGrp="1"/>
          </p:cNvSpPr>
          <p:nvPr>
            <p:ph idx="1"/>
          </p:nvPr>
        </p:nvSpPr>
        <p:spPr>
          <a:xfrm>
            <a:off x="2105192" y="2228004"/>
            <a:ext cx="3414744" cy="3630795"/>
          </a:xfrm>
        </p:spPr>
        <p:txBody>
          <a:bodyPr/>
          <a:lstStyle/>
          <a:p>
            <a:endParaRPr lang="en-US" dirty="0"/>
          </a:p>
        </p:txBody>
      </p:sp>
      <p:sp>
        <p:nvSpPr>
          <p:cNvPr id="4" name="Slide Number Placeholder 3">
            <a:extLst>
              <a:ext uri="{FF2B5EF4-FFF2-40B4-BE49-F238E27FC236}">
                <a16:creationId xmlns:a16="http://schemas.microsoft.com/office/drawing/2014/main" id="{DAC642D8-4E48-2DA7-208B-510DA3ACD158}"/>
              </a:ext>
            </a:extLst>
          </p:cNvPr>
          <p:cNvSpPr>
            <a:spLocks noGrp="1"/>
          </p:cNvSpPr>
          <p:nvPr>
            <p:ph type="sldNum" sz="quarter" idx="12"/>
          </p:nvPr>
        </p:nvSpPr>
        <p:spPr/>
        <p:txBody>
          <a:bodyPr/>
          <a:lstStyle/>
          <a:p>
            <a:fld id="{A4DA0FD2-D456-4FC5-A587-87644C4EB2D1}" type="slidenum">
              <a:rPr lang="tr-TR" smtClean="0"/>
              <a:pPr/>
              <a:t>16</a:t>
            </a:fld>
            <a:endParaRPr lang="tr-TR"/>
          </a:p>
        </p:txBody>
      </p:sp>
      <p:pic>
        <p:nvPicPr>
          <p:cNvPr id="17410" name="Picture 2" descr="Fig. 2">
            <a:extLst>
              <a:ext uri="{FF2B5EF4-FFF2-40B4-BE49-F238E27FC236}">
                <a16:creationId xmlns:a16="http://schemas.microsoft.com/office/drawing/2014/main" id="{AC0BF0AA-D568-45BB-210C-6DB23FA425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8010" y="1035662"/>
            <a:ext cx="4225827" cy="482313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9AD30D09-25B6-DF4F-9B4F-0351D3962275}"/>
              </a:ext>
            </a:extLst>
          </p:cNvPr>
          <p:cNvSpPr txBox="1"/>
          <p:nvPr/>
        </p:nvSpPr>
        <p:spPr>
          <a:xfrm>
            <a:off x="6459697" y="5960364"/>
            <a:ext cx="6152224" cy="215444"/>
          </a:xfrm>
          <a:prstGeom prst="rect">
            <a:avLst/>
          </a:prstGeom>
          <a:noFill/>
        </p:spPr>
        <p:txBody>
          <a:bodyPr wrap="square">
            <a:spAutoFit/>
          </a:bodyPr>
          <a:lstStyle/>
          <a:p>
            <a:r>
              <a:rPr lang="en-US" sz="800" dirty="0"/>
              <a:t>https://</a:t>
            </a:r>
            <a:r>
              <a:rPr lang="en-US" sz="800" dirty="0" err="1"/>
              <a:t>viejournal.springeropen.com</a:t>
            </a:r>
            <a:r>
              <a:rPr lang="en-US" sz="800" dirty="0"/>
              <a:t>/articles/10.1186/s40327-018-0064-7</a:t>
            </a:r>
          </a:p>
        </p:txBody>
      </p:sp>
    </p:spTree>
    <p:extLst>
      <p:ext uri="{BB962C8B-B14F-4D97-AF65-F5344CB8AC3E}">
        <p14:creationId xmlns:p14="http://schemas.microsoft.com/office/powerpoint/2010/main" val="3857095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A911A-D8FD-CEB4-6CFE-444DA7BA4EC8}"/>
              </a:ext>
            </a:extLst>
          </p:cNvPr>
          <p:cNvSpPr>
            <a:spLocks noGrp="1"/>
          </p:cNvSpPr>
          <p:nvPr>
            <p:ph type="title"/>
          </p:nvPr>
        </p:nvSpPr>
        <p:spPr/>
        <p:txBody>
          <a:bodyPr anchor="ctr" anchorCtr="0"/>
          <a:lstStyle/>
          <a:p>
            <a:r>
              <a:rPr lang="en-US" dirty="0"/>
              <a:t>Reinforcement Learning</a:t>
            </a:r>
          </a:p>
        </p:txBody>
      </p:sp>
      <p:sp>
        <p:nvSpPr>
          <p:cNvPr id="3" name="Content Placeholder 2">
            <a:extLst>
              <a:ext uri="{FF2B5EF4-FFF2-40B4-BE49-F238E27FC236}">
                <a16:creationId xmlns:a16="http://schemas.microsoft.com/office/drawing/2014/main" id="{28660AE5-B579-1819-408E-34C67A27E94D}"/>
              </a:ext>
            </a:extLst>
          </p:cNvPr>
          <p:cNvSpPr>
            <a:spLocks noGrp="1"/>
          </p:cNvSpPr>
          <p:nvPr>
            <p:ph idx="1"/>
          </p:nvPr>
        </p:nvSpPr>
        <p:spPr/>
        <p:txBody>
          <a:bodyPr>
            <a:normAutofit/>
          </a:bodyPr>
          <a:lstStyle/>
          <a:p>
            <a:pPr marL="0" indent="0">
              <a:buNone/>
            </a:pPr>
            <a:r>
              <a:rPr lang="en-US" b="1" dirty="0"/>
              <a:t>Definition: </a:t>
            </a:r>
            <a:r>
              <a:rPr lang="en-US" dirty="0"/>
              <a:t>Reinforcement learning is a type of machine learning that focuses on decision-making and control mechanisms through interactions in an environment.</a:t>
            </a:r>
          </a:p>
          <a:p>
            <a:pPr marL="0" indent="0">
              <a:buNone/>
            </a:pPr>
            <a:r>
              <a:rPr lang="en-US" b="1" dirty="0"/>
              <a:t>Key Component:</a:t>
            </a:r>
          </a:p>
          <a:p>
            <a:pPr lvl="1"/>
            <a:r>
              <a:rPr lang="en-US" b="1" dirty="0">
                <a:solidFill>
                  <a:schemeClr val="tx1"/>
                </a:solidFill>
              </a:rPr>
              <a:t>Agent-Environment Interaction: </a:t>
            </a:r>
            <a:r>
              <a:rPr lang="en-US" dirty="0">
                <a:solidFill>
                  <a:schemeClr val="tx1"/>
                </a:solidFill>
              </a:rPr>
              <a:t>Agent learns from its interaction with the environment.</a:t>
            </a:r>
          </a:p>
        </p:txBody>
      </p:sp>
      <p:sp>
        <p:nvSpPr>
          <p:cNvPr id="4" name="Slide Number Placeholder 3">
            <a:extLst>
              <a:ext uri="{FF2B5EF4-FFF2-40B4-BE49-F238E27FC236}">
                <a16:creationId xmlns:a16="http://schemas.microsoft.com/office/drawing/2014/main" id="{3D19A87A-0041-2433-90AF-EC220D5F44B4}"/>
              </a:ext>
            </a:extLst>
          </p:cNvPr>
          <p:cNvSpPr>
            <a:spLocks noGrp="1"/>
          </p:cNvSpPr>
          <p:nvPr>
            <p:ph type="sldNum" sz="quarter" idx="12"/>
          </p:nvPr>
        </p:nvSpPr>
        <p:spPr/>
        <p:txBody>
          <a:bodyPr/>
          <a:lstStyle/>
          <a:p>
            <a:fld id="{A4DA0FD2-D456-4FC5-A587-87644C4EB2D1}" type="slidenum">
              <a:rPr lang="tr-TR" smtClean="0"/>
              <a:pPr/>
              <a:t>17</a:t>
            </a:fld>
            <a:endParaRPr lang="tr-TR"/>
          </a:p>
        </p:txBody>
      </p:sp>
      <p:pic>
        <p:nvPicPr>
          <p:cNvPr id="5" name="Picture 4" descr="A diagram of a business process&#10;&#10;Description automatically generated">
            <a:extLst>
              <a:ext uri="{FF2B5EF4-FFF2-40B4-BE49-F238E27FC236}">
                <a16:creationId xmlns:a16="http://schemas.microsoft.com/office/drawing/2014/main" id="{BF6EAD04-6068-EB2F-144D-B28703A396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48057" y="4016506"/>
            <a:ext cx="4420822" cy="2021582"/>
          </a:xfrm>
          <a:prstGeom prst="rect">
            <a:avLst/>
          </a:prstGeom>
        </p:spPr>
      </p:pic>
    </p:spTree>
    <p:extLst>
      <p:ext uri="{BB962C8B-B14F-4D97-AF65-F5344CB8AC3E}">
        <p14:creationId xmlns:p14="http://schemas.microsoft.com/office/powerpoint/2010/main" val="35486562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p:cNvSpPr>
            <a:spLocks noGrp="1" noChangeArrowheads="1"/>
          </p:cNvSpPr>
          <p:nvPr>
            <p:ph type="title"/>
          </p:nvPr>
        </p:nvSpPr>
        <p:spPr/>
        <p:txBody>
          <a:bodyPr anchor="ctr" anchorCtr="0"/>
          <a:lstStyle/>
          <a:p>
            <a:r>
              <a:rPr lang="en-US" dirty="0"/>
              <a:t>Reinforcement Learning Applications</a:t>
            </a:r>
          </a:p>
        </p:txBody>
      </p:sp>
      <p:sp>
        <p:nvSpPr>
          <p:cNvPr id="93187" name="Rectangle 3"/>
          <p:cNvSpPr>
            <a:spLocks noGrp="1" noChangeArrowheads="1"/>
          </p:cNvSpPr>
          <p:nvPr>
            <p:ph idx="1"/>
          </p:nvPr>
        </p:nvSpPr>
        <p:spPr/>
        <p:txBody>
          <a:bodyPr anchor="t" anchorCtr="0">
            <a:normAutofit/>
          </a:bodyPr>
          <a:lstStyle/>
          <a:p>
            <a:pPr marL="0" indent="0">
              <a:buNone/>
            </a:pPr>
            <a:r>
              <a:rPr lang="en-US" b="1" dirty="0"/>
              <a:t>Application Scenarios:</a:t>
            </a:r>
          </a:p>
          <a:p>
            <a:pPr lvl="1"/>
            <a:r>
              <a:rPr lang="en-US" b="1" dirty="0"/>
              <a:t>Teaching Multi-Step Processes: </a:t>
            </a:r>
            <a:r>
              <a:rPr lang="en-US" dirty="0"/>
              <a:t>Teaches machines to perform multi-step tasks with defined rules.</a:t>
            </a:r>
          </a:p>
          <a:p>
            <a:pPr lvl="1"/>
            <a:r>
              <a:rPr lang="en-US" b="1" dirty="0"/>
              <a:t>Response to Cues: </a:t>
            </a:r>
            <a:r>
              <a:rPr lang="en-US" dirty="0"/>
              <a:t>Decides actions based on positive or negative cues to maximize rewards autonomously.</a:t>
            </a:r>
          </a:p>
          <a:p>
            <a:pPr marL="0" indent="0">
              <a:buNone/>
            </a:pPr>
            <a:endParaRPr lang="en-US" dirty="0"/>
          </a:p>
        </p:txBody>
      </p:sp>
      <p:sp>
        <p:nvSpPr>
          <p:cNvPr id="9" name="Slide Number Placeholder 8"/>
          <p:cNvSpPr>
            <a:spLocks noGrp="1"/>
          </p:cNvSpPr>
          <p:nvPr>
            <p:ph type="sldNum" sz="quarter" idx="12"/>
          </p:nvPr>
        </p:nvSpPr>
        <p:spPr/>
        <p:txBody>
          <a:bodyPr>
            <a:normAutofit/>
          </a:bodyPr>
          <a:lstStyle/>
          <a:p>
            <a:fld id="{6DF4C409-C017-451C-B236-E185BBA6E0E4}" type="slidenum">
              <a:rPr lang="tr-TR" smtClean="0"/>
              <a:pPr/>
              <a:t>18</a:t>
            </a:fld>
            <a:endParaRPr lang="tr-TR"/>
          </a:p>
        </p:txBody>
      </p:sp>
      <p:pic>
        <p:nvPicPr>
          <p:cNvPr id="3" name="Picture 2" descr="A diagram of a business process&#10;&#10;Description automatically generated">
            <a:extLst>
              <a:ext uri="{FF2B5EF4-FFF2-40B4-BE49-F238E27FC236}">
                <a16:creationId xmlns:a16="http://schemas.microsoft.com/office/drawing/2014/main" id="{E5B23531-1CD7-FC07-02AC-EBBABBDE53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5986" y="3657600"/>
            <a:ext cx="4420822" cy="2021582"/>
          </a:xfrm>
          <a:prstGeom prst="rect">
            <a:avLst/>
          </a:prstGeom>
        </p:spPr>
      </p:pic>
    </p:spTree>
    <p:extLst>
      <p:ext uri="{BB962C8B-B14F-4D97-AF65-F5344CB8AC3E}">
        <p14:creationId xmlns:p14="http://schemas.microsoft.com/office/powerpoint/2010/main" val="9628951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0714D0-6254-283A-D999-E135015A83FB}"/>
              </a:ext>
            </a:extLst>
          </p:cNvPr>
          <p:cNvSpPr>
            <a:spLocks noGrp="1"/>
          </p:cNvSpPr>
          <p:nvPr>
            <p:ph type="title"/>
          </p:nvPr>
        </p:nvSpPr>
        <p:spPr/>
        <p:txBody>
          <a:bodyPr anchor="ctr" anchorCtr="0"/>
          <a:lstStyle/>
          <a:p>
            <a:r>
              <a:rPr lang="en-US" dirty="0"/>
              <a:t>Reinforcement Learning Applications</a:t>
            </a:r>
          </a:p>
        </p:txBody>
      </p:sp>
      <p:sp>
        <p:nvSpPr>
          <p:cNvPr id="3" name="Content Placeholder 2">
            <a:extLst>
              <a:ext uri="{FF2B5EF4-FFF2-40B4-BE49-F238E27FC236}">
                <a16:creationId xmlns:a16="http://schemas.microsoft.com/office/drawing/2014/main" id="{C1221F6B-CEF9-7607-B4AA-D79BC58C016F}"/>
              </a:ext>
            </a:extLst>
          </p:cNvPr>
          <p:cNvSpPr>
            <a:spLocks noGrp="1"/>
          </p:cNvSpPr>
          <p:nvPr>
            <p:ph idx="1"/>
          </p:nvPr>
        </p:nvSpPr>
        <p:spPr>
          <a:xfrm>
            <a:off x="911424" y="2228004"/>
            <a:ext cx="9183520" cy="2281117"/>
          </a:xfrm>
        </p:spPr>
        <p:txBody>
          <a:bodyPr>
            <a:normAutofit fontScale="85000" lnSpcReduction="10000"/>
          </a:bodyPr>
          <a:lstStyle/>
          <a:p>
            <a:r>
              <a:rPr lang="en-US" b="1" dirty="0"/>
              <a:t>Game Playing</a:t>
            </a:r>
          </a:p>
          <a:p>
            <a:r>
              <a:rPr lang="en-US" b="1" dirty="0"/>
              <a:t>Architecture </a:t>
            </a:r>
            <a:r>
              <a:rPr lang="en-US" dirty="0"/>
              <a:t>(e.g., Autonomous design systems generating optimal building layouts.)</a:t>
            </a:r>
          </a:p>
          <a:p>
            <a:r>
              <a:rPr lang="en-US" b="1" dirty="0"/>
              <a:t>Engineering </a:t>
            </a:r>
            <a:r>
              <a:rPr lang="en-US" dirty="0"/>
              <a:t>(e.g., Training robots for construction tasks or inspections.)</a:t>
            </a:r>
          </a:p>
          <a:p>
            <a:r>
              <a:rPr lang="en-US" b="1" dirty="0"/>
              <a:t>Urban Planning </a:t>
            </a:r>
            <a:r>
              <a:rPr lang="en-US" dirty="0"/>
              <a:t>(e.g., Optimizing traffic flow or city infrastructure planning.)</a:t>
            </a:r>
          </a:p>
          <a:p>
            <a:r>
              <a:rPr lang="en-US" b="1" dirty="0"/>
              <a:t>Urban building energy management </a:t>
            </a:r>
            <a:r>
              <a:rPr lang="en-US" dirty="0"/>
              <a:t>(e.g., aids in developing adaptive control systems or real-time optimization of heating, cooling, and lighting based on environmental factors and occupancy patterns)</a:t>
            </a:r>
          </a:p>
          <a:p>
            <a:r>
              <a:rPr lang="en-US" b="1" dirty="0"/>
              <a:t>Smart Grid </a:t>
            </a:r>
            <a:r>
              <a:rPr lang="en-US" dirty="0"/>
              <a:t>(e.g., Precise energy prediction crucial for managing unpredictable local energy supply and demand)</a:t>
            </a:r>
          </a:p>
          <a:p>
            <a:endParaRPr lang="en-US" dirty="0"/>
          </a:p>
        </p:txBody>
      </p:sp>
      <p:sp>
        <p:nvSpPr>
          <p:cNvPr id="4" name="Slide Number Placeholder 3">
            <a:extLst>
              <a:ext uri="{FF2B5EF4-FFF2-40B4-BE49-F238E27FC236}">
                <a16:creationId xmlns:a16="http://schemas.microsoft.com/office/drawing/2014/main" id="{4FE6B9A5-D867-18E7-E1B6-4B4120F337B1}"/>
              </a:ext>
            </a:extLst>
          </p:cNvPr>
          <p:cNvSpPr>
            <a:spLocks noGrp="1"/>
          </p:cNvSpPr>
          <p:nvPr>
            <p:ph type="sldNum" sz="quarter" idx="12"/>
          </p:nvPr>
        </p:nvSpPr>
        <p:spPr/>
        <p:txBody>
          <a:bodyPr/>
          <a:lstStyle/>
          <a:p>
            <a:fld id="{A4DA0FD2-D456-4FC5-A587-87644C4EB2D1}" type="slidenum">
              <a:rPr lang="tr-TR" smtClean="0"/>
              <a:pPr/>
              <a:t>19</a:t>
            </a:fld>
            <a:endParaRPr lang="tr-TR"/>
          </a:p>
        </p:txBody>
      </p:sp>
    </p:spTree>
    <p:extLst>
      <p:ext uri="{BB962C8B-B14F-4D97-AF65-F5344CB8AC3E}">
        <p14:creationId xmlns:p14="http://schemas.microsoft.com/office/powerpoint/2010/main" val="37653838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607E3C2-915D-2EE4-BC3F-7CD95D6E0C40}"/>
              </a:ext>
            </a:extLst>
          </p:cNvPr>
          <p:cNvSpPr>
            <a:spLocks noGrp="1"/>
          </p:cNvSpPr>
          <p:nvPr>
            <p:ph type="sldNum" sz="quarter" idx="12"/>
          </p:nvPr>
        </p:nvSpPr>
        <p:spPr/>
        <p:txBody>
          <a:bodyPr/>
          <a:lstStyle/>
          <a:p>
            <a:fld id="{A4DA0FD2-D456-4FC5-A587-87644C4EB2D1}" type="slidenum">
              <a:rPr lang="tr-TR" smtClean="0"/>
              <a:pPr/>
              <a:t>20</a:t>
            </a:fld>
            <a:endParaRPr lang="tr-TR"/>
          </a:p>
        </p:txBody>
      </p:sp>
      <p:pic>
        <p:nvPicPr>
          <p:cNvPr id="8" name="Picture 7" descr="A diagram of machine learning&#10;&#10;Description automatically generated">
            <a:extLst>
              <a:ext uri="{FF2B5EF4-FFF2-40B4-BE49-F238E27FC236}">
                <a16:creationId xmlns:a16="http://schemas.microsoft.com/office/drawing/2014/main" id="{C36EC469-8743-1FBF-8484-E9297F62CF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27848" y="188640"/>
            <a:ext cx="5673376" cy="6225840"/>
          </a:xfrm>
          <a:prstGeom prst="rect">
            <a:avLst/>
          </a:prstGeom>
        </p:spPr>
      </p:pic>
      <p:sp>
        <p:nvSpPr>
          <p:cNvPr id="2" name="Title 1">
            <a:extLst>
              <a:ext uri="{FF2B5EF4-FFF2-40B4-BE49-F238E27FC236}">
                <a16:creationId xmlns:a16="http://schemas.microsoft.com/office/drawing/2014/main" id="{3AE6915C-7484-9BA2-1B24-F5A817731F82}"/>
              </a:ext>
            </a:extLst>
          </p:cNvPr>
          <p:cNvSpPr>
            <a:spLocks noGrp="1"/>
          </p:cNvSpPr>
          <p:nvPr>
            <p:ph type="title"/>
          </p:nvPr>
        </p:nvSpPr>
        <p:spPr>
          <a:xfrm>
            <a:off x="2135560" y="1052737"/>
            <a:ext cx="3198720" cy="1083329"/>
          </a:xfrm>
        </p:spPr>
        <p:txBody>
          <a:bodyPr>
            <a:normAutofit fontScale="90000"/>
          </a:bodyPr>
          <a:lstStyle/>
          <a:p>
            <a:r>
              <a:rPr lang="en-US" dirty="0"/>
              <a:t>main machine learning (ML) algorithms </a:t>
            </a:r>
          </a:p>
        </p:txBody>
      </p:sp>
      <p:sp>
        <p:nvSpPr>
          <p:cNvPr id="5" name="TextBox 4">
            <a:extLst>
              <a:ext uri="{FF2B5EF4-FFF2-40B4-BE49-F238E27FC236}">
                <a16:creationId xmlns:a16="http://schemas.microsoft.com/office/drawing/2014/main" id="{10D3100C-906A-5BF0-50CC-8890A1ADEA7D}"/>
              </a:ext>
            </a:extLst>
          </p:cNvPr>
          <p:cNvSpPr txBox="1"/>
          <p:nvPr/>
        </p:nvSpPr>
        <p:spPr>
          <a:xfrm>
            <a:off x="1991544" y="6151321"/>
            <a:ext cx="6153462" cy="215444"/>
          </a:xfrm>
          <a:prstGeom prst="rect">
            <a:avLst/>
          </a:prstGeom>
          <a:noFill/>
        </p:spPr>
        <p:txBody>
          <a:bodyPr wrap="square">
            <a:spAutoFit/>
          </a:bodyPr>
          <a:lstStyle/>
          <a:p>
            <a:r>
              <a:rPr lang="en-US" sz="800" dirty="0" err="1"/>
              <a:t>Abbasabadi</a:t>
            </a:r>
            <a:r>
              <a:rPr lang="en-US" sz="800" dirty="0"/>
              <a:t>, N., </a:t>
            </a:r>
            <a:r>
              <a:rPr lang="en-US" sz="800" dirty="0" err="1"/>
              <a:t>Ashayeri</a:t>
            </a:r>
            <a:r>
              <a:rPr lang="en-US" sz="800" dirty="0"/>
              <a:t>, M,. (Eds). (2024). Artificial Intelligence in Performance-driven Design: Theories, Methods and Tools, Wiley.</a:t>
            </a:r>
          </a:p>
        </p:txBody>
      </p:sp>
    </p:spTree>
    <p:extLst>
      <p:ext uri="{BB962C8B-B14F-4D97-AF65-F5344CB8AC3E}">
        <p14:creationId xmlns:p14="http://schemas.microsoft.com/office/powerpoint/2010/main" val="34749147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diagram of a machine learning&#10;&#10;Description automatically generated">
            <a:extLst>
              <a:ext uri="{FF2B5EF4-FFF2-40B4-BE49-F238E27FC236}">
                <a16:creationId xmlns:a16="http://schemas.microsoft.com/office/drawing/2014/main" id="{950F9713-2DCA-1AA3-8DB6-3746B687DB7F}"/>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t="14057" b="1058"/>
          <a:stretch/>
        </p:blipFill>
        <p:spPr>
          <a:xfrm>
            <a:off x="4191000" y="403624"/>
            <a:ext cx="5518710" cy="5844777"/>
          </a:xfrm>
          <a:prstGeom prst="rect">
            <a:avLst/>
          </a:prstGeom>
        </p:spPr>
      </p:pic>
      <p:sp>
        <p:nvSpPr>
          <p:cNvPr id="2" name="Title 1">
            <a:extLst>
              <a:ext uri="{FF2B5EF4-FFF2-40B4-BE49-F238E27FC236}">
                <a16:creationId xmlns:a16="http://schemas.microsoft.com/office/drawing/2014/main" id="{2EC5B5B5-092E-8D3F-1C49-690B73D73CC7}"/>
              </a:ext>
            </a:extLst>
          </p:cNvPr>
          <p:cNvSpPr>
            <a:spLocks noGrp="1"/>
          </p:cNvSpPr>
          <p:nvPr>
            <p:ph type="title"/>
          </p:nvPr>
        </p:nvSpPr>
        <p:spPr/>
        <p:txBody>
          <a:bodyPr/>
          <a:lstStyle/>
          <a:p>
            <a:r>
              <a:rPr lang="en-GB" noProof="0" dirty="0"/>
              <a:t>ML Algorithms</a:t>
            </a:r>
          </a:p>
        </p:txBody>
      </p:sp>
      <p:sp>
        <p:nvSpPr>
          <p:cNvPr id="4" name="Slide Number Placeholder 3">
            <a:extLst>
              <a:ext uri="{FF2B5EF4-FFF2-40B4-BE49-F238E27FC236}">
                <a16:creationId xmlns:a16="http://schemas.microsoft.com/office/drawing/2014/main" id="{C3487024-3A96-8C16-EB6A-BC969D2527EC}"/>
              </a:ext>
            </a:extLst>
          </p:cNvPr>
          <p:cNvSpPr>
            <a:spLocks noGrp="1"/>
          </p:cNvSpPr>
          <p:nvPr>
            <p:ph type="sldNum" sz="quarter" idx="12"/>
          </p:nvPr>
        </p:nvSpPr>
        <p:spPr/>
        <p:txBody>
          <a:bodyPr/>
          <a:lstStyle/>
          <a:p>
            <a:fld id="{A4DA0FD2-D456-4FC5-A587-87644C4EB2D1}" type="slidenum">
              <a:rPr lang="en-GB" noProof="0" smtClean="0"/>
              <a:pPr/>
              <a:t>21</a:t>
            </a:fld>
            <a:endParaRPr lang="en-GB" noProof="0" dirty="0"/>
          </a:p>
        </p:txBody>
      </p:sp>
      <p:sp>
        <p:nvSpPr>
          <p:cNvPr id="7" name="Rectangle 6">
            <a:extLst>
              <a:ext uri="{FF2B5EF4-FFF2-40B4-BE49-F238E27FC236}">
                <a16:creationId xmlns:a16="http://schemas.microsoft.com/office/drawing/2014/main" id="{978B9450-96F7-2745-F5EF-59A626ACA2E7}"/>
              </a:ext>
            </a:extLst>
          </p:cNvPr>
          <p:cNvSpPr/>
          <p:nvPr/>
        </p:nvSpPr>
        <p:spPr>
          <a:xfrm>
            <a:off x="3962400" y="5486401"/>
            <a:ext cx="1143000" cy="8348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9535853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8" name="Rectangle 4"/>
          <p:cNvSpPr>
            <a:spLocks noGrp="1" noChangeArrowheads="1"/>
          </p:cNvSpPr>
          <p:nvPr>
            <p:ph type="ctrTitle"/>
          </p:nvPr>
        </p:nvSpPr>
        <p:spPr/>
        <p:txBody>
          <a:bodyPr/>
          <a:lstStyle/>
          <a:p>
            <a:br>
              <a:rPr lang="tr-TR" dirty="0"/>
            </a:br>
            <a:r>
              <a:rPr lang="en-US" dirty="0"/>
              <a:t>Supervised</a:t>
            </a:r>
            <a:r>
              <a:rPr lang="tr-TR" dirty="0"/>
              <a:t> </a:t>
            </a:r>
            <a:r>
              <a:rPr lang="en-US" dirty="0"/>
              <a:t>Learning</a:t>
            </a:r>
          </a:p>
        </p:txBody>
      </p:sp>
    </p:spTree>
    <p:extLst>
      <p:ext uri="{BB962C8B-B14F-4D97-AF65-F5344CB8AC3E}">
        <p14:creationId xmlns:p14="http://schemas.microsoft.com/office/powerpoint/2010/main" val="38692797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E72BA-F0CE-6379-7D4A-7312B967F8A7}"/>
              </a:ext>
            </a:extLst>
          </p:cNvPr>
          <p:cNvSpPr>
            <a:spLocks noGrp="1"/>
          </p:cNvSpPr>
          <p:nvPr>
            <p:ph type="title"/>
          </p:nvPr>
        </p:nvSpPr>
        <p:spPr/>
        <p:txBody>
          <a:bodyPr/>
          <a:lstStyle/>
          <a:p>
            <a:r>
              <a:rPr lang="en-US" dirty="0"/>
              <a:t>Prediction in Machine Learning</a:t>
            </a:r>
          </a:p>
        </p:txBody>
      </p:sp>
      <p:pic>
        <p:nvPicPr>
          <p:cNvPr id="6" name="Content Placeholder 5" descr="A blue head with a brain and a white text&#10;&#10;Description automatically generated with medium confidence">
            <a:extLst>
              <a:ext uri="{FF2B5EF4-FFF2-40B4-BE49-F238E27FC236}">
                <a16:creationId xmlns:a16="http://schemas.microsoft.com/office/drawing/2014/main" id="{D06FC7F6-937A-F88D-9B1A-82B1348C2C61}"/>
              </a:ext>
            </a:extLst>
          </p:cNvPr>
          <p:cNvPicPr>
            <a:picLocks noGrp="1" noChangeAspect="1"/>
          </p:cNvPicPr>
          <p:nvPr>
            <p:ph idx="1"/>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2424785" y="2227263"/>
            <a:ext cx="7350369" cy="3632200"/>
          </a:xfrm>
        </p:spPr>
      </p:pic>
      <p:sp>
        <p:nvSpPr>
          <p:cNvPr id="4" name="Slide Number Placeholder 3">
            <a:extLst>
              <a:ext uri="{FF2B5EF4-FFF2-40B4-BE49-F238E27FC236}">
                <a16:creationId xmlns:a16="http://schemas.microsoft.com/office/drawing/2014/main" id="{29BF26FD-F459-56C7-5486-30C172CF40C2}"/>
              </a:ext>
            </a:extLst>
          </p:cNvPr>
          <p:cNvSpPr>
            <a:spLocks noGrp="1"/>
          </p:cNvSpPr>
          <p:nvPr>
            <p:ph type="sldNum" sz="quarter" idx="12"/>
          </p:nvPr>
        </p:nvSpPr>
        <p:spPr/>
        <p:txBody>
          <a:bodyPr/>
          <a:lstStyle/>
          <a:p>
            <a:fld id="{A4DA0FD2-D456-4FC5-A587-87644C4EB2D1}" type="slidenum">
              <a:rPr lang="tr-TR" smtClean="0"/>
              <a:pPr/>
              <a:t>23</a:t>
            </a:fld>
            <a:endParaRPr lang="tr-TR"/>
          </a:p>
        </p:txBody>
      </p:sp>
    </p:spTree>
    <p:extLst>
      <p:ext uri="{BB962C8B-B14F-4D97-AF65-F5344CB8AC3E}">
        <p14:creationId xmlns:p14="http://schemas.microsoft.com/office/powerpoint/2010/main" val="34508536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276C89-5E28-FE8B-96C1-54BA78F87112}"/>
              </a:ext>
            </a:extLst>
          </p:cNvPr>
          <p:cNvSpPr>
            <a:spLocks noGrp="1"/>
          </p:cNvSpPr>
          <p:nvPr>
            <p:ph type="title"/>
          </p:nvPr>
        </p:nvSpPr>
        <p:spPr/>
        <p:txBody>
          <a:bodyPr/>
          <a:lstStyle/>
          <a:p>
            <a:r>
              <a:rPr lang="en-US" dirty="0"/>
              <a:t>Prediction in Machine Learning</a:t>
            </a:r>
          </a:p>
        </p:txBody>
      </p:sp>
      <p:sp>
        <p:nvSpPr>
          <p:cNvPr id="4" name="Slide Number Placeholder 3">
            <a:extLst>
              <a:ext uri="{FF2B5EF4-FFF2-40B4-BE49-F238E27FC236}">
                <a16:creationId xmlns:a16="http://schemas.microsoft.com/office/drawing/2014/main" id="{98DE34FE-2392-4D85-EF0E-E1555CF4FC4E}"/>
              </a:ext>
            </a:extLst>
          </p:cNvPr>
          <p:cNvSpPr>
            <a:spLocks noGrp="1"/>
          </p:cNvSpPr>
          <p:nvPr>
            <p:ph type="sldNum" sz="quarter" idx="12"/>
          </p:nvPr>
        </p:nvSpPr>
        <p:spPr/>
        <p:txBody>
          <a:bodyPr/>
          <a:lstStyle/>
          <a:p>
            <a:fld id="{A4DA0FD2-D456-4FC5-A587-87644C4EB2D1}" type="slidenum">
              <a:rPr lang="tr-TR" smtClean="0"/>
              <a:pPr/>
              <a:t>24</a:t>
            </a:fld>
            <a:endParaRPr lang="tr-TR"/>
          </a:p>
        </p:txBody>
      </p:sp>
      <p:graphicFrame>
        <p:nvGraphicFramePr>
          <p:cNvPr id="7" name="Content Placeholder 2">
            <a:extLst>
              <a:ext uri="{FF2B5EF4-FFF2-40B4-BE49-F238E27FC236}">
                <a16:creationId xmlns:a16="http://schemas.microsoft.com/office/drawing/2014/main" id="{8F71718F-334A-3FF9-60B9-5528FD97D4B9}"/>
              </a:ext>
            </a:extLst>
          </p:cNvPr>
          <p:cNvGraphicFramePr>
            <a:graphicFrameLocks/>
          </p:cNvGraphicFramePr>
          <p:nvPr/>
        </p:nvGraphicFramePr>
        <p:xfrm>
          <a:off x="1854544" y="1724832"/>
          <a:ext cx="8240400" cy="4204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502654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DBAF6-6CCF-38C0-6622-FA88F025399E}"/>
              </a:ext>
            </a:extLst>
          </p:cNvPr>
          <p:cNvSpPr>
            <a:spLocks noGrp="1"/>
          </p:cNvSpPr>
          <p:nvPr>
            <p:ph type="title"/>
          </p:nvPr>
        </p:nvSpPr>
        <p:spPr>
          <a:xfrm>
            <a:off x="2105192" y="687475"/>
            <a:ext cx="7989752" cy="1083329"/>
          </a:xfrm>
        </p:spPr>
        <p:txBody>
          <a:bodyPr wrap="square" anchor="ctr">
            <a:normAutofit/>
          </a:bodyPr>
          <a:lstStyle/>
          <a:p>
            <a:r>
              <a:rPr lang="en-US" dirty="0"/>
              <a:t>Prediction in Machine Learning</a:t>
            </a:r>
          </a:p>
        </p:txBody>
      </p:sp>
      <p:sp>
        <p:nvSpPr>
          <p:cNvPr id="4" name="Slide Number Placeholder 3">
            <a:extLst>
              <a:ext uri="{FF2B5EF4-FFF2-40B4-BE49-F238E27FC236}">
                <a16:creationId xmlns:a16="http://schemas.microsoft.com/office/drawing/2014/main" id="{1C2964E4-AB0D-8255-B307-14FA1307BB53}"/>
              </a:ext>
            </a:extLst>
          </p:cNvPr>
          <p:cNvSpPr>
            <a:spLocks noGrp="1"/>
          </p:cNvSpPr>
          <p:nvPr>
            <p:ph type="sldNum" sz="quarter" idx="12"/>
          </p:nvPr>
        </p:nvSpPr>
        <p:spPr>
          <a:xfrm>
            <a:off x="9324476" y="5956137"/>
            <a:ext cx="770468" cy="365125"/>
          </a:xfrm>
        </p:spPr>
        <p:txBody>
          <a:bodyPr anchor="ctr">
            <a:normAutofit/>
          </a:bodyPr>
          <a:lstStyle/>
          <a:p>
            <a:pPr>
              <a:spcAft>
                <a:spcPts val="600"/>
              </a:spcAft>
            </a:pPr>
            <a:fld id="{A4DA0FD2-D456-4FC5-A587-87644C4EB2D1}" type="slidenum">
              <a:rPr lang="tr-TR" smtClean="0"/>
              <a:pPr>
                <a:spcAft>
                  <a:spcPts val="600"/>
                </a:spcAft>
              </a:pPr>
              <a:t>25</a:t>
            </a:fld>
            <a:endParaRPr lang="tr-TR"/>
          </a:p>
        </p:txBody>
      </p:sp>
      <p:graphicFrame>
        <p:nvGraphicFramePr>
          <p:cNvPr id="6" name="Content Placeholder 2">
            <a:extLst>
              <a:ext uri="{FF2B5EF4-FFF2-40B4-BE49-F238E27FC236}">
                <a16:creationId xmlns:a16="http://schemas.microsoft.com/office/drawing/2014/main" id="{F31BE559-272E-A02A-4DD2-BD6FFB45E065}"/>
              </a:ext>
            </a:extLst>
          </p:cNvPr>
          <p:cNvGraphicFramePr>
            <a:graphicFrameLocks noGrp="1"/>
          </p:cNvGraphicFramePr>
          <p:nvPr>
            <p:ph idx="1"/>
          </p:nvPr>
        </p:nvGraphicFramePr>
        <p:xfrm>
          <a:off x="2105192" y="2228004"/>
          <a:ext cx="7989752" cy="36307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Rectangle 2" descr="Programmer">
            <a:extLst>
              <a:ext uri="{FF2B5EF4-FFF2-40B4-BE49-F238E27FC236}">
                <a16:creationId xmlns:a16="http://schemas.microsoft.com/office/drawing/2014/main" id="{CF25E837-BEB5-B621-FA8B-B4B1F6FC7607}"/>
              </a:ext>
            </a:extLst>
          </p:cNvPr>
          <p:cNvSpPr/>
          <p:nvPr/>
        </p:nvSpPr>
        <p:spPr>
          <a:xfrm>
            <a:off x="5647462" y="4574641"/>
            <a:ext cx="599081" cy="599081"/>
          </a:xfrm>
          <a:prstGeom prst="rect">
            <a:avLst/>
          </a:prstGeom>
          <a: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8" name="TextBox 7">
            <a:extLst>
              <a:ext uri="{FF2B5EF4-FFF2-40B4-BE49-F238E27FC236}">
                <a16:creationId xmlns:a16="http://schemas.microsoft.com/office/drawing/2014/main" id="{1C528703-83D8-7F6B-753B-1D955373E338}"/>
              </a:ext>
            </a:extLst>
          </p:cNvPr>
          <p:cNvSpPr txBox="1"/>
          <p:nvPr/>
        </p:nvSpPr>
        <p:spPr>
          <a:xfrm>
            <a:off x="5143500" y="5164653"/>
            <a:ext cx="1905000" cy="430887"/>
          </a:xfrm>
          <a:prstGeom prst="rect">
            <a:avLst/>
          </a:prstGeom>
          <a:noFill/>
        </p:spPr>
        <p:txBody>
          <a:bodyPr wrap="square">
            <a:spAutoFit/>
          </a:bodyPr>
          <a:lstStyle/>
          <a:p>
            <a:pPr lvl="0">
              <a:lnSpc>
                <a:spcPct val="100000"/>
              </a:lnSpc>
            </a:pPr>
            <a:r>
              <a:rPr lang="en-US" sz="2200" b="1" dirty="0">
                <a:solidFill>
                  <a:srgbClr val="7030A0"/>
                </a:solidFill>
              </a:rPr>
              <a:t>Algorithm</a:t>
            </a:r>
            <a:endParaRPr lang="en-US" sz="2200" dirty="0">
              <a:solidFill>
                <a:schemeClr val="bg1"/>
              </a:solidFill>
            </a:endParaRPr>
          </a:p>
        </p:txBody>
      </p:sp>
      <p:sp>
        <p:nvSpPr>
          <p:cNvPr id="11" name="TextBox 10">
            <a:extLst>
              <a:ext uri="{FF2B5EF4-FFF2-40B4-BE49-F238E27FC236}">
                <a16:creationId xmlns:a16="http://schemas.microsoft.com/office/drawing/2014/main" id="{7C589E5A-6B76-F4FC-4573-E29F899442A2}"/>
              </a:ext>
            </a:extLst>
          </p:cNvPr>
          <p:cNvSpPr txBox="1"/>
          <p:nvPr/>
        </p:nvSpPr>
        <p:spPr>
          <a:xfrm>
            <a:off x="3004358" y="4496766"/>
            <a:ext cx="1600200" cy="369332"/>
          </a:xfrm>
          <a:prstGeom prst="rect">
            <a:avLst/>
          </a:prstGeom>
          <a:noFill/>
        </p:spPr>
        <p:txBody>
          <a:bodyPr wrap="square" rtlCol="0">
            <a:spAutoFit/>
          </a:bodyPr>
          <a:lstStyle/>
          <a:p>
            <a:r>
              <a:rPr lang="en-US" b="1" dirty="0">
                <a:solidFill>
                  <a:srgbClr val="7030A0"/>
                </a:solidFill>
              </a:rPr>
              <a:t>Feature 1</a:t>
            </a:r>
          </a:p>
        </p:txBody>
      </p:sp>
      <p:sp>
        <p:nvSpPr>
          <p:cNvPr id="12" name="TextBox 11">
            <a:extLst>
              <a:ext uri="{FF2B5EF4-FFF2-40B4-BE49-F238E27FC236}">
                <a16:creationId xmlns:a16="http://schemas.microsoft.com/office/drawing/2014/main" id="{AA243F3D-5227-9304-637D-D78416773EAA}"/>
              </a:ext>
            </a:extLst>
          </p:cNvPr>
          <p:cNvSpPr txBox="1"/>
          <p:nvPr/>
        </p:nvSpPr>
        <p:spPr>
          <a:xfrm>
            <a:off x="3004358" y="5613065"/>
            <a:ext cx="1600200" cy="369332"/>
          </a:xfrm>
          <a:prstGeom prst="rect">
            <a:avLst/>
          </a:prstGeom>
          <a:noFill/>
        </p:spPr>
        <p:txBody>
          <a:bodyPr wrap="square" rtlCol="0">
            <a:spAutoFit/>
          </a:bodyPr>
          <a:lstStyle/>
          <a:p>
            <a:r>
              <a:rPr lang="en-US" b="1" dirty="0">
                <a:solidFill>
                  <a:srgbClr val="7030A0"/>
                </a:solidFill>
              </a:rPr>
              <a:t>Feature p</a:t>
            </a:r>
          </a:p>
        </p:txBody>
      </p:sp>
      <p:sp>
        <p:nvSpPr>
          <p:cNvPr id="13" name="TextBox 12">
            <a:extLst>
              <a:ext uri="{FF2B5EF4-FFF2-40B4-BE49-F238E27FC236}">
                <a16:creationId xmlns:a16="http://schemas.microsoft.com/office/drawing/2014/main" id="{F28B7255-FFD8-419B-9783-BBA4AAF37769}"/>
              </a:ext>
            </a:extLst>
          </p:cNvPr>
          <p:cNvSpPr txBox="1"/>
          <p:nvPr/>
        </p:nvSpPr>
        <p:spPr>
          <a:xfrm>
            <a:off x="3004358" y="4874181"/>
            <a:ext cx="1600200" cy="369332"/>
          </a:xfrm>
          <a:prstGeom prst="rect">
            <a:avLst/>
          </a:prstGeom>
          <a:noFill/>
        </p:spPr>
        <p:txBody>
          <a:bodyPr wrap="square" rtlCol="0">
            <a:spAutoFit/>
          </a:bodyPr>
          <a:lstStyle/>
          <a:p>
            <a:r>
              <a:rPr lang="en-US" b="1" dirty="0">
                <a:solidFill>
                  <a:srgbClr val="7030A0"/>
                </a:solidFill>
              </a:rPr>
              <a:t>Feature 2</a:t>
            </a:r>
          </a:p>
        </p:txBody>
      </p:sp>
      <p:sp>
        <p:nvSpPr>
          <p:cNvPr id="15" name="TextBox 14">
            <a:extLst>
              <a:ext uri="{FF2B5EF4-FFF2-40B4-BE49-F238E27FC236}">
                <a16:creationId xmlns:a16="http://schemas.microsoft.com/office/drawing/2014/main" id="{FFBBBD14-254A-00CB-A47E-D6FADC250E97}"/>
              </a:ext>
            </a:extLst>
          </p:cNvPr>
          <p:cNvSpPr txBox="1"/>
          <p:nvPr/>
        </p:nvSpPr>
        <p:spPr>
          <a:xfrm>
            <a:off x="3004358" y="5234912"/>
            <a:ext cx="1600200" cy="369332"/>
          </a:xfrm>
          <a:prstGeom prst="rect">
            <a:avLst/>
          </a:prstGeom>
          <a:noFill/>
        </p:spPr>
        <p:txBody>
          <a:bodyPr wrap="square" rtlCol="0">
            <a:spAutoFit/>
          </a:bodyPr>
          <a:lstStyle/>
          <a:p>
            <a:r>
              <a:rPr lang="en-US" b="1" dirty="0">
                <a:solidFill>
                  <a:srgbClr val="7030A0"/>
                </a:solidFill>
              </a:rPr>
              <a:t>Feature 3</a:t>
            </a:r>
          </a:p>
        </p:txBody>
      </p:sp>
      <p:sp>
        <p:nvSpPr>
          <p:cNvPr id="17" name="TextBox 16">
            <a:extLst>
              <a:ext uri="{FF2B5EF4-FFF2-40B4-BE49-F238E27FC236}">
                <a16:creationId xmlns:a16="http://schemas.microsoft.com/office/drawing/2014/main" id="{483B5E6C-CE70-2970-C31C-D2F09B2D7251}"/>
              </a:ext>
            </a:extLst>
          </p:cNvPr>
          <p:cNvSpPr txBox="1"/>
          <p:nvPr/>
        </p:nvSpPr>
        <p:spPr>
          <a:xfrm>
            <a:off x="7727678" y="5193864"/>
            <a:ext cx="1600200" cy="369332"/>
          </a:xfrm>
          <a:prstGeom prst="rect">
            <a:avLst/>
          </a:prstGeom>
          <a:noFill/>
        </p:spPr>
        <p:txBody>
          <a:bodyPr wrap="square" rtlCol="0">
            <a:spAutoFit/>
          </a:bodyPr>
          <a:lstStyle/>
          <a:p>
            <a:r>
              <a:rPr lang="en-US" b="1" dirty="0">
                <a:solidFill>
                  <a:srgbClr val="7030A0"/>
                </a:solidFill>
              </a:rPr>
              <a:t>Outcome</a:t>
            </a:r>
          </a:p>
        </p:txBody>
      </p:sp>
      <p:cxnSp>
        <p:nvCxnSpPr>
          <p:cNvPr id="20" name="Straight Arrow Connector 19">
            <a:extLst>
              <a:ext uri="{FF2B5EF4-FFF2-40B4-BE49-F238E27FC236}">
                <a16:creationId xmlns:a16="http://schemas.microsoft.com/office/drawing/2014/main" id="{58357EF2-3957-5D47-473D-1B3F40B73961}"/>
              </a:ext>
            </a:extLst>
          </p:cNvPr>
          <p:cNvCxnSpPr>
            <a:cxnSpLocks/>
          </p:cNvCxnSpPr>
          <p:nvPr/>
        </p:nvCxnSpPr>
        <p:spPr>
          <a:xfrm>
            <a:off x="4346802" y="4728530"/>
            <a:ext cx="800100" cy="465335"/>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B56D924C-0EDF-8594-1FF3-1C8AE123E289}"/>
              </a:ext>
            </a:extLst>
          </p:cNvPr>
          <p:cNvCxnSpPr>
            <a:cxnSpLocks/>
          </p:cNvCxnSpPr>
          <p:nvPr/>
        </p:nvCxnSpPr>
        <p:spPr>
          <a:xfrm>
            <a:off x="4183914" y="5151399"/>
            <a:ext cx="962989" cy="151791"/>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E4CDED6F-A467-AFB8-A791-16F423599235}"/>
              </a:ext>
            </a:extLst>
          </p:cNvPr>
          <p:cNvCxnSpPr>
            <a:cxnSpLocks/>
          </p:cNvCxnSpPr>
          <p:nvPr/>
        </p:nvCxnSpPr>
        <p:spPr>
          <a:xfrm flipV="1">
            <a:off x="4183914" y="5443528"/>
            <a:ext cx="962989" cy="51743"/>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BB4AB4D-5E1C-78DE-964D-0F0CAFF65DCB}"/>
              </a:ext>
            </a:extLst>
          </p:cNvPr>
          <p:cNvCxnSpPr>
            <a:cxnSpLocks/>
          </p:cNvCxnSpPr>
          <p:nvPr/>
        </p:nvCxnSpPr>
        <p:spPr>
          <a:xfrm flipV="1">
            <a:off x="4183914" y="5610515"/>
            <a:ext cx="962989" cy="253762"/>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4F5A2B0D-E9DE-6FB4-A910-D3042082BC95}"/>
              </a:ext>
            </a:extLst>
          </p:cNvPr>
          <p:cNvCxnSpPr>
            <a:cxnSpLocks/>
          </p:cNvCxnSpPr>
          <p:nvPr/>
        </p:nvCxnSpPr>
        <p:spPr>
          <a:xfrm>
            <a:off x="6709002" y="5419589"/>
            <a:ext cx="885244" cy="0"/>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28562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DBAF6-6CCF-38C0-6622-FA88F025399E}"/>
              </a:ext>
            </a:extLst>
          </p:cNvPr>
          <p:cNvSpPr>
            <a:spLocks noGrp="1"/>
          </p:cNvSpPr>
          <p:nvPr>
            <p:ph type="title"/>
          </p:nvPr>
        </p:nvSpPr>
        <p:spPr>
          <a:xfrm>
            <a:off x="2105192" y="687475"/>
            <a:ext cx="7989752" cy="1083329"/>
          </a:xfrm>
        </p:spPr>
        <p:txBody>
          <a:bodyPr wrap="square" anchor="ctr">
            <a:normAutofit/>
          </a:bodyPr>
          <a:lstStyle/>
          <a:p>
            <a:r>
              <a:rPr lang="en-US" dirty="0"/>
              <a:t>Prediction in Machine Learning</a:t>
            </a:r>
          </a:p>
        </p:txBody>
      </p:sp>
      <p:sp>
        <p:nvSpPr>
          <p:cNvPr id="4" name="Slide Number Placeholder 3">
            <a:extLst>
              <a:ext uri="{FF2B5EF4-FFF2-40B4-BE49-F238E27FC236}">
                <a16:creationId xmlns:a16="http://schemas.microsoft.com/office/drawing/2014/main" id="{1C2964E4-AB0D-8255-B307-14FA1307BB53}"/>
              </a:ext>
            </a:extLst>
          </p:cNvPr>
          <p:cNvSpPr>
            <a:spLocks noGrp="1"/>
          </p:cNvSpPr>
          <p:nvPr>
            <p:ph type="sldNum" sz="quarter" idx="12"/>
          </p:nvPr>
        </p:nvSpPr>
        <p:spPr>
          <a:xfrm>
            <a:off x="9324476" y="5956137"/>
            <a:ext cx="770468" cy="365125"/>
          </a:xfrm>
        </p:spPr>
        <p:txBody>
          <a:bodyPr anchor="ctr">
            <a:normAutofit/>
          </a:bodyPr>
          <a:lstStyle/>
          <a:p>
            <a:pPr>
              <a:spcAft>
                <a:spcPts val="600"/>
              </a:spcAft>
            </a:pPr>
            <a:fld id="{A4DA0FD2-D456-4FC5-A587-87644C4EB2D1}" type="slidenum">
              <a:rPr lang="tr-TR" smtClean="0"/>
              <a:pPr>
                <a:spcAft>
                  <a:spcPts val="600"/>
                </a:spcAft>
              </a:pPr>
              <a:t>26</a:t>
            </a:fld>
            <a:endParaRPr lang="tr-TR"/>
          </a:p>
        </p:txBody>
      </p:sp>
      <p:graphicFrame>
        <p:nvGraphicFramePr>
          <p:cNvPr id="6" name="Content Placeholder 2">
            <a:extLst>
              <a:ext uri="{FF2B5EF4-FFF2-40B4-BE49-F238E27FC236}">
                <a16:creationId xmlns:a16="http://schemas.microsoft.com/office/drawing/2014/main" id="{F31BE559-272E-A02A-4DD2-BD6FFB45E065}"/>
              </a:ext>
            </a:extLst>
          </p:cNvPr>
          <p:cNvGraphicFramePr>
            <a:graphicFrameLocks noGrp="1"/>
          </p:cNvGraphicFramePr>
          <p:nvPr>
            <p:ph idx="1"/>
          </p:nvPr>
        </p:nvGraphicFramePr>
        <p:xfrm>
          <a:off x="2105192" y="2228004"/>
          <a:ext cx="7989752" cy="36307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666737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F7097-85BD-A904-6819-57CE951C4B99}"/>
              </a:ext>
            </a:extLst>
          </p:cNvPr>
          <p:cNvSpPr>
            <a:spLocks noGrp="1"/>
          </p:cNvSpPr>
          <p:nvPr>
            <p:ph type="title"/>
          </p:nvPr>
        </p:nvSpPr>
        <p:spPr>
          <a:xfrm>
            <a:off x="2105192" y="687475"/>
            <a:ext cx="7989752" cy="1083329"/>
          </a:xfrm>
        </p:spPr>
        <p:txBody>
          <a:bodyPr wrap="square" anchor="ctr">
            <a:normAutofit/>
          </a:bodyPr>
          <a:lstStyle/>
          <a:p>
            <a:r>
              <a:rPr lang="en-US" dirty="0"/>
              <a:t>Notation</a:t>
            </a:r>
          </a:p>
        </p:txBody>
      </p:sp>
      <p:sp>
        <p:nvSpPr>
          <p:cNvPr id="4" name="Slide Number Placeholder 3">
            <a:extLst>
              <a:ext uri="{FF2B5EF4-FFF2-40B4-BE49-F238E27FC236}">
                <a16:creationId xmlns:a16="http://schemas.microsoft.com/office/drawing/2014/main" id="{6894FF5E-014C-B675-EFB7-D6A9EAF8F2BC}"/>
              </a:ext>
            </a:extLst>
          </p:cNvPr>
          <p:cNvSpPr>
            <a:spLocks noGrp="1"/>
          </p:cNvSpPr>
          <p:nvPr>
            <p:ph type="sldNum" sz="quarter" idx="12"/>
          </p:nvPr>
        </p:nvSpPr>
        <p:spPr>
          <a:xfrm>
            <a:off x="9324476" y="5956137"/>
            <a:ext cx="770468" cy="365125"/>
          </a:xfrm>
        </p:spPr>
        <p:txBody>
          <a:bodyPr anchor="ctr">
            <a:normAutofit/>
          </a:bodyPr>
          <a:lstStyle/>
          <a:p>
            <a:pPr>
              <a:spcAft>
                <a:spcPts val="600"/>
              </a:spcAft>
            </a:pPr>
            <a:fld id="{A4DA0FD2-D456-4FC5-A587-87644C4EB2D1}" type="slidenum">
              <a:rPr lang="tr-TR" smtClean="0"/>
              <a:pPr>
                <a:spcAft>
                  <a:spcPts val="600"/>
                </a:spcAft>
              </a:pPr>
              <a:t>27</a:t>
            </a:fld>
            <a:endParaRPr lang="tr-TR"/>
          </a:p>
        </p:txBody>
      </p:sp>
      <p:graphicFrame>
        <p:nvGraphicFramePr>
          <p:cNvPr id="6" name="Content Placeholder 2">
            <a:extLst>
              <a:ext uri="{FF2B5EF4-FFF2-40B4-BE49-F238E27FC236}">
                <a16:creationId xmlns:a16="http://schemas.microsoft.com/office/drawing/2014/main" id="{41C94375-8197-67A8-924D-1FD8E5BD5F16}"/>
              </a:ext>
            </a:extLst>
          </p:cNvPr>
          <p:cNvGraphicFramePr>
            <a:graphicFrameLocks noGrp="1"/>
          </p:cNvGraphicFramePr>
          <p:nvPr>
            <p:ph idx="1"/>
          </p:nvPr>
        </p:nvGraphicFramePr>
        <p:xfrm>
          <a:off x="2105192" y="2228004"/>
          <a:ext cx="7989752" cy="257259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0923349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321A9-E9C5-0E14-729C-D1E216DF4CD7}"/>
              </a:ext>
            </a:extLst>
          </p:cNvPr>
          <p:cNvSpPr>
            <a:spLocks noGrp="1"/>
          </p:cNvSpPr>
          <p:nvPr>
            <p:ph type="title"/>
          </p:nvPr>
        </p:nvSpPr>
        <p:spPr/>
        <p:txBody>
          <a:bodyPr/>
          <a:lstStyle/>
          <a:p>
            <a:r>
              <a:rPr lang="en-US" dirty="0"/>
              <a:t>Variables / Factors </a:t>
            </a:r>
          </a:p>
        </p:txBody>
      </p:sp>
      <p:sp>
        <p:nvSpPr>
          <p:cNvPr id="4" name="Slide Number Placeholder 3">
            <a:extLst>
              <a:ext uri="{FF2B5EF4-FFF2-40B4-BE49-F238E27FC236}">
                <a16:creationId xmlns:a16="http://schemas.microsoft.com/office/drawing/2014/main" id="{330DC980-26FA-0C31-95CA-D1E9DAAE7FB5}"/>
              </a:ext>
            </a:extLst>
          </p:cNvPr>
          <p:cNvSpPr>
            <a:spLocks noGrp="1"/>
          </p:cNvSpPr>
          <p:nvPr>
            <p:ph type="sldNum" sz="quarter" idx="12"/>
          </p:nvPr>
        </p:nvSpPr>
        <p:spPr/>
        <p:txBody>
          <a:bodyPr/>
          <a:lstStyle/>
          <a:p>
            <a:fld id="{A4DA0FD2-D456-4FC5-A587-87644C4EB2D1}" type="slidenum">
              <a:rPr lang="tr-TR" smtClean="0"/>
              <a:pPr/>
              <a:t>28</a:t>
            </a:fld>
            <a:endParaRPr lang="tr-TR"/>
          </a:p>
        </p:txBody>
      </p:sp>
      <p:sp>
        <p:nvSpPr>
          <p:cNvPr id="5" name="Rectangle 4">
            <a:extLst>
              <a:ext uri="{FF2B5EF4-FFF2-40B4-BE49-F238E27FC236}">
                <a16:creationId xmlns:a16="http://schemas.microsoft.com/office/drawing/2014/main" id="{F979E4AF-472F-2C5D-5606-E911415FA73B}"/>
              </a:ext>
            </a:extLst>
          </p:cNvPr>
          <p:cNvSpPr/>
          <p:nvPr/>
        </p:nvSpPr>
        <p:spPr>
          <a:xfrm>
            <a:off x="2579804" y="2669981"/>
            <a:ext cx="2068642" cy="1431161"/>
          </a:xfrm>
          <a:prstGeom prst="rect">
            <a:avLst/>
          </a:prstGeom>
          <a:solidFill>
            <a:srgbClr val="7030A0"/>
          </a:solidFill>
          <a:ln w="19050">
            <a:solidFill>
              <a:srgbClr val="9344D1"/>
            </a:solidFill>
            <a:prstDash val="sysDot"/>
          </a:ln>
        </p:spPr>
        <p:txBody>
          <a:bodyPr wrap="square">
            <a:spAutoFit/>
          </a:bodyPr>
          <a:lstStyle/>
          <a:p>
            <a:r>
              <a:rPr lang="en-US" sz="1950" b="1" dirty="0">
                <a:solidFill>
                  <a:schemeClr val="bg1"/>
                </a:solidFill>
                <a:latin typeface="Calibri" panose="020F0502020204030204" pitchFamily="34" charset="0"/>
                <a:ea typeface="Calibri" panose="020F0502020204030204" pitchFamily="34" charset="0"/>
                <a:cs typeface="Times New Roman" panose="02020603050405020304" pitchFamily="18" charset="0"/>
              </a:rPr>
              <a:t>X</a:t>
            </a:r>
          </a:p>
          <a:p>
            <a:pPr>
              <a:tabLst>
                <a:tab pos="1499711" algn="l"/>
              </a:tabLst>
            </a:pPr>
            <a:r>
              <a:rPr lang="en-US" sz="1350" dirty="0">
                <a:solidFill>
                  <a:schemeClr val="bg1"/>
                </a:solidFill>
                <a:latin typeface="Calibri" panose="020F0502020204030204" pitchFamily="34" charset="0"/>
                <a:ea typeface="Calibri" panose="020F0502020204030204" pitchFamily="34" charset="0"/>
                <a:cs typeface="Times New Roman" panose="02020603050405020304" pitchFamily="18" charset="0"/>
              </a:rPr>
              <a:t>Feature(s)	</a:t>
            </a:r>
          </a:p>
          <a:p>
            <a:pPr>
              <a:tabLst>
                <a:tab pos="1499711" algn="l"/>
              </a:tabLst>
            </a:pPr>
            <a:r>
              <a:rPr lang="en-US" sz="1350" dirty="0">
                <a:solidFill>
                  <a:schemeClr val="bg1"/>
                </a:solidFill>
                <a:latin typeface="Calibri" panose="020F0502020204030204" pitchFamily="34" charset="0"/>
                <a:ea typeface="Calibri" panose="020F0502020204030204" pitchFamily="34" charset="0"/>
                <a:cs typeface="Times New Roman" panose="02020603050405020304" pitchFamily="18" charset="0"/>
              </a:rPr>
              <a:t>Input(s) 	</a:t>
            </a:r>
          </a:p>
          <a:p>
            <a:r>
              <a:rPr lang="en-US" sz="1350" dirty="0">
                <a:solidFill>
                  <a:schemeClr val="bg1"/>
                </a:solidFill>
                <a:latin typeface="Calibri" panose="020F0502020204030204" pitchFamily="34" charset="0"/>
                <a:ea typeface="Calibri" panose="020F0502020204030204" pitchFamily="34" charset="0"/>
                <a:cs typeface="Times New Roman" panose="02020603050405020304" pitchFamily="18" charset="0"/>
              </a:rPr>
              <a:t>Independent Variable (s)</a:t>
            </a:r>
          </a:p>
          <a:p>
            <a:pPr>
              <a:tabLst>
                <a:tab pos="1506379" algn="l"/>
              </a:tabLst>
            </a:pPr>
            <a:r>
              <a:rPr lang="en-US" sz="1350" dirty="0">
                <a:solidFill>
                  <a:schemeClr val="bg1"/>
                </a:solidFill>
                <a:latin typeface="Calibri" panose="020F0502020204030204" pitchFamily="34" charset="0"/>
                <a:ea typeface="Calibri" panose="020F0502020204030204" pitchFamily="34" charset="0"/>
                <a:cs typeface="Times New Roman" panose="02020603050405020304" pitchFamily="18" charset="0"/>
              </a:rPr>
              <a:t>Predictor(s)   </a:t>
            </a:r>
          </a:p>
          <a:p>
            <a:pPr>
              <a:tabLst>
                <a:tab pos="1506379" algn="l"/>
              </a:tabLst>
            </a:pPr>
            <a:r>
              <a:rPr lang="en-US" sz="1350" dirty="0">
                <a:solidFill>
                  <a:schemeClr val="bg1"/>
                </a:solidFill>
                <a:latin typeface="Calibri" panose="020F0502020204030204" pitchFamily="34" charset="0"/>
                <a:cs typeface="Times New Roman" panose="02020603050405020304" pitchFamily="18" charset="0"/>
              </a:rPr>
              <a:t>covariate</a:t>
            </a:r>
            <a:r>
              <a:rPr lang="en-US" sz="1350" dirty="0">
                <a:solidFill>
                  <a:schemeClr val="bg1"/>
                </a:solidFill>
                <a:latin typeface="Calibri" panose="020F0502020204030204" pitchFamily="34" charset="0"/>
                <a:ea typeface="Calibri" panose="020F0502020204030204" pitchFamily="34" charset="0"/>
                <a:cs typeface="Times New Roman" panose="02020603050405020304" pitchFamily="18" charset="0"/>
              </a:rPr>
              <a:t>(s)</a:t>
            </a:r>
            <a:r>
              <a:rPr lang="en-US" sz="1350" dirty="0">
                <a:solidFill>
                  <a:schemeClr val="bg1"/>
                </a:solidFill>
                <a:latin typeface="Calibri" panose="020F0502020204030204" pitchFamily="34" charset="0"/>
                <a:cs typeface="Times New Roman" panose="02020603050405020304" pitchFamily="18" charset="0"/>
              </a:rPr>
              <a:t>       	</a:t>
            </a:r>
          </a:p>
        </p:txBody>
      </p:sp>
      <p:cxnSp>
        <p:nvCxnSpPr>
          <p:cNvPr id="6" name="Straight Arrow Connector 5">
            <a:extLst>
              <a:ext uri="{FF2B5EF4-FFF2-40B4-BE49-F238E27FC236}">
                <a16:creationId xmlns:a16="http://schemas.microsoft.com/office/drawing/2014/main" id="{07BC0B8A-972D-773C-A2D3-2DA0C277AAA9}"/>
              </a:ext>
            </a:extLst>
          </p:cNvPr>
          <p:cNvCxnSpPr>
            <a:cxnSpLocks/>
          </p:cNvCxnSpPr>
          <p:nvPr/>
        </p:nvCxnSpPr>
        <p:spPr>
          <a:xfrm>
            <a:off x="4666800" y="3417458"/>
            <a:ext cx="2737614" cy="0"/>
          </a:xfrm>
          <a:prstGeom prst="straightConnector1">
            <a:avLst/>
          </a:prstGeom>
          <a:ln w="57150">
            <a:solidFill>
              <a:srgbClr val="9344D1"/>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247420BB-9530-78F2-C5DB-ADE2614BF11C}"/>
              </a:ext>
            </a:extLst>
          </p:cNvPr>
          <p:cNvSpPr/>
          <p:nvPr/>
        </p:nvSpPr>
        <p:spPr>
          <a:xfrm>
            <a:off x="7382478" y="2669981"/>
            <a:ext cx="2068643" cy="1431161"/>
          </a:xfrm>
          <a:prstGeom prst="rect">
            <a:avLst/>
          </a:prstGeom>
          <a:solidFill>
            <a:srgbClr val="7030A0"/>
          </a:solidFill>
          <a:ln w="19050">
            <a:solidFill>
              <a:srgbClr val="9344D1"/>
            </a:solidFill>
            <a:prstDash val="sysDot"/>
          </a:ln>
        </p:spPr>
        <p:txBody>
          <a:bodyPr wrap="square">
            <a:spAutoFit/>
          </a:bodyPr>
          <a:lstStyle/>
          <a:p>
            <a:r>
              <a:rPr lang="en-US" sz="1950" b="1" dirty="0">
                <a:solidFill>
                  <a:schemeClr val="bg1"/>
                </a:solidFill>
                <a:latin typeface="Calibri" panose="020F0502020204030204" pitchFamily="34" charset="0"/>
                <a:ea typeface="Calibri" panose="020F0502020204030204" pitchFamily="34" charset="0"/>
                <a:cs typeface="Times New Roman" panose="02020603050405020304" pitchFamily="18" charset="0"/>
              </a:rPr>
              <a:t>Y</a:t>
            </a:r>
          </a:p>
          <a:p>
            <a:pPr>
              <a:tabLst>
                <a:tab pos="1499711" algn="l"/>
              </a:tabLst>
            </a:pPr>
            <a:r>
              <a:rPr lang="en-US" sz="1350" dirty="0">
                <a:solidFill>
                  <a:schemeClr val="bg1"/>
                </a:solidFill>
                <a:latin typeface="Calibri" panose="020F0502020204030204" pitchFamily="34" charset="0"/>
                <a:ea typeface="Calibri" panose="020F0502020204030204" pitchFamily="34" charset="0"/>
                <a:cs typeface="Times New Roman" panose="02020603050405020304" pitchFamily="18" charset="0"/>
              </a:rPr>
              <a:t>Outcome</a:t>
            </a:r>
          </a:p>
          <a:p>
            <a:pPr>
              <a:tabLst>
                <a:tab pos="1499711" algn="l"/>
              </a:tabLst>
            </a:pPr>
            <a:r>
              <a:rPr lang="en-US" sz="1350" dirty="0">
                <a:solidFill>
                  <a:schemeClr val="bg1"/>
                </a:solidFill>
                <a:latin typeface="Calibri" panose="020F0502020204030204" pitchFamily="34" charset="0"/>
                <a:ea typeface="Calibri" panose="020F0502020204030204" pitchFamily="34" charset="0"/>
                <a:cs typeface="Times New Roman" panose="02020603050405020304" pitchFamily="18" charset="0"/>
              </a:rPr>
              <a:t>Output</a:t>
            </a:r>
          </a:p>
          <a:p>
            <a:r>
              <a:rPr lang="en-US" sz="1350" dirty="0">
                <a:solidFill>
                  <a:schemeClr val="bg1"/>
                </a:solidFill>
                <a:latin typeface="Calibri" panose="020F0502020204030204" pitchFamily="34" charset="0"/>
                <a:ea typeface="Calibri" panose="020F0502020204030204" pitchFamily="34" charset="0"/>
                <a:cs typeface="Times New Roman" panose="02020603050405020304" pitchFamily="18" charset="0"/>
              </a:rPr>
              <a:t>Dependent variable</a:t>
            </a:r>
          </a:p>
          <a:p>
            <a:pPr>
              <a:tabLst>
                <a:tab pos="1506379" algn="l"/>
              </a:tabLst>
            </a:pPr>
            <a:r>
              <a:rPr lang="en-US" sz="1350" dirty="0">
                <a:solidFill>
                  <a:schemeClr val="bg1"/>
                </a:solidFill>
                <a:latin typeface="Calibri" panose="020F0502020204030204" pitchFamily="34" charset="0"/>
                <a:ea typeface="Calibri" panose="020F0502020204030204" pitchFamily="34" charset="0"/>
                <a:cs typeface="Times New Roman" panose="02020603050405020304" pitchFamily="18" charset="0"/>
              </a:rPr>
              <a:t>Response</a:t>
            </a:r>
          </a:p>
          <a:p>
            <a:pPr>
              <a:tabLst>
                <a:tab pos="1506379" algn="l"/>
              </a:tabLst>
            </a:pPr>
            <a:r>
              <a:rPr lang="en-US" sz="1350" dirty="0">
                <a:solidFill>
                  <a:schemeClr val="bg1"/>
                </a:solidFill>
                <a:latin typeface="Calibri" panose="020F0502020204030204" pitchFamily="34" charset="0"/>
                <a:ea typeface="Calibri" panose="020F0502020204030204" pitchFamily="34" charset="0"/>
                <a:cs typeface="Times New Roman" panose="02020603050405020304" pitchFamily="18" charset="0"/>
              </a:rPr>
              <a:t>Target</a:t>
            </a:r>
          </a:p>
        </p:txBody>
      </p:sp>
      <p:sp>
        <p:nvSpPr>
          <p:cNvPr id="12" name="Oval 11">
            <a:extLst>
              <a:ext uri="{FF2B5EF4-FFF2-40B4-BE49-F238E27FC236}">
                <a16:creationId xmlns:a16="http://schemas.microsoft.com/office/drawing/2014/main" id="{3BABCB43-63AF-E051-F433-67631F6B22DC}"/>
              </a:ext>
            </a:extLst>
          </p:cNvPr>
          <p:cNvSpPr/>
          <p:nvPr/>
        </p:nvSpPr>
        <p:spPr>
          <a:xfrm>
            <a:off x="5325986" y="2627223"/>
            <a:ext cx="1441125" cy="1441125"/>
          </a:xfrm>
          <a:prstGeom prst="ellipse">
            <a:avLst/>
          </a:prstGeom>
          <a:solidFill>
            <a:srgbClr val="A54EF3"/>
          </a:solidFill>
        </p:spPr>
        <p:style>
          <a:lnRef idx="0">
            <a:schemeClr val="accent2">
              <a:hueOff val="0"/>
              <a:satOff val="0"/>
              <a:lumOff val="0"/>
              <a:alphaOff val="0"/>
            </a:schemeClr>
          </a:lnRef>
          <a:fillRef idx="1">
            <a:scrgbClr r="0" g="0" b="0"/>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3" name="Content Placeholder 2">
            <a:extLst>
              <a:ext uri="{FF2B5EF4-FFF2-40B4-BE49-F238E27FC236}">
                <a16:creationId xmlns:a16="http://schemas.microsoft.com/office/drawing/2014/main" id="{0EEAFBAA-A598-1BFD-B247-829AB4EF3379}"/>
              </a:ext>
            </a:extLst>
          </p:cNvPr>
          <p:cNvSpPr txBox="1">
            <a:spLocks/>
          </p:cNvSpPr>
          <p:nvPr/>
        </p:nvSpPr>
        <p:spPr>
          <a:xfrm>
            <a:off x="2438400" y="5637186"/>
            <a:ext cx="7989752" cy="590321"/>
          </a:xfrm>
          <a:prstGeom prst="rect">
            <a:avLst/>
          </a:prstGeom>
        </p:spPr>
        <p:txBody>
          <a:bodyPr vert="horz" lIns="91440" tIns="45720" rIns="91440" bIns="45720" rtlCol="0" anchor="t" anchorCtr="0">
            <a:normAutofit/>
          </a:bodyPr>
          <a:lstStyle>
            <a:lvl1pPr marL="306000" indent="-306000" algn="l" defTabSz="457200" rtl="0" eaLnBrk="1" latinLnBrk="0" hangingPunct="1">
              <a:spcBef>
                <a:spcPct val="20000"/>
              </a:spcBef>
              <a:spcAft>
                <a:spcPts val="600"/>
              </a:spcAft>
              <a:buClr>
                <a:srgbClr val="4B2D83"/>
              </a:buClr>
              <a:buSzPct val="92000"/>
              <a:buFont typeface="Wingdings 2" panose="05020102010507070707" pitchFamily="18" charset="2"/>
              <a:buChar char=""/>
              <a:defRPr sz="1800" kern="1200">
                <a:solidFill>
                  <a:schemeClr val="tx1"/>
                </a:solidFill>
                <a:latin typeface="+mn-lt"/>
                <a:ea typeface="+mn-ea"/>
                <a:cs typeface="+mn-cs"/>
              </a:defRPr>
            </a:lvl1pPr>
            <a:lvl2pPr marL="630000" indent="-306000" algn="l" defTabSz="457200" rtl="0" eaLnBrk="1" latinLnBrk="0" hangingPunct="1">
              <a:spcBef>
                <a:spcPct val="20000"/>
              </a:spcBef>
              <a:spcAft>
                <a:spcPts val="600"/>
              </a:spcAft>
              <a:buClr>
                <a:srgbClr val="4B2D83"/>
              </a:buClr>
              <a:buSzPct val="92000"/>
              <a:buFont typeface="Wingdings 2" panose="05020102010507070707" pitchFamily="18" charset="2"/>
              <a:buChar char=""/>
              <a:defRPr sz="1600" kern="1200">
                <a:solidFill>
                  <a:schemeClr val="tx1"/>
                </a:solidFill>
                <a:latin typeface="+mn-lt"/>
                <a:ea typeface="+mn-ea"/>
                <a:cs typeface="+mn-cs"/>
              </a:defRPr>
            </a:lvl2pPr>
            <a:lvl3pPr marL="900000" indent="-270000" algn="l" defTabSz="457200" rtl="0" eaLnBrk="1" latinLnBrk="0" hangingPunct="1">
              <a:spcBef>
                <a:spcPct val="20000"/>
              </a:spcBef>
              <a:spcAft>
                <a:spcPts val="600"/>
              </a:spcAft>
              <a:buClr>
                <a:srgbClr val="4B2D83"/>
              </a:buClr>
              <a:buSzPct val="92000"/>
              <a:buFont typeface="Wingdings 2" panose="05020102010507070707" pitchFamily="18" charset="2"/>
              <a:buChar char=""/>
              <a:defRPr sz="1400" kern="1200">
                <a:solidFill>
                  <a:schemeClr val="tx1"/>
                </a:solidFill>
                <a:latin typeface="+mn-lt"/>
                <a:ea typeface="+mn-ea"/>
                <a:cs typeface="+mn-cs"/>
              </a:defRPr>
            </a:lvl3pPr>
            <a:lvl4pPr marL="1242000" indent="-234000" algn="l" defTabSz="457200" rtl="0" eaLnBrk="1" latinLnBrk="0" hangingPunct="1">
              <a:spcBef>
                <a:spcPct val="20000"/>
              </a:spcBef>
              <a:spcAft>
                <a:spcPts val="600"/>
              </a:spcAft>
              <a:buClr>
                <a:srgbClr val="4B2D83"/>
              </a:buClr>
              <a:buSzPct val="92000"/>
              <a:buFont typeface="Wingdings 2" panose="05020102010507070707" pitchFamily="18" charset="2"/>
              <a:buChar char=""/>
              <a:defRPr sz="1200" kern="1200">
                <a:solidFill>
                  <a:schemeClr val="tx1"/>
                </a:solidFill>
                <a:latin typeface="+mn-lt"/>
                <a:ea typeface="+mn-ea"/>
                <a:cs typeface="+mn-cs"/>
              </a:defRPr>
            </a:lvl4pPr>
            <a:lvl5pPr marL="1602000" indent="-234000" algn="l" defTabSz="457200" rtl="0" eaLnBrk="1" latinLnBrk="0" hangingPunct="1">
              <a:spcBef>
                <a:spcPct val="20000"/>
              </a:spcBef>
              <a:spcAft>
                <a:spcPts val="600"/>
              </a:spcAft>
              <a:buClr>
                <a:srgbClr val="4B2D83"/>
              </a:buClr>
              <a:buSzPct val="92000"/>
              <a:buFont typeface="Wingdings 2" panose="05020102010507070707" pitchFamily="18" charset="2"/>
              <a:buChar char=""/>
              <a:defRPr sz="1200" kern="1200">
                <a:solidFill>
                  <a:schemeClr val="tx1"/>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None/>
            </a:pPr>
            <a:r>
              <a:rPr lang="en-US" dirty="0"/>
              <a:t>Features and outcomes may also be called ……interchangeably.</a:t>
            </a:r>
          </a:p>
        </p:txBody>
      </p:sp>
      <p:sp>
        <p:nvSpPr>
          <p:cNvPr id="8" name="Rectangle 7" descr="Programmer">
            <a:extLst>
              <a:ext uri="{FF2B5EF4-FFF2-40B4-BE49-F238E27FC236}">
                <a16:creationId xmlns:a16="http://schemas.microsoft.com/office/drawing/2014/main" id="{FBFCB286-3DDF-16ED-7B53-6C9183A50458}"/>
              </a:ext>
            </a:extLst>
          </p:cNvPr>
          <p:cNvSpPr/>
          <p:nvPr/>
        </p:nvSpPr>
        <p:spPr>
          <a:xfrm>
            <a:off x="5747007" y="3007307"/>
            <a:ext cx="599081" cy="599081"/>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Tree>
    <p:extLst>
      <p:ext uri="{BB962C8B-B14F-4D97-AF65-F5344CB8AC3E}">
        <p14:creationId xmlns:p14="http://schemas.microsoft.com/office/powerpoint/2010/main" val="18947601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9ABEA-C8F6-F4DD-2998-3749598E09CB}"/>
              </a:ext>
            </a:extLst>
          </p:cNvPr>
          <p:cNvSpPr>
            <a:spLocks noGrp="1"/>
          </p:cNvSpPr>
          <p:nvPr>
            <p:ph type="title"/>
          </p:nvPr>
        </p:nvSpPr>
        <p:spPr>
          <a:xfrm>
            <a:off x="2105192" y="687475"/>
            <a:ext cx="7989752" cy="1083329"/>
          </a:xfrm>
        </p:spPr>
        <p:txBody>
          <a:bodyPr wrap="square" anchor="ctr">
            <a:normAutofit/>
          </a:bodyPr>
          <a:lstStyle/>
          <a:p>
            <a:r>
              <a:rPr lang="en-US" dirty="0"/>
              <a:t>Types of prediction problems</a:t>
            </a:r>
          </a:p>
        </p:txBody>
      </p:sp>
      <p:sp>
        <p:nvSpPr>
          <p:cNvPr id="4" name="Slide Number Placeholder 3">
            <a:extLst>
              <a:ext uri="{FF2B5EF4-FFF2-40B4-BE49-F238E27FC236}">
                <a16:creationId xmlns:a16="http://schemas.microsoft.com/office/drawing/2014/main" id="{F6BE57C7-6441-BCBD-C299-12121E1B1CA9}"/>
              </a:ext>
            </a:extLst>
          </p:cNvPr>
          <p:cNvSpPr>
            <a:spLocks noGrp="1"/>
          </p:cNvSpPr>
          <p:nvPr>
            <p:ph type="sldNum" sz="quarter" idx="12"/>
          </p:nvPr>
        </p:nvSpPr>
        <p:spPr>
          <a:xfrm>
            <a:off x="9324476" y="5956137"/>
            <a:ext cx="770468" cy="365125"/>
          </a:xfrm>
        </p:spPr>
        <p:txBody>
          <a:bodyPr anchor="ctr">
            <a:normAutofit/>
          </a:bodyPr>
          <a:lstStyle/>
          <a:p>
            <a:pPr>
              <a:spcAft>
                <a:spcPts val="600"/>
              </a:spcAft>
            </a:pPr>
            <a:fld id="{A4DA0FD2-D456-4FC5-A587-87644C4EB2D1}" type="slidenum">
              <a:rPr lang="tr-TR" smtClean="0"/>
              <a:pPr>
                <a:spcAft>
                  <a:spcPts val="600"/>
                </a:spcAft>
              </a:pPr>
              <a:t>29</a:t>
            </a:fld>
            <a:endParaRPr lang="tr-TR"/>
          </a:p>
        </p:txBody>
      </p:sp>
      <p:graphicFrame>
        <p:nvGraphicFramePr>
          <p:cNvPr id="6" name="Content Placeholder 2">
            <a:extLst>
              <a:ext uri="{FF2B5EF4-FFF2-40B4-BE49-F238E27FC236}">
                <a16:creationId xmlns:a16="http://schemas.microsoft.com/office/drawing/2014/main" id="{327EE938-233F-27FF-056D-6251F6A8DF49}"/>
              </a:ext>
            </a:extLst>
          </p:cNvPr>
          <p:cNvGraphicFramePr>
            <a:graphicFrameLocks noGrp="1"/>
          </p:cNvGraphicFramePr>
          <p:nvPr>
            <p:ph idx="1"/>
          </p:nvPr>
        </p:nvGraphicFramePr>
        <p:xfrm>
          <a:off x="2105192" y="2228004"/>
          <a:ext cx="7989752" cy="36307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428985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CDF8-49B5-D977-3FC5-97BDECDE4ED1}"/>
              </a:ext>
            </a:extLst>
          </p:cNvPr>
          <p:cNvSpPr>
            <a:spLocks noGrp="1"/>
          </p:cNvSpPr>
          <p:nvPr>
            <p:ph type="title"/>
          </p:nvPr>
        </p:nvSpPr>
        <p:spPr/>
        <p:txBody>
          <a:bodyPr/>
          <a:lstStyle/>
          <a:p>
            <a:r>
              <a:rPr lang="en-US" dirty="0"/>
              <a:t>Examples of Categorical Outcome Predictions</a:t>
            </a:r>
          </a:p>
        </p:txBody>
      </p:sp>
      <p:sp>
        <p:nvSpPr>
          <p:cNvPr id="3" name="Content Placeholder 2">
            <a:extLst>
              <a:ext uri="{FF2B5EF4-FFF2-40B4-BE49-F238E27FC236}">
                <a16:creationId xmlns:a16="http://schemas.microsoft.com/office/drawing/2014/main" id="{D1338525-76C2-C5C1-9999-0DCADB942D03}"/>
              </a:ext>
            </a:extLst>
          </p:cNvPr>
          <p:cNvSpPr>
            <a:spLocks noGrp="1"/>
          </p:cNvSpPr>
          <p:nvPr>
            <p:ph idx="1"/>
          </p:nvPr>
        </p:nvSpPr>
        <p:spPr>
          <a:xfrm>
            <a:off x="1055440" y="2228004"/>
            <a:ext cx="5726361" cy="3630795"/>
          </a:xfrm>
        </p:spPr>
        <p:txBody>
          <a:bodyPr>
            <a:noAutofit/>
          </a:bodyPr>
          <a:lstStyle/>
          <a:p>
            <a:pPr marL="0" indent="0">
              <a:buNone/>
            </a:pPr>
            <a:r>
              <a:rPr lang="en-US" b="1" dirty="0"/>
              <a:t>Building Typology Prediction</a:t>
            </a:r>
          </a:p>
          <a:p>
            <a:pPr lvl="1">
              <a:buFont typeface="Courier New" panose="02070309020205020404" pitchFamily="49" charset="0"/>
              <a:buChar char="o"/>
            </a:pPr>
            <a:r>
              <a:rPr lang="en-US" dirty="0"/>
              <a:t>Categorical outcome: Buildings categorized into distinct classes. (e.g., residential, commercial, industrial)</a:t>
            </a:r>
          </a:p>
          <a:p>
            <a:pPr lvl="1">
              <a:buFont typeface="Courier New" panose="02070309020205020404" pitchFamily="49" charset="0"/>
              <a:buChar char="o"/>
            </a:pPr>
            <a:r>
              <a:rPr lang="en-US" i="0" u="none" strike="noStrike" dirty="0">
                <a:effectLst/>
              </a:rPr>
              <a:t>Features Influencing Building Typology</a:t>
            </a:r>
          </a:p>
          <a:p>
            <a:pPr marL="1012950" lvl="2" indent="-285750">
              <a:buFont typeface="Courier New" panose="02070309020205020404" pitchFamily="49" charset="0"/>
              <a:buChar char="o"/>
            </a:pPr>
            <a:r>
              <a:rPr lang="en-US" dirty="0"/>
              <a:t>Architectural features and purposes. (e.g., </a:t>
            </a:r>
            <a:r>
              <a:rPr lang="en-US" b="0" i="0" u="none" strike="noStrike" dirty="0">
                <a:effectLst/>
              </a:rPr>
              <a:t>Building size, architectural style, and functionality).</a:t>
            </a:r>
          </a:p>
          <a:p>
            <a:pPr marL="0" indent="0">
              <a:buNone/>
            </a:pPr>
            <a:endParaRPr lang="en-US" dirty="0"/>
          </a:p>
        </p:txBody>
      </p:sp>
      <p:sp>
        <p:nvSpPr>
          <p:cNvPr id="4" name="Slide Number Placeholder 3">
            <a:extLst>
              <a:ext uri="{FF2B5EF4-FFF2-40B4-BE49-F238E27FC236}">
                <a16:creationId xmlns:a16="http://schemas.microsoft.com/office/drawing/2014/main" id="{9B8B9DB3-98E4-3528-ED20-254EB9B11539}"/>
              </a:ext>
            </a:extLst>
          </p:cNvPr>
          <p:cNvSpPr>
            <a:spLocks noGrp="1"/>
          </p:cNvSpPr>
          <p:nvPr>
            <p:ph type="sldNum" sz="quarter" idx="12"/>
          </p:nvPr>
        </p:nvSpPr>
        <p:spPr/>
        <p:txBody>
          <a:bodyPr/>
          <a:lstStyle/>
          <a:p>
            <a:fld id="{A4DA0FD2-D456-4FC5-A587-87644C4EB2D1}" type="slidenum">
              <a:rPr lang="tr-TR" smtClean="0"/>
              <a:pPr/>
              <a:t>30</a:t>
            </a:fld>
            <a:endParaRPr lang="tr-TR"/>
          </a:p>
        </p:txBody>
      </p:sp>
      <p:pic>
        <p:nvPicPr>
          <p:cNvPr id="1026" name="Picture 2" descr="Building Types - NEXT.cc">
            <a:extLst>
              <a:ext uri="{FF2B5EF4-FFF2-40B4-BE49-F238E27FC236}">
                <a16:creationId xmlns:a16="http://schemas.microsoft.com/office/drawing/2014/main" id="{78168648-2574-F8AF-8E30-5AD148CEED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17692" y="1981200"/>
            <a:ext cx="2382004" cy="411939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1637959-8AE0-BB8B-C997-79652FF0CDB5}"/>
              </a:ext>
            </a:extLst>
          </p:cNvPr>
          <p:cNvSpPr txBox="1"/>
          <p:nvPr/>
        </p:nvSpPr>
        <p:spPr>
          <a:xfrm>
            <a:off x="7239000" y="6203273"/>
            <a:ext cx="6153150" cy="215444"/>
          </a:xfrm>
          <a:prstGeom prst="rect">
            <a:avLst/>
          </a:prstGeom>
          <a:noFill/>
        </p:spPr>
        <p:txBody>
          <a:bodyPr wrap="square">
            <a:spAutoFit/>
          </a:bodyPr>
          <a:lstStyle/>
          <a:p>
            <a:r>
              <a:rPr lang="en-US" sz="800" dirty="0"/>
              <a:t>Image Source; https://</a:t>
            </a:r>
            <a:r>
              <a:rPr lang="en-US" sz="800" dirty="0" err="1"/>
              <a:t>www.next.cc</a:t>
            </a:r>
            <a:r>
              <a:rPr lang="en-US" sz="800" dirty="0"/>
              <a:t>/journey/discovery/building-types</a:t>
            </a:r>
          </a:p>
        </p:txBody>
      </p:sp>
    </p:spTree>
    <p:extLst>
      <p:ext uri="{BB962C8B-B14F-4D97-AF65-F5344CB8AC3E}">
        <p14:creationId xmlns:p14="http://schemas.microsoft.com/office/powerpoint/2010/main" val="23470955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0127C-342F-9247-D15E-CF58A98CB2AB}"/>
              </a:ext>
            </a:extLst>
          </p:cNvPr>
          <p:cNvSpPr>
            <a:spLocks noGrp="1"/>
          </p:cNvSpPr>
          <p:nvPr>
            <p:ph type="title"/>
          </p:nvPr>
        </p:nvSpPr>
        <p:spPr/>
        <p:txBody>
          <a:bodyPr/>
          <a:lstStyle/>
          <a:p>
            <a:r>
              <a:rPr lang="en-US" dirty="0"/>
              <a:t>Examples of Continuous Outcome Predictions</a:t>
            </a:r>
          </a:p>
        </p:txBody>
      </p:sp>
      <p:sp>
        <p:nvSpPr>
          <p:cNvPr id="3" name="Content Placeholder 2">
            <a:extLst>
              <a:ext uri="{FF2B5EF4-FFF2-40B4-BE49-F238E27FC236}">
                <a16:creationId xmlns:a16="http://schemas.microsoft.com/office/drawing/2014/main" id="{A090AFC2-4FB0-C4F5-824D-C2E676E0C2D3}"/>
              </a:ext>
            </a:extLst>
          </p:cNvPr>
          <p:cNvSpPr>
            <a:spLocks noGrp="1"/>
          </p:cNvSpPr>
          <p:nvPr>
            <p:ph idx="1"/>
          </p:nvPr>
        </p:nvSpPr>
        <p:spPr>
          <a:xfrm>
            <a:off x="1127448" y="2228004"/>
            <a:ext cx="4816152" cy="3630795"/>
          </a:xfrm>
        </p:spPr>
        <p:txBody>
          <a:bodyPr>
            <a:normAutofit/>
          </a:bodyPr>
          <a:lstStyle/>
          <a:p>
            <a:pPr marL="0" indent="0">
              <a:buNone/>
            </a:pPr>
            <a:r>
              <a:rPr lang="en-US" b="1" dirty="0"/>
              <a:t>Energy Consumption Prediction</a:t>
            </a:r>
          </a:p>
          <a:p>
            <a:pPr marL="306000" lvl="1"/>
            <a:r>
              <a:rPr lang="en-US" sz="1800" dirty="0"/>
              <a:t>Continuous outcome: Energy consumption values vary on a continuous scale.</a:t>
            </a:r>
            <a:endParaRPr lang="en-US" dirty="0"/>
          </a:p>
          <a:p>
            <a:r>
              <a:rPr lang="en-US" dirty="0"/>
              <a:t>Features Affecting Building Energy Consumption</a:t>
            </a:r>
          </a:p>
          <a:p>
            <a:pPr marL="742950" lvl="1" indent="-285750">
              <a:buFont typeface="Arial" panose="020B0604020202020204" pitchFamily="34" charset="0"/>
              <a:buChar char="•"/>
            </a:pPr>
            <a:r>
              <a:rPr lang="en-US" dirty="0"/>
              <a:t>Design features and environmental factors. (</a:t>
            </a:r>
            <a:r>
              <a:rPr lang="en-US" b="0" i="0" u="none" strike="noStrike" dirty="0">
                <a:effectLst/>
              </a:rPr>
              <a:t>Size, Window placement, insulation, lighting, HVAC systems, and building materials, micro </a:t>
            </a:r>
            <a:r>
              <a:rPr lang="en-US" b="0" i="0" u="none" strike="noStrike" dirty="0" err="1">
                <a:effectLst/>
              </a:rPr>
              <a:t>cliamet</a:t>
            </a:r>
            <a:r>
              <a:rPr lang="en-US" b="0" i="0" u="none" strike="noStrike" dirty="0">
                <a:effectLst/>
              </a:rPr>
              <a:t>)</a:t>
            </a:r>
          </a:p>
          <a:p>
            <a:endParaRPr lang="en-US" dirty="0"/>
          </a:p>
        </p:txBody>
      </p:sp>
      <p:sp>
        <p:nvSpPr>
          <p:cNvPr id="4" name="Slide Number Placeholder 3">
            <a:extLst>
              <a:ext uri="{FF2B5EF4-FFF2-40B4-BE49-F238E27FC236}">
                <a16:creationId xmlns:a16="http://schemas.microsoft.com/office/drawing/2014/main" id="{33DEB489-D13A-1A59-278A-51785990A6E3}"/>
              </a:ext>
            </a:extLst>
          </p:cNvPr>
          <p:cNvSpPr>
            <a:spLocks noGrp="1"/>
          </p:cNvSpPr>
          <p:nvPr>
            <p:ph type="sldNum" sz="quarter" idx="12"/>
          </p:nvPr>
        </p:nvSpPr>
        <p:spPr/>
        <p:txBody>
          <a:bodyPr/>
          <a:lstStyle/>
          <a:p>
            <a:fld id="{A4DA0FD2-D456-4FC5-A587-87644C4EB2D1}" type="slidenum">
              <a:rPr lang="tr-TR" smtClean="0"/>
              <a:pPr/>
              <a:t>31</a:t>
            </a:fld>
            <a:endParaRPr lang="tr-TR"/>
          </a:p>
        </p:txBody>
      </p:sp>
      <p:pic>
        <p:nvPicPr>
          <p:cNvPr id="2050" name="Picture 2">
            <a:extLst>
              <a:ext uri="{FF2B5EF4-FFF2-40B4-BE49-F238E27FC236}">
                <a16:creationId xmlns:a16="http://schemas.microsoft.com/office/drawing/2014/main" id="{5F47BEF8-0526-52BA-0171-1F172E79FD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3600" y="2136269"/>
            <a:ext cx="4282282" cy="34290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97072C2-9C23-5AEF-F409-C7EE8D3B2878}"/>
              </a:ext>
            </a:extLst>
          </p:cNvPr>
          <p:cNvSpPr txBox="1"/>
          <p:nvPr/>
        </p:nvSpPr>
        <p:spPr>
          <a:xfrm>
            <a:off x="6247901" y="5668589"/>
            <a:ext cx="6153150" cy="215444"/>
          </a:xfrm>
          <a:prstGeom prst="rect">
            <a:avLst/>
          </a:prstGeom>
          <a:noFill/>
        </p:spPr>
        <p:txBody>
          <a:bodyPr wrap="square">
            <a:spAutoFit/>
          </a:bodyPr>
          <a:lstStyle/>
          <a:p>
            <a:r>
              <a:rPr lang="en-US" sz="800" dirty="0"/>
              <a:t>Image Source: https://</a:t>
            </a:r>
            <a:r>
              <a:rPr lang="en-US" sz="800" dirty="0" err="1"/>
              <a:t>www.sciencedirect.com</a:t>
            </a:r>
            <a:r>
              <a:rPr lang="en-US" sz="800" dirty="0"/>
              <a:t>/science/article/</a:t>
            </a:r>
            <a:r>
              <a:rPr lang="en-US" sz="800" dirty="0" err="1"/>
              <a:t>pii</a:t>
            </a:r>
            <a:r>
              <a:rPr lang="en-US" sz="800" dirty="0"/>
              <a:t>/S0301421517301015#f0005</a:t>
            </a:r>
          </a:p>
        </p:txBody>
      </p:sp>
    </p:spTree>
    <p:extLst>
      <p:ext uri="{BB962C8B-B14F-4D97-AF65-F5344CB8AC3E}">
        <p14:creationId xmlns:p14="http://schemas.microsoft.com/office/powerpoint/2010/main" val="20811697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3AE53-E45C-68B1-724E-1CDA83399B41}"/>
              </a:ext>
            </a:extLst>
          </p:cNvPr>
          <p:cNvSpPr>
            <a:spLocks noGrp="1"/>
          </p:cNvSpPr>
          <p:nvPr>
            <p:ph type="title"/>
          </p:nvPr>
        </p:nvSpPr>
        <p:spPr>
          <a:xfrm>
            <a:off x="1524001" y="527352"/>
            <a:ext cx="8566875" cy="1083329"/>
          </a:xfrm>
        </p:spPr>
        <p:txBody>
          <a:bodyPr/>
          <a:lstStyle/>
          <a:p>
            <a:r>
              <a:rPr lang="en-US" dirty="0"/>
              <a:t>General Setup for Predictive Modeling</a:t>
            </a:r>
          </a:p>
        </p:txBody>
      </p:sp>
      <p:sp>
        <p:nvSpPr>
          <p:cNvPr id="3" name="Content Placeholder 2">
            <a:extLst>
              <a:ext uri="{FF2B5EF4-FFF2-40B4-BE49-F238E27FC236}">
                <a16:creationId xmlns:a16="http://schemas.microsoft.com/office/drawing/2014/main" id="{BF746DDE-0EA2-48B4-22A3-9C9FA42A7057}"/>
              </a:ext>
            </a:extLst>
          </p:cNvPr>
          <p:cNvSpPr>
            <a:spLocks noGrp="1"/>
          </p:cNvSpPr>
          <p:nvPr>
            <p:ph idx="1"/>
          </p:nvPr>
        </p:nvSpPr>
        <p:spPr>
          <a:xfrm>
            <a:off x="1524001" y="2228004"/>
            <a:ext cx="8570943" cy="923331"/>
          </a:xfrm>
        </p:spPr>
        <p:txBody>
          <a:bodyPr/>
          <a:lstStyle/>
          <a:p>
            <a:pPr marL="0" indent="0">
              <a:buNone/>
            </a:pPr>
            <a:r>
              <a:rPr lang="en-US" b="1" dirty="0">
                <a:solidFill>
                  <a:srgbClr val="7030A0"/>
                </a:solidFill>
              </a:rPr>
              <a:t>Goal: </a:t>
            </a:r>
            <a:r>
              <a:rPr lang="en-US" b="1" dirty="0"/>
              <a:t>Predicting unknown </a:t>
            </a:r>
            <a:r>
              <a:rPr lang="en-US" b="1" dirty="0">
                <a:solidFill>
                  <a:srgbClr val="7030A0"/>
                </a:solidFill>
              </a:rPr>
              <a:t>continuous outcomes </a:t>
            </a:r>
            <a:r>
              <a:rPr lang="en-US" b="1" dirty="0"/>
              <a:t>using known data with observable features</a:t>
            </a:r>
          </a:p>
        </p:txBody>
      </p:sp>
      <p:sp>
        <p:nvSpPr>
          <p:cNvPr id="4" name="Slide Number Placeholder 3">
            <a:extLst>
              <a:ext uri="{FF2B5EF4-FFF2-40B4-BE49-F238E27FC236}">
                <a16:creationId xmlns:a16="http://schemas.microsoft.com/office/drawing/2014/main" id="{24ADA4C4-4449-DC48-9006-630CF323EABC}"/>
              </a:ext>
            </a:extLst>
          </p:cNvPr>
          <p:cNvSpPr>
            <a:spLocks noGrp="1"/>
          </p:cNvSpPr>
          <p:nvPr>
            <p:ph type="sldNum" sz="quarter" idx="12"/>
          </p:nvPr>
        </p:nvSpPr>
        <p:spPr/>
        <p:txBody>
          <a:bodyPr/>
          <a:lstStyle/>
          <a:p>
            <a:fld id="{A4DA0FD2-D456-4FC5-A587-87644C4EB2D1}" type="slidenum">
              <a:rPr lang="tr-TR" smtClean="0"/>
              <a:pPr/>
              <a:t>32</a:t>
            </a:fld>
            <a:endParaRPr lang="tr-TR"/>
          </a:p>
        </p:txBody>
      </p:sp>
      <p:sp>
        <p:nvSpPr>
          <p:cNvPr id="15" name="Rectangle 4">
            <a:extLst>
              <a:ext uri="{FF2B5EF4-FFF2-40B4-BE49-F238E27FC236}">
                <a16:creationId xmlns:a16="http://schemas.microsoft.com/office/drawing/2014/main" id="{CF44FABB-E8A1-1680-E711-4B4D3F04FC23}"/>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endParaRPr lang="en-US" altLang="en-US" dirty="0">
              <a:latin typeface="Arial" panose="020B0604020202020204" pitchFamily="34" charset="0"/>
            </a:endParaRPr>
          </a:p>
        </p:txBody>
      </p:sp>
      <p:grpSp>
        <p:nvGrpSpPr>
          <p:cNvPr id="35" name="Group 34">
            <a:extLst>
              <a:ext uri="{FF2B5EF4-FFF2-40B4-BE49-F238E27FC236}">
                <a16:creationId xmlns:a16="http://schemas.microsoft.com/office/drawing/2014/main" id="{85EDF426-B6D9-0854-51F2-1788E334FAF9}"/>
              </a:ext>
            </a:extLst>
          </p:cNvPr>
          <p:cNvGrpSpPr/>
          <p:nvPr/>
        </p:nvGrpSpPr>
        <p:grpSpPr>
          <a:xfrm>
            <a:off x="4556796" y="2770714"/>
            <a:ext cx="4402975" cy="1894381"/>
            <a:chOff x="6040789" y="2689778"/>
            <a:chExt cx="4402975" cy="1894381"/>
          </a:xfrm>
        </p:grpSpPr>
        <p:sp>
          <p:nvSpPr>
            <p:cNvPr id="10" name="Rectangle 9" descr="Programmer">
              <a:extLst>
                <a:ext uri="{FF2B5EF4-FFF2-40B4-BE49-F238E27FC236}">
                  <a16:creationId xmlns:a16="http://schemas.microsoft.com/office/drawing/2014/main" id="{F9DF9C60-44A6-3962-68AA-20B582760B70}"/>
                </a:ext>
              </a:extLst>
            </p:cNvPr>
            <p:cNvSpPr/>
            <p:nvPr/>
          </p:nvSpPr>
          <p:spPr>
            <a:xfrm>
              <a:off x="7707470" y="3551437"/>
              <a:ext cx="599081" cy="599081"/>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13" name="TextBox 12">
              <a:extLst>
                <a:ext uri="{FF2B5EF4-FFF2-40B4-BE49-F238E27FC236}">
                  <a16:creationId xmlns:a16="http://schemas.microsoft.com/office/drawing/2014/main" id="{BB80EE33-7399-9068-EE56-0E9F4B4B61C7}"/>
                </a:ext>
              </a:extLst>
            </p:cNvPr>
            <p:cNvSpPr txBox="1"/>
            <p:nvPr/>
          </p:nvSpPr>
          <p:spPr>
            <a:xfrm>
              <a:off x="6208394" y="3031284"/>
              <a:ext cx="800100" cy="369332"/>
            </a:xfrm>
            <a:prstGeom prst="rect">
              <a:avLst/>
            </a:prstGeom>
            <a:noFill/>
          </p:spPr>
          <p:txBody>
            <a:bodyPr wrap="square" rtlCol="0">
              <a:spAutoFit/>
            </a:bodyPr>
            <a:lstStyle/>
            <a:p>
              <a:r>
                <a:rPr lang="en-US" b="1" dirty="0">
                  <a:solidFill>
                    <a:srgbClr val="7030A0"/>
                  </a:solidFill>
                </a:rPr>
                <a:t>(X</a:t>
              </a:r>
              <a:r>
                <a:rPr lang="en-US" b="1" baseline="-25000" dirty="0">
                  <a:solidFill>
                    <a:srgbClr val="7030A0"/>
                  </a:solidFill>
                </a:rPr>
                <a:t>1</a:t>
              </a:r>
              <a:r>
                <a:rPr lang="en-US" b="1" dirty="0">
                  <a:solidFill>
                    <a:srgbClr val="7030A0"/>
                  </a:solidFill>
                </a:rPr>
                <a:t>)</a:t>
              </a:r>
            </a:p>
          </p:txBody>
        </p:sp>
        <p:sp>
          <p:nvSpPr>
            <p:cNvPr id="18" name="TextBox 17">
              <a:extLst>
                <a:ext uri="{FF2B5EF4-FFF2-40B4-BE49-F238E27FC236}">
                  <a16:creationId xmlns:a16="http://schemas.microsoft.com/office/drawing/2014/main" id="{B5351265-34BA-6FB6-9B94-B2AC09115F7D}"/>
                </a:ext>
              </a:extLst>
            </p:cNvPr>
            <p:cNvSpPr txBox="1"/>
            <p:nvPr/>
          </p:nvSpPr>
          <p:spPr>
            <a:xfrm>
              <a:off x="8843564" y="3467119"/>
              <a:ext cx="1600200" cy="369332"/>
            </a:xfrm>
            <a:prstGeom prst="rect">
              <a:avLst/>
            </a:prstGeom>
            <a:noFill/>
          </p:spPr>
          <p:txBody>
            <a:bodyPr wrap="square" rtlCol="0">
              <a:spAutoFit/>
            </a:bodyPr>
            <a:lstStyle/>
            <a:p>
              <a:r>
                <a:rPr lang="en-US" b="1" dirty="0">
                  <a:solidFill>
                    <a:srgbClr val="7030A0"/>
                  </a:solidFill>
                </a:rPr>
                <a:t>Outcome ?</a:t>
              </a:r>
            </a:p>
          </p:txBody>
        </p:sp>
        <p:cxnSp>
          <p:nvCxnSpPr>
            <p:cNvPr id="19" name="Straight Arrow Connector 18">
              <a:extLst>
                <a:ext uri="{FF2B5EF4-FFF2-40B4-BE49-F238E27FC236}">
                  <a16:creationId xmlns:a16="http://schemas.microsoft.com/office/drawing/2014/main" id="{FA6E23BA-7E51-2EF2-FEA6-E12CDFF0F170}"/>
                </a:ext>
              </a:extLst>
            </p:cNvPr>
            <p:cNvCxnSpPr>
              <a:cxnSpLocks/>
            </p:cNvCxnSpPr>
            <p:nvPr/>
          </p:nvCxnSpPr>
          <p:spPr>
            <a:xfrm>
              <a:off x="7003778" y="3270544"/>
              <a:ext cx="800100" cy="465335"/>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4AC5D4C-338A-074E-1F26-40457669642C}"/>
                </a:ext>
              </a:extLst>
            </p:cNvPr>
            <p:cNvCxnSpPr>
              <a:cxnSpLocks/>
            </p:cNvCxnSpPr>
            <p:nvPr/>
          </p:nvCxnSpPr>
          <p:spPr>
            <a:xfrm>
              <a:off x="6840889" y="3693413"/>
              <a:ext cx="962989" cy="151791"/>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34D06908-DB0B-9224-2030-E860FC48ACCE}"/>
                </a:ext>
              </a:extLst>
            </p:cNvPr>
            <p:cNvCxnSpPr>
              <a:cxnSpLocks/>
            </p:cNvCxnSpPr>
            <p:nvPr/>
          </p:nvCxnSpPr>
          <p:spPr>
            <a:xfrm flipV="1">
              <a:off x="6840889" y="3985542"/>
              <a:ext cx="962989" cy="51743"/>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C89F2551-2A89-EDE0-29DE-B0CB40F8CA6A}"/>
                </a:ext>
              </a:extLst>
            </p:cNvPr>
            <p:cNvCxnSpPr>
              <a:cxnSpLocks/>
            </p:cNvCxnSpPr>
            <p:nvPr/>
          </p:nvCxnSpPr>
          <p:spPr>
            <a:xfrm flipV="1">
              <a:off x="6840889" y="4152530"/>
              <a:ext cx="962989" cy="253762"/>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13105980-05DA-B43B-F7A8-D9B149B9AB0A}"/>
                </a:ext>
              </a:extLst>
            </p:cNvPr>
            <p:cNvCxnSpPr>
              <a:cxnSpLocks/>
            </p:cNvCxnSpPr>
            <p:nvPr/>
          </p:nvCxnSpPr>
          <p:spPr>
            <a:xfrm>
              <a:off x="8332051" y="3935386"/>
              <a:ext cx="659549" cy="0"/>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E94349D2-ACAE-F9FC-26D1-14570B2C73D9}"/>
                </a:ext>
              </a:extLst>
            </p:cNvPr>
            <p:cNvSpPr txBox="1"/>
            <p:nvPr/>
          </p:nvSpPr>
          <p:spPr>
            <a:xfrm>
              <a:off x="6040789" y="2689778"/>
              <a:ext cx="1600200" cy="369332"/>
            </a:xfrm>
            <a:prstGeom prst="rect">
              <a:avLst/>
            </a:prstGeom>
            <a:noFill/>
          </p:spPr>
          <p:txBody>
            <a:bodyPr wrap="square" rtlCol="0">
              <a:spAutoFit/>
            </a:bodyPr>
            <a:lstStyle/>
            <a:p>
              <a:r>
                <a:rPr lang="en-US" b="1" dirty="0">
                  <a:solidFill>
                    <a:srgbClr val="7030A0"/>
                  </a:solidFill>
                </a:rPr>
                <a:t>Features</a:t>
              </a:r>
            </a:p>
          </p:txBody>
        </p:sp>
        <p:sp>
          <p:nvSpPr>
            <p:cNvPr id="25" name="TextBox 24">
              <a:extLst>
                <a:ext uri="{FF2B5EF4-FFF2-40B4-BE49-F238E27FC236}">
                  <a16:creationId xmlns:a16="http://schemas.microsoft.com/office/drawing/2014/main" id="{B9A8233F-F9AD-64C5-7138-056734ED7216}"/>
                </a:ext>
              </a:extLst>
            </p:cNvPr>
            <p:cNvSpPr txBox="1"/>
            <p:nvPr/>
          </p:nvSpPr>
          <p:spPr>
            <a:xfrm>
              <a:off x="6190560" y="3467119"/>
              <a:ext cx="800100" cy="369332"/>
            </a:xfrm>
            <a:prstGeom prst="rect">
              <a:avLst/>
            </a:prstGeom>
            <a:noFill/>
          </p:spPr>
          <p:txBody>
            <a:bodyPr wrap="square" rtlCol="0">
              <a:spAutoFit/>
            </a:bodyPr>
            <a:lstStyle/>
            <a:p>
              <a:r>
                <a:rPr lang="en-US" b="1" dirty="0">
                  <a:solidFill>
                    <a:srgbClr val="7030A0"/>
                  </a:solidFill>
                </a:rPr>
                <a:t>(X</a:t>
              </a:r>
              <a:r>
                <a:rPr lang="en-US" b="1" baseline="-25000" dirty="0">
                  <a:solidFill>
                    <a:srgbClr val="7030A0"/>
                  </a:solidFill>
                </a:rPr>
                <a:t>2</a:t>
              </a:r>
              <a:r>
                <a:rPr lang="en-US" b="1" dirty="0">
                  <a:solidFill>
                    <a:srgbClr val="7030A0"/>
                  </a:solidFill>
                </a:rPr>
                <a:t>)</a:t>
              </a:r>
            </a:p>
          </p:txBody>
        </p:sp>
        <p:sp>
          <p:nvSpPr>
            <p:cNvPr id="26" name="TextBox 25">
              <a:extLst>
                <a:ext uri="{FF2B5EF4-FFF2-40B4-BE49-F238E27FC236}">
                  <a16:creationId xmlns:a16="http://schemas.microsoft.com/office/drawing/2014/main" id="{C6EAB414-F24D-968A-8A4A-A81D01218F01}"/>
                </a:ext>
              </a:extLst>
            </p:cNvPr>
            <p:cNvSpPr txBox="1"/>
            <p:nvPr/>
          </p:nvSpPr>
          <p:spPr>
            <a:xfrm>
              <a:off x="6197119" y="3817689"/>
              <a:ext cx="800100" cy="369332"/>
            </a:xfrm>
            <a:prstGeom prst="rect">
              <a:avLst/>
            </a:prstGeom>
            <a:noFill/>
          </p:spPr>
          <p:txBody>
            <a:bodyPr wrap="square" rtlCol="0">
              <a:spAutoFit/>
            </a:bodyPr>
            <a:lstStyle/>
            <a:p>
              <a:r>
                <a:rPr lang="en-US" b="1" dirty="0">
                  <a:solidFill>
                    <a:srgbClr val="7030A0"/>
                  </a:solidFill>
                </a:rPr>
                <a:t>(X</a:t>
              </a:r>
              <a:r>
                <a:rPr lang="en-US" b="1" baseline="-25000" dirty="0">
                  <a:solidFill>
                    <a:srgbClr val="7030A0"/>
                  </a:solidFill>
                </a:rPr>
                <a:t>3</a:t>
              </a:r>
              <a:r>
                <a:rPr lang="en-US" b="1" dirty="0">
                  <a:solidFill>
                    <a:srgbClr val="7030A0"/>
                  </a:solidFill>
                </a:rPr>
                <a:t>)</a:t>
              </a:r>
            </a:p>
          </p:txBody>
        </p:sp>
        <p:sp>
          <p:nvSpPr>
            <p:cNvPr id="27" name="TextBox 26">
              <a:extLst>
                <a:ext uri="{FF2B5EF4-FFF2-40B4-BE49-F238E27FC236}">
                  <a16:creationId xmlns:a16="http://schemas.microsoft.com/office/drawing/2014/main" id="{DFA6FEC4-B363-B93E-8162-483D2932658F}"/>
                </a:ext>
              </a:extLst>
            </p:cNvPr>
            <p:cNvSpPr txBox="1"/>
            <p:nvPr/>
          </p:nvSpPr>
          <p:spPr>
            <a:xfrm>
              <a:off x="6185703" y="4214827"/>
              <a:ext cx="800100" cy="369332"/>
            </a:xfrm>
            <a:prstGeom prst="rect">
              <a:avLst/>
            </a:prstGeom>
            <a:noFill/>
          </p:spPr>
          <p:txBody>
            <a:bodyPr wrap="square" rtlCol="0">
              <a:spAutoFit/>
            </a:bodyPr>
            <a:lstStyle/>
            <a:p>
              <a:r>
                <a:rPr lang="en-US" b="1" dirty="0">
                  <a:solidFill>
                    <a:srgbClr val="7030A0"/>
                  </a:solidFill>
                </a:rPr>
                <a:t>(</a:t>
              </a:r>
              <a:r>
                <a:rPr lang="en-US" b="1" dirty="0" err="1">
                  <a:solidFill>
                    <a:srgbClr val="7030A0"/>
                  </a:solidFill>
                </a:rPr>
                <a:t>X</a:t>
              </a:r>
              <a:r>
                <a:rPr lang="en-US" b="1" baseline="-25000" dirty="0" err="1">
                  <a:solidFill>
                    <a:srgbClr val="7030A0"/>
                  </a:solidFill>
                </a:rPr>
                <a:t>p</a:t>
              </a:r>
              <a:r>
                <a:rPr lang="en-US" b="1" dirty="0">
                  <a:solidFill>
                    <a:srgbClr val="7030A0"/>
                  </a:solidFill>
                </a:rPr>
                <a:t>)</a:t>
              </a:r>
            </a:p>
          </p:txBody>
        </p:sp>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A7496F5C-072F-936E-2CFC-B8B3EBF7E40A}"/>
                    </a:ext>
                  </a:extLst>
                </p:cNvPr>
                <p:cNvSpPr txBox="1"/>
                <p:nvPr/>
              </p:nvSpPr>
              <p:spPr>
                <a:xfrm>
                  <a:off x="8976215" y="3719631"/>
                  <a:ext cx="962990"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sz="2200" b="1" i="1">
                                <a:solidFill>
                                  <a:srgbClr val="7030A0"/>
                                </a:solidFill>
                                <a:latin typeface="Cambria Math" panose="02040503050406030204" pitchFamily="18" charset="0"/>
                              </a:rPr>
                            </m:ctrlPr>
                          </m:accPr>
                          <m:e>
                            <m:r>
                              <a:rPr lang="en-US" sz="2200" b="1" i="1">
                                <a:solidFill>
                                  <a:srgbClr val="7030A0"/>
                                </a:solidFill>
                                <a:latin typeface="Cambria Math" panose="02040503050406030204" pitchFamily="18" charset="0"/>
                              </a:rPr>
                              <m:t>𝒚</m:t>
                            </m:r>
                          </m:e>
                        </m:acc>
                        <m:r>
                          <a:rPr lang="en-US" sz="2200" b="1">
                            <a:solidFill>
                              <a:srgbClr val="7030A0"/>
                            </a:solidFill>
                            <a:latin typeface="Cambria Math" panose="02040503050406030204" pitchFamily="18" charset="0"/>
                          </a:rPr>
                          <m:t>​</m:t>
                        </m:r>
                      </m:oMath>
                    </m:oMathPara>
                  </a14:m>
                  <a:endParaRPr lang="en-US" sz="2200" b="1" dirty="0"/>
                </a:p>
              </p:txBody>
            </p:sp>
          </mc:Choice>
          <mc:Fallback xmlns="">
            <p:sp>
              <p:nvSpPr>
                <p:cNvPr id="33" name="TextBox 32">
                  <a:extLst>
                    <a:ext uri="{FF2B5EF4-FFF2-40B4-BE49-F238E27FC236}">
                      <a16:creationId xmlns:a16="http://schemas.microsoft.com/office/drawing/2014/main" id="{A7496F5C-072F-936E-2CFC-B8B3EBF7E40A}"/>
                    </a:ext>
                  </a:extLst>
                </p:cNvPr>
                <p:cNvSpPr txBox="1">
                  <a:spLocks noRot="1" noChangeAspect="1" noMove="1" noResize="1" noEditPoints="1" noAdjustHandles="1" noChangeArrowheads="1" noChangeShapeType="1" noTextEdit="1"/>
                </p:cNvSpPr>
                <p:nvPr/>
              </p:nvSpPr>
              <p:spPr>
                <a:xfrm>
                  <a:off x="8976215" y="3719631"/>
                  <a:ext cx="962990" cy="430887"/>
                </a:xfrm>
                <a:prstGeom prst="rect">
                  <a:avLst/>
                </a:prstGeom>
                <a:blipFill>
                  <a:blip r:embed="rId5"/>
                  <a:stretch>
                    <a:fillRect t="-5714" b="-8571"/>
                  </a:stretch>
                </a:blipFill>
              </p:spPr>
              <p:txBody>
                <a:bodyPr/>
                <a:lstStyle/>
                <a:p>
                  <a:r>
                    <a:rPr lang="en-US">
                      <a:noFill/>
                    </a:rPr>
                    <a:t> </a:t>
                  </a:r>
                </a:p>
              </p:txBody>
            </p:sp>
          </mc:Fallback>
        </mc:AlternateContent>
      </p:grpSp>
      <p:grpSp>
        <p:nvGrpSpPr>
          <p:cNvPr id="5" name="Group 4">
            <a:extLst>
              <a:ext uri="{FF2B5EF4-FFF2-40B4-BE49-F238E27FC236}">
                <a16:creationId xmlns:a16="http://schemas.microsoft.com/office/drawing/2014/main" id="{55A543C4-EC67-97DE-2C04-ECFABC7B97A4}"/>
              </a:ext>
            </a:extLst>
          </p:cNvPr>
          <p:cNvGrpSpPr/>
          <p:nvPr/>
        </p:nvGrpSpPr>
        <p:grpSpPr>
          <a:xfrm>
            <a:off x="4638324" y="4961242"/>
            <a:ext cx="4686152" cy="1381766"/>
            <a:chOff x="813198" y="5020564"/>
            <a:chExt cx="4686152" cy="1381766"/>
          </a:xfrm>
        </p:grpSpPr>
        <p:sp>
          <p:nvSpPr>
            <p:cNvPr id="6" name="TextBox 5">
              <a:extLst>
                <a:ext uri="{FF2B5EF4-FFF2-40B4-BE49-F238E27FC236}">
                  <a16:creationId xmlns:a16="http://schemas.microsoft.com/office/drawing/2014/main" id="{C682F1B4-AA28-E034-B8FB-E05B30763207}"/>
                </a:ext>
              </a:extLst>
            </p:cNvPr>
            <p:cNvSpPr txBox="1"/>
            <p:nvPr/>
          </p:nvSpPr>
          <p:spPr>
            <a:xfrm>
              <a:off x="4687834" y="5020564"/>
              <a:ext cx="800100" cy="369332"/>
            </a:xfrm>
            <a:prstGeom prst="rect">
              <a:avLst/>
            </a:prstGeom>
            <a:noFill/>
          </p:spPr>
          <p:txBody>
            <a:bodyPr wrap="square" rtlCol="0">
              <a:spAutoFit/>
            </a:bodyPr>
            <a:lstStyle/>
            <a:p>
              <a:r>
                <a:rPr lang="en-US" b="1" dirty="0">
                  <a:solidFill>
                    <a:srgbClr val="7030A0"/>
                  </a:solidFill>
                </a:rPr>
                <a:t>Y</a:t>
              </a:r>
              <a:r>
                <a:rPr lang="en-US" b="1" baseline="-25000" dirty="0">
                  <a:solidFill>
                    <a:srgbClr val="7030A0"/>
                  </a:solidFill>
                </a:rPr>
                <a:t>1</a:t>
              </a:r>
            </a:p>
          </p:txBody>
        </p:sp>
        <p:sp>
          <p:nvSpPr>
            <p:cNvPr id="7" name="TextBox 6">
              <a:extLst>
                <a:ext uri="{FF2B5EF4-FFF2-40B4-BE49-F238E27FC236}">
                  <a16:creationId xmlns:a16="http://schemas.microsoft.com/office/drawing/2014/main" id="{761C8067-B68C-182C-75CE-395C7418988B}"/>
                </a:ext>
              </a:extLst>
            </p:cNvPr>
            <p:cNvSpPr txBox="1"/>
            <p:nvPr/>
          </p:nvSpPr>
          <p:spPr>
            <a:xfrm>
              <a:off x="813198" y="5050653"/>
              <a:ext cx="800100" cy="369332"/>
            </a:xfrm>
            <a:prstGeom prst="rect">
              <a:avLst/>
            </a:prstGeom>
            <a:noFill/>
          </p:spPr>
          <p:txBody>
            <a:bodyPr wrap="square" rtlCol="0">
              <a:spAutoFit/>
            </a:bodyPr>
            <a:lstStyle/>
            <a:p>
              <a:r>
                <a:rPr lang="en-US" b="1" dirty="0">
                  <a:solidFill>
                    <a:srgbClr val="7030A0"/>
                  </a:solidFill>
                </a:rPr>
                <a:t>X</a:t>
              </a:r>
              <a:r>
                <a:rPr lang="en-US" b="1" baseline="-25000" dirty="0">
                  <a:solidFill>
                    <a:srgbClr val="7030A0"/>
                  </a:solidFill>
                </a:rPr>
                <a:t>1,1</a:t>
              </a:r>
            </a:p>
          </p:txBody>
        </p:sp>
        <p:sp>
          <p:nvSpPr>
            <p:cNvPr id="8" name="TextBox 7">
              <a:extLst>
                <a:ext uri="{FF2B5EF4-FFF2-40B4-BE49-F238E27FC236}">
                  <a16:creationId xmlns:a16="http://schemas.microsoft.com/office/drawing/2014/main" id="{20D7560B-1F1E-2AD3-F275-B34BADEDDDA9}"/>
                </a:ext>
              </a:extLst>
            </p:cNvPr>
            <p:cNvSpPr txBox="1"/>
            <p:nvPr/>
          </p:nvSpPr>
          <p:spPr>
            <a:xfrm>
              <a:off x="1537098" y="5050653"/>
              <a:ext cx="800100" cy="369332"/>
            </a:xfrm>
            <a:prstGeom prst="rect">
              <a:avLst/>
            </a:prstGeom>
            <a:noFill/>
          </p:spPr>
          <p:txBody>
            <a:bodyPr wrap="square" rtlCol="0">
              <a:spAutoFit/>
            </a:bodyPr>
            <a:lstStyle/>
            <a:p>
              <a:r>
                <a:rPr lang="en-US" b="1" dirty="0">
                  <a:solidFill>
                    <a:srgbClr val="7030A0"/>
                  </a:solidFill>
                </a:rPr>
                <a:t>X</a:t>
              </a:r>
              <a:r>
                <a:rPr lang="en-US" b="1" baseline="-25000" dirty="0">
                  <a:solidFill>
                    <a:srgbClr val="7030A0"/>
                  </a:solidFill>
                </a:rPr>
                <a:t>1,2</a:t>
              </a:r>
            </a:p>
          </p:txBody>
        </p:sp>
        <p:sp>
          <p:nvSpPr>
            <p:cNvPr id="9" name="TextBox 8">
              <a:extLst>
                <a:ext uri="{FF2B5EF4-FFF2-40B4-BE49-F238E27FC236}">
                  <a16:creationId xmlns:a16="http://schemas.microsoft.com/office/drawing/2014/main" id="{A8CAECB1-5061-F6E0-5E2F-4C0C53FE7974}"/>
                </a:ext>
              </a:extLst>
            </p:cNvPr>
            <p:cNvSpPr txBox="1"/>
            <p:nvPr/>
          </p:nvSpPr>
          <p:spPr>
            <a:xfrm>
              <a:off x="3061098" y="5050653"/>
              <a:ext cx="800100" cy="369332"/>
            </a:xfrm>
            <a:prstGeom prst="rect">
              <a:avLst/>
            </a:prstGeom>
            <a:noFill/>
          </p:spPr>
          <p:txBody>
            <a:bodyPr wrap="square" rtlCol="0">
              <a:spAutoFit/>
            </a:bodyPr>
            <a:lstStyle/>
            <a:p>
              <a:r>
                <a:rPr lang="en-US" b="1" dirty="0">
                  <a:solidFill>
                    <a:srgbClr val="7030A0"/>
                  </a:solidFill>
                </a:rPr>
                <a:t>X</a:t>
              </a:r>
              <a:r>
                <a:rPr lang="en-US" b="1" baseline="-25000" dirty="0">
                  <a:solidFill>
                    <a:srgbClr val="7030A0"/>
                  </a:solidFill>
                </a:rPr>
                <a:t>1, P</a:t>
              </a:r>
            </a:p>
          </p:txBody>
        </p:sp>
        <p:sp>
          <p:nvSpPr>
            <p:cNvPr id="11" name="TextBox 10">
              <a:extLst>
                <a:ext uri="{FF2B5EF4-FFF2-40B4-BE49-F238E27FC236}">
                  <a16:creationId xmlns:a16="http://schemas.microsoft.com/office/drawing/2014/main" id="{F7677F02-534C-AE47-334E-6DC3EE4F47F1}"/>
                </a:ext>
              </a:extLst>
            </p:cNvPr>
            <p:cNvSpPr txBox="1"/>
            <p:nvPr/>
          </p:nvSpPr>
          <p:spPr>
            <a:xfrm>
              <a:off x="2337198" y="5050653"/>
              <a:ext cx="800100" cy="369332"/>
            </a:xfrm>
            <a:prstGeom prst="rect">
              <a:avLst/>
            </a:prstGeom>
            <a:noFill/>
          </p:spPr>
          <p:txBody>
            <a:bodyPr wrap="square" rtlCol="0">
              <a:spAutoFit/>
            </a:bodyPr>
            <a:lstStyle/>
            <a:p>
              <a:r>
                <a:rPr lang="en-US" b="1" dirty="0">
                  <a:solidFill>
                    <a:srgbClr val="7030A0"/>
                  </a:solidFill>
                </a:rPr>
                <a:t>…</a:t>
              </a:r>
              <a:endParaRPr lang="en-US" b="1" baseline="-25000" dirty="0">
                <a:solidFill>
                  <a:srgbClr val="7030A0"/>
                </a:solidFill>
              </a:endParaRPr>
            </a:p>
          </p:txBody>
        </p:sp>
        <p:cxnSp>
          <p:nvCxnSpPr>
            <p:cNvPr id="12" name="Straight Arrow Connector 11">
              <a:extLst>
                <a:ext uri="{FF2B5EF4-FFF2-40B4-BE49-F238E27FC236}">
                  <a16:creationId xmlns:a16="http://schemas.microsoft.com/office/drawing/2014/main" id="{603BB398-044D-5EF2-B991-C981B3D1FBD7}"/>
                </a:ext>
              </a:extLst>
            </p:cNvPr>
            <p:cNvCxnSpPr>
              <a:cxnSpLocks/>
            </p:cNvCxnSpPr>
            <p:nvPr/>
          </p:nvCxnSpPr>
          <p:spPr>
            <a:xfrm>
              <a:off x="3773149" y="5237914"/>
              <a:ext cx="659549" cy="0"/>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1A7056FE-775B-4AEE-A8FE-2AACA5416875}"/>
                </a:ext>
              </a:extLst>
            </p:cNvPr>
            <p:cNvSpPr txBox="1"/>
            <p:nvPr/>
          </p:nvSpPr>
          <p:spPr>
            <a:xfrm>
              <a:off x="4699250" y="5526301"/>
              <a:ext cx="800100" cy="369332"/>
            </a:xfrm>
            <a:prstGeom prst="rect">
              <a:avLst/>
            </a:prstGeom>
            <a:noFill/>
          </p:spPr>
          <p:txBody>
            <a:bodyPr wrap="square" rtlCol="0">
              <a:spAutoFit/>
            </a:bodyPr>
            <a:lstStyle/>
            <a:p>
              <a:r>
                <a:rPr lang="en-US" b="1" dirty="0">
                  <a:solidFill>
                    <a:srgbClr val="7030A0"/>
                  </a:solidFill>
                </a:rPr>
                <a:t>Y</a:t>
              </a:r>
              <a:r>
                <a:rPr lang="en-US" b="1" baseline="-25000" dirty="0">
                  <a:solidFill>
                    <a:srgbClr val="7030A0"/>
                  </a:solidFill>
                </a:rPr>
                <a:t>2</a:t>
              </a:r>
            </a:p>
          </p:txBody>
        </p:sp>
        <p:sp>
          <p:nvSpPr>
            <p:cNvPr id="16" name="TextBox 15">
              <a:extLst>
                <a:ext uri="{FF2B5EF4-FFF2-40B4-BE49-F238E27FC236}">
                  <a16:creationId xmlns:a16="http://schemas.microsoft.com/office/drawing/2014/main" id="{A0B54BB3-0894-8AB3-11BB-930E75A2F0D0}"/>
                </a:ext>
              </a:extLst>
            </p:cNvPr>
            <p:cNvSpPr txBox="1"/>
            <p:nvPr/>
          </p:nvSpPr>
          <p:spPr>
            <a:xfrm>
              <a:off x="824614" y="5556390"/>
              <a:ext cx="800100" cy="369332"/>
            </a:xfrm>
            <a:prstGeom prst="rect">
              <a:avLst/>
            </a:prstGeom>
            <a:noFill/>
          </p:spPr>
          <p:txBody>
            <a:bodyPr wrap="square" rtlCol="0">
              <a:spAutoFit/>
            </a:bodyPr>
            <a:lstStyle/>
            <a:p>
              <a:r>
                <a:rPr lang="en-US" b="1" dirty="0">
                  <a:solidFill>
                    <a:srgbClr val="7030A0"/>
                  </a:solidFill>
                </a:rPr>
                <a:t>X</a:t>
              </a:r>
              <a:r>
                <a:rPr lang="en-US" b="1" baseline="-25000" dirty="0">
                  <a:solidFill>
                    <a:srgbClr val="7030A0"/>
                  </a:solidFill>
                </a:rPr>
                <a:t>2,1</a:t>
              </a:r>
            </a:p>
          </p:txBody>
        </p:sp>
        <p:sp>
          <p:nvSpPr>
            <p:cNvPr id="17" name="TextBox 16">
              <a:extLst>
                <a:ext uri="{FF2B5EF4-FFF2-40B4-BE49-F238E27FC236}">
                  <a16:creationId xmlns:a16="http://schemas.microsoft.com/office/drawing/2014/main" id="{CCE3803F-0C78-0E9B-D2BB-287A7651BB09}"/>
                </a:ext>
              </a:extLst>
            </p:cNvPr>
            <p:cNvSpPr txBox="1"/>
            <p:nvPr/>
          </p:nvSpPr>
          <p:spPr>
            <a:xfrm>
              <a:off x="1548514" y="5556390"/>
              <a:ext cx="800100" cy="369332"/>
            </a:xfrm>
            <a:prstGeom prst="rect">
              <a:avLst/>
            </a:prstGeom>
            <a:noFill/>
          </p:spPr>
          <p:txBody>
            <a:bodyPr wrap="square" rtlCol="0">
              <a:spAutoFit/>
            </a:bodyPr>
            <a:lstStyle/>
            <a:p>
              <a:r>
                <a:rPr lang="en-US" b="1" dirty="0">
                  <a:solidFill>
                    <a:srgbClr val="7030A0"/>
                  </a:solidFill>
                </a:rPr>
                <a:t>X</a:t>
              </a:r>
              <a:r>
                <a:rPr lang="en-US" b="1" baseline="-25000" dirty="0">
                  <a:solidFill>
                    <a:srgbClr val="7030A0"/>
                  </a:solidFill>
                </a:rPr>
                <a:t>2,2</a:t>
              </a:r>
            </a:p>
          </p:txBody>
        </p:sp>
        <p:sp>
          <p:nvSpPr>
            <p:cNvPr id="28" name="TextBox 27">
              <a:extLst>
                <a:ext uri="{FF2B5EF4-FFF2-40B4-BE49-F238E27FC236}">
                  <a16:creationId xmlns:a16="http://schemas.microsoft.com/office/drawing/2014/main" id="{7C31BC51-7FA0-470C-3690-509D7D61BA52}"/>
                </a:ext>
              </a:extLst>
            </p:cNvPr>
            <p:cNvSpPr txBox="1"/>
            <p:nvPr/>
          </p:nvSpPr>
          <p:spPr>
            <a:xfrm>
              <a:off x="3072514" y="5556390"/>
              <a:ext cx="800100" cy="369332"/>
            </a:xfrm>
            <a:prstGeom prst="rect">
              <a:avLst/>
            </a:prstGeom>
            <a:noFill/>
          </p:spPr>
          <p:txBody>
            <a:bodyPr wrap="square" rtlCol="0">
              <a:spAutoFit/>
            </a:bodyPr>
            <a:lstStyle/>
            <a:p>
              <a:r>
                <a:rPr lang="en-US" b="1" dirty="0">
                  <a:solidFill>
                    <a:srgbClr val="7030A0"/>
                  </a:solidFill>
                </a:rPr>
                <a:t>X</a:t>
              </a:r>
              <a:r>
                <a:rPr lang="en-US" b="1" baseline="-25000" dirty="0">
                  <a:solidFill>
                    <a:srgbClr val="7030A0"/>
                  </a:solidFill>
                </a:rPr>
                <a:t>2, P</a:t>
              </a:r>
            </a:p>
          </p:txBody>
        </p:sp>
        <p:sp>
          <p:nvSpPr>
            <p:cNvPr id="29" name="TextBox 28">
              <a:extLst>
                <a:ext uri="{FF2B5EF4-FFF2-40B4-BE49-F238E27FC236}">
                  <a16:creationId xmlns:a16="http://schemas.microsoft.com/office/drawing/2014/main" id="{C3C8ABEE-CB69-734C-807C-0421A77E57FF}"/>
                </a:ext>
              </a:extLst>
            </p:cNvPr>
            <p:cNvSpPr txBox="1"/>
            <p:nvPr/>
          </p:nvSpPr>
          <p:spPr>
            <a:xfrm>
              <a:off x="2348614" y="5556390"/>
              <a:ext cx="800100" cy="369332"/>
            </a:xfrm>
            <a:prstGeom prst="rect">
              <a:avLst/>
            </a:prstGeom>
            <a:noFill/>
          </p:spPr>
          <p:txBody>
            <a:bodyPr wrap="square" rtlCol="0">
              <a:spAutoFit/>
            </a:bodyPr>
            <a:lstStyle/>
            <a:p>
              <a:r>
                <a:rPr lang="en-US" b="1" dirty="0">
                  <a:solidFill>
                    <a:srgbClr val="7030A0"/>
                  </a:solidFill>
                </a:rPr>
                <a:t>…</a:t>
              </a:r>
              <a:endParaRPr lang="en-US" b="1" baseline="-25000" dirty="0">
                <a:solidFill>
                  <a:srgbClr val="7030A0"/>
                </a:solidFill>
              </a:endParaRPr>
            </a:p>
          </p:txBody>
        </p:sp>
        <p:cxnSp>
          <p:nvCxnSpPr>
            <p:cNvPr id="30" name="Straight Arrow Connector 29">
              <a:extLst>
                <a:ext uri="{FF2B5EF4-FFF2-40B4-BE49-F238E27FC236}">
                  <a16:creationId xmlns:a16="http://schemas.microsoft.com/office/drawing/2014/main" id="{F36DA308-29D9-2EF6-DDB7-36171F6C5D87}"/>
                </a:ext>
              </a:extLst>
            </p:cNvPr>
            <p:cNvCxnSpPr>
              <a:cxnSpLocks/>
            </p:cNvCxnSpPr>
            <p:nvPr/>
          </p:nvCxnSpPr>
          <p:spPr>
            <a:xfrm>
              <a:off x="3784565" y="5743651"/>
              <a:ext cx="659549" cy="0"/>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5864C15C-5BF0-15F1-1D2D-E4CA13A24725}"/>
                </a:ext>
              </a:extLst>
            </p:cNvPr>
            <p:cNvSpPr txBox="1"/>
            <p:nvPr/>
          </p:nvSpPr>
          <p:spPr>
            <a:xfrm>
              <a:off x="4699250" y="6002909"/>
              <a:ext cx="800100" cy="369332"/>
            </a:xfrm>
            <a:prstGeom prst="rect">
              <a:avLst/>
            </a:prstGeom>
            <a:noFill/>
          </p:spPr>
          <p:txBody>
            <a:bodyPr wrap="square" rtlCol="0">
              <a:spAutoFit/>
            </a:bodyPr>
            <a:lstStyle/>
            <a:p>
              <a:r>
                <a:rPr lang="en-US" b="1" dirty="0" err="1">
                  <a:solidFill>
                    <a:srgbClr val="7030A0"/>
                  </a:solidFill>
                </a:rPr>
                <a:t>Y</a:t>
              </a:r>
              <a:r>
                <a:rPr lang="en-US" b="1" baseline="-25000" dirty="0" err="1">
                  <a:solidFill>
                    <a:srgbClr val="7030A0"/>
                  </a:solidFill>
                </a:rPr>
                <a:t>n</a:t>
              </a:r>
              <a:endParaRPr lang="en-US" b="1" baseline="-25000" dirty="0">
                <a:solidFill>
                  <a:srgbClr val="7030A0"/>
                </a:solidFill>
              </a:endParaRPr>
            </a:p>
          </p:txBody>
        </p:sp>
        <p:sp>
          <p:nvSpPr>
            <p:cNvPr id="32" name="TextBox 31">
              <a:extLst>
                <a:ext uri="{FF2B5EF4-FFF2-40B4-BE49-F238E27FC236}">
                  <a16:creationId xmlns:a16="http://schemas.microsoft.com/office/drawing/2014/main" id="{739A6F2D-1EE4-EEE9-8DD7-C1668EEBFADA}"/>
                </a:ext>
              </a:extLst>
            </p:cNvPr>
            <p:cNvSpPr txBox="1"/>
            <p:nvPr/>
          </p:nvSpPr>
          <p:spPr>
            <a:xfrm>
              <a:off x="824614" y="6032998"/>
              <a:ext cx="800100" cy="369332"/>
            </a:xfrm>
            <a:prstGeom prst="rect">
              <a:avLst/>
            </a:prstGeom>
            <a:noFill/>
          </p:spPr>
          <p:txBody>
            <a:bodyPr wrap="square" rtlCol="0">
              <a:spAutoFit/>
            </a:bodyPr>
            <a:lstStyle/>
            <a:p>
              <a:r>
                <a:rPr lang="en-US" b="1" dirty="0">
                  <a:solidFill>
                    <a:srgbClr val="7030A0"/>
                  </a:solidFill>
                </a:rPr>
                <a:t>X</a:t>
              </a:r>
              <a:r>
                <a:rPr lang="en-US" b="1" baseline="-25000" dirty="0">
                  <a:solidFill>
                    <a:srgbClr val="7030A0"/>
                  </a:solidFill>
                </a:rPr>
                <a:t>n,1</a:t>
              </a:r>
            </a:p>
          </p:txBody>
        </p:sp>
        <p:sp>
          <p:nvSpPr>
            <p:cNvPr id="34" name="TextBox 33">
              <a:extLst>
                <a:ext uri="{FF2B5EF4-FFF2-40B4-BE49-F238E27FC236}">
                  <a16:creationId xmlns:a16="http://schemas.microsoft.com/office/drawing/2014/main" id="{6FFA1CC1-1A9D-B217-36BF-F8622DAB86E7}"/>
                </a:ext>
              </a:extLst>
            </p:cNvPr>
            <p:cNvSpPr txBox="1"/>
            <p:nvPr/>
          </p:nvSpPr>
          <p:spPr>
            <a:xfrm>
              <a:off x="1548514" y="6032998"/>
              <a:ext cx="800100" cy="369332"/>
            </a:xfrm>
            <a:prstGeom prst="rect">
              <a:avLst/>
            </a:prstGeom>
            <a:noFill/>
          </p:spPr>
          <p:txBody>
            <a:bodyPr wrap="square" rtlCol="0">
              <a:spAutoFit/>
            </a:bodyPr>
            <a:lstStyle/>
            <a:p>
              <a:r>
                <a:rPr lang="en-US" b="1" dirty="0">
                  <a:solidFill>
                    <a:srgbClr val="7030A0"/>
                  </a:solidFill>
                </a:rPr>
                <a:t>X</a:t>
              </a:r>
              <a:r>
                <a:rPr lang="en-US" b="1" baseline="-25000" dirty="0">
                  <a:solidFill>
                    <a:srgbClr val="7030A0"/>
                  </a:solidFill>
                </a:rPr>
                <a:t>n,2</a:t>
              </a:r>
            </a:p>
          </p:txBody>
        </p:sp>
        <p:sp>
          <p:nvSpPr>
            <p:cNvPr id="36" name="TextBox 35">
              <a:extLst>
                <a:ext uri="{FF2B5EF4-FFF2-40B4-BE49-F238E27FC236}">
                  <a16:creationId xmlns:a16="http://schemas.microsoft.com/office/drawing/2014/main" id="{6BCD7722-6926-05D4-40EC-FD71D4D34797}"/>
                </a:ext>
              </a:extLst>
            </p:cNvPr>
            <p:cNvSpPr txBox="1"/>
            <p:nvPr/>
          </p:nvSpPr>
          <p:spPr>
            <a:xfrm>
              <a:off x="3072514" y="6032998"/>
              <a:ext cx="800100" cy="369332"/>
            </a:xfrm>
            <a:prstGeom prst="rect">
              <a:avLst/>
            </a:prstGeom>
            <a:noFill/>
          </p:spPr>
          <p:txBody>
            <a:bodyPr wrap="square" rtlCol="0">
              <a:spAutoFit/>
            </a:bodyPr>
            <a:lstStyle/>
            <a:p>
              <a:r>
                <a:rPr lang="en-US" b="1" dirty="0" err="1">
                  <a:solidFill>
                    <a:srgbClr val="7030A0"/>
                  </a:solidFill>
                </a:rPr>
                <a:t>X</a:t>
              </a:r>
              <a:r>
                <a:rPr lang="en-US" b="1" baseline="-25000" dirty="0" err="1">
                  <a:solidFill>
                    <a:srgbClr val="7030A0"/>
                  </a:solidFill>
                </a:rPr>
                <a:t>n</a:t>
              </a:r>
              <a:r>
                <a:rPr lang="en-US" b="1" baseline="-25000" dirty="0">
                  <a:solidFill>
                    <a:srgbClr val="7030A0"/>
                  </a:solidFill>
                </a:rPr>
                <a:t>, P</a:t>
              </a:r>
            </a:p>
          </p:txBody>
        </p:sp>
        <p:sp>
          <p:nvSpPr>
            <p:cNvPr id="37" name="TextBox 36">
              <a:extLst>
                <a:ext uri="{FF2B5EF4-FFF2-40B4-BE49-F238E27FC236}">
                  <a16:creationId xmlns:a16="http://schemas.microsoft.com/office/drawing/2014/main" id="{657D2316-AD75-217D-832B-4354218CAF1B}"/>
                </a:ext>
              </a:extLst>
            </p:cNvPr>
            <p:cNvSpPr txBox="1"/>
            <p:nvPr/>
          </p:nvSpPr>
          <p:spPr>
            <a:xfrm>
              <a:off x="2348614" y="6032998"/>
              <a:ext cx="800100" cy="369332"/>
            </a:xfrm>
            <a:prstGeom prst="rect">
              <a:avLst/>
            </a:prstGeom>
            <a:noFill/>
          </p:spPr>
          <p:txBody>
            <a:bodyPr wrap="square" rtlCol="0">
              <a:spAutoFit/>
            </a:bodyPr>
            <a:lstStyle/>
            <a:p>
              <a:r>
                <a:rPr lang="en-US" b="1" dirty="0">
                  <a:solidFill>
                    <a:srgbClr val="7030A0"/>
                  </a:solidFill>
                </a:rPr>
                <a:t>…</a:t>
              </a:r>
              <a:endParaRPr lang="en-US" b="1" baseline="-25000" dirty="0">
                <a:solidFill>
                  <a:srgbClr val="7030A0"/>
                </a:solidFill>
              </a:endParaRPr>
            </a:p>
          </p:txBody>
        </p:sp>
        <p:cxnSp>
          <p:nvCxnSpPr>
            <p:cNvPr id="38" name="Straight Arrow Connector 37">
              <a:extLst>
                <a:ext uri="{FF2B5EF4-FFF2-40B4-BE49-F238E27FC236}">
                  <a16:creationId xmlns:a16="http://schemas.microsoft.com/office/drawing/2014/main" id="{141E210A-DF95-4D6F-4E4F-C6B2C91177DD}"/>
                </a:ext>
              </a:extLst>
            </p:cNvPr>
            <p:cNvCxnSpPr>
              <a:cxnSpLocks/>
            </p:cNvCxnSpPr>
            <p:nvPr/>
          </p:nvCxnSpPr>
          <p:spPr>
            <a:xfrm>
              <a:off x="3784565" y="6220259"/>
              <a:ext cx="659549" cy="0"/>
            </a:xfrm>
            <a:prstGeom prst="straightConnector1">
              <a:avLst/>
            </a:prstGeom>
            <a:ln w="44450">
              <a:solidFill>
                <a:srgbClr val="7030A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116698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3AE53-E45C-68B1-724E-1CDA83399B41}"/>
              </a:ext>
            </a:extLst>
          </p:cNvPr>
          <p:cNvSpPr>
            <a:spLocks noGrp="1"/>
          </p:cNvSpPr>
          <p:nvPr>
            <p:ph type="title"/>
          </p:nvPr>
        </p:nvSpPr>
        <p:spPr>
          <a:xfrm>
            <a:off x="2101124" y="527352"/>
            <a:ext cx="7989752" cy="1083329"/>
          </a:xfrm>
        </p:spPr>
        <p:txBody>
          <a:bodyPr/>
          <a:lstStyle/>
          <a:p>
            <a:r>
              <a:rPr lang="en-US" dirty="0"/>
              <a:t>Prediction in machine learning </a:t>
            </a:r>
          </a:p>
        </p:txBody>
      </p:sp>
      <p:sp>
        <p:nvSpPr>
          <p:cNvPr id="3" name="Content Placeholder 2">
            <a:extLst>
              <a:ext uri="{FF2B5EF4-FFF2-40B4-BE49-F238E27FC236}">
                <a16:creationId xmlns:a16="http://schemas.microsoft.com/office/drawing/2014/main" id="{BF746DDE-0EA2-48B4-22A3-9C9FA42A7057}"/>
              </a:ext>
            </a:extLst>
          </p:cNvPr>
          <p:cNvSpPr>
            <a:spLocks noGrp="1"/>
          </p:cNvSpPr>
          <p:nvPr>
            <p:ph idx="1"/>
          </p:nvPr>
        </p:nvSpPr>
        <p:spPr>
          <a:xfrm>
            <a:off x="2105192" y="2228004"/>
            <a:ext cx="7989752" cy="923331"/>
          </a:xfrm>
        </p:spPr>
        <p:txBody>
          <a:bodyPr/>
          <a:lstStyle/>
          <a:p>
            <a:pPr marL="0" indent="0">
              <a:buNone/>
            </a:pPr>
            <a:r>
              <a:rPr lang="en-US" b="1" dirty="0">
                <a:solidFill>
                  <a:srgbClr val="A54EF3"/>
                </a:solidFill>
              </a:rPr>
              <a:t>When the outcome is continuous </a:t>
            </a:r>
          </a:p>
        </p:txBody>
      </p:sp>
      <p:sp>
        <p:nvSpPr>
          <p:cNvPr id="4" name="Slide Number Placeholder 3">
            <a:extLst>
              <a:ext uri="{FF2B5EF4-FFF2-40B4-BE49-F238E27FC236}">
                <a16:creationId xmlns:a16="http://schemas.microsoft.com/office/drawing/2014/main" id="{24ADA4C4-4449-DC48-9006-630CF323EABC}"/>
              </a:ext>
            </a:extLst>
          </p:cNvPr>
          <p:cNvSpPr>
            <a:spLocks noGrp="1"/>
          </p:cNvSpPr>
          <p:nvPr>
            <p:ph type="sldNum" sz="quarter" idx="12"/>
          </p:nvPr>
        </p:nvSpPr>
        <p:spPr/>
        <p:txBody>
          <a:bodyPr/>
          <a:lstStyle/>
          <a:p>
            <a:fld id="{A4DA0FD2-D456-4FC5-A587-87644C4EB2D1}" type="slidenum">
              <a:rPr lang="tr-TR" smtClean="0"/>
              <a:pPr/>
              <a:t>33</a:t>
            </a:fld>
            <a:endParaRPr lang="tr-TR"/>
          </a:p>
        </p:txBody>
      </p:sp>
      <p:sp>
        <p:nvSpPr>
          <p:cNvPr id="6" name="TextBox 5">
            <a:extLst>
              <a:ext uri="{FF2B5EF4-FFF2-40B4-BE49-F238E27FC236}">
                <a16:creationId xmlns:a16="http://schemas.microsoft.com/office/drawing/2014/main" id="{B3B7F264-6189-5B05-281A-B9E1181FEE5B}"/>
              </a:ext>
            </a:extLst>
          </p:cNvPr>
          <p:cNvSpPr txBox="1"/>
          <p:nvPr/>
        </p:nvSpPr>
        <p:spPr>
          <a:xfrm>
            <a:off x="2209800" y="3098243"/>
            <a:ext cx="6155266" cy="369332"/>
          </a:xfrm>
          <a:prstGeom prst="rect">
            <a:avLst/>
          </a:prstGeom>
          <a:noFill/>
        </p:spPr>
        <p:txBody>
          <a:bodyPr wrap="square">
            <a:spAutoFit/>
          </a:bodyPr>
          <a:lstStyle/>
          <a:p>
            <a:r>
              <a:rPr lang="en-US" dirty="0"/>
              <a:t>Predicted Outcome:</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E011108-5B9D-915E-7A46-5C11B2EC85BA}"/>
                  </a:ext>
                </a:extLst>
              </p:cNvPr>
              <p:cNvSpPr txBox="1"/>
              <p:nvPr/>
            </p:nvSpPr>
            <p:spPr>
              <a:xfrm>
                <a:off x="2415453" y="4800601"/>
                <a:ext cx="7587343" cy="1200329"/>
              </a:xfrm>
              <a:prstGeom prst="rect">
                <a:avLst/>
              </a:prstGeom>
              <a:noFill/>
            </p:spPr>
            <p:txBody>
              <a:bodyPr wrap="square">
                <a:spAutoFit/>
              </a:bodyPr>
              <a:lstStyle/>
              <a:p>
                <a:pPr marL="285750" indent="-285750">
                  <a:buFont typeface="Arial" panose="020B0604020202020204" pitchFamily="34" charset="0"/>
                  <a:buChar char="•"/>
                </a:pPr>
                <a:r>
                  <a:rPr lang="en-US" i="1" dirty="0">
                    <a:latin typeface="KaTeX_Math"/>
                  </a:rPr>
                  <a:t>f</a:t>
                </a:r>
                <a:r>
                  <a:rPr lang="en-US" dirty="0">
                    <a:latin typeface="Söhne"/>
                  </a:rPr>
                  <a:t> represents the predictive model or function.</a:t>
                </a:r>
              </a:p>
              <a:p>
                <a:pPr marL="285750" indent="-285750">
                  <a:buFont typeface="Arial" panose="020B0604020202020204" pitchFamily="34" charset="0"/>
                  <a:buChar char="•"/>
                </a:pPr>
                <a:r>
                  <a:rPr lang="en-US" dirty="0">
                    <a:latin typeface="KaTeX_Main"/>
                  </a:rPr>
                  <a:t>x</a:t>
                </a:r>
                <a:r>
                  <a:rPr lang="en-US" baseline="-25000" dirty="0">
                    <a:latin typeface="KaTeX_Main"/>
                  </a:rPr>
                  <a:t>1</a:t>
                </a:r>
                <a:r>
                  <a:rPr lang="en-US" dirty="0">
                    <a:latin typeface="KaTeX_Main"/>
                  </a:rPr>
                  <a:t>,x</a:t>
                </a:r>
                <a:r>
                  <a:rPr lang="en-US" baseline="-25000" dirty="0">
                    <a:latin typeface="KaTeX_Main"/>
                  </a:rPr>
                  <a:t>2</a:t>
                </a:r>
                <a:r>
                  <a:rPr lang="en-US" dirty="0">
                    <a:latin typeface="KaTeX_Main"/>
                  </a:rPr>
                  <a:t>,...,</a:t>
                </a:r>
                <a:r>
                  <a:rPr lang="en-US" dirty="0" err="1">
                    <a:latin typeface="KaTeX_Main"/>
                  </a:rPr>
                  <a:t>x</a:t>
                </a:r>
                <a:r>
                  <a:rPr lang="en-US" baseline="-25000" dirty="0" err="1">
                    <a:latin typeface="KaTeX_Main"/>
                  </a:rPr>
                  <a:t>p</a:t>
                </a:r>
                <a:r>
                  <a:rPr lang="en-US" dirty="0">
                    <a:latin typeface="KaTeX_Main"/>
                  </a:rPr>
                  <a:t> </a:t>
                </a:r>
                <a:r>
                  <a:rPr lang="en-US" dirty="0">
                    <a:latin typeface="Söhne"/>
                  </a:rPr>
                  <a:t>are the observable features used in the model to predict the outcome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a:latin typeface="Cambria Math" panose="02040503050406030204" pitchFamily="18" charset="0"/>
                      </a:rPr>
                      <m:t>​</m:t>
                    </m:r>
                  </m:oMath>
                </a14:m>
                <a:r>
                  <a:rPr lang="en-US" dirty="0">
                    <a:latin typeface="Söhne"/>
                  </a:rPr>
                  <a:t>.</a:t>
                </a:r>
              </a:p>
              <a:p>
                <a:pPr algn="l">
                  <a:buFont typeface="Arial" panose="020B0604020202020204" pitchFamily="34" charset="0"/>
                  <a:buChar char="•"/>
                </a:pPr>
                <a:endParaRPr lang="en-US" dirty="0">
                  <a:latin typeface="Söhne"/>
                </a:endParaRPr>
              </a:p>
            </p:txBody>
          </p:sp>
        </mc:Choice>
        <mc:Fallback xmlns="">
          <p:sp>
            <p:nvSpPr>
              <p:cNvPr id="8" name="TextBox 7">
                <a:extLst>
                  <a:ext uri="{FF2B5EF4-FFF2-40B4-BE49-F238E27FC236}">
                    <a16:creationId xmlns:a16="http://schemas.microsoft.com/office/drawing/2014/main" id="{AE011108-5B9D-915E-7A46-5C11B2EC85BA}"/>
                  </a:ext>
                </a:extLst>
              </p:cNvPr>
              <p:cNvSpPr txBox="1">
                <a:spLocks noRot="1" noChangeAspect="1" noMove="1" noResize="1" noEditPoints="1" noAdjustHandles="1" noChangeArrowheads="1" noChangeShapeType="1" noTextEdit="1"/>
              </p:cNvSpPr>
              <p:nvPr/>
            </p:nvSpPr>
            <p:spPr>
              <a:xfrm>
                <a:off x="2415453" y="4800601"/>
                <a:ext cx="7587343" cy="1200329"/>
              </a:xfrm>
              <a:prstGeom prst="rect">
                <a:avLst/>
              </a:prstGeom>
              <a:blipFill>
                <a:blip r:embed="rId3"/>
                <a:stretch>
                  <a:fillRect l="-502" t="-315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804B600-5625-0385-D959-A8C4D68AD054}"/>
                  </a:ext>
                </a:extLst>
              </p:cNvPr>
              <p:cNvSpPr txBox="1"/>
              <p:nvPr/>
            </p:nvSpPr>
            <p:spPr>
              <a:xfrm>
                <a:off x="2443166" y="3603242"/>
                <a:ext cx="4876800" cy="5847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d>
                        <m:dPr>
                          <m:ctrlPr>
                            <a:rPr lang="en-US" sz="3200" i="1">
                              <a:solidFill>
                                <a:srgbClr val="7030A0"/>
                              </a:solidFill>
                              <a:latin typeface="Cambria Math" panose="02040503050406030204" pitchFamily="18" charset="0"/>
                            </a:rPr>
                          </m:ctrlPr>
                        </m:dPr>
                        <m:e>
                          <m:acc>
                            <m:accPr>
                              <m:chr m:val="̂"/>
                              <m:ctrlPr>
                                <a:rPr lang="en-US" sz="3200" i="1">
                                  <a:solidFill>
                                    <a:srgbClr val="7030A0"/>
                                  </a:solidFill>
                                  <a:latin typeface="Cambria Math" panose="02040503050406030204" pitchFamily="18" charset="0"/>
                                </a:rPr>
                              </m:ctrlPr>
                            </m:accPr>
                            <m:e>
                              <m:r>
                                <a:rPr lang="en-US" sz="3200" i="1">
                                  <a:solidFill>
                                    <a:srgbClr val="7030A0"/>
                                  </a:solidFill>
                                  <a:latin typeface="Cambria Math" panose="02040503050406030204" pitchFamily="18" charset="0"/>
                                </a:rPr>
                                <m:t>𝑦</m:t>
                              </m:r>
                            </m:e>
                          </m:acc>
                          <m:r>
                            <a:rPr lang="en-US" sz="3200">
                              <a:solidFill>
                                <a:srgbClr val="7030A0"/>
                              </a:solidFill>
                              <a:latin typeface="Cambria Math" panose="02040503050406030204" pitchFamily="18" charset="0"/>
                            </a:rPr>
                            <m:t>​</m:t>
                          </m:r>
                        </m:e>
                      </m:d>
                      <m:r>
                        <a:rPr lang="en-US" sz="3200">
                          <a:solidFill>
                            <a:srgbClr val="7030A0"/>
                          </a:solidFill>
                          <a:latin typeface="Cambria Math" panose="02040503050406030204" pitchFamily="18" charset="0"/>
                        </a:rPr>
                        <m:t>=</m:t>
                      </m:r>
                      <m:r>
                        <a:rPr lang="en-US" sz="3200" i="1">
                          <a:solidFill>
                            <a:srgbClr val="7030A0"/>
                          </a:solidFill>
                          <a:latin typeface="Cambria Math" panose="02040503050406030204" pitchFamily="18" charset="0"/>
                        </a:rPr>
                        <m:t>𝑓</m:t>
                      </m:r>
                      <m:d>
                        <m:dPr>
                          <m:ctrlPr>
                            <a:rPr lang="en-US" sz="3200" i="1">
                              <a:solidFill>
                                <a:srgbClr val="7030A0"/>
                              </a:solidFill>
                              <a:latin typeface="Cambria Math" panose="02040503050406030204" pitchFamily="18" charset="0"/>
                            </a:rPr>
                          </m:ctrlPr>
                        </m:dPr>
                        <m:e>
                          <m:r>
                            <a:rPr lang="en-US" sz="3200" i="1">
                              <a:solidFill>
                                <a:srgbClr val="7030A0"/>
                              </a:solidFill>
                              <a:latin typeface="Cambria Math" panose="02040503050406030204" pitchFamily="18" charset="0"/>
                            </a:rPr>
                            <m:t>𝑥</m:t>
                          </m:r>
                          <m:r>
                            <a:rPr lang="en-US" sz="3200" baseline="-25000">
                              <a:solidFill>
                                <a:srgbClr val="7030A0"/>
                              </a:solidFill>
                              <a:latin typeface="Cambria Math" panose="02040503050406030204" pitchFamily="18" charset="0"/>
                            </a:rPr>
                            <m:t>1</m:t>
                          </m:r>
                          <m:r>
                            <a:rPr lang="en-US" sz="3200">
                              <a:solidFill>
                                <a:srgbClr val="7030A0"/>
                              </a:solidFill>
                              <a:latin typeface="Cambria Math" panose="02040503050406030204" pitchFamily="18" charset="0"/>
                            </a:rPr>
                            <m:t>​,</m:t>
                          </m:r>
                          <m:r>
                            <a:rPr lang="en-US" sz="3200" i="1">
                              <a:solidFill>
                                <a:srgbClr val="7030A0"/>
                              </a:solidFill>
                              <a:latin typeface="Cambria Math" panose="02040503050406030204" pitchFamily="18" charset="0"/>
                            </a:rPr>
                            <m:t>𝑥</m:t>
                          </m:r>
                          <m:r>
                            <a:rPr lang="en-US" sz="3200" baseline="-25000">
                              <a:solidFill>
                                <a:srgbClr val="7030A0"/>
                              </a:solidFill>
                              <a:latin typeface="Cambria Math" panose="02040503050406030204" pitchFamily="18" charset="0"/>
                            </a:rPr>
                            <m:t>2</m:t>
                          </m:r>
                          <m:r>
                            <a:rPr lang="en-US" sz="3200">
                              <a:solidFill>
                                <a:srgbClr val="7030A0"/>
                              </a:solidFill>
                              <a:latin typeface="Cambria Math" panose="02040503050406030204" pitchFamily="18" charset="0"/>
                            </a:rPr>
                            <m:t>​,…,</m:t>
                          </m:r>
                          <m:r>
                            <a:rPr lang="en-US" sz="3200" i="1">
                              <a:solidFill>
                                <a:srgbClr val="7030A0"/>
                              </a:solidFill>
                              <a:latin typeface="Cambria Math" panose="02040503050406030204" pitchFamily="18" charset="0"/>
                            </a:rPr>
                            <m:t>𝑥</m:t>
                          </m:r>
                          <m:r>
                            <a:rPr lang="en-US" sz="3200" i="1" baseline="-25000">
                              <a:solidFill>
                                <a:srgbClr val="7030A0"/>
                              </a:solidFill>
                              <a:latin typeface="Cambria Math" panose="02040503050406030204" pitchFamily="18" charset="0"/>
                            </a:rPr>
                            <m:t>𝑝</m:t>
                          </m:r>
                          <m:r>
                            <a:rPr lang="en-US" sz="3200">
                              <a:solidFill>
                                <a:srgbClr val="7030A0"/>
                              </a:solidFill>
                              <a:latin typeface="Cambria Math" panose="02040503050406030204" pitchFamily="18" charset="0"/>
                            </a:rPr>
                            <m:t>​</m:t>
                          </m:r>
                        </m:e>
                      </m:d>
                    </m:oMath>
                  </m:oMathPara>
                </a14:m>
                <a:endParaRPr lang="en-US" sz="3200" dirty="0">
                  <a:solidFill>
                    <a:srgbClr val="7030A0"/>
                  </a:solidFill>
                </a:endParaRPr>
              </a:p>
            </p:txBody>
          </p:sp>
        </mc:Choice>
        <mc:Fallback xmlns="">
          <p:sp>
            <p:nvSpPr>
              <p:cNvPr id="11" name="TextBox 10">
                <a:extLst>
                  <a:ext uri="{FF2B5EF4-FFF2-40B4-BE49-F238E27FC236}">
                    <a16:creationId xmlns:a16="http://schemas.microsoft.com/office/drawing/2014/main" id="{6804B600-5625-0385-D959-A8C4D68AD054}"/>
                  </a:ext>
                </a:extLst>
              </p:cNvPr>
              <p:cNvSpPr txBox="1">
                <a:spLocks noRot="1" noChangeAspect="1" noMove="1" noResize="1" noEditPoints="1" noAdjustHandles="1" noChangeArrowheads="1" noChangeShapeType="1" noTextEdit="1"/>
              </p:cNvSpPr>
              <p:nvPr/>
            </p:nvSpPr>
            <p:spPr>
              <a:xfrm>
                <a:off x="2443166" y="3603242"/>
                <a:ext cx="4876800" cy="584775"/>
              </a:xfrm>
              <a:prstGeom prst="rect">
                <a:avLst/>
              </a:prstGeom>
              <a:blipFill>
                <a:blip r:embed="rId4"/>
                <a:stretch>
                  <a:fillRect t="-6383" b="-21277"/>
                </a:stretch>
              </a:blipFill>
            </p:spPr>
            <p:txBody>
              <a:bodyPr/>
              <a:lstStyle/>
              <a:p>
                <a:r>
                  <a:rPr lang="en-US">
                    <a:noFill/>
                  </a:rPr>
                  <a:t> </a:t>
                </a:r>
              </a:p>
            </p:txBody>
          </p:sp>
        </mc:Fallback>
      </mc:AlternateContent>
      <p:sp>
        <p:nvSpPr>
          <p:cNvPr id="15" name="Rectangle 4">
            <a:extLst>
              <a:ext uri="{FF2B5EF4-FFF2-40B4-BE49-F238E27FC236}">
                <a16:creationId xmlns:a16="http://schemas.microsoft.com/office/drawing/2014/main" id="{CF44FABB-E8A1-1680-E711-4B4D3F04FC23}"/>
              </a:ext>
            </a:extLst>
          </p:cNvPr>
          <p:cNvSpPr>
            <a:spLocks noChangeArrowheads="1"/>
          </p:cNvSpPr>
          <p:nvPr/>
        </p:nvSpPr>
        <p:spPr bwMode="auto">
          <a:xfrm>
            <a:off x="1524001"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spcBef>
                <a:spcPct val="0"/>
              </a:spcBef>
              <a:spcAft>
                <a:spcPct val="0"/>
              </a:spcAft>
            </a:pPr>
            <a:endParaRPr lang="en-US" altLang="en-US" dirty="0">
              <a:latin typeface="Arial" panose="020B0604020202020204" pitchFamily="34" charset="0"/>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BAB4DC2-D1F4-CC61-7A24-F3F946028072}"/>
                  </a:ext>
                </a:extLst>
              </p:cNvPr>
              <p:cNvSpPr txBox="1"/>
              <p:nvPr/>
            </p:nvSpPr>
            <p:spPr>
              <a:xfrm>
                <a:off x="2425749" y="5815533"/>
                <a:ext cx="7096750" cy="646331"/>
              </a:xfrm>
              <a:prstGeom prst="rect">
                <a:avLst/>
              </a:prstGeom>
              <a:noFill/>
            </p:spPr>
            <p:txBody>
              <a:bodyPr wrap="square">
                <a:spAutoFit/>
              </a:bodyPr>
              <a:lstStyle/>
              <a:p>
                <a:r>
                  <a:rPr lang="en-US" dirty="0">
                    <a:latin typeface="Söhne"/>
                  </a:rPr>
                  <a:t>This formula signifies that the predicted outcome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a:latin typeface="Cambria Math" panose="02040503050406030204" pitchFamily="18" charset="0"/>
                      </a:rPr>
                      <m:t>​</m:t>
                    </m:r>
                  </m:oMath>
                </a14:m>
                <a:r>
                  <a:rPr lang="en-US" dirty="0">
                    <a:latin typeface="Söhne"/>
                  </a:rPr>
                  <a:t> is generated using a function </a:t>
                </a:r>
                <a:r>
                  <a:rPr lang="en-US" i="1" dirty="0">
                    <a:latin typeface="KaTeX_Math"/>
                  </a:rPr>
                  <a:t>f</a:t>
                </a:r>
                <a:r>
                  <a:rPr lang="en-US" dirty="0">
                    <a:latin typeface="Söhne"/>
                  </a:rPr>
                  <a:t> with the inputs being the observable features </a:t>
                </a:r>
                <a:r>
                  <a:rPr lang="en-US" dirty="0">
                    <a:latin typeface="KaTeX_Main"/>
                  </a:rPr>
                  <a:t>x</a:t>
                </a:r>
                <a:r>
                  <a:rPr lang="en-US" baseline="-25000" dirty="0">
                    <a:latin typeface="KaTeX_Main"/>
                  </a:rPr>
                  <a:t>1</a:t>
                </a:r>
                <a:r>
                  <a:rPr lang="en-US" dirty="0">
                    <a:latin typeface="KaTeX_Main"/>
                  </a:rPr>
                  <a:t>​</a:t>
                </a:r>
                <a:r>
                  <a:rPr lang="en-US" dirty="0">
                    <a:latin typeface="Söhne"/>
                  </a:rPr>
                  <a:t> through </a:t>
                </a:r>
                <a:r>
                  <a:rPr lang="en-US" i="1" dirty="0" err="1">
                    <a:latin typeface="KaTeX_Math"/>
                  </a:rPr>
                  <a:t>x</a:t>
                </a:r>
                <a:r>
                  <a:rPr lang="en-US" i="1" baseline="-25000" dirty="0" err="1">
                    <a:latin typeface="KaTeX_Math"/>
                  </a:rPr>
                  <a:t>p</a:t>
                </a:r>
                <a:r>
                  <a:rPr lang="en-US" dirty="0">
                    <a:latin typeface="KaTeX_Main"/>
                  </a:rPr>
                  <a:t>​</a:t>
                </a:r>
                <a:r>
                  <a:rPr lang="en-US" dirty="0">
                    <a:latin typeface="Söhne"/>
                  </a:rPr>
                  <a:t>.</a:t>
                </a:r>
                <a:endParaRPr lang="en-US" dirty="0"/>
              </a:p>
            </p:txBody>
          </p:sp>
        </mc:Choice>
        <mc:Fallback xmlns="">
          <p:sp>
            <p:nvSpPr>
              <p:cNvPr id="7" name="TextBox 6">
                <a:extLst>
                  <a:ext uri="{FF2B5EF4-FFF2-40B4-BE49-F238E27FC236}">
                    <a16:creationId xmlns:a16="http://schemas.microsoft.com/office/drawing/2014/main" id="{BBAB4DC2-D1F4-CC61-7A24-F3F946028072}"/>
                  </a:ext>
                </a:extLst>
              </p:cNvPr>
              <p:cNvSpPr txBox="1">
                <a:spLocks noRot="1" noChangeAspect="1" noMove="1" noResize="1" noEditPoints="1" noAdjustHandles="1" noChangeArrowheads="1" noChangeShapeType="1" noTextEdit="1"/>
              </p:cNvSpPr>
              <p:nvPr/>
            </p:nvSpPr>
            <p:spPr>
              <a:xfrm>
                <a:off x="2425749" y="5815533"/>
                <a:ext cx="7096750" cy="646331"/>
              </a:xfrm>
              <a:prstGeom prst="rect">
                <a:avLst/>
              </a:prstGeom>
              <a:blipFill>
                <a:blip r:embed="rId5"/>
                <a:stretch>
                  <a:fillRect l="-716" t="-1923" b="-15385"/>
                </a:stretch>
              </a:blipFill>
            </p:spPr>
            <p:txBody>
              <a:bodyPr/>
              <a:lstStyle/>
              <a:p>
                <a:r>
                  <a:rPr lang="en-US">
                    <a:noFill/>
                  </a:rPr>
                  <a:t> </a:t>
                </a:r>
              </a:p>
            </p:txBody>
          </p:sp>
        </mc:Fallback>
      </mc:AlternateContent>
    </p:spTree>
    <p:extLst>
      <p:ext uri="{BB962C8B-B14F-4D97-AF65-F5344CB8AC3E}">
        <p14:creationId xmlns:p14="http://schemas.microsoft.com/office/powerpoint/2010/main" val="36093904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6515F-6096-5749-384E-A8CE5BA9A39C}"/>
              </a:ext>
            </a:extLst>
          </p:cNvPr>
          <p:cNvSpPr>
            <a:spLocks noGrp="1"/>
          </p:cNvSpPr>
          <p:nvPr>
            <p:ph type="title"/>
          </p:nvPr>
        </p:nvSpPr>
        <p:spPr/>
        <p:txBody>
          <a:bodyPr/>
          <a:lstStyle/>
          <a:p>
            <a:r>
              <a:rPr lang="en-US" dirty="0"/>
              <a:t>Feature Selection</a:t>
            </a:r>
          </a:p>
        </p:txBody>
      </p:sp>
      <p:sp>
        <p:nvSpPr>
          <p:cNvPr id="3" name="Content Placeholder 2">
            <a:extLst>
              <a:ext uri="{FF2B5EF4-FFF2-40B4-BE49-F238E27FC236}">
                <a16:creationId xmlns:a16="http://schemas.microsoft.com/office/drawing/2014/main" id="{58401985-0E0F-AB8C-7697-C05B5ED9F2A6}"/>
              </a:ext>
            </a:extLst>
          </p:cNvPr>
          <p:cNvSpPr>
            <a:spLocks noGrp="1"/>
          </p:cNvSpPr>
          <p:nvPr>
            <p:ph idx="1"/>
          </p:nvPr>
        </p:nvSpPr>
        <p:spPr/>
        <p:txBody>
          <a:bodyPr/>
          <a:lstStyle/>
          <a:p>
            <a:r>
              <a:rPr lang="en-US" dirty="0"/>
              <a:t>Feature selection is a process to choose the most relevant variables (also known as features or predictors) for use in model construction. </a:t>
            </a:r>
          </a:p>
        </p:txBody>
      </p:sp>
      <p:sp>
        <p:nvSpPr>
          <p:cNvPr id="4" name="Slide Number Placeholder 3">
            <a:extLst>
              <a:ext uri="{FF2B5EF4-FFF2-40B4-BE49-F238E27FC236}">
                <a16:creationId xmlns:a16="http://schemas.microsoft.com/office/drawing/2014/main" id="{25396273-45D6-2F20-5793-4FBA657F845F}"/>
              </a:ext>
            </a:extLst>
          </p:cNvPr>
          <p:cNvSpPr>
            <a:spLocks noGrp="1"/>
          </p:cNvSpPr>
          <p:nvPr>
            <p:ph type="sldNum" sz="quarter" idx="12"/>
          </p:nvPr>
        </p:nvSpPr>
        <p:spPr/>
        <p:txBody>
          <a:bodyPr/>
          <a:lstStyle/>
          <a:p>
            <a:fld id="{A4DA0FD2-D456-4FC5-A587-87644C4EB2D1}" type="slidenum">
              <a:rPr lang="tr-TR" smtClean="0"/>
              <a:pPr/>
              <a:t>34</a:t>
            </a:fld>
            <a:endParaRPr lang="tr-TR"/>
          </a:p>
        </p:txBody>
      </p:sp>
    </p:spTree>
    <p:extLst>
      <p:ext uri="{BB962C8B-B14F-4D97-AF65-F5344CB8AC3E}">
        <p14:creationId xmlns:p14="http://schemas.microsoft.com/office/powerpoint/2010/main" val="30714059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6922D-E695-598D-A569-F0248DB930BE}"/>
              </a:ext>
            </a:extLst>
          </p:cNvPr>
          <p:cNvSpPr>
            <a:spLocks noGrp="1"/>
          </p:cNvSpPr>
          <p:nvPr>
            <p:ph type="title"/>
          </p:nvPr>
        </p:nvSpPr>
        <p:spPr/>
        <p:txBody>
          <a:bodyPr>
            <a:normAutofit/>
          </a:bodyPr>
          <a:lstStyle/>
          <a:p>
            <a:r>
              <a:rPr lang="en-US" dirty="0"/>
              <a:t>The main objectives of feature selection:</a:t>
            </a:r>
          </a:p>
        </p:txBody>
      </p:sp>
      <p:sp>
        <p:nvSpPr>
          <p:cNvPr id="3" name="Content Placeholder 2">
            <a:extLst>
              <a:ext uri="{FF2B5EF4-FFF2-40B4-BE49-F238E27FC236}">
                <a16:creationId xmlns:a16="http://schemas.microsoft.com/office/drawing/2014/main" id="{3B583062-906F-EA2C-7E0C-EC498E5AB523}"/>
              </a:ext>
            </a:extLst>
          </p:cNvPr>
          <p:cNvSpPr>
            <a:spLocks noGrp="1"/>
          </p:cNvSpPr>
          <p:nvPr>
            <p:ph idx="1"/>
          </p:nvPr>
        </p:nvSpPr>
        <p:spPr/>
        <p:txBody>
          <a:bodyPr>
            <a:normAutofit/>
          </a:bodyPr>
          <a:lstStyle/>
          <a:p>
            <a:r>
              <a:rPr lang="en-US" b="1" dirty="0"/>
              <a:t>Improving Model Performance: </a:t>
            </a:r>
            <a:r>
              <a:rPr lang="en-US" dirty="0"/>
              <a:t>By eliminating irrelevant or redundant data, the model can often make more accurate predictions.</a:t>
            </a:r>
          </a:p>
          <a:p>
            <a:r>
              <a:rPr lang="en-US" b="1" dirty="0"/>
              <a:t>Reducing Overfitting: </a:t>
            </a:r>
            <a:r>
              <a:rPr lang="en-US" dirty="0"/>
              <a:t>Fewer data points can mean less chance of making decisions based on noise.</a:t>
            </a:r>
          </a:p>
          <a:p>
            <a:r>
              <a:rPr lang="en-US" b="1" dirty="0"/>
              <a:t>Enhancing Comprehensibility: </a:t>
            </a:r>
            <a:r>
              <a:rPr lang="en-US" dirty="0"/>
              <a:t>Models with fewer variables are often easier to understand.</a:t>
            </a:r>
          </a:p>
          <a:p>
            <a:r>
              <a:rPr lang="en-US" b="1" dirty="0"/>
              <a:t>Decreasing Training Time: </a:t>
            </a:r>
            <a:r>
              <a:rPr lang="en-US" dirty="0"/>
              <a:t>Fewer data points can lead to faster model training.</a:t>
            </a:r>
          </a:p>
        </p:txBody>
      </p:sp>
      <p:sp>
        <p:nvSpPr>
          <p:cNvPr id="4" name="Slide Number Placeholder 3">
            <a:extLst>
              <a:ext uri="{FF2B5EF4-FFF2-40B4-BE49-F238E27FC236}">
                <a16:creationId xmlns:a16="http://schemas.microsoft.com/office/drawing/2014/main" id="{12CC0DB5-73CC-E1C2-5957-F7A200E94810}"/>
              </a:ext>
            </a:extLst>
          </p:cNvPr>
          <p:cNvSpPr>
            <a:spLocks noGrp="1"/>
          </p:cNvSpPr>
          <p:nvPr>
            <p:ph type="sldNum" sz="quarter" idx="12"/>
          </p:nvPr>
        </p:nvSpPr>
        <p:spPr/>
        <p:txBody>
          <a:bodyPr/>
          <a:lstStyle/>
          <a:p>
            <a:fld id="{A4DA0FD2-D456-4FC5-A587-87644C4EB2D1}" type="slidenum">
              <a:rPr lang="tr-TR" smtClean="0"/>
              <a:pPr/>
              <a:t>35</a:t>
            </a:fld>
            <a:endParaRPr lang="tr-TR"/>
          </a:p>
        </p:txBody>
      </p:sp>
    </p:spTree>
    <p:extLst>
      <p:ext uri="{BB962C8B-B14F-4D97-AF65-F5344CB8AC3E}">
        <p14:creationId xmlns:p14="http://schemas.microsoft.com/office/powerpoint/2010/main" val="106194451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92997-A561-EBF7-CB7F-EEBA06234650}"/>
              </a:ext>
            </a:extLst>
          </p:cNvPr>
          <p:cNvSpPr>
            <a:spLocks noGrp="1"/>
          </p:cNvSpPr>
          <p:nvPr>
            <p:ph type="title"/>
          </p:nvPr>
        </p:nvSpPr>
        <p:spPr/>
        <p:txBody>
          <a:bodyPr/>
          <a:lstStyle/>
          <a:p>
            <a:r>
              <a:rPr lang="en-US" dirty="0"/>
              <a:t>Understanding VIF in Feature Selection</a:t>
            </a:r>
          </a:p>
        </p:txBody>
      </p:sp>
      <p:sp>
        <p:nvSpPr>
          <p:cNvPr id="3" name="Content Placeholder 2">
            <a:extLst>
              <a:ext uri="{FF2B5EF4-FFF2-40B4-BE49-F238E27FC236}">
                <a16:creationId xmlns:a16="http://schemas.microsoft.com/office/drawing/2014/main" id="{15EFD7F5-A4AD-FEBC-32E2-AE315F92E34F}"/>
              </a:ext>
            </a:extLst>
          </p:cNvPr>
          <p:cNvSpPr>
            <a:spLocks noGrp="1"/>
          </p:cNvSpPr>
          <p:nvPr>
            <p:ph idx="1"/>
          </p:nvPr>
        </p:nvSpPr>
        <p:spPr/>
        <p:txBody>
          <a:bodyPr>
            <a:normAutofit/>
          </a:bodyPr>
          <a:lstStyle/>
          <a:p>
            <a:r>
              <a:rPr lang="en-US" b="1" dirty="0"/>
              <a:t>VIF Explained: </a:t>
            </a:r>
            <a:r>
              <a:rPr lang="en-US" dirty="0"/>
              <a:t>Variance Inflation Factor (VIF) measures how much the variance of an estimated regression coefficient increases if your predictors are correlated.</a:t>
            </a:r>
          </a:p>
          <a:p>
            <a:r>
              <a:rPr lang="en-US" dirty="0"/>
              <a:t>VIF Thresholds:</a:t>
            </a:r>
          </a:p>
          <a:p>
            <a:pPr lvl="1">
              <a:buFont typeface="Courier New" panose="02070309020205020404" pitchFamily="49" charset="0"/>
              <a:buChar char="o"/>
            </a:pPr>
            <a:r>
              <a:rPr lang="en-US" b="1" dirty="0">
                <a:solidFill>
                  <a:srgbClr val="7030A0"/>
                </a:solidFill>
              </a:rPr>
              <a:t>VIF = 1: </a:t>
            </a:r>
            <a:r>
              <a:rPr lang="en-US" dirty="0"/>
              <a:t>Implies no correlation between this variable and others.</a:t>
            </a:r>
          </a:p>
          <a:p>
            <a:pPr lvl="1">
              <a:buFont typeface="Courier New" panose="02070309020205020404" pitchFamily="49" charset="0"/>
              <a:buChar char="o"/>
            </a:pPr>
            <a:r>
              <a:rPr lang="en-US" b="1" dirty="0">
                <a:solidFill>
                  <a:srgbClr val="7030A0"/>
                </a:solidFill>
              </a:rPr>
              <a:t>1 &lt; VIF &lt; 5: </a:t>
            </a:r>
            <a:r>
              <a:rPr lang="en-US" dirty="0"/>
              <a:t>Indicates moderate correlation; the variable can typically remain in the model.</a:t>
            </a:r>
          </a:p>
          <a:p>
            <a:pPr lvl="1">
              <a:buFont typeface="Courier New" panose="02070309020205020404" pitchFamily="49" charset="0"/>
              <a:buChar char="o"/>
            </a:pPr>
            <a:r>
              <a:rPr lang="en-US" b="1" dirty="0">
                <a:solidFill>
                  <a:srgbClr val="7030A0"/>
                </a:solidFill>
              </a:rPr>
              <a:t>VIF &gt;= 5: </a:t>
            </a:r>
            <a:r>
              <a:rPr lang="en-US" dirty="0"/>
              <a:t>Suggests high correlation; consider removing the variable to reduce multicollinearity.</a:t>
            </a:r>
          </a:p>
          <a:p>
            <a:pPr lvl="1">
              <a:buFont typeface="Courier New" panose="02070309020205020404" pitchFamily="49" charset="0"/>
              <a:buChar char="o"/>
            </a:pPr>
            <a:r>
              <a:rPr lang="en-US" b="1" dirty="0">
                <a:solidFill>
                  <a:srgbClr val="7030A0"/>
                </a:solidFill>
              </a:rPr>
              <a:t>VIF &gt;= 10: </a:t>
            </a:r>
            <a:r>
              <a:rPr lang="en-US" dirty="0"/>
              <a:t>Strong multicollinearity; warrants closer investigation.</a:t>
            </a:r>
          </a:p>
        </p:txBody>
      </p:sp>
      <p:sp>
        <p:nvSpPr>
          <p:cNvPr id="4" name="Slide Number Placeholder 3">
            <a:extLst>
              <a:ext uri="{FF2B5EF4-FFF2-40B4-BE49-F238E27FC236}">
                <a16:creationId xmlns:a16="http://schemas.microsoft.com/office/drawing/2014/main" id="{11D78652-D7AA-B2AE-85B7-4431B96FFA9C}"/>
              </a:ext>
            </a:extLst>
          </p:cNvPr>
          <p:cNvSpPr>
            <a:spLocks noGrp="1"/>
          </p:cNvSpPr>
          <p:nvPr>
            <p:ph type="sldNum" sz="quarter" idx="12"/>
          </p:nvPr>
        </p:nvSpPr>
        <p:spPr/>
        <p:txBody>
          <a:bodyPr/>
          <a:lstStyle/>
          <a:p>
            <a:fld id="{A4DA0FD2-D456-4FC5-A587-87644C4EB2D1}" type="slidenum">
              <a:rPr lang="tr-TR" smtClean="0"/>
              <a:pPr/>
              <a:t>36</a:t>
            </a:fld>
            <a:endParaRPr lang="tr-TR"/>
          </a:p>
        </p:txBody>
      </p:sp>
    </p:spTree>
    <p:extLst>
      <p:ext uri="{BB962C8B-B14F-4D97-AF65-F5344CB8AC3E}">
        <p14:creationId xmlns:p14="http://schemas.microsoft.com/office/powerpoint/2010/main" val="10572750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F391A-E035-F043-2D31-605D0DF16B3F}"/>
              </a:ext>
            </a:extLst>
          </p:cNvPr>
          <p:cNvSpPr>
            <a:spLocks noGrp="1"/>
          </p:cNvSpPr>
          <p:nvPr>
            <p:ph type="title"/>
          </p:nvPr>
        </p:nvSpPr>
        <p:spPr/>
        <p:txBody>
          <a:bodyPr/>
          <a:lstStyle/>
          <a:p>
            <a:r>
              <a:rPr lang="en-US" dirty="0"/>
              <a:t>Understanding VIF in Feature Selection Con.</a:t>
            </a:r>
          </a:p>
        </p:txBody>
      </p:sp>
      <p:sp>
        <p:nvSpPr>
          <p:cNvPr id="3" name="Content Placeholder 2">
            <a:extLst>
              <a:ext uri="{FF2B5EF4-FFF2-40B4-BE49-F238E27FC236}">
                <a16:creationId xmlns:a16="http://schemas.microsoft.com/office/drawing/2014/main" id="{FE9F4F27-DC23-B094-6DF6-66BDA696F6E6}"/>
              </a:ext>
            </a:extLst>
          </p:cNvPr>
          <p:cNvSpPr>
            <a:spLocks noGrp="1"/>
          </p:cNvSpPr>
          <p:nvPr>
            <p:ph idx="1"/>
          </p:nvPr>
        </p:nvSpPr>
        <p:spPr/>
        <p:txBody>
          <a:bodyPr>
            <a:normAutofit/>
          </a:bodyPr>
          <a:lstStyle/>
          <a:p>
            <a:r>
              <a:rPr lang="en-US" b="1" dirty="0"/>
              <a:t>Contextual Decision-Making:</a:t>
            </a:r>
          </a:p>
          <a:p>
            <a:pPr lvl="1">
              <a:buFont typeface="Courier New" panose="02070309020205020404" pitchFamily="49" charset="0"/>
              <a:buChar char="o"/>
            </a:pPr>
            <a:r>
              <a:rPr lang="en-US" dirty="0"/>
              <a:t>VIF values are guidelines, not strict rules.</a:t>
            </a:r>
          </a:p>
          <a:p>
            <a:pPr lvl="1">
              <a:buFont typeface="Courier New" panose="02070309020205020404" pitchFamily="49" charset="0"/>
              <a:buChar char="o"/>
            </a:pPr>
            <a:r>
              <a:rPr lang="en-US" dirty="0"/>
              <a:t>Retain variables with VIF 5-10 if they are theoretically important or key to model accuracy.</a:t>
            </a:r>
          </a:p>
          <a:p>
            <a:pPr lvl="1">
              <a:buFont typeface="Courier New" panose="02070309020205020404" pitchFamily="49" charset="0"/>
              <a:buChar char="o"/>
            </a:pPr>
            <a:r>
              <a:rPr lang="en-US" dirty="0"/>
              <a:t>For sensitive analyses, even a VIF just over 1 could merit scrutiny.</a:t>
            </a:r>
          </a:p>
          <a:p>
            <a:r>
              <a:rPr lang="en-US" b="1" dirty="0"/>
              <a:t>Actionable Insights:</a:t>
            </a:r>
          </a:p>
          <a:p>
            <a:pPr lvl="1">
              <a:buFont typeface="Courier New" panose="02070309020205020404" pitchFamily="49" charset="0"/>
              <a:buChar char="o"/>
            </a:pPr>
            <a:r>
              <a:rPr lang="en-US" dirty="0"/>
              <a:t>Use VIF to identify and address potential issues affecting regression coefficients.</a:t>
            </a:r>
          </a:p>
          <a:p>
            <a:pPr lvl="1">
              <a:buFont typeface="Courier New" panose="02070309020205020404" pitchFamily="49" charset="0"/>
              <a:buChar char="o"/>
            </a:pPr>
            <a:r>
              <a:rPr lang="en-US" dirty="0"/>
              <a:t>Combine VIF analysis with domain expertise and additional diagnostics for informed decision-making.</a:t>
            </a:r>
          </a:p>
        </p:txBody>
      </p:sp>
      <p:sp>
        <p:nvSpPr>
          <p:cNvPr id="4" name="Slide Number Placeholder 3">
            <a:extLst>
              <a:ext uri="{FF2B5EF4-FFF2-40B4-BE49-F238E27FC236}">
                <a16:creationId xmlns:a16="http://schemas.microsoft.com/office/drawing/2014/main" id="{BD7CDDC3-C991-9728-DD1D-3DDF60F457BB}"/>
              </a:ext>
            </a:extLst>
          </p:cNvPr>
          <p:cNvSpPr>
            <a:spLocks noGrp="1"/>
          </p:cNvSpPr>
          <p:nvPr>
            <p:ph type="sldNum" sz="quarter" idx="12"/>
          </p:nvPr>
        </p:nvSpPr>
        <p:spPr/>
        <p:txBody>
          <a:bodyPr/>
          <a:lstStyle/>
          <a:p>
            <a:fld id="{A4DA0FD2-D456-4FC5-A587-87644C4EB2D1}" type="slidenum">
              <a:rPr lang="tr-TR" smtClean="0"/>
              <a:pPr/>
              <a:t>37</a:t>
            </a:fld>
            <a:endParaRPr lang="tr-TR"/>
          </a:p>
        </p:txBody>
      </p:sp>
    </p:spTree>
    <p:extLst>
      <p:ext uri="{BB962C8B-B14F-4D97-AF65-F5344CB8AC3E}">
        <p14:creationId xmlns:p14="http://schemas.microsoft.com/office/powerpoint/2010/main" val="42920587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65FB18-7AB0-A335-7500-AFAB2F9C53D1}"/>
              </a:ext>
            </a:extLst>
          </p:cNvPr>
          <p:cNvSpPr>
            <a:spLocks noGrp="1"/>
          </p:cNvSpPr>
          <p:nvPr>
            <p:ph type="title"/>
          </p:nvPr>
        </p:nvSpPr>
        <p:spPr/>
        <p:txBody>
          <a:bodyPr>
            <a:normAutofit/>
          </a:bodyPr>
          <a:lstStyle/>
          <a:p>
            <a:r>
              <a:rPr lang="en-US" dirty="0"/>
              <a:t>Challenges of Multicollinearity in Datasets</a:t>
            </a:r>
          </a:p>
        </p:txBody>
      </p:sp>
      <p:sp>
        <p:nvSpPr>
          <p:cNvPr id="3" name="Content Placeholder 2">
            <a:extLst>
              <a:ext uri="{FF2B5EF4-FFF2-40B4-BE49-F238E27FC236}">
                <a16:creationId xmlns:a16="http://schemas.microsoft.com/office/drawing/2014/main" id="{41B6C756-F88C-5261-D6EF-B76BC485481E}"/>
              </a:ext>
            </a:extLst>
          </p:cNvPr>
          <p:cNvSpPr>
            <a:spLocks noGrp="1"/>
          </p:cNvSpPr>
          <p:nvPr>
            <p:ph idx="1"/>
          </p:nvPr>
        </p:nvSpPr>
        <p:spPr/>
        <p:txBody>
          <a:bodyPr>
            <a:normAutofit/>
          </a:bodyPr>
          <a:lstStyle/>
          <a:p>
            <a:r>
              <a:rPr lang="en-US" b="1" dirty="0"/>
              <a:t>Multicollinearity Issues: </a:t>
            </a:r>
            <a:r>
              <a:rPr lang="en-US" sz="1600" dirty="0"/>
              <a:t>Redundant information among variables complicates isolating individual effects on the response variable.</a:t>
            </a:r>
          </a:p>
          <a:p>
            <a:r>
              <a:rPr lang="en-US" b="1" dirty="0"/>
              <a:t>Inflated Standard Errors: </a:t>
            </a:r>
            <a:r>
              <a:rPr lang="en-US" sz="1600" dirty="0"/>
              <a:t>High correlation leads to less precision in coefficient estimates, widening confidence intervals.</a:t>
            </a:r>
          </a:p>
          <a:p>
            <a:r>
              <a:rPr lang="en-US" b="1" dirty="0"/>
              <a:t>Unstable Coefficients: </a:t>
            </a:r>
            <a:r>
              <a:rPr lang="en-US" sz="1600" dirty="0"/>
              <a:t>Small data changes can result in large shifts in coefficient values, reducing model reliability.</a:t>
            </a:r>
          </a:p>
          <a:p>
            <a:r>
              <a:rPr lang="en-US" b="1" dirty="0"/>
              <a:t>Difficulty in Model Interpretation: </a:t>
            </a:r>
            <a:r>
              <a:rPr lang="en-US" sz="1600" dirty="0"/>
              <a:t>Correlated variables obscure the understanding of variable impacts and relationships.</a:t>
            </a:r>
          </a:p>
          <a:p>
            <a:r>
              <a:rPr lang="en-US" b="1" dirty="0"/>
              <a:t>Model Overfitting: </a:t>
            </a:r>
            <a:r>
              <a:rPr lang="en-US" sz="1600" dirty="0"/>
              <a:t>The model may perform well on training data but poorly on new, unseen data due to excessive complexity.</a:t>
            </a:r>
          </a:p>
        </p:txBody>
      </p:sp>
      <p:sp>
        <p:nvSpPr>
          <p:cNvPr id="4" name="Slide Number Placeholder 3">
            <a:extLst>
              <a:ext uri="{FF2B5EF4-FFF2-40B4-BE49-F238E27FC236}">
                <a16:creationId xmlns:a16="http://schemas.microsoft.com/office/drawing/2014/main" id="{1F5EC763-F5DD-2C6D-7E17-555C327C5A8B}"/>
              </a:ext>
            </a:extLst>
          </p:cNvPr>
          <p:cNvSpPr>
            <a:spLocks noGrp="1"/>
          </p:cNvSpPr>
          <p:nvPr>
            <p:ph type="sldNum" sz="quarter" idx="12"/>
          </p:nvPr>
        </p:nvSpPr>
        <p:spPr/>
        <p:txBody>
          <a:bodyPr/>
          <a:lstStyle/>
          <a:p>
            <a:fld id="{A4DA0FD2-D456-4FC5-A587-87644C4EB2D1}" type="slidenum">
              <a:rPr lang="tr-TR" smtClean="0"/>
              <a:pPr/>
              <a:t>38</a:t>
            </a:fld>
            <a:endParaRPr lang="tr-TR"/>
          </a:p>
        </p:txBody>
      </p:sp>
    </p:spTree>
    <p:extLst>
      <p:ext uri="{BB962C8B-B14F-4D97-AF65-F5344CB8AC3E}">
        <p14:creationId xmlns:p14="http://schemas.microsoft.com/office/powerpoint/2010/main" val="18550019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68C504-2E84-0793-E70D-E63E413612F8}"/>
              </a:ext>
            </a:extLst>
          </p:cNvPr>
          <p:cNvSpPr>
            <a:spLocks noGrp="1"/>
          </p:cNvSpPr>
          <p:nvPr>
            <p:ph type="title"/>
          </p:nvPr>
        </p:nvSpPr>
        <p:spPr/>
        <p:txBody>
          <a:bodyPr/>
          <a:lstStyle/>
          <a:p>
            <a:r>
              <a:rPr lang="en-US" dirty="0"/>
              <a:t>Note: Prediction Terminology</a:t>
            </a:r>
          </a:p>
        </p:txBody>
      </p:sp>
      <p:sp>
        <p:nvSpPr>
          <p:cNvPr id="3" name="Content Placeholder 2">
            <a:extLst>
              <a:ext uri="{FF2B5EF4-FFF2-40B4-BE49-F238E27FC236}">
                <a16:creationId xmlns:a16="http://schemas.microsoft.com/office/drawing/2014/main" id="{3950F270-98FA-0267-42CA-43231E5BF4CE}"/>
              </a:ext>
            </a:extLst>
          </p:cNvPr>
          <p:cNvSpPr>
            <a:spLocks noGrp="1"/>
          </p:cNvSpPr>
          <p:nvPr>
            <p:ph idx="1"/>
          </p:nvPr>
        </p:nvSpPr>
        <p:spPr/>
        <p:txBody>
          <a:bodyPr/>
          <a:lstStyle/>
          <a:p>
            <a:r>
              <a:rPr lang="en-US" dirty="0"/>
              <a:t>Varied terms: "Prediction" often used for both categorical and continuous outcomes.</a:t>
            </a:r>
          </a:p>
          <a:p>
            <a:r>
              <a:rPr lang="en-US" dirty="0"/>
              <a:t>While 'regression' might refer specifically to the continuous case. </a:t>
            </a:r>
          </a:p>
          <a:p>
            <a:pPr lvl="1">
              <a:buFont typeface="Courier New" panose="02070309020205020404" pitchFamily="49" charset="0"/>
              <a:buChar char="o"/>
            </a:pPr>
            <a:r>
              <a:rPr lang="en-US" dirty="0"/>
              <a:t>Avoid confusion with linear regression terms.</a:t>
            </a:r>
          </a:p>
        </p:txBody>
      </p:sp>
      <p:sp>
        <p:nvSpPr>
          <p:cNvPr id="4" name="Slide Number Placeholder 3">
            <a:extLst>
              <a:ext uri="{FF2B5EF4-FFF2-40B4-BE49-F238E27FC236}">
                <a16:creationId xmlns:a16="http://schemas.microsoft.com/office/drawing/2014/main" id="{B557CD49-AB4D-FABC-DAE8-D28521215AC7}"/>
              </a:ext>
            </a:extLst>
          </p:cNvPr>
          <p:cNvSpPr>
            <a:spLocks noGrp="1"/>
          </p:cNvSpPr>
          <p:nvPr>
            <p:ph type="sldNum" sz="quarter" idx="12"/>
          </p:nvPr>
        </p:nvSpPr>
        <p:spPr/>
        <p:txBody>
          <a:bodyPr/>
          <a:lstStyle/>
          <a:p>
            <a:fld id="{A4DA0FD2-D456-4FC5-A587-87644C4EB2D1}" type="slidenum">
              <a:rPr lang="tr-TR" smtClean="0"/>
              <a:pPr/>
              <a:t>39</a:t>
            </a:fld>
            <a:endParaRPr lang="tr-TR"/>
          </a:p>
        </p:txBody>
      </p:sp>
    </p:spTree>
    <p:extLst>
      <p:ext uri="{BB962C8B-B14F-4D97-AF65-F5344CB8AC3E}">
        <p14:creationId xmlns:p14="http://schemas.microsoft.com/office/powerpoint/2010/main" val="742746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FB948-BCEA-3A85-7E00-670F9581653F}"/>
            </a:ext>
          </a:extLst>
        </p:cNvPr>
        <p:cNvGrpSpPr/>
        <p:nvPr/>
      </p:nvGrpSpPr>
      <p:grpSpPr>
        <a:xfrm>
          <a:off x="0" y="0"/>
          <a:ext cx="0" cy="0"/>
          <a:chOff x="0" y="0"/>
          <a:chExt cx="0" cy="0"/>
        </a:xfrm>
      </p:grpSpPr>
      <p:sp>
        <p:nvSpPr>
          <p:cNvPr id="72708" name="Rectangle 4">
            <a:extLst>
              <a:ext uri="{FF2B5EF4-FFF2-40B4-BE49-F238E27FC236}">
                <a16:creationId xmlns:a16="http://schemas.microsoft.com/office/drawing/2014/main" id="{C513E61B-DE0E-5E59-5C2B-208CCD94354C}"/>
              </a:ext>
            </a:extLst>
          </p:cNvPr>
          <p:cNvSpPr>
            <a:spLocks noGrp="1" noChangeArrowheads="1"/>
          </p:cNvSpPr>
          <p:nvPr>
            <p:ph type="ctrTitle"/>
          </p:nvPr>
        </p:nvSpPr>
        <p:spPr/>
        <p:txBody>
          <a:bodyPr/>
          <a:lstStyle/>
          <a:p>
            <a:br>
              <a:rPr lang="tr-TR" dirty="0"/>
            </a:br>
            <a:r>
              <a:rPr lang="en-US" dirty="0"/>
              <a:t>Regression</a:t>
            </a:r>
          </a:p>
        </p:txBody>
      </p:sp>
    </p:spTree>
    <p:extLst>
      <p:ext uri="{BB962C8B-B14F-4D97-AF65-F5344CB8AC3E}">
        <p14:creationId xmlns:p14="http://schemas.microsoft.com/office/powerpoint/2010/main" val="22324766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118" name="Picture 6"/>
          <p:cNvPicPr>
            <a:picLocks noGrp="1" noChangeAspect="1" noChangeArrowheads="1"/>
          </p:cNvPicPr>
          <p:nvPr>
            <p:ph sz="half" idx="2"/>
          </p:nvPr>
        </p:nvPicPr>
        <p:blipFill>
          <a:blip r:embed="rId3" cstate="print"/>
          <a:srcRect/>
          <a:stretch>
            <a:fillRect/>
          </a:stretch>
        </p:blipFill>
        <p:spPr>
          <a:xfrm>
            <a:off x="5877861" y="1628800"/>
            <a:ext cx="4404699" cy="4238600"/>
          </a:xfrm>
        </p:spPr>
      </p:pic>
      <p:sp>
        <p:nvSpPr>
          <p:cNvPr id="90116" name="Rectangle 4"/>
          <p:cNvSpPr>
            <a:spLocks noGrp="1" noChangeArrowheads="1"/>
          </p:cNvSpPr>
          <p:nvPr>
            <p:ph type="title"/>
          </p:nvPr>
        </p:nvSpPr>
        <p:spPr>
          <a:xfrm>
            <a:off x="1981200" y="457200"/>
            <a:ext cx="8229600" cy="667544"/>
          </a:xfrm>
        </p:spPr>
        <p:txBody>
          <a:bodyPr>
            <a:normAutofit/>
          </a:bodyPr>
          <a:lstStyle/>
          <a:p>
            <a:r>
              <a:rPr lang="en-US" dirty="0"/>
              <a:t>Regression</a:t>
            </a:r>
          </a:p>
        </p:txBody>
      </p:sp>
      <mc:AlternateContent xmlns:mc="http://schemas.openxmlformats.org/markup-compatibility/2006" xmlns:a14="http://schemas.microsoft.com/office/drawing/2010/main">
        <mc:Choice Requires="a14">
          <p:sp>
            <p:nvSpPr>
              <p:cNvPr id="90117" name="Rectangle 5"/>
              <p:cNvSpPr>
                <a:spLocks noGrp="1" noChangeArrowheads="1"/>
              </p:cNvSpPr>
              <p:nvPr>
                <p:ph type="body" sz="half" idx="1"/>
              </p:nvPr>
            </p:nvSpPr>
            <p:spPr/>
            <p:txBody>
              <a:bodyPr>
                <a:normAutofit/>
              </a:bodyPr>
              <a:lstStyle/>
              <a:p>
                <a:r>
                  <a:rPr lang="en-US" dirty="0"/>
                  <a:t>A statistical technique that models the relationship between a dependent variable and independent variable(s) to </a:t>
                </a:r>
                <a:r>
                  <a:rPr lang="en-US" b="1" i="1" dirty="0">
                    <a:solidFill>
                      <a:srgbClr val="7030A0"/>
                    </a:solidFill>
                  </a:rPr>
                  <a:t>predict continuous numerical outcomes</a:t>
                </a:r>
                <a:r>
                  <a:rPr lang="en-US" dirty="0"/>
                  <a:t>. </a:t>
                </a:r>
              </a:p>
              <a:p>
                <a:r>
                  <a:rPr lang="en-US" dirty="0"/>
                  <a:t>Example: Price of a used car</a:t>
                </a:r>
              </a:p>
              <a:p>
                <a:r>
                  <a:rPr lang="en-US" i="1" dirty="0"/>
                  <a:t>x </a:t>
                </a:r>
                <a:r>
                  <a:rPr lang="en-US" dirty="0"/>
                  <a:t>: car attributes</a:t>
                </a:r>
              </a:p>
              <a:p>
                <a:pPr>
                  <a:buFont typeface="Wingdings" pitchFamily="2" charset="2"/>
                  <a:buNone/>
                </a:pPr>
                <a:r>
                  <a:rPr lang="en-US" dirty="0"/>
                  <a:t>	</a:t>
                </a:r>
                <a:r>
                  <a:rPr lang="en-US" i="1" dirty="0"/>
                  <a:t>y </a:t>
                </a:r>
                <a:r>
                  <a:rPr lang="en-US" dirty="0"/>
                  <a:t>: price</a:t>
                </a:r>
              </a:p>
              <a:p>
                <a:pPr>
                  <a:buFont typeface="Wingdings" pitchFamily="2" charset="2"/>
                  <a:buNone/>
                </a:pPr>
                <a:r>
                  <a:rPr lang="en-US" dirty="0"/>
                  <a:t>	</a:t>
                </a:r>
                <a14:m>
                  <m:oMath xmlns:m="http://schemas.openxmlformats.org/officeDocument/2006/math">
                    <m:acc>
                      <m:accPr>
                        <m:chr m:val="̂"/>
                        <m:ctrlPr>
                          <a:rPr lang="en-US" i="1">
                            <a:solidFill>
                              <a:srgbClr val="7030A0"/>
                            </a:solidFill>
                            <a:latin typeface="Cambria Math" panose="02040503050406030204" pitchFamily="18" charset="0"/>
                          </a:rPr>
                        </m:ctrlPr>
                      </m:accPr>
                      <m:e>
                        <m:r>
                          <a:rPr lang="en-US" i="1">
                            <a:solidFill>
                              <a:srgbClr val="7030A0"/>
                            </a:solidFill>
                            <a:latin typeface="Cambria Math" panose="02040503050406030204" pitchFamily="18" charset="0"/>
                          </a:rPr>
                          <m:t>𝑦</m:t>
                        </m:r>
                      </m:e>
                    </m:acc>
                    <m:r>
                      <a:rPr lang="en-US">
                        <a:solidFill>
                          <a:srgbClr val="7030A0"/>
                        </a:solidFill>
                        <a:latin typeface="Cambria Math" panose="02040503050406030204" pitchFamily="18" charset="0"/>
                      </a:rPr>
                      <m:t>​</m:t>
                    </m:r>
                  </m:oMath>
                </a14:m>
                <a:r>
                  <a:rPr lang="en-US" dirty="0"/>
                  <a:t>= </a:t>
                </a:r>
                <a14:m>
                  <m:oMath xmlns:m="http://schemas.openxmlformats.org/officeDocument/2006/math">
                    <m:r>
                      <a:rPr lang="en-US" b="0" i="1" smtClean="0">
                        <a:solidFill>
                          <a:srgbClr val="7030A0"/>
                        </a:solidFill>
                        <a:latin typeface="Cambria Math" panose="02040503050406030204" pitchFamily="18" charset="0"/>
                      </a:rPr>
                      <m:t>𝐹</m:t>
                    </m:r>
                  </m:oMath>
                </a14:m>
                <a:r>
                  <a:rPr lang="en-US" i="1" dirty="0"/>
                  <a:t> </a:t>
                </a:r>
                <a:r>
                  <a:rPr lang="en-US" dirty="0"/>
                  <a:t>(</a:t>
                </a:r>
                <a:r>
                  <a:rPr lang="en-US" i="1" dirty="0"/>
                  <a:t>x </a:t>
                </a:r>
                <a:r>
                  <a:rPr lang="en-US" dirty="0"/>
                  <a:t>| </a:t>
                </a:r>
                <a:r>
                  <a:rPr lang="en-US" i="1" dirty="0">
                    <a:latin typeface="Symbol" pitchFamily="18" charset="2"/>
                  </a:rPr>
                  <a:t>q </a:t>
                </a:r>
                <a:r>
                  <a:rPr lang="en-US" dirty="0"/>
                  <a:t>)</a:t>
                </a:r>
              </a:p>
              <a:p>
                <a:pPr>
                  <a:buFont typeface="Wingdings" pitchFamily="2" charset="2"/>
                  <a:buNone/>
                </a:pPr>
                <a:r>
                  <a:rPr lang="en-US" dirty="0"/>
                  <a:t>	</a:t>
                </a:r>
                <a:r>
                  <a:rPr lang="en-US" dirty="0">
                    <a:solidFill>
                      <a:srgbClr val="7030A0"/>
                    </a:solidFill>
                  </a:rPr>
                  <a:t> </a:t>
                </a:r>
                <a14:m>
                  <m:oMath xmlns:m="http://schemas.openxmlformats.org/officeDocument/2006/math">
                    <m:r>
                      <a:rPr lang="en-US" b="0" i="1" smtClean="0">
                        <a:solidFill>
                          <a:srgbClr val="7030A0"/>
                        </a:solidFill>
                        <a:latin typeface="Cambria Math" panose="02040503050406030204" pitchFamily="18" charset="0"/>
                      </a:rPr>
                      <m:t>𝐹</m:t>
                    </m:r>
                  </m:oMath>
                </a14:m>
                <a:r>
                  <a:rPr lang="en-US" i="1" dirty="0"/>
                  <a:t> </a:t>
                </a:r>
                <a:r>
                  <a:rPr lang="en-US" dirty="0"/>
                  <a:t>( ) model,</a:t>
                </a:r>
              </a:p>
              <a:p>
                <a:pPr>
                  <a:buFont typeface="Wingdings" pitchFamily="2" charset="2"/>
                  <a:buNone/>
                </a:pPr>
                <a:r>
                  <a:rPr lang="en-US" dirty="0">
                    <a:latin typeface="Symbol" pitchFamily="18" charset="2"/>
                  </a:rPr>
                  <a:t>	</a:t>
                </a:r>
                <a:r>
                  <a:rPr lang="en-US" i="1" dirty="0">
                    <a:latin typeface="Symbol" pitchFamily="18" charset="2"/>
                  </a:rPr>
                  <a:t> q </a:t>
                </a:r>
                <a:r>
                  <a:rPr lang="en-US" dirty="0"/>
                  <a:t>parameters</a:t>
                </a:r>
              </a:p>
            </p:txBody>
          </p:sp>
        </mc:Choice>
        <mc:Fallback xmlns="">
          <p:sp>
            <p:nvSpPr>
              <p:cNvPr id="90117" name="Rectangle 5"/>
              <p:cNvSpPr>
                <a:spLocks noGrp="1" noRot="1" noChangeAspect="1" noMove="1" noResize="1" noEditPoints="1" noAdjustHandles="1" noChangeArrowheads="1" noChangeShapeType="1" noTextEdit="1"/>
              </p:cNvSpPr>
              <p:nvPr>
                <p:ph type="body" sz="half" idx="1"/>
              </p:nvPr>
            </p:nvSpPr>
            <p:spPr>
              <a:blipFill>
                <a:blip r:embed="rId4"/>
                <a:stretch>
                  <a:fillRect l="-472" t="-651"/>
                </a:stretch>
              </a:blipFill>
            </p:spPr>
            <p:txBody>
              <a:bodyPr/>
              <a:lstStyle/>
              <a:p>
                <a:r>
                  <a:rPr lang="en-US">
                    <a:noFill/>
                  </a:rPr>
                  <a:t> </a:t>
                </a:r>
              </a:p>
            </p:txBody>
          </p:sp>
        </mc:Fallback>
      </mc:AlternateContent>
      <p:sp>
        <p:nvSpPr>
          <p:cNvPr id="10" name="Slide Number Placeholder 9"/>
          <p:cNvSpPr>
            <a:spLocks noGrp="1"/>
          </p:cNvSpPr>
          <p:nvPr>
            <p:ph type="sldNum" sz="quarter" idx="11"/>
          </p:nvPr>
        </p:nvSpPr>
        <p:spPr/>
        <p:txBody>
          <a:bodyPr/>
          <a:lstStyle/>
          <a:p>
            <a:fld id="{B25A429E-EC32-4435-B6D9-2C358E91B0C4}" type="slidenum">
              <a:rPr lang="tr-TR" smtClean="0"/>
              <a:pPr/>
              <a:t>41</a:t>
            </a:fld>
            <a:endParaRPr lang="tr-TR"/>
          </a:p>
        </p:txBody>
      </p:sp>
    </p:spTree>
    <p:extLst>
      <p:ext uri="{BB962C8B-B14F-4D97-AF65-F5344CB8AC3E}">
        <p14:creationId xmlns:p14="http://schemas.microsoft.com/office/powerpoint/2010/main" val="27681336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C864A-EFE2-8D27-B7D6-17BD2D86FFB6}"/>
              </a:ext>
            </a:extLst>
          </p:cNvPr>
          <p:cNvSpPr>
            <a:spLocks noGrp="1"/>
          </p:cNvSpPr>
          <p:nvPr>
            <p:ph type="title"/>
          </p:nvPr>
        </p:nvSpPr>
        <p:spPr/>
        <p:txBody>
          <a:bodyPr/>
          <a:lstStyle/>
          <a:p>
            <a:r>
              <a:rPr lang="en-US" dirty="0"/>
              <a:t>Types of Regression</a:t>
            </a:r>
          </a:p>
        </p:txBody>
      </p:sp>
      <p:sp>
        <p:nvSpPr>
          <p:cNvPr id="3" name="Content Placeholder 2">
            <a:extLst>
              <a:ext uri="{FF2B5EF4-FFF2-40B4-BE49-F238E27FC236}">
                <a16:creationId xmlns:a16="http://schemas.microsoft.com/office/drawing/2014/main" id="{4B4D323B-1327-901D-A486-B4A6FE59C8DE}"/>
              </a:ext>
            </a:extLst>
          </p:cNvPr>
          <p:cNvSpPr>
            <a:spLocks noGrp="1"/>
          </p:cNvSpPr>
          <p:nvPr>
            <p:ph idx="1"/>
          </p:nvPr>
        </p:nvSpPr>
        <p:spPr/>
        <p:txBody>
          <a:bodyPr/>
          <a:lstStyle/>
          <a:p>
            <a:r>
              <a:rPr lang="en-US" b="1" dirty="0">
                <a:solidFill>
                  <a:srgbClr val="7030A0"/>
                </a:solidFill>
              </a:rPr>
              <a:t>Linear Regression: </a:t>
            </a:r>
            <a:r>
              <a:rPr lang="en-US" dirty="0"/>
              <a:t>One independent variable (the predictor).</a:t>
            </a:r>
          </a:p>
          <a:p>
            <a:r>
              <a:rPr lang="en-US" b="1" dirty="0">
                <a:solidFill>
                  <a:srgbClr val="7030A0"/>
                </a:solidFill>
              </a:rPr>
              <a:t>Multiple Linear Regression: </a:t>
            </a:r>
            <a:r>
              <a:rPr lang="en-US" dirty="0"/>
              <a:t>More than one predictor (independent variables) affects the dependent variable.</a:t>
            </a:r>
          </a:p>
          <a:p>
            <a:r>
              <a:rPr lang="en-US" b="1" dirty="0">
                <a:solidFill>
                  <a:srgbClr val="7030A0"/>
                </a:solidFill>
              </a:rPr>
              <a:t>Polynomial Regression: </a:t>
            </a:r>
            <a:r>
              <a:rPr lang="en-US" dirty="0"/>
              <a:t>Models a non-linear relationship by using polynomial terms.</a:t>
            </a:r>
          </a:p>
          <a:p>
            <a:r>
              <a:rPr lang="en-US" dirty="0">
                <a:solidFill>
                  <a:schemeClr val="tx1">
                    <a:lumMod val="50000"/>
                    <a:lumOff val="50000"/>
                  </a:schemeClr>
                </a:solidFill>
              </a:rPr>
              <a:t>Logistic Regression</a:t>
            </a:r>
          </a:p>
          <a:p>
            <a:r>
              <a:rPr lang="en-US" dirty="0">
                <a:solidFill>
                  <a:schemeClr val="tx1">
                    <a:lumMod val="50000"/>
                    <a:lumOff val="50000"/>
                  </a:schemeClr>
                </a:solidFill>
              </a:rPr>
              <a:t>Ridge and Lasso Regression</a:t>
            </a:r>
          </a:p>
        </p:txBody>
      </p:sp>
      <p:sp>
        <p:nvSpPr>
          <p:cNvPr id="4" name="Slide Number Placeholder 3">
            <a:extLst>
              <a:ext uri="{FF2B5EF4-FFF2-40B4-BE49-F238E27FC236}">
                <a16:creationId xmlns:a16="http://schemas.microsoft.com/office/drawing/2014/main" id="{DF2A3D37-DEDC-28FB-0B31-AD454299B823}"/>
              </a:ext>
            </a:extLst>
          </p:cNvPr>
          <p:cNvSpPr>
            <a:spLocks noGrp="1"/>
          </p:cNvSpPr>
          <p:nvPr>
            <p:ph type="sldNum" sz="quarter" idx="12"/>
          </p:nvPr>
        </p:nvSpPr>
        <p:spPr/>
        <p:txBody>
          <a:bodyPr/>
          <a:lstStyle/>
          <a:p>
            <a:fld id="{A4DA0FD2-D456-4FC5-A587-87644C4EB2D1}" type="slidenum">
              <a:rPr lang="tr-TR" smtClean="0"/>
              <a:pPr/>
              <a:t>42</a:t>
            </a:fld>
            <a:endParaRPr lang="tr-TR"/>
          </a:p>
        </p:txBody>
      </p:sp>
    </p:spTree>
    <p:extLst>
      <p:ext uri="{BB962C8B-B14F-4D97-AF65-F5344CB8AC3E}">
        <p14:creationId xmlns:p14="http://schemas.microsoft.com/office/powerpoint/2010/main" val="2234376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118" name="Picture 6"/>
          <p:cNvPicPr>
            <a:picLocks noGrp="1" noChangeAspect="1" noChangeArrowheads="1"/>
          </p:cNvPicPr>
          <p:nvPr>
            <p:ph sz="half" idx="2"/>
          </p:nvPr>
        </p:nvPicPr>
        <p:blipFill>
          <a:blip r:embed="rId3" cstate="print"/>
          <a:srcRect/>
          <a:stretch>
            <a:fillRect/>
          </a:stretch>
        </p:blipFill>
        <p:spPr>
          <a:xfrm>
            <a:off x="5877861" y="1628800"/>
            <a:ext cx="4404699" cy="4238600"/>
          </a:xfrm>
        </p:spPr>
      </p:pic>
      <p:sp>
        <p:nvSpPr>
          <p:cNvPr id="90116" name="Rectangle 4"/>
          <p:cNvSpPr>
            <a:spLocks noGrp="1" noChangeArrowheads="1"/>
          </p:cNvSpPr>
          <p:nvPr>
            <p:ph type="title"/>
          </p:nvPr>
        </p:nvSpPr>
        <p:spPr>
          <a:xfrm>
            <a:off x="1981200" y="457200"/>
            <a:ext cx="8229600" cy="667544"/>
          </a:xfrm>
        </p:spPr>
        <p:txBody>
          <a:bodyPr>
            <a:normAutofit/>
          </a:bodyPr>
          <a:lstStyle/>
          <a:p>
            <a:r>
              <a:rPr lang="en-US" dirty="0"/>
              <a:t>Regression</a:t>
            </a:r>
          </a:p>
        </p:txBody>
      </p:sp>
      <mc:AlternateContent xmlns:mc="http://schemas.openxmlformats.org/markup-compatibility/2006" xmlns:a14="http://schemas.microsoft.com/office/drawing/2010/main">
        <mc:Choice Requires="a14">
          <p:sp>
            <p:nvSpPr>
              <p:cNvPr id="90117" name="Rectangle 5"/>
              <p:cNvSpPr>
                <a:spLocks noGrp="1" noChangeArrowheads="1"/>
              </p:cNvSpPr>
              <p:nvPr>
                <p:ph type="body" sz="half" idx="1"/>
              </p:nvPr>
            </p:nvSpPr>
            <p:spPr/>
            <p:txBody>
              <a:bodyPr>
                <a:normAutofit fontScale="92500" lnSpcReduction="10000"/>
              </a:bodyPr>
              <a:lstStyle/>
              <a:p>
                <a:pPr marL="0" indent="0">
                  <a:buNone/>
                </a:pPr>
                <a:r>
                  <a:rPr lang="en-US" sz="2100" dirty="0"/>
                  <a:t>A </a:t>
                </a:r>
                <a:r>
                  <a:rPr lang="en-US" sz="2100" b="1" dirty="0">
                    <a:solidFill>
                      <a:srgbClr val="7030A0"/>
                    </a:solidFill>
                  </a:rPr>
                  <a:t>fitted function </a:t>
                </a:r>
                <a:r>
                  <a:rPr lang="en-US" sz="2100" dirty="0"/>
                  <a:t>is represented as:</a:t>
                </a:r>
              </a:p>
              <a:p>
                <a:pPr marL="0" indent="0">
                  <a:buNone/>
                </a:pPr>
                <a14:m>
                  <m:oMath xmlns:m="http://schemas.openxmlformats.org/officeDocument/2006/math">
                    <m:acc>
                      <m:accPr>
                        <m:chr m:val="̂"/>
                        <m:ctrlPr>
                          <a:rPr lang="en-US" sz="2100" i="1">
                            <a:solidFill>
                              <a:srgbClr val="7030A0"/>
                            </a:solidFill>
                            <a:latin typeface="Cambria Math" panose="02040503050406030204" pitchFamily="18" charset="0"/>
                          </a:rPr>
                        </m:ctrlPr>
                      </m:accPr>
                      <m:e>
                        <m:r>
                          <a:rPr lang="en-US" sz="2100" i="1">
                            <a:solidFill>
                              <a:srgbClr val="7030A0"/>
                            </a:solidFill>
                            <a:latin typeface="Cambria Math" panose="02040503050406030204" pitchFamily="18" charset="0"/>
                          </a:rPr>
                          <m:t>𝑦</m:t>
                        </m:r>
                      </m:e>
                    </m:acc>
                    <m:r>
                      <a:rPr lang="en-US" sz="2100">
                        <a:solidFill>
                          <a:srgbClr val="7030A0"/>
                        </a:solidFill>
                        <a:latin typeface="Cambria Math" panose="02040503050406030204" pitchFamily="18" charset="0"/>
                      </a:rPr>
                      <m:t>​</m:t>
                    </m:r>
                  </m:oMath>
                </a14:m>
                <a:r>
                  <a:rPr lang="tr-TR" sz="2100" i="1" dirty="0">
                    <a:solidFill>
                      <a:schemeClr val="accent1"/>
                    </a:solidFill>
                  </a:rPr>
                  <a:t> </a:t>
                </a:r>
                <a:r>
                  <a:rPr lang="tr-TR" sz="2100" dirty="0"/>
                  <a:t>= </a:t>
                </a:r>
                <a:r>
                  <a:rPr lang="tr-TR" sz="2100" i="1" dirty="0"/>
                  <a:t>wx</a:t>
                </a:r>
                <a:r>
                  <a:rPr lang="tr-TR" sz="2100" dirty="0"/>
                  <a:t>+</a:t>
                </a:r>
                <a:r>
                  <a:rPr lang="tr-TR" sz="2100" i="1" dirty="0"/>
                  <a:t>w</a:t>
                </a:r>
                <a:r>
                  <a:rPr lang="tr-TR" sz="2100" baseline="-25000" dirty="0"/>
                  <a:t>0</a:t>
                </a:r>
                <a:endParaRPr lang="en-GB" sz="2100" baseline="-25000" dirty="0"/>
              </a:p>
              <a:p>
                <a:pPr marL="0" indent="0">
                  <a:buNone/>
                </a:pPr>
                <a:endParaRPr lang="en-US" i="1" dirty="0"/>
              </a:p>
              <a:p>
                <a:pPr marL="285750" indent="-285750">
                  <a:buFont typeface="Arial" panose="020B0604020202020204" pitchFamily="34" charset="0"/>
                  <a:buChar char="•"/>
                </a:pPr>
                <a14:m>
                  <m:oMath xmlns:m="http://schemas.openxmlformats.org/officeDocument/2006/math">
                    <m:acc>
                      <m:accPr>
                        <m:chr m:val="̂"/>
                        <m:ctrlPr>
                          <a:rPr lang="en-US" sz="1900" i="1">
                            <a:solidFill>
                              <a:srgbClr val="7030A0"/>
                            </a:solidFill>
                            <a:latin typeface="Cambria Math" panose="02040503050406030204" pitchFamily="18" charset="0"/>
                          </a:rPr>
                        </m:ctrlPr>
                      </m:accPr>
                      <m:e>
                        <m:r>
                          <m:rPr>
                            <m:sty m:val="p"/>
                          </m:rPr>
                          <a:rPr lang="en-US" sz="1900">
                            <a:solidFill>
                              <a:srgbClr val="7030A0"/>
                            </a:solidFill>
                            <a:latin typeface="Cambria Math" panose="02040503050406030204" pitchFamily="18" charset="0"/>
                          </a:rPr>
                          <m:t>y</m:t>
                        </m:r>
                      </m:e>
                    </m:acc>
                    <m:r>
                      <a:rPr lang="en-US" sz="1900">
                        <a:solidFill>
                          <a:srgbClr val="7030A0"/>
                        </a:solidFill>
                        <a:latin typeface="Cambria Math" panose="02040503050406030204" pitchFamily="18" charset="0"/>
                      </a:rPr>
                      <m:t>​</m:t>
                    </m:r>
                  </m:oMath>
                </a14:m>
                <a:r>
                  <a:rPr lang="tr-TR" sz="1900" dirty="0">
                    <a:latin typeface="KaTeX_Math"/>
                  </a:rPr>
                  <a:t> </a:t>
                </a:r>
                <a:r>
                  <a:rPr lang="en-US" sz="1900" dirty="0">
                    <a:latin typeface="KaTeX_Math"/>
                  </a:rPr>
                  <a:t>represents the predicted or estimated value of the dependent variable.</a:t>
                </a:r>
              </a:p>
              <a:p>
                <a:pPr marL="285750" indent="-285750">
                  <a:buFont typeface="Arial" panose="020B0604020202020204" pitchFamily="34" charset="0"/>
                  <a:buChar char="•"/>
                </a:pPr>
                <a:r>
                  <a:rPr lang="en-US" sz="1900" dirty="0">
                    <a:solidFill>
                      <a:srgbClr val="7030A0"/>
                    </a:solidFill>
                    <a:latin typeface="KaTeX_Math"/>
                  </a:rPr>
                  <a:t>x</a:t>
                </a:r>
                <a:r>
                  <a:rPr lang="en-US" sz="1900" dirty="0">
                    <a:latin typeface="KaTeX_Math"/>
                  </a:rPr>
                  <a:t> represents the </a:t>
                </a:r>
                <a:r>
                  <a:rPr lang="en-US" sz="1900" dirty="0">
                    <a:solidFill>
                      <a:srgbClr val="7030A0"/>
                    </a:solidFill>
                    <a:latin typeface="KaTeX_Math"/>
                  </a:rPr>
                  <a:t>independent variable</a:t>
                </a:r>
                <a:r>
                  <a:rPr lang="en-US" sz="1900" dirty="0">
                    <a:latin typeface="KaTeX_Math"/>
                  </a:rPr>
                  <a:t>.</a:t>
                </a:r>
              </a:p>
              <a:p>
                <a:pPr marL="285750" indent="-285750">
                  <a:buFont typeface="Arial" panose="020B0604020202020204" pitchFamily="34" charset="0"/>
                  <a:buChar char="•"/>
                </a:pPr>
                <a:r>
                  <a:rPr lang="en-US" sz="1900" dirty="0">
                    <a:solidFill>
                      <a:srgbClr val="7030A0"/>
                    </a:solidFill>
                    <a:latin typeface="KaTeX_Math"/>
                  </a:rPr>
                  <a:t>w</a:t>
                </a:r>
                <a:r>
                  <a:rPr lang="en-US" sz="1900" dirty="0">
                    <a:latin typeface="KaTeX_Math"/>
                  </a:rPr>
                  <a:t> represents the </a:t>
                </a:r>
                <a:r>
                  <a:rPr lang="en-US" sz="1900" dirty="0">
                    <a:solidFill>
                      <a:srgbClr val="7030A0"/>
                    </a:solidFill>
                    <a:latin typeface="KaTeX_Math"/>
                  </a:rPr>
                  <a:t>slope or coefficient </a:t>
                </a:r>
                <a:r>
                  <a:rPr lang="en-US" sz="1900" dirty="0">
                    <a:latin typeface="KaTeX_Math"/>
                  </a:rPr>
                  <a:t>associated with the independent variable.</a:t>
                </a:r>
              </a:p>
              <a:p>
                <a:pPr marL="285750" indent="-285750">
                  <a:buFont typeface="Arial" panose="020B0604020202020204" pitchFamily="34" charset="0"/>
                  <a:buChar char="•"/>
                </a:pPr>
                <a:r>
                  <a:rPr lang="tr-TR" sz="1900" dirty="0">
                    <a:solidFill>
                      <a:srgbClr val="7030A0"/>
                    </a:solidFill>
                    <a:latin typeface="KaTeX_Math"/>
                  </a:rPr>
                  <a:t>w</a:t>
                </a:r>
                <a:r>
                  <a:rPr lang="tr-TR" sz="1900" baseline="-25000" dirty="0">
                    <a:solidFill>
                      <a:srgbClr val="7030A0"/>
                    </a:solidFill>
                    <a:latin typeface="KaTeX_Math"/>
                  </a:rPr>
                  <a:t>0</a:t>
                </a:r>
                <a:r>
                  <a:rPr lang="tr-TR" sz="1900" dirty="0">
                    <a:latin typeface="KaTeX_Math"/>
                  </a:rPr>
                  <a:t> </a:t>
                </a:r>
                <a:r>
                  <a:rPr lang="en-US" sz="1900" dirty="0">
                    <a:latin typeface="KaTeX_Math"/>
                  </a:rPr>
                  <a:t>represents the </a:t>
                </a:r>
                <a:r>
                  <a:rPr lang="en-US" sz="1900" dirty="0">
                    <a:solidFill>
                      <a:srgbClr val="7030A0"/>
                    </a:solidFill>
                    <a:latin typeface="KaTeX_Math"/>
                  </a:rPr>
                  <a:t>intercept</a:t>
                </a:r>
                <a:r>
                  <a:rPr lang="en-US" sz="1900" dirty="0">
                    <a:latin typeface="KaTeX_Math"/>
                  </a:rPr>
                  <a:t>, which is the predicted value of </a:t>
                </a:r>
                <a14:m>
                  <m:oMath xmlns:m="http://schemas.openxmlformats.org/officeDocument/2006/math">
                    <m:acc>
                      <m:accPr>
                        <m:chr m:val="̂"/>
                        <m:ctrlPr>
                          <a:rPr lang="en-US" sz="1900" i="1">
                            <a:latin typeface="Cambria Math" panose="02040503050406030204" pitchFamily="18" charset="0"/>
                          </a:rPr>
                        </m:ctrlPr>
                      </m:accPr>
                      <m:e>
                        <m:r>
                          <m:rPr>
                            <m:sty m:val="p"/>
                          </m:rPr>
                          <a:rPr lang="en-US" sz="1900">
                            <a:latin typeface="Cambria Math" panose="02040503050406030204" pitchFamily="18" charset="0"/>
                          </a:rPr>
                          <m:t>y</m:t>
                        </m:r>
                      </m:e>
                    </m:acc>
                    <m:r>
                      <a:rPr lang="en-US" sz="1900">
                        <a:latin typeface="Cambria Math" panose="02040503050406030204" pitchFamily="18" charset="0"/>
                      </a:rPr>
                      <m:t>​</m:t>
                    </m:r>
                  </m:oMath>
                </a14:m>
                <a:r>
                  <a:rPr lang="tr-TR" sz="1900" dirty="0">
                    <a:latin typeface="KaTeX_Math"/>
                  </a:rPr>
                  <a:t> </a:t>
                </a:r>
                <a:r>
                  <a:rPr lang="en-US" sz="1900" dirty="0">
                    <a:latin typeface="KaTeX_Math"/>
                  </a:rPr>
                  <a:t>when all independent variables are set to 0.</a:t>
                </a:r>
              </a:p>
              <a:p>
                <a:endParaRPr lang="en-US" dirty="0"/>
              </a:p>
            </p:txBody>
          </p:sp>
        </mc:Choice>
        <mc:Fallback xmlns="">
          <p:sp>
            <p:nvSpPr>
              <p:cNvPr id="90117" name="Rectangle 5"/>
              <p:cNvSpPr>
                <a:spLocks noGrp="1" noRot="1" noChangeAspect="1" noMove="1" noResize="1" noEditPoints="1" noAdjustHandles="1" noChangeArrowheads="1" noChangeShapeType="1" noTextEdit="1"/>
              </p:cNvSpPr>
              <p:nvPr>
                <p:ph type="body" sz="half" idx="1"/>
              </p:nvPr>
            </p:nvSpPr>
            <p:spPr>
              <a:blipFill>
                <a:blip r:embed="rId4"/>
                <a:stretch>
                  <a:fillRect l="-1179" t="-1629" r="-1651"/>
                </a:stretch>
              </a:blipFill>
            </p:spPr>
            <p:txBody>
              <a:bodyPr/>
              <a:lstStyle/>
              <a:p>
                <a:r>
                  <a:rPr lang="en-US">
                    <a:noFill/>
                  </a:rPr>
                  <a:t> </a:t>
                </a:r>
              </a:p>
            </p:txBody>
          </p:sp>
        </mc:Fallback>
      </mc:AlternateContent>
      <p:sp>
        <p:nvSpPr>
          <p:cNvPr id="10" name="Slide Number Placeholder 9"/>
          <p:cNvSpPr>
            <a:spLocks noGrp="1"/>
          </p:cNvSpPr>
          <p:nvPr>
            <p:ph type="sldNum" sz="quarter" idx="11"/>
          </p:nvPr>
        </p:nvSpPr>
        <p:spPr/>
        <p:txBody>
          <a:bodyPr/>
          <a:lstStyle/>
          <a:p>
            <a:fld id="{B25A429E-EC32-4435-B6D9-2C358E91B0C4}" type="slidenum">
              <a:rPr lang="tr-TR" smtClean="0"/>
              <a:pPr/>
              <a:t>43</a:t>
            </a:fld>
            <a:endParaRPr lang="tr-TR"/>
          </a:p>
        </p:txBody>
      </p:sp>
      <mc:AlternateContent xmlns:mc="http://schemas.openxmlformats.org/markup-compatibility/2006" xmlns:a14="http://schemas.microsoft.com/office/drawing/2010/main">
        <mc:Choice Requires="a14">
          <p:sp>
            <p:nvSpPr>
              <p:cNvPr id="90121" name="Text Box 9"/>
              <p:cNvSpPr txBox="1">
                <a:spLocks noChangeArrowheads="1"/>
              </p:cNvSpPr>
              <p:nvPr/>
            </p:nvSpPr>
            <p:spPr bwMode="auto">
              <a:xfrm>
                <a:off x="7751763" y="2779714"/>
                <a:ext cx="1502784" cy="461665"/>
              </a:xfrm>
              <a:prstGeom prst="rect">
                <a:avLst/>
              </a:prstGeom>
              <a:noFill/>
              <a:ln w="9525">
                <a:noFill/>
                <a:miter lim="800000"/>
                <a:headEnd/>
                <a:tailEnd/>
              </a:ln>
              <a:effectLst/>
            </p:spPr>
            <p:txBody>
              <a:bodyPr wrap="none">
                <a:spAutoFit/>
              </a:bodyPr>
              <a:lstStyle/>
              <a:p>
                <a14:m>
                  <m:oMath xmlns:m="http://schemas.openxmlformats.org/officeDocument/2006/math">
                    <m:acc>
                      <m:accPr>
                        <m:chr m:val="̂"/>
                        <m:ctrlPr>
                          <a:rPr lang="en-US" sz="2400" i="1">
                            <a:solidFill>
                              <a:srgbClr val="7030A0"/>
                            </a:solidFill>
                            <a:latin typeface="Cambria Math" panose="02040503050406030204" pitchFamily="18" charset="0"/>
                          </a:rPr>
                        </m:ctrlPr>
                      </m:accPr>
                      <m:e>
                        <m:r>
                          <a:rPr lang="en-US" sz="2400" i="1">
                            <a:solidFill>
                              <a:srgbClr val="7030A0"/>
                            </a:solidFill>
                            <a:latin typeface="Cambria Math" panose="02040503050406030204" pitchFamily="18" charset="0"/>
                          </a:rPr>
                          <m:t>𝑦</m:t>
                        </m:r>
                      </m:e>
                    </m:acc>
                    <m:r>
                      <a:rPr lang="en-US" sz="2400">
                        <a:solidFill>
                          <a:srgbClr val="7030A0"/>
                        </a:solidFill>
                        <a:latin typeface="Cambria Math" panose="02040503050406030204" pitchFamily="18" charset="0"/>
                      </a:rPr>
                      <m:t>​</m:t>
                    </m:r>
                  </m:oMath>
                </a14:m>
                <a:r>
                  <a:rPr lang="tr-TR" sz="2400" i="1" dirty="0">
                    <a:solidFill>
                      <a:schemeClr val="accent1"/>
                    </a:solidFill>
                  </a:rPr>
                  <a:t> </a:t>
                </a:r>
                <a:r>
                  <a:rPr lang="tr-TR" sz="2400" dirty="0"/>
                  <a:t>= </a:t>
                </a:r>
                <a:r>
                  <a:rPr lang="tr-TR" sz="2400" i="1" dirty="0"/>
                  <a:t>wx</a:t>
                </a:r>
                <a:r>
                  <a:rPr lang="tr-TR" sz="2400" dirty="0"/>
                  <a:t>+</a:t>
                </a:r>
                <a:r>
                  <a:rPr lang="tr-TR" sz="2400" i="1" dirty="0"/>
                  <a:t>w</a:t>
                </a:r>
                <a:r>
                  <a:rPr lang="tr-TR" sz="2400" baseline="-25000" dirty="0"/>
                  <a:t>0</a:t>
                </a:r>
                <a:endParaRPr lang="en-GB" sz="2400" baseline="-25000" dirty="0"/>
              </a:p>
            </p:txBody>
          </p:sp>
        </mc:Choice>
        <mc:Fallback xmlns="">
          <p:sp>
            <p:nvSpPr>
              <p:cNvPr id="90121" name="Text Box 9"/>
              <p:cNvSpPr txBox="1">
                <a:spLocks noRot="1" noChangeAspect="1" noMove="1" noResize="1" noEditPoints="1" noAdjustHandles="1" noChangeArrowheads="1" noChangeShapeType="1" noTextEdit="1"/>
              </p:cNvSpPr>
              <p:nvPr/>
            </p:nvSpPr>
            <p:spPr bwMode="auto">
              <a:xfrm>
                <a:off x="7751763" y="2779714"/>
                <a:ext cx="1502784" cy="461665"/>
              </a:xfrm>
              <a:prstGeom prst="rect">
                <a:avLst/>
              </a:prstGeom>
              <a:blipFill>
                <a:blip r:embed="rId5"/>
                <a:stretch>
                  <a:fillRect l="-840" t="-7895" r="-1681" b="-28947"/>
                </a:stretch>
              </a:blipFill>
              <a:ln w="9525">
                <a:noFill/>
                <a:miter lim="800000"/>
                <a:headEnd/>
                <a:tailEnd/>
              </a:ln>
              <a:effectLst/>
            </p:spPr>
            <p:txBody>
              <a:bodyPr/>
              <a:lstStyle/>
              <a:p>
                <a:r>
                  <a:rPr lang="en-US">
                    <a:noFill/>
                  </a:rPr>
                  <a:t> </a:t>
                </a:r>
              </a:p>
            </p:txBody>
          </p:sp>
        </mc:Fallback>
      </mc:AlternateContent>
      <p:sp>
        <p:nvSpPr>
          <p:cNvPr id="3" name="TextBox 2">
            <a:extLst>
              <a:ext uri="{FF2B5EF4-FFF2-40B4-BE49-F238E27FC236}">
                <a16:creationId xmlns:a16="http://schemas.microsoft.com/office/drawing/2014/main" id="{20ECCB19-DB32-2E0A-1A56-BFD9674348B8}"/>
              </a:ext>
            </a:extLst>
          </p:cNvPr>
          <p:cNvSpPr txBox="1"/>
          <p:nvPr/>
        </p:nvSpPr>
        <p:spPr>
          <a:xfrm>
            <a:off x="6858000" y="1363188"/>
            <a:ext cx="6154270" cy="369332"/>
          </a:xfrm>
          <a:prstGeom prst="rect">
            <a:avLst/>
          </a:prstGeom>
          <a:noFill/>
        </p:spPr>
        <p:txBody>
          <a:bodyPr wrap="square">
            <a:spAutoFit/>
          </a:bodyPr>
          <a:lstStyle/>
          <a:p>
            <a:r>
              <a:rPr lang="en-US" b="1" dirty="0">
                <a:solidFill>
                  <a:srgbClr val="7030A0"/>
                </a:solidFill>
              </a:rPr>
              <a:t>Linear Regression: </a:t>
            </a:r>
            <a:endParaRPr lang="en-US" dirty="0"/>
          </a:p>
        </p:txBody>
      </p:sp>
    </p:spTree>
    <p:extLst>
      <p:ext uri="{BB962C8B-B14F-4D97-AF65-F5344CB8AC3E}">
        <p14:creationId xmlns:p14="http://schemas.microsoft.com/office/powerpoint/2010/main" val="28878017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34B3A-4F8E-7038-2B50-D39DD31F8683}"/>
            </a:ext>
          </a:extLst>
        </p:cNvPr>
        <p:cNvGrpSpPr/>
        <p:nvPr/>
      </p:nvGrpSpPr>
      <p:grpSpPr>
        <a:xfrm>
          <a:off x="0" y="0"/>
          <a:ext cx="0" cy="0"/>
          <a:chOff x="0" y="0"/>
          <a:chExt cx="0" cy="0"/>
        </a:xfrm>
      </p:grpSpPr>
      <p:sp>
        <p:nvSpPr>
          <p:cNvPr id="90116" name="Rectangle 4">
            <a:extLst>
              <a:ext uri="{FF2B5EF4-FFF2-40B4-BE49-F238E27FC236}">
                <a16:creationId xmlns:a16="http://schemas.microsoft.com/office/drawing/2014/main" id="{C2C83195-3A4A-325F-CFC1-C29C5D8713D5}"/>
              </a:ext>
            </a:extLst>
          </p:cNvPr>
          <p:cNvSpPr>
            <a:spLocks noGrp="1" noChangeArrowheads="1"/>
          </p:cNvSpPr>
          <p:nvPr>
            <p:ph type="title"/>
          </p:nvPr>
        </p:nvSpPr>
        <p:spPr>
          <a:xfrm>
            <a:off x="914084" y="656828"/>
            <a:ext cx="9299376" cy="667544"/>
          </a:xfrm>
        </p:spPr>
        <p:txBody>
          <a:bodyPr>
            <a:normAutofit/>
          </a:bodyPr>
          <a:lstStyle/>
          <a:p>
            <a:r>
              <a:rPr lang="en-US" dirty="0"/>
              <a:t>Regression</a:t>
            </a:r>
          </a:p>
        </p:txBody>
      </p:sp>
      <mc:AlternateContent xmlns:mc="http://schemas.openxmlformats.org/markup-compatibility/2006" xmlns:a14="http://schemas.microsoft.com/office/drawing/2010/main">
        <mc:Choice Requires="a14">
          <p:sp>
            <p:nvSpPr>
              <p:cNvPr id="90117" name="Rectangle 5">
                <a:extLst>
                  <a:ext uri="{FF2B5EF4-FFF2-40B4-BE49-F238E27FC236}">
                    <a16:creationId xmlns:a16="http://schemas.microsoft.com/office/drawing/2014/main" id="{E787B91E-8751-F2A6-8907-83D63F7E1F92}"/>
                  </a:ext>
                </a:extLst>
              </p:cNvPr>
              <p:cNvSpPr>
                <a:spLocks noGrp="1" noChangeArrowheads="1"/>
              </p:cNvSpPr>
              <p:nvPr>
                <p:ph type="body" sz="half" idx="1"/>
              </p:nvPr>
            </p:nvSpPr>
            <p:spPr/>
            <p:txBody>
              <a:bodyPr>
                <a:normAutofit fontScale="92500" lnSpcReduction="10000"/>
              </a:bodyPr>
              <a:lstStyle/>
              <a:p>
                <a:pPr marL="0" indent="0">
                  <a:buNone/>
                </a:pPr>
                <a:r>
                  <a:rPr lang="en-US" sz="2100" dirty="0"/>
                  <a:t>A </a:t>
                </a:r>
                <a:r>
                  <a:rPr lang="en-US" sz="2100" b="1" dirty="0">
                    <a:solidFill>
                      <a:srgbClr val="7030A0"/>
                    </a:solidFill>
                  </a:rPr>
                  <a:t>fitted function </a:t>
                </a:r>
                <a:r>
                  <a:rPr lang="en-US" sz="2100" dirty="0"/>
                  <a:t>is represented as:</a:t>
                </a:r>
              </a:p>
              <a:p>
                <a:pPr marL="0" indent="0">
                  <a:buNone/>
                </a:pPr>
                <a14:m>
                  <m:oMath xmlns:m="http://schemas.openxmlformats.org/officeDocument/2006/math">
                    <m:acc>
                      <m:accPr>
                        <m:chr m:val="̂"/>
                        <m:ctrlPr>
                          <a:rPr lang="en-US" sz="2100" i="1">
                            <a:solidFill>
                              <a:srgbClr val="7030A0"/>
                            </a:solidFill>
                            <a:latin typeface="Cambria Math" panose="02040503050406030204" pitchFamily="18" charset="0"/>
                          </a:rPr>
                        </m:ctrlPr>
                      </m:accPr>
                      <m:e>
                        <m:r>
                          <a:rPr lang="en-US" sz="2100" i="1">
                            <a:solidFill>
                              <a:srgbClr val="7030A0"/>
                            </a:solidFill>
                            <a:latin typeface="Cambria Math" panose="02040503050406030204" pitchFamily="18" charset="0"/>
                          </a:rPr>
                          <m:t>𝑦</m:t>
                        </m:r>
                      </m:e>
                    </m:acc>
                    <m:r>
                      <a:rPr lang="en-US" sz="2100">
                        <a:solidFill>
                          <a:srgbClr val="7030A0"/>
                        </a:solidFill>
                        <a:latin typeface="Cambria Math" panose="02040503050406030204" pitchFamily="18" charset="0"/>
                      </a:rPr>
                      <m:t>​</m:t>
                    </m:r>
                  </m:oMath>
                </a14:m>
                <a:r>
                  <a:rPr lang="tr-TR" sz="2100" i="1" dirty="0">
                    <a:solidFill>
                      <a:schemeClr val="accent1"/>
                    </a:solidFill>
                  </a:rPr>
                  <a:t> </a:t>
                </a:r>
                <a:r>
                  <a:rPr lang="tr-TR" sz="2100" dirty="0"/>
                  <a:t>= </a:t>
                </a:r>
                <a:r>
                  <a:rPr lang="tr-TR" sz="2100" i="1" dirty="0"/>
                  <a:t>wx</a:t>
                </a:r>
                <a:r>
                  <a:rPr lang="tr-TR" sz="2100" dirty="0"/>
                  <a:t>+</a:t>
                </a:r>
                <a:r>
                  <a:rPr lang="tr-TR" sz="2100" i="1" dirty="0"/>
                  <a:t>w</a:t>
                </a:r>
                <a:r>
                  <a:rPr lang="tr-TR" sz="2100" baseline="-25000" dirty="0"/>
                  <a:t>0</a:t>
                </a:r>
                <a:endParaRPr lang="en-GB" sz="2100" baseline="-25000" dirty="0"/>
              </a:p>
              <a:p>
                <a:pPr marL="0" indent="0">
                  <a:buNone/>
                </a:pPr>
                <a:endParaRPr lang="en-US" i="1" dirty="0"/>
              </a:p>
              <a:p>
                <a:pPr marL="285750" indent="-285750">
                  <a:buFont typeface="Arial" panose="020B0604020202020204" pitchFamily="34" charset="0"/>
                  <a:buChar char="•"/>
                </a:pPr>
                <a14:m>
                  <m:oMath xmlns:m="http://schemas.openxmlformats.org/officeDocument/2006/math">
                    <m:acc>
                      <m:accPr>
                        <m:chr m:val="̂"/>
                        <m:ctrlPr>
                          <a:rPr lang="en-US" sz="1900" i="1">
                            <a:solidFill>
                              <a:srgbClr val="7030A0"/>
                            </a:solidFill>
                            <a:latin typeface="Cambria Math" panose="02040503050406030204" pitchFamily="18" charset="0"/>
                          </a:rPr>
                        </m:ctrlPr>
                      </m:accPr>
                      <m:e>
                        <m:r>
                          <m:rPr>
                            <m:sty m:val="p"/>
                          </m:rPr>
                          <a:rPr lang="en-US" sz="1900">
                            <a:solidFill>
                              <a:srgbClr val="7030A0"/>
                            </a:solidFill>
                            <a:latin typeface="Cambria Math" panose="02040503050406030204" pitchFamily="18" charset="0"/>
                          </a:rPr>
                          <m:t>y</m:t>
                        </m:r>
                      </m:e>
                    </m:acc>
                    <m:r>
                      <a:rPr lang="en-US" sz="1900">
                        <a:solidFill>
                          <a:srgbClr val="7030A0"/>
                        </a:solidFill>
                        <a:latin typeface="Cambria Math" panose="02040503050406030204" pitchFamily="18" charset="0"/>
                      </a:rPr>
                      <m:t>​</m:t>
                    </m:r>
                  </m:oMath>
                </a14:m>
                <a:r>
                  <a:rPr lang="tr-TR" sz="1900" dirty="0">
                    <a:latin typeface="KaTeX_Math"/>
                  </a:rPr>
                  <a:t> </a:t>
                </a:r>
                <a:r>
                  <a:rPr lang="en-US" sz="1900" dirty="0">
                    <a:latin typeface="KaTeX_Math"/>
                  </a:rPr>
                  <a:t>represents the predicted or estimated value of the dependent variable.</a:t>
                </a:r>
              </a:p>
              <a:p>
                <a:pPr marL="285750" indent="-285750">
                  <a:buFont typeface="Arial" panose="020B0604020202020204" pitchFamily="34" charset="0"/>
                  <a:buChar char="•"/>
                </a:pPr>
                <a:r>
                  <a:rPr lang="en-US" sz="1900" dirty="0">
                    <a:solidFill>
                      <a:srgbClr val="7030A0"/>
                    </a:solidFill>
                    <a:latin typeface="KaTeX_Math"/>
                  </a:rPr>
                  <a:t>x</a:t>
                </a:r>
                <a:r>
                  <a:rPr lang="en-US" sz="1900" dirty="0">
                    <a:latin typeface="KaTeX_Math"/>
                  </a:rPr>
                  <a:t> represents the </a:t>
                </a:r>
                <a:r>
                  <a:rPr lang="en-US" sz="1900" dirty="0">
                    <a:solidFill>
                      <a:srgbClr val="7030A0"/>
                    </a:solidFill>
                    <a:latin typeface="KaTeX_Math"/>
                  </a:rPr>
                  <a:t>independent variable(s)</a:t>
                </a:r>
                <a:r>
                  <a:rPr lang="en-US" sz="1900" dirty="0">
                    <a:latin typeface="KaTeX_Math"/>
                  </a:rPr>
                  <a:t>.</a:t>
                </a:r>
              </a:p>
              <a:p>
                <a:pPr marL="285750" indent="-285750">
                  <a:buFont typeface="Arial" panose="020B0604020202020204" pitchFamily="34" charset="0"/>
                  <a:buChar char="•"/>
                </a:pPr>
                <a:r>
                  <a:rPr lang="en-US" sz="1900" dirty="0">
                    <a:solidFill>
                      <a:srgbClr val="7030A0"/>
                    </a:solidFill>
                    <a:latin typeface="KaTeX_Math"/>
                  </a:rPr>
                  <a:t>w</a:t>
                </a:r>
                <a:r>
                  <a:rPr lang="en-US" sz="1900" dirty="0">
                    <a:latin typeface="KaTeX_Math"/>
                  </a:rPr>
                  <a:t> represents the </a:t>
                </a:r>
                <a:r>
                  <a:rPr lang="en-US" sz="1900" dirty="0">
                    <a:solidFill>
                      <a:srgbClr val="7030A0"/>
                    </a:solidFill>
                    <a:latin typeface="KaTeX_Math"/>
                  </a:rPr>
                  <a:t>slope or coefficient(s) </a:t>
                </a:r>
                <a:r>
                  <a:rPr lang="en-US" sz="1900" dirty="0">
                    <a:latin typeface="KaTeX_Math"/>
                  </a:rPr>
                  <a:t>associated with the independent variable(s).</a:t>
                </a:r>
              </a:p>
              <a:p>
                <a:pPr marL="285750" indent="-285750">
                  <a:buFont typeface="Arial" panose="020B0604020202020204" pitchFamily="34" charset="0"/>
                  <a:buChar char="•"/>
                </a:pPr>
                <a:r>
                  <a:rPr lang="tr-TR" sz="1900" dirty="0">
                    <a:solidFill>
                      <a:srgbClr val="7030A0"/>
                    </a:solidFill>
                    <a:latin typeface="KaTeX_Math"/>
                  </a:rPr>
                  <a:t>w</a:t>
                </a:r>
                <a:r>
                  <a:rPr lang="tr-TR" sz="1900" baseline="-25000" dirty="0">
                    <a:solidFill>
                      <a:srgbClr val="7030A0"/>
                    </a:solidFill>
                    <a:latin typeface="KaTeX_Math"/>
                  </a:rPr>
                  <a:t>0</a:t>
                </a:r>
                <a:r>
                  <a:rPr lang="tr-TR" sz="1900" dirty="0">
                    <a:latin typeface="KaTeX_Math"/>
                  </a:rPr>
                  <a:t> </a:t>
                </a:r>
                <a:r>
                  <a:rPr lang="en-US" sz="1900" dirty="0">
                    <a:latin typeface="KaTeX_Math"/>
                  </a:rPr>
                  <a:t>represents the </a:t>
                </a:r>
                <a:r>
                  <a:rPr lang="en-US" sz="1900" dirty="0">
                    <a:solidFill>
                      <a:srgbClr val="7030A0"/>
                    </a:solidFill>
                    <a:latin typeface="KaTeX_Math"/>
                  </a:rPr>
                  <a:t>intercept</a:t>
                </a:r>
                <a:r>
                  <a:rPr lang="en-US" sz="1900" dirty="0">
                    <a:latin typeface="KaTeX_Math"/>
                  </a:rPr>
                  <a:t>, which is the predicted value of </a:t>
                </a:r>
                <a14:m>
                  <m:oMath xmlns:m="http://schemas.openxmlformats.org/officeDocument/2006/math">
                    <m:acc>
                      <m:accPr>
                        <m:chr m:val="̂"/>
                        <m:ctrlPr>
                          <a:rPr lang="en-US" sz="1900" i="1">
                            <a:latin typeface="Cambria Math" panose="02040503050406030204" pitchFamily="18" charset="0"/>
                          </a:rPr>
                        </m:ctrlPr>
                      </m:accPr>
                      <m:e>
                        <m:r>
                          <m:rPr>
                            <m:sty m:val="p"/>
                          </m:rPr>
                          <a:rPr lang="en-US" sz="1900">
                            <a:latin typeface="Cambria Math" panose="02040503050406030204" pitchFamily="18" charset="0"/>
                          </a:rPr>
                          <m:t>y</m:t>
                        </m:r>
                      </m:e>
                    </m:acc>
                    <m:r>
                      <a:rPr lang="en-US" sz="1900">
                        <a:latin typeface="Cambria Math" panose="02040503050406030204" pitchFamily="18" charset="0"/>
                      </a:rPr>
                      <m:t>​</m:t>
                    </m:r>
                  </m:oMath>
                </a14:m>
                <a:r>
                  <a:rPr lang="tr-TR" sz="1900" dirty="0">
                    <a:latin typeface="KaTeX_Math"/>
                  </a:rPr>
                  <a:t> </a:t>
                </a:r>
                <a:r>
                  <a:rPr lang="en-US" sz="1900" dirty="0">
                    <a:latin typeface="KaTeX_Math"/>
                  </a:rPr>
                  <a:t>when all independent variables are set to 0.</a:t>
                </a:r>
              </a:p>
              <a:p>
                <a:endParaRPr lang="en-US" dirty="0"/>
              </a:p>
            </p:txBody>
          </p:sp>
        </mc:Choice>
        <mc:Fallback xmlns="">
          <p:sp>
            <p:nvSpPr>
              <p:cNvPr id="90117" name="Rectangle 5">
                <a:extLst>
                  <a:ext uri="{FF2B5EF4-FFF2-40B4-BE49-F238E27FC236}">
                    <a16:creationId xmlns:a16="http://schemas.microsoft.com/office/drawing/2014/main" id="{E787B91E-8751-F2A6-8907-83D63F7E1F92}"/>
                  </a:ext>
                </a:extLst>
              </p:cNvPr>
              <p:cNvSpPr>
                <a:spLocks noGrp="1" noRot="1" noChangeAspect="1" noMove="1" noResize="1" noEditPoints="1" noAdjustHandles="1" noChangeArrowheads="1" noChangeShapeType="1" noTextEdit="1"/>
              </p:cNvSpPr>
              <p:nvPr>
                <p:ph type="body" sz="half" idx="1"/>
              </p:nvPr>
            </p:nvSpPr>
            <p:spPr>
              <a:blipFill>
                <a:blip r:embed="rId3"/>
                <a:stretch>
                  <a:fillRect l="-1179" t="-1629" r="-943"/>
                </a:stretch>
              </a:blipFill>
            </p:spPr>
            <p:txBody>
              <a:bodyPr/>
              <a:lstStyle/>
              <a:p>
                <a:r>
                  <a:rPr lang="en-US">
                    <a:noFill/>
                  </a:rPr>
                  <a:t> </a:t>
                </a:r>
              </a:p>
            </p:txBody>
          </p:sp>
        </mc:Fallback>
      </mc:AlternateContent>
      <p:sp>
        <p:nvSpPr>
          <p:cNvPr id="10" name="Slide Number Placeholder 9">
            <a:extLst>
              <a:ext uri="{FF2B5EF4-FFF2-40B4-BE49-F238E27FC236}">
                <a16:creationId xmlns:a16="http://schemas.microsoft.com/office/drawing/2014/main" id="{0D1E7954-AD90-91D2-C27C-2DA85308ED07}"/>
              </a:ext>
            </a:extLst>
          </p:cNvPr>
          <p:cNvSpPr>
            <a:spLocks noGrp="1"/>
          </p:cNvSpPr>
          <p:nvPr>
            <p:ph type="sldNum" sz="quarter" idx="11"/>
          </p:nvPr>
        </p:nvSpPr>
        <p:spPr/>
        <p:txBody>
          <a:bodyPr/>
          <a:lstStyle/>
          <a:p>
            <a:fld id="{B25A429E-EC32-4435-B6D9-2C358E91B0C4}" type="slidenum">
              <a:rPr lang="tr-TR" smtClean="0"/>
              <a:pPr/>
              <a:t>44</a:t>
            </a:fld>
            <a:endParaRPr lang="tr-TR"/>
          </a:p>
        </p:txBody>
      </p:sp>
      <mc:AlternateContent xmlns:mc="http://schemas.openxmlformats.org/markup-compatibility/2006" xmlns:a14="http://schemas.microsoft.com/office/drawing/2010/main">
        <mc:Choice Requires="a14">
          <p:sp>
            <p:nvSpPr>
              <p:cNvPr id="90121" name="Text Box 9">
                <a:extLst>
                  <a:ext uri="{FF2B5EF4-FFF2-40B4-BE49-F238E27FC236}">
                    <a16:creationId xmlns:a16="http://schemas.microsoft.com/office/drawing/2014/main" id="{961EF065-1802-7EED-0545-0E3A35C223F5}"/>
                  </a:ext>
                </a:extLst>
              </p:cNvPr>
              <p:cNvSpPr txBox="1">
                <a:spLocks noChangeArrowheads="1"/>
              </p:cNvSpPr>
              <p:nvPr/>
            </p:nvSpPr>
            <p:spPr bwMode="auto">
              <a:xfrm>
                <a:off x="6389065" y="2514601"/>
                <a:ext cx="3857594" cy="461665"/>
              </a:xfrm>
              <a:prstGeom prst="rect">
                <a:avLst/>
              </a:prstGeom>
              <a:noFill/>
              <a:ln w="9525">
                <a:noFill/>
                <a:miter lim="800000"/>
                <a:headEnd/>
                <a:tailEnd/>
              </a:ln>
              <a:effectLst/>
            </p:spPr>
            <p:txBody>
              <a:bodyPr wrap="none">
                <a:spAutoFit/>
              </a:bodyPr>
              <a:lstStyle/>
              <a:p>
                <a14:m>
                  <m:oMath xmlns:m="http://schemas.openxmlformats.org/officeDocument/2006/math">
                    <m:acc>
                      <m:accPr>
                        <m:chr m:val="̂"/>
                        <m:ctrlPr>
                          <a:rPr lang="en-US" sz="2400" i="1">
                            <a:solidFill>
                              <a:srgbClr val="7030A0"/>
                            </a:solidFill>
                            <a:latin typeface="Cambria Math" panose="02040503050406030204" pitchFamily="18" charset="0"/>
                          </a:rPr>
                        </m:ctrlPr>
                      </m:accPr>
                      <m:e>
                        <m:r>
                          <a:rPr lang="en-US" sz="2400" i="1">
                            <a:solidFill>
                              <a:srgbClr val="7030A0"/>
                            </a:solidFill>
                            <a:latin typeface="Cambria Math" panose="02040503050406030204" pitchFamily="18" charset="0"/>
                          </a:rPr>
                          <m:t>𝑦</m:t>
                        </m:r>
                      </m:e>
                    </m:acc>
                    <m:r>
                      <a:rPr lang="en-US" sz="2400">
                        <a:solidFill>
                          <a:srgbClr val="7030A0"/>
                        </a:solidFill>
                        <a:latin typeface="Cambria Math" panose="02040503050406030204" pitchFamily="18" charset="0"/>
                      </a:rPr>
                      <m:t>​</m:t>
                    </m:r>
                  </m:oMath>
                </a14:m>
                <a:r>
                  <a:rPr lang="tr-TR" sz="2400" i="1" dirty="0">
                    <a:solidFill>
                      <a:schemeClr val="accent1"/>
                    </a:solidFill>
                  </a:rPr>
                  <a:t> </a:t>
                </a:r>
                <a:r>
                  <a:rPr lang="tr-TR" sz="2400" dirty="0"/>
                  <a:t>= </a:t>
                </a:r>
                <a:r>
                  <a:rPr lang="tr-TR" sz="2400" i="1" dirty="0"/>
                  <a:t>w</a:t>
                </a:r>
                <a:r>
                  <a:rPr lang="tr-TR" sz="2400" i="1" baseline="-25000" dirty="0"/>
                  <a:t>1</a:t>
                </a:r>
                <a:r>
                  <a:rPr lang="tr-TR" sz="2400" i="1" dirty="0"/>
                  <a:t>x</a:t>
                </a:r>
                <a:r>
                  <a:rPr lang="tr-TR" sz="2400" i="1" baseline="-25000" dirty="0"/>
                  <a:t>1</a:t>
                </a:r>
                <a:r>
                  <a:rPr lang="tr-TR" sz="2400" i="1" dirty="0"/>
                  <a:t>+ w</a:t>
                </a:r>
                <a:r>
                  <a:rPr lang="tr-TR" sz="2400" i="1" baseline="-25000" dirty="0"/>
                  <a:t>2</a:t>
                </a:r>
                <a:r>
                  <a:rPr lang="tr-TR" sz="2400" i="1" dirty="0"/>
                  <a:t>x</a:t>
                </a:r>
                <a:r>
                  <a:rPr lang="tr-TR" sz="2400" i="1" baseline="-25000" dirty="0"/>
                  <a:t>2</a:t>
                </a:r>
                <a:r>
                  <a:rPr lang="tr-TR" sz="2400" i="1" dirty="0"/>
                  <a:t> + … </a:t>
                </a:r>
                <a:r>
                  <a:rPr lang="tr-TR" sz="2400" i="1" dirty="0" err="1"/>
                  <a:t>w</a:t>
                </a:r>
                <a:r>
                  <a:rPr lang="tr-TR" sz="2400" i="1" baseline="-25000" dirty="0" err="1"/>
                  <a:t>n</a:t>
                </a:r>
                <a:r>
                  <a:rPr lang="tr-TR" sz="2400" i="1" dirty="0" err="1"/>
                  <a:t>x</a:t>
                </a:r>
                <a:r>
                  <a:rPr lang="tr-TR" sz="2400" i="1" baseline="-25000" dirty="0" err="1"/>
                  <a:t>n</a:t>
                </a:r>
                <a:r>
                  <a:rPr lang="tr-TR" sz="2400" i="1" dirty="0"/>
                  <a:t> </a:t>
                </a:r>
                <a:r>
                  <a:rPr lang="tr-TR" sz="2400" dirty="0"/>
                  <a:t>+</a:t>
                </a:r>
                <a:r>
                  <a:rPr lang="tr-TR" sz="2400" i="1" dirty="0"/>
                  <a:t>w</a:t>
                </a:r>
                <a:r>
                  <a:rPr lang="tr-TR" sz="2400" baseline="-25000" dirty="0"/>
                  <a:t>0</a:t>
                </a:r>
                <a:endParaRPr lang="en-GB" sz="2400" baseline="-25000" dirty="0"/>
              </a:p>
            </p:txBody>
          </p:sp>
        </mc:Choice>
        <mc:Fallback xmlns="">
          <p:sp>
            <p:nvSpPr>
              <p:cNvPr id="90121" name="Text Box 9">
                <a:extLst>
                  <a:ext uri="{FF2B5EF4-FFF2-40B4-BE49-F238E27FC236}">
                    <a16:creationId xmlns:a16="http://schemas.microsoft.com/office/drawing/2014/main" id="{961EF065-1802-7EED-0545-0E3A35C223F5}"/>
                  </a:ext>
                </a:extLst>
              </p:cNvPr>
              <p:cNvSpPr txBox="1">
                <a:spLocks noRot="1" noChangeAspect="1" noMove="1" noResize="1" noEditPoints="1" noAdjustHandles="1" noChangeArrowheads="1" noChangeShapeType="1" noTextEdit="1"/>
              </p:cNvSpPr>
              <p:nvPr/>
            </p:nvSpPr>
            <p:spPr bwMode="auto">
              <a:xfrm>
                <a:off x="6389065" y="2514601"/>
                <a:ext cx="3857594" cy="461665"/>
              </a:xfrm>
              <a:prstGeom prst="rect">
                <a:avLst/>
              </a:prstGeom>
              <a:blipFill>
                <a:blip r:embed="rId4"/>
                <a:stretch>
                  <a:fillRect l="-329" t="-13514" b="-29730"/>
                </a:stretch>
              </a:blipFill>
              <a:ln w="9525">
                <a:noFill/>
                <a:miter lim="800000"/>
                <a:headEnd/>
                <a:tailEnd/>
              </a:ln>
              <a:effectLst/>
            </p:spPr>
            <p:txBody>
              <a:bodyPr/>
              <a:lstStyle/>
              <a:p>
                <a:r>
                  <a:rPr lang="en-US">
                    <a:noFill/>
                  </a:rPr>
                  <a:t> </a:t>
                </a:r>
              </a:p>
            </p:txBody>
          </p:sp>
        </mc:Fallback>
      </mc:AlternateContent>
      <p:sp>
        <p:nvSpPr>
          <p:cNvPr id="4" name="TextBox 3">
            <a:extLst>
              <a:ext uri="{FF2B5EF4-FFF2-40B4-BE49-F238E27FC236}">
                <a16:creationId xmlns:a16="http://schemas.microsoft.com/office/drawing/2014/main" id="{9A568577-9874-0754-CA80-C8E3897FC1D3}"/>
              </a:ext>
            </a:extLst>
          </p:cNvPr>
          <p:cNvSpPr txBox="1"/>
          <p:nvPr/>
        </p:nvSpPr>
        <p:spPr>
          <a:xfrm>
            <a:off x="6324600" y="1981200"/>
            <a:ext cx="6154270" cy="369332"/>
          </a:xfrm>
          <a:prstGeom prst="rect">
            <a:avLst/>
          </a:prstGeom>
          <a:noFill/>
        </p:spPr>
        <p:txBody>
          <a:bodyPr wrap="square">
            <a:spAutoFit/>
          </a:bodyPr>
          <a:lstStyle/>
          <a:p>
            <a:r>
              <a:rPr lang="en-US" b="1" dirty="0">
                <a:solidFill>
                  <a:srgbClr val="7030A0"/>
                </a:solidFill>
              </a:rPr>
              <a:t>Multiple Linear Regression: </a:t>
            </a:r>
            <a:endParaRPr lang="en-US" dirty="0"/>
          </a:p>
        </p:txBody>
      </p:sp>
    </p:spTree>
    <p:extLst>
      <p:ext uri="{BB962C8B-B14F-4D97-AF65-F5344CB8AC3E}">
        <p14:creationId xmlns:p14="http://schemas.microsoft.com/office/powerpoint/2010/main" val="33733686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3908" name="Picture 4"/>
          <p:cNvPicPr>
            <a:picLocks noChangeAspect="1" noChangeArrowheads="1"/>
          </p:cNvPicPr>
          <p:nvPr/>
        </p:nvPicPr>
        <p:blipFill>
          <a:blip r:embed="rId3" cstate="print"/>
          <a:srcRect/>
          <a:stretch>
            <a:fillRect/>
          </a:stretch>
        </p:blipFill>
        <p:spPr bwMode="auto">
          <a:xfrm>
            <a:off x="4801347" y="2133600"/>
            <a:ext cx="5403004" cy="4319042"/>
          </a:xfrm>
          <a:prstGeom prst="rect">
            <a:avLst/>
          </a:prstGeom>
          <a:noFill/>
          <a:ln w="9525">
            <a:noFill/>
            <a:miter lim="800000"/>
            <a:headEnd/>
            <a:tailEnd/>
          </a:ln>
          <a:effectLst/>
        </p:spPr>
      </p:pic>
      <p:sp>
        <p:nvSpPr>
          <p:cNvPr id="123906" name="Rectangle 2"/>
          <p:cNvSpPr>
            <a:spLocks noGrp="1" noChangeArrowheads="1"/>
          </p:cNvSpPr>
          <p:nvPr>
            <p:ph type="title" sz="quarter"/>
          </p:nvPr>
        </p:nvSpPr>
        <p:spPr>
          <a:xfrm>
            <a:off x="848045" y="620688"/>
            <a:ext cx="9381728" cy="757222"/>
          </a:xfrm>
        </p:spPr>
        <p:txBody>
          <a:bodyPr>
            <a:normAutofit/>
          </a:bodyPr>
          <a:lstStyle/>
          <a:p>
            <a:r>
              <a:rPr lang="en-US" dirty="0"/>
              <a:t>Regression</a:t>
            </a:r>
          </a:p>
        </p:txBody>
      </p:sp>
      <p:sp>
        <p:nvSpPr>
          <p:cNvPr id="12" name="Slide Number Placeholder 7"/>
          <p:cNvSpPr>
            <a:spLocks noGrp="1"/>
          </p:cNvSpPr>
          <p:nvPr>
            <p:ph type="sldNum" sz="quarter" idx="11"/>
          </p:nvPr>
        </p:nvSpPr>
        <p:spPr/>
        <p:txBody>
          <a:bodyPr/>
          <a:lstStyle/>
          <a:p>
            <a:fld id="{46C3B7E8-76BE-4C0C-B1F0-65BB59E694E5}" type="slidenum">
              <a:rPr lang="tr-TR"/>
              <a:pPr/>
              <a:t>45</a:t>
            </a:fld>
            <a:endParaRPr lang="tr-TR"/>
          </a:p>
        </p:txBody>
      </p:sp>
      <p:sp>
        <p:nvSpPr>
          <p:cNvPr id="5" name="Content Placeholder 4">
            <a:extLst>
              <a:ext uri="{FF2B5EF4-FFF2-40B4-BE49-F238E27FC236}">
                <a16:creationId xmlns:a16="http://schemas.microsoft.com/office/drawing/2014/main" id="{88826009-08DF-BCA1-3721-CE73EF1CF3D0}"/>
              </a:ext>
            </a:extLst>
          </p:cNvPr>
          <p:cNvSpPr>
            <a:spLocks noGrp="1"/>
          </p:cNvSpPr>
          <p:nvPr>
            <p:ph sz="quarter" idx="1"/>
          </p:nvPr>
        </p:nvSpPr>
        <p:spPr>
          <a:xfrm>
            <a:off x="983433" y="2407416"/>
            <a:ext cx="3854182" cy="4038600"/>
          </a:xfrm>
        </p:spPr>
        <p:txBody>
          <a:bodyPr>
            <a:normAutofit/>
          </a:bodyPr>
          <a:lstStyle/>
          <a:p>
            <a:pPr marL="0" indent="0">
              <a:buNone/>
            </a:pPr>
            <a:r>
              <a:rPr lang="en-US" sz="2100" b="1" dirty="0">
                <a:solidFill>
                  <a:srgbClr val="7030A0"/>
                </a:solidFill>
              </a:rPr>
              <a:t>Polynomial regression </a:t>
            </a:r>
            <a:r>
              <a:rPr lang="en-US" sz="2100" dirty="0"/>
              <a:t>is used to model complex relationships </a:t>
            </a:r>
            <a:r>
              <a:rPr lang="en-US" sz="2100" dirty="0">
                <a:solidFill>
                  <a:srgbClr val="7030A0"/>
                </a:solidFill>
              </a:rPr>
              <a:t>by fitting a curve to data points</a:t>
            </a:r>
            <a:r>
              <a:rPr lang="en-US" sz="2100" dirty="0"/>
              <a:t>.</a:t>
            </a:r>
          </a:p>
          <a:p>
            <a:endParaRPr lang="en-US" dirty="0"/>
          </a:p>
          <a:p>
            <a:r>
              <a:rPr lang="en-US" dirty="0"/>
              <a:t>Predicts numeric values </a:t>
            </a:r>
          </a:p>
          <a:p>
            <a:r>
              <a:rPr lang="en-US" dirty="0"/>
              <a:t>Ex: Car price</a:t>
            </a:r>
          </a:p>
        </p:txBody>
      </p:sp>
    </p:spTree>
    <p:extLst>
      <p:ext uri="{BB962C8B-B14F-4D97-AF65-F5344CB8AC3E}">
        <p14:creationId xmlns:p14="http://schemas.microsoft.com/office/powerpoint/2010/main" val="28535735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3908" name="Picture 4"/>
          <p:cNvPicPr>
            <a:picLocks noChangeAspect="1" noChangeArrowheads="1"/>
          </p:cNvPicPr>
          <p:nvPr/>
        </p:nvPicPr>
        <p:blipFill>
          <a:blip r:embed="rId3" cstate="print"/>
          <a:srcRect/>
          <a:stretch>
            <a:fillRect/>
          </a:stretch>
        </p:blipFill>
        <p:spPr bwMode="auto">
          <a:xfrm>
            <a:off x="4079777" y="1556792"/>
            <a:ext cx="6124575" cy="4895850"/>
          </a:xfrm>
          <a:prstGeom prst="rect">
            <a:avLst/>
          </a:prstGeom>
          <a:noFill/>
          <a:ln w="9525">
            <a:noFill/>
            <a:miter lim="800000"/>
            <a:headEnd/>
            <a:tailEnd/>
          </a:ln>
          <a:effectLst/>
        </p:spPr>
      </p:pic>
      <p:sp>
        <p:nvSpPr>
          <p:cNvPr id="123906" name="Rectangle 2"/>
          <p:cNvSpPr>
            <a:spLocks noGrp="1" noChangeArrowheads="1"/>
          </p:cNvSpPr>
          <p:nvPr>
            <p:ph type="title" sz="quarter"/>
          </p:nvPr>
        </p:nvSpPr>
        <p:spPr>
          <a:xfrm>
            <a:off x="1060317" y="610033"/>
            <a:ext cx="9165704" cy="757222"/>
          </a:xfrm>
        </p:spPr>
        <p:txBody>
          <a:bodyPr>
            <a:normAutofit/>
          </a:bodyPr>
          <a:lstStyle/>
          <a:p>
            <a:r>
              <a:rPr lang="en-US" dirty="0"/>
              <a:t>Regression</a:t>
            </a:r>
          </a:p>
        </p:txBody>
      </p:sp>
      <p:graphicFrame>
        <p:nvGraphicFramePr>
          <p:cNvPr id="123945" name="Object 41"/>
          <p:cNvGraphicFramePr>
            <a:graphicFrameLocks noGrp="1" noChangeAspect="1"/>
          </p:cNvGraphicFramePr>
          <p:nvPr>
            <p:ph sz="quarter" idx="1"/>
          </p:nvPr>
        </p:nvGraphicFramePr>
        <p:xfrm>
          <a:off x="6030914" y="2205038"/>
          <a:ext cx="1933575" cy="438150"/>
        </p:xfrm>
        <a:graphic>
          <a:graphicData uri="http://schemas.openxmlformats.org/presentationml/2006/ole">
            <mc:AlternateContent xmlns:mc="http://schemas.openxmlformats.org/markup-compatibility/2006">
              <mc:Choice xmlns:v="urn:schemas-microsoft-com:vml" Requires="v">
                <p:oleObj name="Equation" r:id="rId4" imgW="952200" imgH="215640" progId="Equation.3">
                  <p:embed/>
                </p:oleObj>
              </mc:Choice>
              <mc:Fallback>
                <p:oleObj name="Equation" r:id="rId4" imgW="952200" imgH="215640" progId="Equation.3">
                  <p:embed/>
                  <p:pic>
                    <p:nvPicPr>
                      <p:cNvPr id="123945" name="Object 4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30914" y="2205038"/>
                        <a:ext cx="1933575" cy="438150"/>
                      </a:xfrm>
                      <a:prstGeom prst="rect">
                        <a:avLst/>
                      </a:prstGeom>
                      <a:solidFill>
                        <a:schemeClr val="bg1"/>
                      </a:solidFill>
                    </p:spPr>
                  </p:pic>
                </p:oleObj>
              </mc:Fallback>
            </mc:AlternateContent>
          </a:graphicData>
        </a:graphic>
      </p:graphicFrame>
      <p:graphicFrame>
        <p:nvGraphicFramePr>
          <p:cNvPr id="123939" name="Object 35"/>
          <p:cNvGraphicFramePr>
            <a:graphicFrameLocks noGrp="1" noChangeAspect="1"/>
          </p:cNvGraphicFramePr>
          <p:nvPr>
            <p:ph sz="quarter" idx="2"/>
          </p:nvPr>
        </p:nvGraphicFramePr>
        <p:xfrm>
          <a:off x="7493000" y="2794000"/>
          <a:ext cx="1397000" cy="241300"/>
        </p:xfrm>
        <a:graphic>
          <a:graphicData uri="http://schemas.openxmlformats.org/presentationml/2006/ole">
            <mc:AlternateContent xmlns:mc="http://schemas.openxmlformats.org/markup-compatibility/2006">
              <mc:Choice xmlns:v="urn:schemas-microsoft-com:vml" Requires="v">
                <p:oleObj name="Equation" r:id="rId6" imgW="1396800" imgH="241200" progId="Equation.3">
                  <p:embed/>
                </p:oleObj>
              </mc:Choice>
              <mc:Fallback>
                <p:oleObj name="Equation" r:id="rId6" imgW="1396800" imgH="241200" progId="Equation.3">
                  <p:embed/>
                  <p:pic>
                    <p:nvPicPr>
                      <p:cNvPr id="123939" name="Object 3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93000" y="2794000"/>
                        <a:ext cx="1397000" cy="241300"/>
                      </a:xfrm>
                      <a:prstGeom prst="rect">
                        <a:avLst/>
                      </a:prstGeom>
                      <a:solidFill>
                        <a:schemeClr val="bg1"/>
                      </a:solidFill>
                    </p:spPr>
                  </p:pic>
                </p:oleObj>
              </mc:Fallback>
            </mc:AlternateContent>
          </a:graphicData>
        </a:graphic>
      </p:graphicFrame>
      <p:graphicFrame>
        <p:nvGraphicFramePr>
          <p:cNvPr id="123941" name="Object 37"/>
          <p:cNvGraphicFramePr>
            <a:graphicFrameLocks noGrp="1" noChangeAspect="1"/>
          </p:cNvGraphicFramePr>
          <p:nvPr>
            <p:ph sz="quarter" idx="3"/>
            <p:extLst>
              <p:ext uri="{D42A27DB-BD31-4B8C-83A1-F6EECF244321}">
                <p14:modId xmlns:p14="http://schemas.microsoft.com/office/powerpoint/2010/main" val="298444297"/>
              </p:ext>
            </p:extLst>
          </p:nvPr>
        </p:nvGraphicFramePr>
        <p:xfrm>
          <a:off x="2163763" y="4076701"/>
          <a:ext cx="3541712" cy="919163"/>
        </p:xfrm>
        <a:graphic>
          <a:graphicData uri="http://schemas.openxmlformats.org/presentationml/2006/ole">
            <mc:AlternateContent xmlns:mc="http://schemas.openxmlformats.org/markup-compatibility/2006">
              <mc:Choice xmlns:v="urn:schemas-microsoft-com:vml" Requires="v">
                <p:oleObj name="Equation" r:id="rId8" imgW="1663560" imgH="431640" progId="Equation.3">
                  <p:embed/>
                </p:oleObj>
              </mc:Choice>
              <mc:Fallback>
                <p:oleObj name="Equation" r:id="rId8" imgW="1663560" imgH="431640" progId="Equation.3">
                  <p:embed/>
                  <p:pic>
                    <p:nvPicPr>
                      <p:cNvPr id="123941" name="Object 3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63763" y="4076701"/>
                        <a:ext cx="3541712" cy="919163"/>
                      </a:xfrm>
                      <a:prstGeom prst="rect">
                        <a:avLst/>
                      </a:prstGeom>
                      <a:solidFill>
                        <a:schemeClr val="bg1"/>
                      </a:solidFill>
                    </p:spPr>
                  </p:pic>
                </p:oleObj>
              </mc:Fallback>
            </mc:AlternateContent>
          </a:graphicData>
        </a:graphic>
      </p:graphicFrame>
      <p:sp>
        <p:nvSpPr>
          <p:cNvPr id="12" name="Slide Number Placeholder 7"/>
          <p:cNvSpPr>
            <a:spLocks noGrp="1"/>
          </p:cNvSpPr>
          <p:nvPr>
            <p:ph type="sldNum" sz="quarter" idx="11"/>
          </p:nvPr>
        </p:nvSpPr>
        <p:spPr/>
        <p:txBody>
          <a:bodyPr/>
          <a:lstStyle/>
          <a:p>
            <a:fld id="{46C3B7E8-76BE-4C0C-B1F0-65BB59E694E5}" type="slidenum">
              <a:rPr lang="tr-TR"/>
              <a:pPr/>
              <a:t>46</a:t>
            </a:fld>
            <a:endParaRPr lang="tr-TR"/>
          </a:p>
        </p:txBody>
      </p:sp>
      <p:graphicFrame>
        <p:nvGraphicFramePr>
          <p:cNvPr id="123952" name="Object 48"/>
          <p:cNvGraphicFramePr>
            <a:graphicFrameLocks noChangeAspect="1"/>
          </p:cNvGraphicFramePr>
          <p:nvPr>
            <p:extLst>
              <p:ext uri="{D42A27DB-BD31-4B8C-83A1-F6EECF244321}">
                <p14:modId xmlns:p14="http://schemas.microsoft.com/office/powerpoint/2010/main" val="3206271030"/>
              </p:ext>
            </p:extLst>
          </p:nvPr>
        </p:nvGraphicFramePr>
        <p:xfrm>
          <a:off x="2260601" y="4968875"/>
          <a:ext cx="5491163" cy="1017588"/>
        </p:xfrm>
        <a:graphic>
          <a:graphicData uri="http://schemas.openxmlformats.org/presentationml/2006/ole">
            <mc:AlternateContent xmlns:mc="http://schemas.openxmlformats.org/markup-compatibility/2006">
              <mc:Choice xmlns:v="urn:schemas-microsoft-com:vml" Requires="v">
                <p:oleObj name="Equation" r:id="rId10" imgW="2323800" imgH="431640" progId="Equation.3">
                  <p:embed/>
                </p:oleObj>
              </mc:Choice>
              <mc:Fallback>
                <p:oleObj name="Equation" r:id="rId10" imgW="2323800" imgH="431640" progId="Equation.3">
                  <p:embed/>
                  <p:pic>
                    <p:nvPicPr>
                      <p:cNvPr id="123952" name="Object 4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60601" y="4968875"/>
                        <a:ext cx="5491163" cy="1017588"/>
                      </a:xfrm>
                      <a:prstGeom prst="rect">
                        <a:avLst/>
                      </a:prstGeom>
                      <a:solidFill>
                        <a:schemeClr val="bg1"/>
                      </a:solidFill>
                    </p:spPr>
                  </p:pic>
                </p:oleObj>
              </mc:Fallback>
            </mc:AlternateContent>
          </a:graphicData>
        </a:graphic>
      </p:graphicFrame>
      <p:graphicFrame>
        <p:nvGraphicFramePr>
          <p:cNvPr id="123953" name="Object 49"/>
          <p:cNvGraphicFramePr>
            <a:graphicFrameLocks noChangeAspect="1"/>
          </p:cNvGraphicFramePr>
          <p:nvPr>
            <p:extLst>
              <p:ext uri="{D42A27DB-BD31-4B8C-83A1-F6EECF244321}">
                <p14:modId xmlns:p14="http://schemas.microsoft.com/office/powerpoint/2010/main" val="2879329190"/>
              </p:ext>
            </p:extLst>
          </p:nvPr>
        </p:nvGraphicFramePr>
        <p:xfrm>
          <a:off x="2151064" y="1844676"/>
          <a:ext cx="1912937" cy="1738313"/>
        </p:xfrm>
        <a:graphic>
          <a:graphicData uri="http://schemas.openxmlformats.org/presentationml/2006/ole">
            <mc:AlternateContent xmlns:mc="http://schemas.openxmlformats.org/markup-compatibility/2006">
              <mc:Choice xmlns:v="urn:schemas-microsoft-com:vml" Requires="v">
                <p:oleObj name="Equation" r:id="rId12" imgW="838080" imgH="761760" progId="Equation.3">
                  <p:embed/>
                </p:oleObj>
              </mc:Choice>
              <mc:Fallback>
                <p:oleObj name="Equation" r:id="rId12" imgW="838080" imgH="761760" progId="Equation.3">
                  <p:embed/>
                  <p:pic>
                    <p:nvPicPr>
                      <p:cNvPr id="123953" name="Object 4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151064" y="1844676"/>
                        <a:ext cx="1912937" cy="1738313"/>
                      </a:xfrm>
                      <a:prstGeom prst="rect">
                        <a:avLst/>
                      </a:prstGeom>
                      <a:noFill/>
                      <a:extLst>
                        <a:ext uri="{909E8E84-426E-40DD-AFC4-6F175D3DCCD1}">
                          <a14:hiddenFill xmlns:a14="http://schemas.microsoft.com/office/drawing/2010/main">
                            <a:solidFill>
                              <a:schemeClr val="bg1"/>
                            </a:solidFill>
                          </a14:hiddenFill>
                        </a:ext>
                      </a:extLst>
                    </p:spPr>
                  </p:pic>
                </p:oleObj>
              </mc:Fallback>
            </mc:AlternateContent>
          </a:graphicData>
        </a:graphic>
      </p:graphicFrame>
      <p:sp>
        <p:nvSpPr>
          <p:cNvPr id="2" name="Line 12">
            <a:extLst>
              <a:ext uri="{FF2B5EF4-FFF2-40B4-BE49-F238E27FC236}">
                <a16:creationId xmlns:a16="http://schemas.microsoft.com/office/drawing/2014/main" id="{07D9CFA8-FCEB-0F11-034F-FDE5F96BA4C4}"/>
              </a:ext>
            </a:extLst>
          </p:cNvPr>
          <p:cNvSpPr>
            <a:spLocks noChangeShapeType="1"/>
          </p:cNvSpPr>
          <p:nvPr/>
        </p:nvSpPr>
        <p:spPr bwMode="auto">
          <a:xfrm flipH="1">
            <a:off x="5735638" y="2643189"/>
            <a:ext cx="443011" cy="541337"/>
          </a:xfrm>
          <a:prstGeom prst="line">
            <a:avLst/>
          </a:prstGeom>
          <a:noFill/>
          <a:ln w="9525">
            <a:solidFill>
              <a:schemeClr val="tx1"/>
            </a:solidFill>
            <a:round/>
            <a:headEnd/>
            <a:tailEnd type="triangle" w="med" len="med"/>
          </a:ln>
          <a:effectLst/>
        </p:spPr>
        <p:txBody>
          <a:bodyPr/>
          <a:lstStyle/>
          <a:p>
            <a:endParaRPr lang="tr-TR"/>
          </a:p>
        </p:txBody>
      </p:sp>
      <p:sp>
        <p:nvSpPr>
          <p:cNvPr id="3" name="Line 13">
            <a:extLst>
              <a:ext uri="{FF2B5EF4-FFF2-40B4-BE49-F238E27FC236}">
                <a16:creationId xmlns:a16="http://schemas.microsoft.com/office/drawing/2014/main" id="{C4F0CE78-515B-B4E2-7A25-8283450B9266}"/>
              </a:ext>
            </a:extLst>
          </p:cNvPr>
          <p:cNvSpPr>
            <a:spLocks noChangeShapeType="1"/>
          </p:cNvSpPr>
          <p:nvPr/>
        </p:nvSpPr>
        <p:spPr bwMode="auto">
          <a:xfrm flipH="1">
            <a:off x="6816725" y="3110103"/>
            <a:ext cx="676275" cy="793561"/>
          </a:xfrm>
          <a:prstGeom prst="line">
            <a:avLst/>
          </a:prstGeom>
          <a:noFill/>
          <a:ln w="9525">
            <a:solidFill>
              <a:schemeClr val="tx1"/>
            </a:solidFill>
            <a:round/>
            <a:headEnd/>
            <a:tailEnd type="triangle" w="med" len="med"/>
          </a:ln>
          <a:effectLst/>
        </p:spPr>
        <p:txBody>
          <a:bodyPr/>
          <a:lstStyle/>
          <a:p>
            <a:endParaRPr lang="tr-TR"/>
          </a:p>
        </p:txBody>
      </p:sp>
    </p:spTree>
    <p:extLst>
      <p:ext uri="{BB962C8B-B14F-4D97-AF65-F5344CB8AC3E}">
        <p14:creationId xmlns:p14="http://schemas.microsoft.com/office/powerpoint/2010/main" val="27310828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816BD-F216-85B5-53C6-B237A95CA1A8}"/>
              </a:ext>
            </a:extLst>
          </p:cNvPr>
          <p:cNvSpPr>
            <a:spLocks noGrp="1"/>
          </p:cNvSpPr>
          <p:nvPr>
            <p:ph type="title"/>
          </p:nvPr>
        </p:nvSpPr>
        <p:spPr/>
        <p:txBody>
          <a:bodyPr/>
          <a:lstStyle/>
          <a:p>
            <a:r>
              <a:rPr lang="en-US" dirty="0"/>
              <a:t>Prediction Error and Accuracy</a:t>
            </a:r>
          </a:p>
        </p:txBody>
      </p:sp>
      <p:sp>
        <p:nvSpPr>
          <p:cNvPr id="4" name="Slide Number Placeholder 3">
            <a:extLst>
              <a:ext uri="{FF2B5EF4-FFF2-40B4-BE49-F238E27FC236}">
                <a16:creationId xmlns:a16="http://schemas.microsoft.com/office/drawing/2014/main" id="{D9ECBB87-7F92-1E3F-052F-52895E236358}"/>
              </a:ext>
            </a:extLst>
          </p:cNvPr>
          <p:cNvSpPr>
            <a:spLocks noGrp="1"/>
          </p:cNvSpPr>
          <p:nvPr>
            <p:ph type="sldNum" sz="quarter" idx="12"/>
          </p:nvPr>
        </p:nvSpPr>
        <p:spPr/>
        <p:txBody>
          <a:bodyPr/>
          <a:lstStyle/>
          <a:p>
            <a:fld id="{A4DA0FD2-D456-4FC5-A587-87644C4EB2D1}" type="slidenum">
              <a:rPr lang="tr-TR" smtClean="0"/>
              <a:pPr/>
              <a:t>47</a:t>
            </a:fld>
            <a:endParaRPr lang="tr-TR"/>
          </a:p>
        </p:txBody>
      </p:sp>
      <mc:AlternateContent xmlns:mc="http://schemas.openxmlformats.org/markup-compatibility/2006" xmlns:a14="http://schemas.microsoft.com/office/drawing/2010/main">
        <mc:Choice Requires="a14">
          <p:sp>
            <p:nvSpPr>
              <p:cNvPr id="15" name="Content Placeholder 14">
                <a:extLst>
                  <a:ext uri="{FF2B5EF4-FFF2-40B4-BE49-F238E27FC236}">
                    <a16:creationId xmlns:a16="http://schemas.microsoft.com/office/drawing/2014/main" id="{0C115878-BFEA-E38A-9817-59E2F30BEB5A}"/>
                  </a:ext>
                </a:extLst>
              </p:cNvPr>
              <p:cNvSpPr>
                <a:spLocks noGrp="1"/>
              </p:cNvSpPr>
              <p:nvPr>
                <p:ph idx="1"/>
              </p:nvPr>
            </p:nvSpPr>
            <p:spPr/>
            <p:txBody>
              <a:bodyPr/>
              <a:lstStyle/>
              <a:p>
                <a:r>
                  <a:rPr lang="en-US" b="1" dirty="0"/>
                  <a:t>Continuous outcome assessment: </a:t>
                </a:r>
                <a:r>
                  <a:rPr lang="en-US" dirty="0"/>
                  <a:t>Error defined as the difference between </a:t>
                </a:r>
                <a14:m>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𝑦</m:t>
                        </m:r>
                      </m:e>
                    </m:acc>
                    <m:r>
                      <a:rPr lang="en-US">
                        <a:latin typeface="Cambria Math" panose="02040503050406030204" pitchFamily="18" charset="0"/>
                      </a:rPr>
                      <m:t>​</m:t>
                    </m:r>
                  </m:oMath>
                </a14:m>
                <a:r>
                  <a:rPr lang="en-US" dirty="0"/>
                  <a:t> and actual outcome y.</a:t>
                </a:r>
              </a:p>
              <a:p>
                <a:r>
                  <a:rPr lang="en-US" b="1" dirty="0"/>
                  <a:t>Goal: </a:t>
                </a:r>
                <a:r>
                  <a:rPr lang="en-US" dirty="0"/>
                  <a:t>Minimize the difference to achieve accurate predictions.</a:t>
                </a:r>
              </a:p>
            </p:txBody>
          </p:sp>
        </mc:Choice>
        <mc:Fallback xmlns="">
          <p:sp>
            <p:nvSpPr>
              <p:cNvPr id="15" name="Content Placeholder 14">
                <a:extLst>
                  <a:ext uri="{FF2B5EF4-FFF2-40B4-BE49-F238E27FC236}">
                    <a16:creationId xmlns:a16="http://schemas.microsoft.com/office/drawing/2014/main" id="{0C115878-BFEA-E38A-9817-59E2F30BEB5A}"/>
                  </a:ext>
                </a:extLst>
              </p:cNvPr>
              <p:cNvSpPr>
                <a:spLocks noGrp="1" noRot="1" noChangeAspect="1" noMove="1" noResize="1" noEditPoints="1" noAdjustHandles="1" noChangeArrowheads="1" noChangeShapeType="1" noTextEdit="1"/>
              </p:cNvSpPr>
              <p:nvPr>
                <p:ph idx="1"/>
              </p:nvPr>
            </p:nvSpPr>
            <p:spPr>
              <a:blipFill>
                <a:blip r:embed="rId3"/>
                <a:stretch>
                  <a:fillRect l="-159" t="-6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B1654D9-B983-D52F-A448-E3614B2BCDD0}"/>
                  </a:ext>
                </a:extLst>
              </p:cNvPr>
              <p:cNvSpPr txBox="1"/>
              <p:nvPr/>
            </p:nvSpPr>
            <p:spPr>
              <a:xfrm>
                <a:off x="2438400" y="3751013"/>
                <a:ext cx="4876800" cy="584775"/>
              </a:xfrm>
              <a:prstGeom prst="rect">
                <a:avLst/>
              </a:prstGeom>
              <a:noFill/>
            </p:spPr>
            <p:txBody>
              <a:bodyPr wrap="square">
                <a:spAutoFit/>
              </a:bodyPr>
              <a:lstStyle/>
              <a:p>
                <a:r>
                  <a:rPr lang="en-US" sz="3200" dirty="0">
                    <a:solidFill>
                      <a:srgbClr val="7030A0"/>
                    </a:solidFill>
                  </a:rPr>
                  <a:t>Error= </a:t>
                </a:r>
                <a14:m>
                  <m:oMath xmlns:m="http://schemas.openxmlformats.org/officeDocument/2006/math">
                    <m:r>
                      <a:rPr lang="en-US" sz="3200" i="1">
                        <a:solidFill>
                          <a:srgbClr val="7030A0"/>
                        </a:solidFill>
                        <a:latin typeface="Cambria Math" panose="02040503050406030204" pitchFamily="18" charset="0"/>
                      </a:rPr>
                      <m:t>𝑌</m:t>
                    </m:r>
                    <m:r>
                      <a:rPr lang="en-US" sz="3200" i="1">
                        <a:solidFill>
                          <a:srgbClr val="7030A0"/>
                        </a:solidFill>
                        <a:latin typeface="Cambria Math" panose="02040503050406030204" pitchFamily="18" charset="0"/>
                      </a:rPr>
                      <m:t>−</m:t>
                    </m:r>
                    <m:acc>
                      <m:accPr>
                        <m:chr m:val="̂"/>
                        <m:ctrlPr>
                          <a:rPr lang="en-US" sz="3200" i="1">
                            <a:solidFill>
                              <a:srgbClr val="7030A0"/>
                            </a:solidFill>
                            <a:latin typeface="Cambria Math" panose="02040503050406030204" pitchFamily="18" charset="0"/>
                          </a:rPr>
                        </m:ctrlPr>
                      </m:accPr>
                      <m:e>
                        <m:r>
                          <a:rPr lang="en-US" sz="3200" i="1">
                            <a:solidFill>
                              <a:srgbClr val="7030A0"/>
                            </a:solidFill>
                            <a:latin typeface="Cambria Math" panose="02040503050406030204" pitchFamily="18" charset="0"/>
                          </a:rPr>
                          <m:t>𝑦</m:t>
                        </m:r>
                      </m:e>
                    </m:acc>
                    <m:r>
                      <a:rPr lang="en-US" sz="3200">
                        <a:solidFill>
                          <a:srgbClr val="7030A0"/>
                        </a:solidFill>
                        <a:latin typeface="Cambria Math" panose="02040503050406030204" pitchFamily="18" charset="0"/>
                      </a:rPr>
                      <m:t>​</m:t>
                    </m:r>
                  </m:oMath>
                </a14:m>
                <a:endParaRPr lang="en-US" sz="3200" dirty="0">
                  <a:solidFill>
                    <a:srgbClr val="7030A0"/>
                  </a:solidFill>
                </a:endParaRPr>
              </a:p>
            </p:txBody>
          </p:sp>
        </mc:Choice>
        <mc:Fallback xmlns="">
          <p:sp>
            <p:nvSpPr>
              <p:cNvPr id="16" name="TextBox 15">
                <a:extLst>
                  <a:ext uri="{FF2B5EF4-FFF2-40B4-BE49-F238E27FC236}">
                    <a16:creationId xmlns:a16="http://schemas.microsoft.com/office/drawing/2014/main" id="{EB1654D9-B983-D52F-A448-E3614B2BCDD0}"/>
                  </a:ext>
                </a:extLst>
              </p:cNvPr>
              <p:cNvSpPr txBox="1">
                <a:spLocks noRot="1" noChangeAspect="1" noMove="1" noResize="1" noEditPoints="1" noAdjustHandles="1" noChangeArrowheads="1" noChangeShapeType="1" noTextEdit="1"/>
              </p:cNvSpPr>
              <p:nvPr/>
            </p:nvSpPr>
            <p:spPr>
              <a:xfrm>
                <a:off x="2438400" y="3751013"/>
                <a:ext cx="4876800" cy="584775"/>
              </a:xfrm>
              <a:prstGeom prst="rect">
                <a:avLst/>
              </a:prstGeom>
              <a:blipFill>
                <a:blip r:embed="rId4"/>
                <a:stretch>
                  <a:fillRect l="-3125" t="-12766" b="-34043"/>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E0B55B39-AB75-C132-7D3A-2CF4B77B84ED}"/>
              </a:ext>
            </a:extLst>
          </p:cNvPr>
          <p:cNvSpPr txBox="1"/>
          <p:nvPr/>
        </p:nvSpPr>
        <p:spPr>
          <a:xfrm>
            <a:off x="2362200" y="5674130"/>
            <a:ext cx="6152606" cy="369332"/>
          </a:xfrm>
          <a:prstGeom prst="rect">
            <a:avLst/>
          </a:prstGeom>
          <a:noFill/>
        </p:spPr>
        <p:txBody>
          <a:bodyPr wrap="square">
            <a:spAutoFit/>
          </a:bodyPr>
          <a:lstStyle/>
          <a:p>
            <a:r>
              <a:rPr lang="en-US" dirty="0"/>
              <a:t>There is no right or wrong outcome</a:t>
            </a:r>
          </a:p>
        </p:txBody>
      </p:sp>
    </p:spTree>
    <p:extLst>
      <p:ext uri="{BB962C8B-B14F-4D97-AF65-F5344CB8AC3E}">
        <p14:creationId xmlns:p14="http://schemas.microsoft.com/office/powerpoint/2010/main" val="25783764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A7B40-976C-19A8-F5A8-4CD497D3280E}"/>
              </a:ext>
            </a:extLst>
          </p:cNvPr>
          <p:cNvSpPr>
            <a:spLocks noGrp="1"/>
          </p:cNvSpPr>
          <p:nvPr>
            <p:ph type="title"/>
          </p:nvPr>
        </p:nvSpPr>
        <p:spPr/>
        <p:txBody>
          <a:bodyPr>
            <a:normAutofit/>
          </a:bodyPr>
          <a:lstStyle/>
          <a:p>
            <a:r>
              <a:rPr lang="en-US" dirty="0"/>
              <a:t>The most common evaluation metrics for regression</a:t>
            </a:r>
          </a:p>
        </p:txBody>
      </p:sp>
      <p:sp>
        <p:nvSpPr>
          <p:cNvPr id="3" name="Content Placeholder 2">
            <a:extLst>
              <a:ext uri="{FF2B5EF4-FFF2-40B4-BE49-F238E27FC236}">
                <a16:creationId xmlns:a16="http://schemas.microsoft.com/office/drawing/2014/main" id="{5C805B78-1340-5FBD-7278-3499004F300B}"/>
              </a:ext>
            </a:extLst>
          </p:cNvPr>
          <p:cNvSpPr>
            <a:spLocks noGrp="1"/>
          </p:cNvSpPr>
          <p:nvPr>
            <p:ph idx="1"/>
          </p:nvPr>
        </p:nvSpPr>
        <p:spPr/>
        <p:txBody>
          <a:bodyPr>
            <a:normAutofit/>
          </a:bodyPr>
          <a:lstStyle/>
          <a:p>
            <a:r>
              <a:rPr lang="en-US" b="1" dirty="0"/>
              <a:t>Mean Absolute Error (MAE):      </a:t>
            </a:r>
          </a:p>
          <a:p>
            <a:pPr marL="324000" lvl="1" indent="0">
              <a:buNone/>
            </a:pPr>
            <a:r>
              <a:rPr lang="en-US" dirty="0">
                <a:solidFill>
                  <a:srgbClr val="9344D1"/>
                </a:solidFill>
              </a:rPr>
              <a:t>MAE = (1 / n) * </a:t>
            </a:r>
            <a:r>
              <a:rPr lang="el-GR" dirty="0">
                <a:solidFill>
                  <a:srgbClr val="9344D1"/>
                </a:solidFill>
              </a:rPr>
              <a:t>Σ |</a:t>
            </a:r>
            <a:r>
              <a:rPr lang="en-US" dirty="0">
                <a:solidFill>
                  <a:srgbClr val="9344D1"/>
                </a:solidFill>
              </a:rPr>
              <a:t>actual - predicted|</a:t>
            </a:r>
            <a:endParaRPr lang="en-US" dirty="0"/>
          </a:p>
          <a:p>
            <a:r>
              <a:rPr lang="en-US" b="1" dirty="0"/>
              <a:t>Mean Squared Error (MSE):        </a:t>
            </a:r>
          </a:p>
          <a:p>
            <a:pPr marL="324000" lvl="1" indent="0">
              <a:buNone/>
            </a:pPr>
            <a:r>
              <a:rPr lang="en-US" dirty="0">
                <a:solidFill>
                  <a:srgbClr val="9344D1"/>
                </a:solidFill>
              </a:rPr>
              <a:t>MSE = (1 / n) * </a:t>
            </a:r>
            <a:r>
              <a:rPr lang="el-GR" dirty="0">
                <a:solidFill>
                  <a:srgbClr val="9344D1"/>
                </a:solidFill>
              </a:rPr>
              <a:t>Σ (</a:t>
            </a:r>
            <a:r>
              <a:rPr lang="en-US" dirty="0">
                <a:solidFill>
                  <a:srgbClr val="9344D1"/>
                </a:solidFill>
              </a:rPr>
              <a:t>actual - predicted)^2</a:t>
            </a:r>
            <a:endParaRPr lang="en-US" dirty="0"/>
          </a:p>
          <a:p>
            <a:r>
              <a:rPr lang="en-US" b="1" dirty="0"/>
              <a:t>Root Mean Squared Error (RMSE):        </a:t>
            </a:r>
          </a:p>
          <a:p>
            <a:pPr marL="324000" lvl="1" indent="0">
              <a:buNone/>
            </a:pPr>
            <a:r>
              <a:rPr lang="en-US" dirty="0">
                <a:solidFill>
                  <a:srgbClr val="9344D1"/>
                </a:solidFill>
              </a:rPr>
              <a:t>RMSE = √(MSE)</a:t>
            </a:r>
            <a:endParaRPr lang="en-US" dirty="0"/>
          </a:p>
          <a:p>
            <a:r>
              <a:rPr lang="en-US" b="1" dirty="0"/>
              <a:t>Mean Absolute Percentage Error (MAPE):    </a:t>
            </a:r>
          </a:p>
          <a:p>
            <a:pPr marL="324000" lvl="1" indent="0">
              <a:buNone/>
            </a:pPr>
            <a:r>
              <a:rPr lang="en-US" dirty="0">
                <a:solidFill>
                  <a:srgbClr val="9344D1"/>
                </a:solidFill>
              </a:rPr>
              <a:t>MAPE = (1 / n) * </a:t>
            </a:r>
            <a:r>
              <a:rPr lang="el-GR" dirty="0">
                <a:solidFill>
                  <a:srgbClr val="9344D1"/>
                </a:solidFill>
              </a:rPr>
              <a:t>Σ (|</a:t>
            </a:r>
            <a:r>
              <a:rPr lang="en-US" dirty="0">
                <a:solidFill>
                  <a:srgbClr val="9344D1"/>
                </a:solidFill>
              </a:rPr>
              <a:t>actual - predicted| / |actual|) * 100%</a:t>
            </a:r>
            <a:endParaRPr lang="en-US" dirty="0"/>
          </a:p>
          <a:p>
            <a:r>
              <a:rPr lang="en-US" b="1" dirty="0"/>
              <a:t>R-squared (R²):</a:t>
            </a:r>
          </a:p>
        </p:txBody>
      </p:sp>
      <p:sp>
        <p:nvSpPr>
          <p:cNvPr id="4" name="Slide Number Placeholder 3">
            <a:extLst>
              <a:ext uri="{FF2B5EF4-FFF2-40B4-BE49-F238E27FC236}">
                <a16:creationId xmlns:a16="http://schemas.microsoft.com/office/drawing/2014/main" id="{2F8D4798-92BA-39A5-0E96-DFB9247E139E}"/>
              </a:ext>
            </a:extLst>
          </p:cNvPr>
          <p:cNvSpPr>
            <a:spLocks noGrp="1"/>
          </p:cNvSpPr>
          <p:nvPr>
            <p:ph type="sldNum" sz="quarter" idx="12"/>
          </p:nvPr>
        </p:nvSpPr>
        <p:spPr/>
        <p:txBody>
          <a:bodyPr/>
          <a:lstStyle/>
          <a:p>
            <a:fld id="{A4DA0FD2-D456-4FC5-A587-87644C4EB2D1}" type="slidenum">
              <a:rPr lang="tr-TR" smtClean="0"/>
              <a:pPr/>
              <a:t>48</a:t>
            </a:fld>
            <a:endParaRPr lang="tr-TR"/>
          </a:p>
        </p:txBody>
      </p:sp>
    </p:spTree>
    <p:extLst>
      <p:ext uri="{BB962C8B-B14F-4D97-AF65-F5344CB8AC3E}">
        <p14:creationId xmlns:p14="http://schemas.microsoft.com/office/powerpoint/2010/main" val="9443215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7A7B40-976C-19A8-F5A8-4CD497D3280E}"/>
              </a:ext>
            </a:extLst>
          </p:cNvPr>
          <p:cNvSpPr>
            <a:spLocks noGrp="1"/>
          </p:cNvSpPr>
          <p:nvPr>
            <p:ph type="title"/>
          </p:nvPr>
        </p:nvSpPr>
        <p:spPr/>
        <p:txBody>
          <a:bodyPr>
            <a:normAutofit/>
          </a:bodyPr>
          <a:lstStyle/>
          <a:p>
            <a:r>
              <a:rPr lang="en-US" dirty="0"/>
              <a:t>The most common evaluation metrics for regression</a:t>
            </a:r>
          </a:p>
        </p:txBody>
      </p:sp>
      <p:sp>
        <p:nvSpPr>
          <p:cNvPr id="3" name="Content Placeholder 2">
            <a:extLst>
              <a:ext uri="{FF2B5EF4-FFF2-40B4-BE49-F238E27FC236}">
                <a16:creationId xmlns:a16="http://schemas.microsoft.com/office/drawing/2014/main" id="{5C805B78-1340-5FBD-7278-3499004F300B}"/>
              </a:ext>
            </a:extLst>
          </p:cNvPr>
          <p:cNvSpPr>
            <a:spLocks noGrp="1"/>
          </p:cNvSpPr>
          <p:nvPr>
            <p:ph idx="1"/>
          </p:nvPr>
        </p:nvSpPr>
        <p:spPr/>
        <p:txBody>
          <a:bodyPr/>
          <a:lstStyle/>
          <a:p>
            <a:r>
              <a:rPr lang="en-US" b="1" dirty="0"/>
              <a:t>R-squared (R²):</a:t>
            </a:r>
          </a:p>
          <a:p>
            <a:pPr lvl="1">
              <a:buFont typeface="Courier New" panose="02070309020205020404" pitchFamily="49" charset="0"/>
              <a:buChar char="o"/>
            </a:pPr>
            <a:r>
              <a:rPr lang="en-US" dirty="0"/>
              <a:t>R² quantifies the proportion of the variance in the dependent variable (target) that is predictable from the independent variables (features) in the model.</a:t>
            </a:r>
          </a:p>
          <a:p>
            <a:pPr lvl="1">
              <a:buFont typeface="Courier New" panose="02070309020205020404" pitchFamily="49" charset="0"/>
              <a:buChar char="o"/>
            </a:pPr>
            <a:r>
              <a:rPr lang="en-US" b="1" dirty="0">
                <a:solidFill>
                  <a:srgbClr val="7030A0"/>
                </a:solidFill>
              </a:rPr>
              <a:t>It ranges from 0 to 1, where 1 indicates a perfect fit.</a:t>
            </a:r>
          </a:p>
          <a:p>
            <a:pPr lvl="1">
              <a:buFont typeface="Courier New" panose="02070309020205020404" pitchFamily="49" charset="0"/>
              <a:buChar char="o"/>
            </a:pPr>
            <a:r>
              <a:rPr lang="en-US" dirty="0"/>
              <a:t>R² can be interpreted as the goodness of fit of the regression model.</a:t>
            </a:r>
          </a:p>
          <a:p>
            <a:pPr lvl="1">
              <a:buFont typeface="Courier New" panose="02070309020205020404" pitchFamily="49" charset="0"/>
              <a:buChar char="o"/>
            </a:pPr>
            <a:endParaRPr lang="en-US" dirty="0"/>
          </a:p>
          <a:p>
            <a:pPr marL="324000" lvl="1" indent="0">
              <a:buNone/>
            </a:pPr>
            <a:r>
              <a:rPr lang="en-US" b="1" dirty="0"/>
              <a:t>R² = 1 - (SSR / SST)</a:t>
            </a:r>
          </a:p>
          <a:p>
            <a:pPr marL="324000" lvl="1" indent="0">
              <a:buNone/>
            </a:pPr>
            <a:r>
              <a:rPr lang="en-US" i="1" dirty="0"/>
              <a:t>where SSR is the Sum of Squares of Residuals and SST is the Total Sum of Squares.</a:t>
            </a:r>
          </a:p>
        </p:txBody>
      </p:sp>
      <p:sp>
        <p:nvSpPr>
          <p:cNvPr id="4" name="Slide Number Placeholder 3">
            <a:extLst>
              <a:ext uri="{FF2B5EF4-FFF2-40B4-BE49-F238E27FC236}">
                <a16:creationId xmlns:a16="http://schemas.microsoft.com/office/drawing/2014/main" id="{2F8D4798-92BA-39A5-0E96-DFB9247E139E}"/>
              </a:ext>
            </a:extLst>
          </p:cNvPr>
          <p:cNvSpPr>
            <a:spLocks noGrp="1"/>
          </p:cNvSpPr>
          <p:nvPr>
            <p:ph type="sldNum" sz="quarter" idx="12"/>
          </p:nvPr>
        </p:nvSpPr>
        <p:spPr/>
        <p:txBody>
          <a:bodyPr/>
          <a:lstStyle/>
          <a:p>
            <a:fld id="{A4DA0FD2-D456-4FC5-A587-87644C4EB2D1}" type="slidenum">
              <a:rPr lang="tr-TR" smtClean="0"/>
              <a:pPr/>
              <a:t>49</a:t>
            </a:fld>
            <a:endParaRPr lang="tr-TR"/>
          </a:p>
        </p:txBody>
      </p:sp>
      <p:sp>
        <p:nvSpPr>
          <p:cNvPr id="6" name="TextBox 5">
            <a:extLst>
              <a:ext uri="{FF2B5EF4-FFF2-40B4-BE49-F238E27FC236}">
                <a16:creationId xmlns:a16="http://schemas.microsoft.com/office/drawing/2014/main" id="{3A343E4D-161E-72FE-CDAB-ACA4C1219348}"/>
              </a:ext>
            </a:extLst>
          </p:cNvPr>
          <p:cNvSpPr txBox="1"/>
          <p:nvPr/>
        </p:nvSpPr>
        <p:spPr>
          <a:xfrm>
            <a:off x="2362200" y="5215368"/>
            <a:ext cx="6781800" cy="1077218"/>
          </a:xfrm>
          <a:prstGeom prst="rect">
            <a:avLst/>
          </a:prstGeom>
          <a:noFill/>
        </p:spPr>
        <p:txBody>
          <a:bodyPr wrap="square">
            <a:spAutoFit/>
          </a:bodyPr>
          <a:lstStyle/>
          <a:p>
            <a:r>
              <a:rPr lang="en-US" sz="1600" b="1" dirty="0">
                <a:solidFill>
                  <a:srgbClr val="7030A0"/>
                </a:solidFill>
              </a:rPr>
              <a:t>EX: </a:t>
            </a:r>
          </a:p>
          <a:p>
            <a:r>
              <a:rPr lang="en-US" sz="1600" dirty="0"/>
              <a:t>R-squared: 0.9183115. This indicates that approximately 91.83% of the variance in the dependent variable is explained by the model. It's a measure of the model's goodness of fit.</a:t>
            </a:r>
          </a:p>
        </p:txBody>
      </p:sp>
    </p:spTree>
    <p:extLst>
      <p:ext uri="{BB962C8B-B14F-4D97-AF65-F5344CB8AC3E}">
        <p14:creationId xmlns:p14="http://schemas.microsoft.com/office/powerpoint/2010/main" val="5945976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20F59-9208-2398-DAB3-4DABB3CED4E2}"/>
              </a:ext>
            </a:extLst>
          </p:cNvPr>
          <p:cNvSpPr>
            <a:spLocks noGrp="1"/>
          </p:cNvSpPr>
          <p:nvPr>
            <p:ph type="title"/>
          </p:nvPr>
        </p:nvSpPr>
        <p:spPr/>
        <p:txBody>
          <a:bodyPr/>
          <a:lstStyle/>
          <a:p>
            <a:r>
              <a:rPr lang="en-US" dirty="0"/>
              <a:t>p-value</a:t>
            </a:r>
          </a:p>
        </p:txBody>
      </p:sp>
      <p:sp>
        <p:nvSpPr>
          <p:cNvPr id="3" name="Content Placeholder 2">
            <a:extLst>
              <a:ext uri="{FF2B5EF4-FFF2-40B4-BE49-F238E27FC236}">
                <a16:creationId xmlns:a16="http://schemas.microsoft.com/office/drawing/2014/main" id="{28E895F8-9795-5CB9-DAE2-FBF2E17D1DE6}"/>
              </a:ext>
            </a:extLst>
          </p:cNvPr>
          <p:cNvSpPr>
            <a:spLocks noGrp="1"/>
          </p:cNvSpPr>
          <p:nvPr>
            <p:ph idx="1"/>
          </p:nvPr>
        </p:nvSpPr>
        <p:spPr/>
        <p:txBody>
          <a:bodyPr/>
          <a:lstStyle/>
          <a:p>
            <a:r>
              <a:rPr lang="en-US" dirty="0"/>
              <a:t>A p-value, short for "probability value," is a statistical measure used in hypothesis testing to assess the strength of evidence against a null hypothesis. </a:t>
            </a:r>
          </a:p>
          <a:p>
            <a:r>
              <a:rPr lang="en-US" dirty="0"/>
              <a:t>It helps you determine whether the results of a statistical test are statistically significant or if they could have occurred by random chance.</a:t>
            </a:r>
          </a:p>
          <a:p>
            <a:endParaRPr lang="en-US" dirty="0"/>
          </a:p>
          <a:p>
            <a:pPr marL="0" indent="0">
              <a:buNone/>
            </a:pPr>
            <a:r>
              <a:rPr lang="en-US" b="1" dirty="0">
                <a:solidFill>
                  <a:srgbClr val="9344D1"/>
                </a:solidFill>
              </a:rPr>
              <a:t>How to interpret it:</a:t>
            </a:r>
          </a:p>
          <a:p>
            <a:r>
              <a:rPr lang="en-US" b="1" dirty="0">
                <a:solidFill>
                  <a:srgbClr val="9344D1"/>
                </a:solidFill>
              </a:rPr>
              <a:t>Low p-value (e.g., ≤ 0.05): </a:t>
            </a:r>
            <a:r>
              <a:rPr lang="en-US" dirty="0"/>
              <a:t>If the p-value is small, it means your results are probably not due to chance. You might have found something significant.</a:t>
            </a:r>
          </a:p>
          <a:p>
            <a:r>
              <a:rPr lang="en-US" b="1" dirty="0">
                <a:solidFill>
                  <a:srgbClr val="9344D1"/>
                </a:solidFill>
              </a:rPr>
              <a:t>High p-value (e.g., &gt; 0.05): </a:t>
            </a:r>
            <a:r>
              <a:rPr lang="en-US" dirty="0"/>
              <a:t>If the p-value is large, it suggests your results could be due to chance. You might not have found something significant.</a:t>
            </a:r>
          </a:p>
          <a:p>
            <a:endParaRPr lang="en-US" dirty="0"/>
          </a:p>
        </p:txBody>
      </p:sp>
      <p:sp>
        <p:nvSpPr>
          <p:cNvPr id="4" name="Slide Number Placeholder 3">
            <a:extLst>
              <a:ext uri="{FF2B5EF4-FFF2-40B4-BE49-F238E27FC236}">
                <a16:creationId xmlns:a16="http://schemas.microsoft.com/office/drawing/2014/main" id="{E7375F3B-B52F-0F1A-BE89-542027AC8049}"/>
              </a:ext>
            </a:extLst>
          </p:cNvPr>
          <p:cNvSpPr>
            <a:spLocks noGrp="1"/>
          </p:cNvSpPr>
          <p:nvPr>
            <p:ph type="sldNum" sz="quarter" idx="12"/>
          </p:nvPr>
        </p:nvSpPr>
        <p:spPr/>
        <p:txBody>
          <a:bodyPr/>
          <a:lstStyle/>
          <a:p>
            <a:fld id="{A4DA0FD2-D456-4FC5-A587-87644C4EB2D1}" type="slidenum">
              <a:rPr lang="tr-TR" smtClean="0"/>
              <a:pPr/>
              <a:t>50</a:t>
            </a:fld>
            <a:endParaRPr lang="tr-TR"/>
          </a:p>
        </p:txBody>
      </p:sp>
    </p:spTree>
    <p:extLst>
      <p:ext uri="{BB962C8B-B14F-4D97-AF65-F5344CB8AC3E}">
        <p14:creationId xmlns:p14="http://schemas.microsoft.com/office/powerpoint/2010/main" val="23137545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E1D4C-15DD-2895-7C7B-CEFBD6F9A833}"/>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771D53DB-60B5-A54B-B701-C5F67E0B325F}"/>
              </a:ext>
            </a:extLst>
          </p:cNvPr>
          <p:cNvSpPr>
            <a:spLocks noGrp="1"/>
          </p:cNvSpPr>
          <p:nvPr>
            <p:ph idx="1"/>
          </p:nvPr>
        </p:nvSpPr>
        <p:spPr/>
        <p:txBody>
          <a:bodyPr/>
          <a:lstStyle/>
          <a:p>
            <a:pPr marL="0" indent="0">
              <a:buNone/>
            </a:pPr>
            <a:r>
              <a:rPr lang="en-US" b="1" i="0" u="none" strike="noStrike" dirty="0">
                <a:effectLst/>
              </a:rPr>
              <a:t>Machine Learning</a:t>
            </a:r>
          </a:p>
          <a:p>
            <a:pPr marL="324000" lvl="1" indent="0">
              <a:buNone/>
            </a:pPr>
            <a:r>
              <a:rPr lang="en-US" i="0" u="none" strike="noStrike" dirty="0">
                <a:effectLst/>
              </a:rPr>
              <a:t>Introduction on ML Types and Applications</a:t>
            </a:r>
          </a:p>
          <a:p>
            <a:pPr marL="324000" lvl="1" indent="0">
              <a:buNone/>
            </a:pPr>
            <a:r>
              <a:rPr lang="en-US" i="0" u="none" strike="noStrike" dirty="0">
                <a:effectLst/>
              </a:rPr>
              <a:t>Supervised Learning</a:t>
            </a:r>
          </a:p>
          <a:p>
            <a:pPr lvl="1">
              <a:buFont typeface="Arial" panose="020B0604020202020204" pitchFamily="34" charset="0"/>
              <a:buChar char="•"/>
            </a:pPr>
            <a:r>
              <a:rPr lang="en-US" b="0" i="0" u="none" strike="noStrike" dirty="0">
                <a:effectLst/>
              </a:rPr>
              <a:t>Prediction</a:t>
            </a:r>
          </a:p>
          <a:p>
            <a:pPr lvl="1">
              <a:buFont typeface="Arial" panose="020B0604020202020204" pitchFamily="34" charset="0"/>
              <a:buChar char="•"/>
            </a:pPr>
            <a:r>
              <a:rPr lang="en-US" b="0" i="0" u="none" strike="noStrike" dirty="0">
                <a:effectLst/>
              </a:rPr>
              <a:t>Regression</a:t>
            </a:r>
          </a:p>
          <a:p>
            <a:pPr lvl="1">
              <a:buFont typeface="Arial" panose="020B0604020202020204" pitchFamily="34" charset="0"/>
              <a:buChar char="•"/>
            </a:pPr>
            <a:r>
              <a:rPr lang="en-US" dirty="0"/>
              <a:t>Feature Selection</a:t>
            </a:r>
            <a:endParaRPr lang="en-US" b="0" i="0" u="none" strike="noStrike" dirty="0">
              <a:effectLst/>
            </a:endParaRPr>
          </a:p>
          <a:p>
            <a:pPr lvl="1">
              <a:buFont typeface="Arial" panose="020B0604020202020204" pitchFamily="34" charset="0"/>
              <a:buChar char="•"/>
            </a:pPr>
            <a:r>
              <a:rPr lang="en-US" dirty="0"/>
              <a:t>Model Evaluation</a:t>
            </a:r>
          </a:p>
        </p:txBody>
      </p:sp>
      <p:sp>
        <p:nvSpPr>
          <p:cNvPr id="4" name="Slide Number Placeholder 3">
            <a:extLst>
              <a:ext uri="{FF2B5EF4-FFF2-40B4-BE49-F238E27FC236}">
                <a16:creationId xmlns:a16="http://schemas.microsoft.com/office/drawing/2014/main" id="{1E8B9AF8-70C8-CA78-A894-AA52958055FB}"/>
              </a:ext>
            </a:extLst>
          </p:cNvPr>
          <p:cNvSpPr>
            <a:spLocks noGrp="1"/>
          </p:cNvSpPr>
          <p:nvPr>
            <p:ph type="sldNum" sz="quarter" idx="12"/>
          </p:nvPr>
        </p:nvSpPr>
        <p:spPr/>
        <p:txBody>
          <a:bodyPr/>
          <a:lstStyle/>
          <a:p>
            <a:fld id="{A4DA0FD2-D456-4FC5-A587-87644C4EB2D1}" type="slidenum">
              <a:rPr lang="tr-TR" smtClean="0"/>
              <a:pPr/>
              <a:t>51</a:t>
            </a:fld>
            <a:endParaRPr lang="tr-TR"/>
          </a:p>
        </p:txBody>
      </p:sp>
    </p:spTree>
    <p:extLst>
      <p:ext uri="{BB962C8B-B14F-4D97-AF65-F5344CB8AC3E}">
        <p14:creationId xmlns:p14="http://schemas.microsoft.com/office/powerpoint/2010/main" val="31734358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DE63B-FC38-C46C-199F-93B5EF4FAD28}"/>
              </a:ext>
            </a:extLst>
          </p:cNvPr>
          <p:cNvSpPr>
            <a:spLocks noGrp="1"/>
          </p:cNvSpPr>
          <p:nvPr>
            <p:ph type="title"/>
          </p:nvPr>
        </p:nvSpPr>
        <p:spPr/>
        <p:txBody>
          <a:bodyPr/>
          <a:lstStyle/>
          <a:p>
            <a:r>
              <a:rPr lang="en-US" dirty="0"/>
              <a:t>Lab Activity: Regression</a:t>
            </a:r>
          </a:p>
        </p:txBody>
      </p:sp>
      <p:sp>
        <p:nvSpPr>
          <p:cNvPr id="3" name="Content Placeholder 2">
            <a:extLst>
              <a:ext uri="{FF2B5EF4-FFF2-40B4-BE49-F238E27FC236}">
                <a16:creationId xmlns:a16="http://schemas.microsoft.com/office/drawing/2014/main" id="{861BF6E9-3CAD-CDC4-BF9B-5ED45EE888D9}"/>
              </a:ext>
            </a:extLst>
          </p:cNvPr>
          <p:cNvSpPr>
            <a:spLocks noGrp="1"/>
          </p:cNvSpPr>
          <p:nvPr>
            <p:ph idx="1"/>
          </p:nvPr>
        </p:nvSpPr>
        <p:spPr>
          <a:xfrm>
            <a:off x="983432" y="1456404"/>
            <a:ext cx="9111512" cy="3630795"/>
          </a:xfrm>
        </p:spPr>
        <p:txBody>
          <a:bodyPr/>
          <a:lstStyle/>
          <a:p>
            <a:pPr marL="342900" indent="-342900">
              <a:buFont typeface="+mj-lt"/>
              <a:buAutoNum type="arabicPeriod"/>
            </a:pPr>
            <a:r>
              <a:rPr lang="en-US" dirty="0"/>
              <a:t>Open up a web browser. Google “google </a:t>
            </a:r>
            <a:r>
              <a:rPr lang="en-US" dirty="0" err="1"/>
              <a:t>colab</a:t>
            </a:r>
            <a:r>
              <a:rPr lang="en-US" dirty="0"/>
              <a:t>” click on the first entry.  You may also access the website by following </a:t>
            </a:r>
            <a:r>
              <a:rPr lang="en-US" dirty="0">
                <a:solidFill>
                  <a:srgbClr val="0070C0"/>
                </a:solidFill>
                <a:hlinkClick r:id="rId2">
                  <a:extLst>
                    <a:ext uri="{A12FA001-AC4F-418D-AE19-62706E023703}">
                      <ahyp:hlinkClr xmlns:ahyp="http://schemas.microsoft.com/office/drawing/2018/hyperlinkcolor" val="tx"/>
                    </a:ext>
                  </a:extLst>
                </a:hlinkClick>
              </a:rPr>
              <a:t>https://colab.research.google.com/</a:t>
            </a:r>
            <a:r>
              <a:rPr lang="en-US" dirty="0">
                <a:solidFill>
                  <a:srgbClr val="0070C0"/>
                </a:solidFill>
              </a:rPr>
              <a:t> </a:t>
            </a:r>
          </a:p>
          <a:p>
            <a:pPr marL="342900" indent="-342900">
              <a:buFont typeface="+mj-lt"/>
              <a:buAutoNum type="arabicPeriod"/>
            </a:pPr>
            <a:r>
              <a:rPr lang="en-US" dirty="0"/>
              <a:t>Go to Canvas and download the file called “</a:t>
            </a:r>
            <a:r>
              <a:rPr lang="en-US" i="0" u="none" strike="noStrike" dirty="0">
                <a:effectLst/>
              </a:rPr>
              <a:t>Regression- Predicting Building Energy Consumption at the UW Campus</a:t>
            </a:r>
            <a:r>
              <a:rPr lang="en-US" dirty="0"/>
              <a:t>” </a:t>
            </a:r>
            <a:endParaRPr lang="en-US" dirty="0">
              <a:solidFill>
                <a:srgbClr val="0070C0"/>
              </a:solidFill>
            </a:endParaRPr>
          </a:p>
          <a:p>
            <a:pPr marL="666900" lvl="1" indent="-342900">
              <a:buFont typeface="+mj-lt"/>
              <a:buAutoNum type="arabicPeriod"/>
            </a:pPr>
            <a:endParaRPr lang="en-US" dirty="0"/>
          </a:p>
          <a:p>
            <a:pPr marL="666900" lvl="1" indent="-342900">
              <a:buFont typeface="+mj-lt"/>
              <a:buAutoNum type="arabicPeriod"/>
            </a:pPr>
            <a:endParaRPr lang="en-US" dirty="0"/>
          </a:p>
          <a:p>
            <a:pPr marL="342900" indent="-342900">
              <a:buFont typeface="+mj-lt"/>
              <a:buAutoNum type="arabicPeriod"/>
            </a:pPr>
            <a:endParaRPr lang="en-US" dirty="0"/>
          </a:p>
        </p:txBody>
      </p:sp>
      <p:sp>
        <p:nvSpPr>
          <p:cNvPr id="4" name="Slide Number Placeholder 3">
            <a:extLst>
              <a:ext uri="{FF2B5EF4-FFF2-40B4-BE49-F238E27FC236}">
                <a16:creationId xmlns:a16="http://schemas.microsoft.com/office/drawing/2014/main" id="{2AC231A6-8FCA-1A39-6EC2-D0947735B1A4}"/>
              </a:ext>
            </a:extLst>
          </p:cNvPr>
          <p:cNvSpPr>
            <a:spLocks noGrp="1"/>
          </p:cNvSpPr>
          <p:nvPr>
            <p:ph type="sldNum" sz="quarter" idx="12"/>
          </p:nvPr>
        </p:nvSpPr>
        <p:spPr/>
        <p:txBody>
          <a:bodyPr/>
          <a:lstStyle/>
          <a:p>
            <a:fld id="{A4DA0FD2-D456-4FC5-A587-87644C4EB2D1}" type="slidenum">
              <a:rPr lang="tr-TR" smtClean="0"/>
              <a:pPr/>
              <a:t>52</a:t>
            </a:fld>
            <a:endParaRPr lang="tr-TR"/>
          </a:p>
        </p:txBody>
      </p:sp>
      <p:pic>
        <p:nvPicPr>
          <p:cNvPr id="6" name="Picture 5" descr="A screenshot of a computer&#10;&#10;Description automatically generated">
            <a:extLst>
              <a:ext uri="{FF2B5EF4-FFF2-40B4-BE49-F238E27FC236}">
                <a16:creationId xmlns:a16="http://schemas.microsoft.com/office/drawing/2014/main" id="{5FF2AF0A-F137-658D-003D-3FE51F7D516D}"/>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225162" y="3506952"/>
            <a:ext cx="3741677" cy="2631747"/>
          </a:xfrm>
          <a:prstGeom prst="rect">
            <a:avLst/>
          </a:prstGeom>
        </p:spPr>
      </p:pic>
    </p:spTree>
    <p:extLst>
      <p:ext uri="{BB962C8B-B14F-4D97-AF65-F5344CB8AC3E}">
        <p14:creationId xmlns:p14="http://schemas.microsoft.com/office/powerpoint/2010/main" val="20871017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93F3C-736B-97DA-EB2F-2925D6801F67}"/>
              </a:ext>
            </a:extLst>
          </p:cNvPr>
          <p:cNvSpPr>
            <a:spLocks noGrp="1"/>
          </p:cNvSpPr>
          <p:nvPr>
            <p:ph type="title"/>
          </p:nvPr>
        </p:nvSpPr>
        <p:spPr/>
        <p:txBody>
          <a:bodyPr/>
          <a:lstStyle/>
          <a:p>
            <a:r>
              <a:rPr lang="en-US" dirty="0"/>
              <a:t>Computational Assignment</a:t>
            </a:r>
          </a:p>
        </p:txBody>
      </p:sp>
      <p:sp>
        <p:nvSpPr>
          <p:cNvPr id="3" name="Content Placeholder 2">
            <a:extLst>
              <a:ext uri="{FF2B5EF4-FFF2-40B4-BE49-F238E27FC236}">
                <a16:creationId xmlns:a16="http://schemas.microsoft.com/office/drawing/2014/main" id="{DF08AA91-B50E-A012-FAD1-48AD12B968B1}"/>
              </a:ext>
            </a:extLst>
          </p:cNvPr>
          <p:cNvSpPr>
            <a:spLocks noGrp="1"/>
          </p:cNvSpPr>
          <p:nvPr>
            <p:ph idx="1"/>
          </p:nvPr>
        </p:nvSpPr>
        <p:spPr/>
        <p:txBody>
          <a:bodyPr/>
          <a:lstStyle/>
          <a:p>
            <a:r>
              <a:rPr lang="en-US" dirty="0"/>
              <a:t>UW Energy Model</a:t>
            </a:r>
          </a:p>
          <a:p>
            <a:r>
              <a:rPr lang="en-US" dirty="0"/>
              <a:t>See the notes on Canvas</a:t>
            </a:r>
          </a:p>
        </p:txBody>
      </p:sp>
      <p:sp>
        <p:nvSpPr>
          <p:cNvPr id="4" name="Slide Number Placeholder 3">
            <a:extLst>
              <a:ext uri="{FF2B5EF4-FFF2-40B4-BE49-F238E27FC236}">
                <a16:creationId xmlns:a16="http://schemas.microsoft.com/office/drawing/2014/main" id="{2338200A-B552-DE27-5E8A-829610819FDB}"/>
              </a:ext>
            </a:extLst>
          </p:cNvPr>
          <p:cNvSpPr>
            <a:spLocks noGrp="1"/>
          </p:cNvSpPr>
          <p:nvPr>
            <p:ph type="sldNum" sz="quarter" idx="12"/>
          </p:nvPr>
        </p:nvSpPr>
        <p:spPr/>
        <p:txBody>
          <a:bodyPr/>
          <a:lstStyle/>
          <a:p>
            <a:fld id="{A4DA0FD2-D456-4FC5-A587-87644C4EB2D1}" type="slidenum">
              <a:rPr lang="tr-TR" smtClean="0"/>
              <a:pPr/>
              <a:t>53</a:t>
            </a:fld>
            <a:endParaRPr lang="tr-TR"/>
          </a:p>
        </p:txBody>
      </p:sp>
    </p:spTree>
    <p:extLst>
      <p:ext uri="{BB962C8B-B14F-4D97-AF65-F5344CB8AC3E}">
        <p14:creationId xmlns:p14="http://schemas.microsoft.com/office/powerpoint/2010/main" val="3170766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nchor="ctr" anchorCtr="0"/>
          <a:lstStyle/>
          <a:p>
            <a:r>
              <a:rPr lang="en-US" dirty="0"/>
              <a:t>Main T</a:t>
            </a:r>
            <a:r>
              <a:rPr lang="en-US" b="1" dirty="0"/>
              <a:t>extbooks</a:t>
            </a:r>
          </a:p>
        </p:txBody>
      </p:sp>
      <p:sp>
        <p:nvSpPr>
          <p:cNvPr id="94211" name="Rectangle 3"/>
          <p:cNvSpPr>
            <a:spLocks noGrp="1" noChangeArrowheads="1"/>
          </p:cNvSpPr>
          <p:nvPr>
            <p:ph idx="1"/>
          </p:nvPr>
        </p:nvSpPr>
        <p:spPr/>
        <p:txBody>
          <a:bodyPr>
            <a:normAutofit/>
          </a:bodyPr>
          <a:lstStyle/>
          <a:p>
            <a:r>
              <a:rPr lang="en-US" sz="1600" dirty="0" err="1"/>
              <a:t>Abbasabadi</a:t>
            </a:r>
            <a:r>
              <a:rPr lang="en-US" sz="1600" dirty="0"/>
              <a:t>, N., </a:t>
            </a:r>
            <a:r>
              <a:rPr lang="en-US" sz="1600" dirty="0" err="1"/>
              <a:t>Ashayeri</a:t>
            </a:r>
            <a:r>
              <a:rPr lang="en-US" sz="1600" dirty="0"/>
              <a:t>, M,. (Eds). (2024). Artificial Intelligence in Performance-driven Design: Theories, Methods and Tools, Wiley.</a:t>
            </a:r>
          </a:p>
          <a:p>
            <a:r>
              <a:rPr lang="en-US" sz="1600" dirty="0" err="1"/>
              <a:t>Alpaydin</a:t>
            </a:r>
            <a:r>
              <a:rPr lang="en-US" sz="1600" dirty="0"/>
              <a:t>, E., (2020). Introduction to Machine Learning, 4th Edition, The MIT Press</a:t>
            </a:r>
          </a:p>
          <a:p>
            <a:endParaRPr lang="en-US" sz="1600" dirty="0"/>
          </a:p>
          <a:p>
            <a:endParaRPr lang="en-US" sz="1600" dirty="0"/>
          </a:p>
          <a:p>
            <a:endParaRPr lang="en-US" sz="1600" dirty="0"/>
          </a:p>
          <a:p>
            <a:endParaRPr lang="en-US" sz="1600" dirty="0"/>
          </a:p>
        </p:txBody>
      </p:sp>
      <p:sp>
        <p:nvSpPr>
          <p:cNvPr id="9" name="Slide Number Placeholder 8"/>
          <p:cNvSpPr>
            <a:spLocks noGrp="1"/>
          </p:cNvSpPr>
          <p:nvPr>
            <p:ph type="sldNum" sz="quarter" idx="12"/>
          </p:nvPr>
        </p:nvSpPr>
        <p:spPr/>
        <p:txBody>
          <a:bodyPr>
            <a:normAutofit/>
          </a:bodyPr>
          <a:lstStyle/>
          <a:p>
            <a:fld id="{6DF4C409-C017-451C-B236-E185BBA6E0E4}" type="slidenum">
              <a:rPr lang="tr-TR" smtClean="0"/>
              <a:pPr/>
              <a:t>54</a:t>
            </a:fld>
            <a:endParaRPr lang="tr-TR"/>
          </a:p>
        </p:txBody>
      </p:sp>
      <p:pic>
        <p:nvPicPr>
          <p:cNvPr id="33794" name="Picture 2">
            <a:extLst>
              <a:ext uri="{FF2B5EF4-FFF2-40B4-BE49-F238E27FC236}">
                <a16:creationId xmlns:a16="http://schemas.microsoft.com/office/drawing/2014/main" id="{3F2104F2-BFF2-6A99-6E81-51C5C7BE2A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08168" y="3429001"/>
            <a:ext cx="2232248" cy="254974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430ED711-4738-9724-1CFE-DFABE06E68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32364" y="3429000"/>
            <a:ext cx="1787772" cy="25497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895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06652-2001-018C-839E-DB0B5808692F}"/>
              </a:ext>
            </a:extLst>
          </p:cNvPr>
          <p:cNvSpPr>
            <a:spLocks noGrp="1"/>
          </p:cNvSpPr>
          <p:nvPr>
            <p:ph type="title"/>
          </p:nvPr>
        </p:nvSpPr>
        <p:spPr/>
        <p:txBody>
          <a:bodyPr/>
          <a:lstStyle/>
          <a:p>
            <a:r>
              <a:rPr lang="en-US" dirty="0"/>
              <a:t>Readings</a:t>
            </a:r>
          </a:p>
        </p:txBody>
      </p:sp>
      <p:sp>
        <p:nvSpPr>
          <p:cNvPr id="3" name="Content Placeholder 2">
            <a:extLst>
              <a:ext uri="{FF2B5EF4-FFF2-40B4-BE49-F238E27FC236}">
                <a16:creationId xmlns:a16="http://schemas.microsoft.com/office/drawing/2014/main" id="{7166463F-C0AA-1660-E3D6-0262018C4CF5}"/>
              </a:ext>
            </a:extLst>
          </p:cNvPr>
          <p:cNvSpPr>
            <a:spLocks noGrp="1"/>
          </p:cNvSpPr>
          <p:nvPr>
            <p:ph idx="1"/>
          </p:nvPr>
        </p:nvSpPr>
        <p:spPr/>
        <p:txBody>
          <a:bodyPr/>
          <a:lstStyle/>
          <a:p>
            <a:r>
              <a:rPr lang="en-US" dirty="0" err="1"/>
              <a:t>Alpaydin</a:t>
            </a:r>
            <a:r>
              <a:rPr lang="en-US" dirty="0"/>
              <a:t>, E., (2020). Introduction to Machine Learning. 4th Edition, The MIT Press. </a:t>
            </a:r>
          </a:p>
          <a:p>
            <a:pPr marL="324000" lvl="1" indent="0">
              <a:buNone/>
            </a:pPr>
            <a:r>
              <a:rPr lang="en-US" dirty="0"/>
              <a:t>– </a:t>
            </a:r>
            <a:r>
              <a:rPr lang="en-US" b="1" dirty="0">
                <a:solidFill>
                  <a:srgbClr val="A54EF3"/>
                </a:solidFill>
              </a:rPr>
              <a:t>Chapter 1 / What is Machine Learning?</a:t>
            </a:r>
          </a:p>
          <a:p>
            <a:pPr marL="324000" lvl="1" indent="0">
              <a:buNone/>
            </a:pPr>
            <a:r>
              <a:rPr lang="en-US" sz="1800" b="1" dirty="0">
                <a:solidFill>
                  <a:srgbClr val="A54EF3"/>
                </a:solidFill>
              </a:rPr>
              <a:t>– Chapter 2 / Supervised Learning </a:t>
            </a:r>
          </a:p>
          <a:p>
            <a:endParaRPr lang="en-US" b="1" dirty="0">
              <a:solidFill>
                <a:srgbClr val="A54EF3"/>
              </a:solidFill>
            </a:endParaRPr>
          </a:p>
          <a:p>
            <a:pPr marL="0" indent="0">
              <a:buNone/>
            </a:pPr>
            <a:endParaRPr lang="en-US" b="1" dirty="0">
              <a:solidFill>
                <a:srgbClr val="A54EF3"/>
              </a:solidFill>
            </a:endParaRP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D79BE04A-E4DC-B8B4-D243-F236FCC8D28F}"/>
              </a:ext>
            </a:extLst>
          </p:cNvPr>
          <p:cNvSpPr>
            <a:spLocks noGrp="1"/>
          </p:cNvSpPr>
          <p:nvPr>
            <p:ph type="sldNum" sz="quarter" idx="12"/>
          </p:nvPr>
        </p:nvSpPr>
        <p:spPr/>
        <p:txBody>
          <a:bodyPr/>
          <a:lstStyle/>
          <a:p>
            <a:fld id="{A4DA0FD2-D456-4FC5-A587-87644C4EB2D1}" type="slidenum">
              <a:rPr lang="tr-TR" smtClean="0"/>
              <a:pPr/>
              <a:t>55</a:t>
            </a:fld>
            <a:endParaRPr lang="tr-TR"/>
          </a:p>
        </p:txBody>
      </p:sp>
    </p:spTree>
    <p:extLst>
      <p:ext uri="{BB962C8B-B14F-4D97-AF65-F5344CB8AC3E}">
        <p14:creationId xmlns:p14="http://schemas.microsoft.com/office/powerpoint/2010/main" val="12527263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F257E-DE4B-E04B-8591-F2DC6DD1A61A}"/>
              </a:ext>
            </a:extLst>
          </p:cNvPr>
          <p:cNvSpPr>
            <a:spLocks noGrp="1"/>
          </p:cNvSpPr>
          <p:nvPr>
            <p:ph type="title"/>
          </p:nvPr>
        </p:nvSpPr>
        <p:spPr/>
        <p:txBody>
          <a:bodyPr/>
          <a:lstStyle/>
          <a:p>
            <a:r>
              <a:rPr lang="en-US" dirty="0"/>
              <a:t>Next Classe</a:t>
            </a:r>
          </a:p>
        </p:txBody>
      </p:sp>
      <p:sp>
        <p:nvSpPr>
          <p:cNvPr id="4" name="Rectangle 21">
            <a:extLst>
              <a:ext uri="{FF2B5EF4-FFF2-40B4-BE49-F238E27FC236}">
                <a16:creationId xmlns:a16="http://schemas.microsoft.com/office/drawing/2014/main" id="{E2CD8A25-F963-5A48-A13C-8FDFBE85E252}"/>
              </a:ext>
            </a:extLst>
          </p:cNvPr>
          <p:cNvSpPr txBox="1">
            <a:spLocks noChangeArrowheads="1"/>
          </p:cNvSpPr>
          <p:nvPr/>
        </p:nvSpPr>
        <p:spPr bwMode="auto">
          <a:xfrm>
            <a:off x="911424" y="1943100"/>
            <a:ext cx="8270676" cy="3574132"/>
          </a:xfrm>
          <a:prstGeom prst="rect">
            <a:avLst/>
          </a:prstGeom>
          <a:noFill/>
          <a:ln w="9525">
            <a:noFill/>
            <a:miter lim="800000"/>
            <a:headEnd/>
            <a:tailEnd/>
          </a:ln>
          <a:effectLst/>
        </p:spPr>
        <p:txBody>
          <a:bodyPr vert="horz" wrap="square" lIns="68580" tIns="34290" rIns="68580" bIns="34290" numCol="1" anchor="t" anchorCtr="0" compatLnSpc="1">
            <a:prstTxWarp prst="textNoShape">
              <a:avLst/>
            </a:prstTxWarp>
            <a:noAutofit/>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257175" lvl="1" indent="-257175">
              <a:buFontTx/>
              <a:buChar char="•"/>
            </a:pPr>
            <a:r>
              <a:rPr lang="en-US" sz="1800" dirty="0">
                <a:latin typeface="Calibri" panose="020F0502020204030204" pitchFamily="34" charset="0"/>
              </a:rPr>
              <a:t>Con. Supervised Learning</a:t>
            </a:r>
            <a:endParaRPr lang="en-US" sz="1800" dirty="0"/>
          </a:p>
          <a:p>
            <a:pPr marL="614363" lvl="2">
              <a:buFont typeface="Courier New" panose="02070309020205020404" pitchFamily="49" charset="0"/>
              <a:buChar char="o"/>
            </a:pPr>
            <a:r>
              <a:rPr lang="en-US" sz="1600" dirty="0">
                <a:latin typeface="Calibri" panose="020F0502020204030204" pitchFamily="34" charset="0"/>
              </a:rPr>
              <a:t>Classification</a:t>
            </a:r>
          </a:p>
          <a:p>
            <a:pPr marL="614363" lvl="2">
              <a:buFont typeface="Courier New" panose="02070309020205020404" pitchFamily="49" charset="0"/>
              <a:buChar char="o"/>
            </a:pPr>
            <a:r>
              <a:rPr lang="en-US" sz="1600" dirty="0">
                <a:latin typeface="Calibri" panose="020F0502020204030204" pitchFamily="34" charset="0"/>
              </a:rPr>
              <a:t>Lab Activities</a:t>
            </a:r>
          </a:p>
          <a:p>
            <a:pPr marL="385763" lvl="2" indent="0">
              <a:buNone/>
            </a:pPr>
            <a:endParaRPr lang="en-US" sz="1600" dirty="0">
              <a:latin typeface="Calibri" panose="020F0502020204030204" pitchFamily="34" charset="0"/>
            </a:endParaRPr>
          </a:p>
        </p:txBody>
      </p:sp>
    </p:spTree>
    <p:extLst>
      <p:ext uri="{BB962C8B-B14F-4D97-AF65-F5344CB8AC3E}">
        <p14:creationId xmlns:p14="http://schemas.microsoft.com/office/powerpoint/2010/main" val="1294803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446938E-2735-E543-9840-0DCE71799732}"/>
              </a:ext>
            </a:extLst>
          </p:cNvPr>
          <p:cNvSpPr>
            <a:spLocks noGrp="1"/>
          </p:cNvSpPr>
          <p:nvPr>
            <p:ph type="sldNum" sz="quarter" idx="12"/>
          </p:nvPr>
        </p:nvSpPr>
        <p:spPr/>
        <p:txBody>
          <a:bodyPr/>
          <a:lstStyle/>
          <a:p>
            <a:fld id="{4F76C18F-78ED-364E-868B-B1136D5278E5}" type="slidenum">
              <a:rPr lang="en-US" smtClean="0"/>
              <a:t>57</a:t>
            </a:fld>
            <a:endParaRPr lang="en-US"/>
          </a:p>
        </p:txBody>
      </p:sp>
      <p:sp>
        <p:nvSpPr>
          <p:cNvPr id="2" name="Title 1">
            <a:extLst>
              <a:ext uri="{FF2B5EF4-FFF2-40B4-BE49-F238E27FC236}">
                <a16:creationId xmlns:a16="http://schemas.microsoft.com/office/drawing/2014/main" id="{C744430A-41E7-1F1D-9809-AEC51915F29B}"/>
              </a:ext>
            </a:extLst>
          </p:cNvPr>
          <p:cNvSpPr>
            <a:spLocks noGrp="1"/>
          </p:cNvSpPr>
          <p:nvPr>
            <p:ph type="title"/>
          </p:nvPr>
        </p:nvSpPr>
        <p:spPr>
          <a:xfrm>
            <a:off x="4583832" y="2780928"/>
            <a:ext cx="2656782" cy="941325"/>
          </a:xfrm>
        </p:spPr>
        <p:txBody>
          <a:bodyPr/>
          <a:lstStyle/>
          <a:p>
            <a:r>
              <a:rPr lang="en-US" dirty="0"/>
              <a:t>QUESTIONS?</a:t>
            </a:r>
          </a:p>
        </p:txBody>
      </p:sp>
    </p:spTree>
    <p:extLst>
      <p:ext uri="{BB962C8B-B14F-4D97-AF65-F5344CB8AC3E}">
        <p14:creationId xmlns:p14="http://schemas.microsoft.com/office/powerpoint/2010/main" val="248126148"/>
      </p:ext>
    </p:extLst>
  </p:cSld>
  <p:clrMapOvr>
    <a:masterClrMapping/>
  </p:clrMapOvr>
  <mc:AlternateContent xmlns:mc="http://schemas.openxmlformats.org/markup-compatibility/2006" xmlns:p14="http://schemas.microsoft.com/office/powerpoint/2010/main">
    <mc:Choice Requires="p14">
      <p:transition spd="slow" p14:dur="2000" advTm="5592"/>
    </mc:Choice>
    <mc:Fallback xmlns="">
      <p:transition spd="slow" advTm="5592"/>
    </mc:Fallback>
  </mc:AlternateContent>
</p:sld>
</file>

<file path=ppt/theme/theme1.xml><?xml version="1.0" encoding="utf-8"?>
<a:theme xmlns:a="http://schemas.openxmlformats.org/drawingml/2006/main" name="UW Lecture Notes ">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UW Lecture Notes " id="{31995CA2-4DBD-4346-9BC1-E487B60AE287}" vid="{DB318C28-8647-D64A-887A-E07051A7D921}"/>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UW Lecture Notes </Template>
  <TotalTime>32615</TotalTime>
  <Words>3577</Words>
  <Application>Microsoft Macintosh PowerPoint</Application>
  <PresentationFormat>Widescreen</PresentationFormat>
  <Paragraphs>469</Paragraphs>
  <Slides>57</Slides>
  <Notes>37</Notes>
  <HiddenSlides>0</HiddenSlides>
  <MMClips>0</MMClips>
  <ScaleCrop>false</ScaleCrop>
  <HeadingPairs>
    <vt:vector size="8" baseType="variant">
      <vt:variant>
        <vt:lpstr>Fonts Used</vt:lpstr>
      </vt:variant>
      <vt:variant>
        <vt:i4>16</vt:i4>
      </vt:variant>
      <vt:variant>
        <vt:lpstr>Theme</vt:lpstr>
      </vt:variant>
      <vt:variant>
        <vt:i4>1</vt:i4>
      </vt:variant>
      <vt:variant>
        <vt:lpstr>Embedded OLE Servers</vt:lpstr>
      </vt:variant>
      <vt:variant>
        <vt:i4>1</vt:i4>
      </vt:variant>
      <vt:variant>
        <vt:lpstr>Slide Titles</vt:lpstr>
      </vt:variant>
      <vt:variant>
        <vt:i4>57</vt:i4>
      </vt:variant>
    </vt:vector>
  </HeadingPairs>
  <TitlesOfParts>
    <vt:vector size="75" baseType="lpstr">
      <vt:lpstr>-apple-system</vt:lpstr>
      <vt:lpstr>Arial</vt:lpstr>
      <vt:lpstr>Calibri</vt:lpstr>
      <vt:lpstr>Cambria Math</vt:lpstr>
      <vt:lpstr>Courier New</vt:lpstr>
      <vt:lpstr>Gill Sans MT</vt:lpstr>
      <vt:lpstr>Helvetica</vt:lpstr>
      <vt:lpstr>KaTeX_Main</vt:lpstr>
      <vt:lpstr>KaTeX_Math</vt:lpstr>
      <vt:lpstr>LucidaBright</vt:lpstr>
      <vt:lpstr>Open Sans</vt:lpstr>
      <vt:lpstr>Söhne</vt:lpstr>
      <vt:lpstr>Symbol</vt:lpstr>
      <vt:lpstr>Times New Roman</vt:lpstr>
      <vt:lpstr>Wingdings</vt:lpstr>
      <vt:lpstr>Wingdings 2</vt:lpstr>
      <vt:lpstr>UW Lecture Notes </vt:lpstr>
      <vt:lpstr>Equation</vt:lpstr>
      <vt:lpstr>PowerPoint Presentation</vt:lpstr>
      <vt:lpstr>Agenda for today’s class</vt:lpstr>
      <vt:lpstr>PowerPoint Presentation</vt:lpstr>
      <vt:lpstr>What is ML?</vt:lpstr>
      <vt:lpstr>ML and Optimizing Performance</vt:lpstr>
      <vt:lpstr>Why “Learn”?</vt:lpstr>
      <vt:lpstr> Machine Learning main Components  </vt:lpstr>
      <vt:lpstr>Introduction to Machine Learning</vt:lpstr>
      <vt:lpstr>Data and Prediction in Machine Learning</vt:lpstr>
      <vt:lpstr>Machine Learning Pipeline</vt:lpstr>
      <vt:lpstr>machine learning  Major Types and Applications</vt:lpstr>
      <vt:lpstr>Supervised Learning</vt:lpstr>
      <vt:lpstr>Supervised Learning: Example</vt:lpstr>
      <vt:lpstr>Unsupervised Learning</vt:lpstr>
      <vt:lpstr>Unsupervised Learning Applications</vt:lpstr>
      <vt:lpstr>Examples </vt:lpstr>
      <vt:lpstr>Reinforcement Learning</vt:lpstr>
      <vt:lpstr>Reinforcement Learning Applications</vt:lpstr>
      <vt:lpstr>Reinforcement Learning Applications</vt:lpstr>
      <vt:lpstr>main machine learning (ML) algorithms </vt:lpstr>
      <vt:lpstr>ML Algorithms</vt:lpstr>
      <vt:lpstr> Supervised Learning</vt:lpstr>
      <vt:lpstr>Prediction in Machine Learning</vt:lpstr>
      <vt:lpstr>Prediction in Machine Learning</vt:lpstr>
      <vt:lpstr>Prediction in Machine Learning</vt:lpstr>
      <vt:lpstr>Prediction in Machine Learning</vt:lpstr>
      <vt:lpstr>Notation</vt:lpstr>
      <vt:lpstr>Variables / Factors </vt:lpstr>
      <vt:lpstr>Types of prediction problems</vt:lpstr>
      <vt:lpstr>Examples of Categorical Outcome Predictions</vt:lpstr>
      <vt:lpstr>Examples of Continuous Outcome Predictions</vt:lpstr>
      <vt:lpstr>General Setup for Predictive Modeling</vt:lpstr>
      <vt:lpstr>Prediction in machine learning </vt:lpstr>
      <vt:lpstr>Feature Selection</vt:lpstr>
      <vt:lpstr>The main objectives of feature selection:</vt:lpstr>
      <vt:lpstr>Understanding VIF in Feature Selection</vt:lpstr>
      <vt:lpstr>Understanding VIF in Feature Selection Con.</vt:lpstr>
      <vt:lpstr>Challenges of Multicollinearity in Datasets</vt:lpstr>
      <vt:lpstr>Note: Prediction Terminology</vt:lpstr>
      <vt:lpstr> Regression</vt:lpstr>
      <vt:lpstr>Regression</vt:lpstr>
      <vt:lpstr>Types of Regression</vt:lpstr>
      <vt:lpstr>Regression</vt:lpstr>
      <vt:lpstr>Regression</vt:lpstr>
      <vt:lpstr>Regression</vt:lpstr>
      <vt:lpstr>Regression</vt:lpstr>
      <vt:lpstr>Prediction Error and Accuracy</vt:lpstr>
      <vt:lpstr>The most common evaluation metrics for regression</vt:lpstr>
      <vt:lpstr>The most common evaluation metrics for regression</vt:lpstr>
      <vt:lpstr>p-value</vt:lpstr>
      <vt:lpstr>Conclusion</vt:lpstr>
      <vt:lpstr>Lab Activity: Regression</vt:lpstr>
      <vt:lpstr>Computational Assignment</vt:lpstr>
      <vt:lpstr>Main Textbooks</vt:lpstr>
      <vt:lpstr>Readings</vt:lpstr>
      <vt:lpstr>Next Classe</vt:lpstr>
      <vt:lpstr>QUESTIONS?</vt:lpstr>
    </vt:vector>
  </TitlesOfParts>
  <Company>BOGAZICI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Machine Learning</dc:title>
  <dc:creator>ethem</dc:creator>
  <cp:lastModifiedBy>narjes abbasabadi</cp:lastModifiedBy>
  <cp:revision>392</cp:revision>
  <dcterms:created xsi:type="dcterms:W3CDTF">2005-01-24T14:46:28Z</dcterms:created>
  <dcterms:modified xsi:type="dcterms:W3CDTF">2026-04-21T21:05:49Z</dcterms:modified>
</cp:coreProperties>
</file>